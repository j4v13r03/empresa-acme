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7086600" cy="8686800"/>
  <p:embeddedFontLst>
    <p:embeddedFont>
      <p:font typeface="Arimo"/>
      <p:regular r:id="rId26"/>
      <p:bold r:id="rId27"/>
      <p:italic r:id="rId28"/>
      <p:boldItalic r:id="rId29"/>
    </p:embeddedFon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9Uc53UHh2SXALV+sJf8QspOvn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regular.fntdata"/><Relationship Id="rId25" Type="http://schemas.openxmlformats.org/officeDocument/2006/relationships/slide" Target="slides/slide20.xml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64195a944_0_8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64195a944_0_8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bceefb519_0_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bceefb519_0_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64195a944_0_3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64195a944_0_3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64195a944_0_6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64195a944_0_6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64195a944_0_12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64195a944_0_12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64195a944_0_14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64195a944_0_14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65c02925_0_3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665c02925_0_3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bceefb519_0_2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dbceefb519_0_2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bceefb519_0_5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bceefb519_0_5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bceefb519_0_7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dbceefb519_0_7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bceefb519_0_93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dbceefb519_0_9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bceefb519_0_11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bceefb519_0_11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bceefb519_0_13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dbceefb519_0_13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665c02925_0_6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665c02925_0_6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18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Refactorización del Código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734995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448353" y="1859571"/>
            <a:ext cx="142539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3429001" y="4155579"/>
            <a:ext cx="533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Cambios necesarios para continuar el resto de los ejemplos</a:t>
            </a:r>
            <a:endParaRPr/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144588" y="185738"/>
            <a:ext cx="17443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cxnSp>
        <p:nvCxnSpPr>
          <p:cNvPr id="105" name="Google Shape;105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27062" y="1164637"/>
            <a:ext cx="81057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refactorización del código </a:t>
            </a:r>
            <a:r>
              <a:rPr b="0" i="0"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es una técnica de la ingeniería de software para reestructurar un </a:t>
            </a:r>
            <a:r>
              <a:rPr i="0"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b="0" i="0"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fuente, alterando su estructura interna sin cambiar su comportamiento externo.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27061" y="2387430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ejemplo que hemos construido en el curso se hace necesario organizar los elementos creados y ordenar el código.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untes:refactorizacion [Entornos de Desarrollo]"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6330" y="3479097"/>
            <a:ext cx="5751340" cy="2214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e64195a944_0_87" title="Captura de pantalla 2026-04-26 a la(s) 19.54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575" y="3712517"/>
            <a:ext cx="3382400" cy="113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e64195a944_0_87"/>
          <p:cNvSpPr/>
          <p:nvPr/>
        </p:nvSpPr>
        <p:spPr>
          <a:xfrm>
            <a:off x="5930925" y="4357126"/>
            <a:ext cx="1942800" cy="523200"/>
          </a:xfrm>
          <a:prstGeom prst="wedgeRectCallout">
            <a:avLst>
              <a:gd fmla="val -66561" name="adj1"/>
              <a:gd fmla="val -817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Dominio funcional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16" name="Google Shape;116;g3e64195a944_0_87"/>
          <p:cNvSpPr/>
          <p:nvPr/>
        </p:nvSpPr>
        <p:spPr>
          <a:xfrm>
            <a:off x="910175" y="4331925"/>
            <a:ext cx="2145600" cy="573600"/>
          </a:xfrm>
          <a:prstGeom prst="wedgeRectCallout">
            <a:avLst>
              <a:gd fmla="val 75210" name="adj1"/>
              <a:gd fmla="val -1109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features</a:t>
            </a:r>
            <a:r>
              <a:rPr lang="es-CL">
                <a:solidFill>
                  <a:schemeClr val="dk1"/>
                </a:solidFill>
              </a:rPr>
              <a:t> para organizar</a:t>
            </a:r>
            <a:r>
              <a:rPr lang="es-CL">
                <a:solidFill>
                  <a:schemeClr val="dk1"/>
                </a:solidFill>
              </a:rPr>
              <a:t> capacidades de negocio</a:t>
            </a:r>
            <a:endParaRPr/>
          </a:p>
        </p:txBody>
      </p:sp>
      <p:sp>
        <p:nvSpPr>
          <p:cNvPr id="117" name="Google Shape;117;g3e64195a944_0_87"/>
          <p:cNvSpPr/>
          <p:nvPr/>
        </p:nvSpPr>
        <p:spPr>
          <a:xfrm>
            <a:off x="646925" y="1848025"/>
            <a:ext cx="81057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 crear el directorio </a:t>
            </a:r>
            <a:r>
              <a:rPr b="1" lang="es-CL" sz="1800">
                <a:solidFill>
                  <a:schemeClr val="dk1"/>
                </a:solidFill>
              </a:rPr>
              <a:t>features</a:t>
            </a:r>
            <a:r>
              <a:rPr lang="es-CL" sz="1800">
                <a:solidFill>
                  <a:schemeClr val="dk1"/>
                </a:solidFill>
              </a:rPr>
              <a:t> para organizar el proyecto por capacidades de negocio o dominio funcional del sistema.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18" name="Google Shape;118;g3e64195a944_0_87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g3e64195a944_0_8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g3e64195a944_0_8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1" name="Google Shape;121;g3e64195a944_0_87"/>
          <p:cNvSpPr/>
          <p:nvPr/>
        </p:nvSpPr>
        <p:spPr>
          <a:xfrm>
            <a:off x="646925" y="1065881"/>
            <a:ext cx="8105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</a:t>
            </a:r>
            <a:r>
              <a:rPr lang="es-CL" sz="1800">
                <a:solidFill>
                  <a:schemeClr val="dk1"/>
                </a:solidFill>
              </a:rPr>
              <a:t>componentes, servicios e interfaces que están creados en diferentes lugares y sin un orden coherente.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e64195a944_0_87"/>
          <p:cNvSpPr txBox="1"/>
          <p:nvPr/>
        </p:nvSpPr>
        <p:spPr>
          <a:xfrm>
            <a:off x="1144588" y="185738"/>
            <a:ext cx="50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Estructura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e64195a944_0_87"/>
          <p:cNvSpPr/>
          <p:nvPr/>
        </p:nvSpPr>
        <p:spPr>
          <a:xfrm>
            <a:off x="3587750" y="4462417"/>
            <a:ext cx="931200" cy="312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e64195a944_0_87"/>
          <p:cNvSpPr/>
          <p:nvPr/>
        </p:nvSpPr>
        <p:spPr>
          <a:xfrm>
            <a:off x="4614317" y="4462417"/>
            <a:ext cx="973800" cy="312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e64195a944_0_87"/>
          <p:cNvSpPr/>
          <p:nvPr/>
        </p:nvSpPr>
        <p:spPr>
          <a:xfrm>
            <a:off x="646925" y="2641625"/>
            <a:ext cx="81057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el directorio </a:t>
            </a:r>
            <a:r>
              <a:rPr b="1" lang="es-CL" sz="1800">
                <a:solidFill>
                  <a:schemeClr val="dk1"/>
                </a:solidFill>
              </a:rPr>
              <a:t>features</a:t>
            </a:r>
            <a:r>
              <a:rPr lang="es-CL" sz="1800">
                <a:solidFill>
                  <a:schemeClr val="dk1"/>
                </a:solidFill>
              </a:rPr>
              <a:t> vamos a crear un nuevo directorio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para organizar dicho dominio funcional.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" title="Captura de pantalla 2026-04-26 a la(s) 20.01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775" y="2580875"/>
            <a:ext cx="2780447" cy="176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1144600" y="3378450"/>
            <a:ext cx="1942800" cy="687000"/>
          </a:xfrm>
          <a:prstGeom prst="wedgeRectCallout">
            <a:avLst>
              <a:gd fmla="val 67665" name="adj1"/>
              <a:gd fmla="val -8673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Organización de directorios para dominio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32" name="Google Shape;132;p3"/>
          <p:cNvSpPr/>
          <p:nvPr/>
        </p:nvSpPr>
        <p:spPr>
          <a:xfrm>
            <a:off x="646925" y="1502375"/>
            <a:ext cx="808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components</a:t>
            </a:r>
            <a:r>
              <a:rPr lang="es-CL" sz="1800">
                <a:solidFill>
                  <a:schemeClr val="dk1"/>
                </a:solidFill>
              </a:rPr>
              <a:t> para organizar los componentes del dominio funcional.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services</a:t>
            </a:r>
            <a:r>
              <a:rPr lang="es-CL" sz="1800">
                <a:solidFill>
                  <a:schemeClr val="dk1"/>
                </a:solidFill>
              </a:rPr>
              <a:t> para organizar los servicios del dominio funcional.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interfaces</a:t>
            </a:r>
            <a:r>
              <a:rPr lang="es-CL" sz="1800">
                <a:solidFill>
                  <a:schemeClr val="dk1"/>
                </a:solidFill>
              </a:rPr>
              <a:t> para organizar las interfaces del dominio funcional.</a:t>
            </a:r>
            <a:endParaRPr sz="1800">
              <a:solidFill>
                <a:schemeClr val="dk1"/>
              </a:solidFill>
            </a:endParaRPr>
          </a:p>
          <a:p>
            <a:pPr indent="0" lvl="0" marL="914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33" name="Google Shape;133;p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46925" y="1065877"/>
            <a:ext cx="8105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vamos a crear los siguientes directorios: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144588" y="185738"/>
            <a:ext cx="504606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Estructura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429000" y="3284800"/>
            <a:ext cx="1746300" cy="101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46925" y="4477966"/>
            <a:ext cx="81057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directorio</a:t>
            </a:r>
            <a:r>
              <a:rPr lang="es-CL" sz="1800">
                <a:solidFill>
                  <a:schemeClr val="dk1"/>
                </a:solidFill>
              </a:rPr>
              <a:t> </a:t>
            </a:r>
            <a:r>
              <a:rPr b="1" lang="es-CL" sz="1800">
                <a:solidFill>
                  <a:schemeClr val="dk1"/>
                </a:solidFill>
              </a:rPr>
              <a:t>shared</a:t>
            </a:r>
            <a:r>
              <a:rPr lang="es-CL" sz="1800">
                <a:solidFill>
                  <a:schemeClr val="dk1"/>
                </a:solidFill>
              </a:rPr>
              <a:t> se mantiene en la raiz del proyecto para agrupar los componentes compartidos.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3" title="Captura de pantalla 2026-04-26 a la(s) 20.05.17.png"/>
          <p:cNvPicPr preferRelativeResize="0"/>
          <p:nvPr/>
        </p:nvPicPr>
        <p:blipFill rotWithShape="1">
          <a:blip r:embed="rId5">
            <a:alphaModFix/>
          </a:blip>
          <a:srcRect b="0" l="0" r="0" t="23606"/>
          <a:stretch/>
        </p:blipFill>
        <p:spPr>
          <a:xfrm>
            <a:off x="3181775" y="5257601"/>
            <a:ext cx="2780450" cy="10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bceefb519_0_5"/>
          <p:cNvSpPr/>
          <p:nvPr/>
        </p:nvSpPr>
        <p:spPr>
          <a:xfrm>
            <a:off x="519150" y="3801574"/>
            <a:ext cx="81057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Responsabilidades del componente Product: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Gestionar el estado de la UI del feature.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Mantener el filtro (listFilter).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Calcular los datos derivados (filteredProducts).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Controlar la apertura y cierre del modal.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Coordinar la interacción con ProductList.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46" name="Google Shape;146;g3dbceefb519_0_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g3dbceefb519_0_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g3dbceefb519_0_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g3dbceefb519_0_5"/>
          <p:cNvSpPr/>
          <p:nvPr/>
        </p:nvSpPr>
        <p:spPr>
          <a:xfrm>
            <a:off x="646925" y="1065874"/>
            <a:ext cx="81057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Creamos el componente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r>
              <a:rPr lang="es-CL" sz="1800">
                <a:solidFill>
                  <a:schemeClr val="dk1"/>
                </a:solidFill>
              </a:rPr>
              <a:t> como contenedor principal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dbceefb519_0_5"/>
          <p:cNvSpPr txBox="1"/>
          <p:nvPr/>
        </p:nvSpPr>
        <p:spPr>
          <a:xfrm>
            <a:off x="1144588" y="185738"/>
            <a:ext cx="50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Estructura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bceefb519_0_5"/>
          <p:cNvSpPr/>
          <p:nvPr/>
        </p:nvSpPr>
        <p:spPr>
          <a:xfrm>
            <a:off x="750000" y="1859300"/>
            <a:ext cx="76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&gt; ng g c features/products/components/product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2" name="Google Shape;152;g3dbceefb519_0_5" title="Captura de pantalla 2026-05-03 a la(s) 22.14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3850"/>
            <a:ext cx="8839204" cy="111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e64195a944_0_38" title="Captura de pantalla 2026-05-03 a la(s) 22.24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38" y="1424075"/>
            <a:ext cx="2664124" cy="4548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58" name="Google Shape;158;g3e64195a944_0_38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g3e64195a944_0_3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g3e64195a944_0_3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1" name="Google Shape;161;g3e64195a944_0_38"/>
          <p:cNvSpPr/>
          <p:nvPr/>
        </p:nvSpPr>
        <p:spPr>
          <a:xfrm>
            <a:off x="646925" y="1065877"/>
            <a:ext cx="8105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Organización de componentes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e64195a944_0_38"/>
          <p:cNvSpPr txBox="1"/>
          <p:nvPr/>
        </p:nvSpPr>
        <p:spPr>
          <a:xfrm>
            <a:off x="1144588" y="185738"/>
            <a:ext cx="50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Estructura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64195a944_0_38"/>
          <p:cNvSpPr/>
          <p:nvPr/>
        </p:nvSpPr>
        <p:spPr>
          <a:xfrm>
            <a:off x="4174825" y="1668100"/>
            <a:ext cx="800100" cy="252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64195a944_0_38"/>
          <p:cNvSpPr/>
          <p:nvPr/>
        </p:nvSpPr>
        <p:spPr>
          <a:xfrm>
            <a:off x="3532500" y="4932675"/>
            <a:ext cx="1750500" cy="9837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64195a944_0_38"/>
          <p:cNvSpPr/>
          <p:nvPr/>
        </p:nvSpPr>
        <p:spPr>
          <a:xfrm>
            <a:off x="3543074" y="2184400"/>
            <a:ext cx="1750500" cy="12093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64195a944_0_38"/>
          <p:cNvSpPr/>
          <p:nvPr/>
        </p:nvSpPr>
        <p:spPr>
          <a:xfrm>
            <a:off x="5342500" y="1578437"/>
            <a:ext cx="1942800" cy="523200"/>
          </a:xfrm>
          <a:prstGeom prst="wedgeRectCallout">
            <a:avLst>
              <a:gd fmla="val -66561" name="adj1"/>
              <a:gd fmla="val -817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dominio funcional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67" name="Google Shape;167;g3e64195a944_0_38"/>
          <p:cNvSpPr/>
          <p:nvPr/>
        </p:nvSpPr>
        <p:spPr>
          <a:xfrm>
            <a:off x="298475" y="3404987"/>
            <a:ext cx="2732700" cy="662400"/>
          </a:xfrm>
          <a:prstGeom prst="wedgeRectCallout">
            <a:avLst>
              <a:gd fmla="val 70367" name="adj1"/>
              <a:gd fmla="val -22409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product-list es un subcomponente visual de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68" name="Google Shape;168;g3e64195a944_0_38"/>
          <p:cNvSpPr/>
          <p:nvPr/>
        </p:nvSpPr>
        <p:spPr>
          <a:xfrm>
            <a:off x="5569000" y="3404975"/>
            <a:ext cx="2732700" cy="662400"/>
          </a:xfrm>
          <a:prstGeom prst="wedgeRectCallout">
            <a:avLst>
              <a:gd fmla="val -95779" name="adj1"/>
              <a:gd fmla="val 11145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star</a:t>
            </a:r>
            <a:r>
              <a:rPr lang="es-CL">
                <a:solidFill>
                  <a:schemeClr val="dk1"/>
                </a:solidFill>
              </a:rPr>
              <a:t> es un subcomponente visual de </a:t>
            </a:r>
            <a:r>
              <a:rPr b="1" lang="es-CL">
                <a:solidFill>
                  <a:schemeClr val="dk1"/>
                </a:solidFill>
              </a:rPr>
              <a:t>product-list</a:t>
            </a:r>
            <a:endParaRPr b="1"/>
          </a:p>
        </p:txBody>
      </p:sp>
      <p:sp>
        <p:nvSpPr>
          <p:cNvPr id="169" name="Google Shape;169;g3e64195a944_0_38"/>
          <p:cNvSpPr/>
          <p:nvPr/>
        </p:nvSpPr>
        <p:spPr>
          <a:xfrm>
            <a:off x="519150" y="5959482"/>
            <a:ext cx="8105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A0A0A"/>
                </a:solidFill>
                <a:highlight>
                  <a:srgbClr val="FFFFFF"/>
                </a:highlight>
              </a:rPr>
              <a:t>Cuando arrastras y sueltas un archivo o directorio en el explorador, VS Code detecta el cambio de ubicación y actualiza automáticamente las rutas de importación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64195a944_0_38"/>
          <p:cNvSpPr/>
          <p:nvPr/>
        </p:nvSpPr>
        <p:spPr>
          <a:xfrm>
            <a:off x="298475" y="2094225"/>
            <a:ext cx="2732700" cy="662400"/>
          </a:xfrm>
          <a:prstGeom prst="wedgeRectCallout">
            <a:avLst>
              <a:gd fmla="val 69980" name="adj1"/>
              <a:gd fmla="val -22645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modal-add</a:t>
            </a:r>
            <a:r>
              <a:rPr lang="es-CL">
                <a:solidFill>
                  <a:schemeClr val="dk1"/>
                </a:solidFill>
              </a:rPr>
              <a:t> es un subcomponente visual de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71" name="Google Shape;171;g3e64195a944_0_38"/>
          <p:cNvSpPr/>
          <p:nvPr/>
        </p:nvSpPr>
        <p:spPr>
          <a:xfrm>
            <a:off x="3532500" y="3458675"/>
            <a:ext cx="1750500" cy="14094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e64195a944_0_38"/>
          <p:cNvSpPr/>
          <p:nvPr/>
        </p:nvSpPr>
        <p:spPr>
          <a:xfrm>
            <a:off x="5442000" y="4868087"/>
            <a:ext cx="1942800" cy="523200"/>
          </a:xfrm>
          <a:prstGeom prst="wedgeRectCallout">
            <a:avLst>
              <a:gd fmla="val -66561" name="adj1"/>
              <a:gd fmla="val -817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Cómo se compone el componente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e64195a944_0_64" title="Captura de pantalla 2026-04-26 a la(s) 20.14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050" y="1586558"/>
            <a:ext cx="2616600" cy="165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8" name="Google Shape;178;g3e64195a944_0_64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g3e64195a944_0_6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g3e64195a944_0_6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1" name="Google Shape;181;g3e64195a944_0_64"/>
          <p:cNvSpPr/>
          <p:nvPr/>
        </p:nvSpPr>
        <p:spPr>
          <a:xfrm>
            <a:off x="646925" y="1065877"/>
            <a:ext cx="8105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Organización de interfaces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64195a944_0_64"/>
          <p:cNvSpPr txBox="1"/>
          <p:nvPr/>
        </p:nvSpPr>
        <p:spPr>
          <a:xfrm>
            <a:off x="1144588" y="185738"/>
            <a:ext cx="50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Estructura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64195a944_0_64"/>
          <p:cNvSpPr/>
          <p:nvPr/>
        </p:nvSpPr>
        <p:spPr>
          <a:xfrm>
            <a:off x="4265825" y="1948058"/>
            <a:ext cx="867900" cy="252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64195a944_0_64"/>
          <p:cNvSpPr/>
          <p:nvPr/>
        </p:nvSpPr>
        <p:spPr>
          <a:xfrm>
            <a:off x="3227925" y="2610633"/>
            <a:ext cx="1873200" cy="5232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e64195a944_0_64"/>
          <p:cNvSpPr/>
          <p:nvPr/>
        </p:nvSpPr>
        <p:spPr>
          <a:xfrm>
            <a:off x="5497025" y="1857483"/>
            <a:ext cx="1942800" cy="523200"/>
          </a:xfrm>
          <a:prstGeom prst="wedgeRectCallout">
            <a:avLst>
              <a:gd fmla="val -66561" name="adj1"/>
              <a:gd fmla="val -817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dominio funcional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86" name="Google Shape;186;g3e64195a944_0_64"/>
          <p:cNvSpPr/>
          <p:nvPr/>
        </p:nvSpPr>
        <p:spPr>
          <a:xfrm>
            <a:off x="298475" y="2686908"/>
            <a:ext cx="2732700" cy="662400"/>
          </a:xfrm>
          <a:prstGeom prst="wedgeRectCallout">
            <a:avLst>
              <a:gd fmla="val 58361" name="adj1"/>
              <a:gd fmla="val -3223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implementación de interfaces para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87" name="Google Shape;187;g3e64195a944_0_64"/>
          <p:cNvSpPr/>
          <p:nvPr/>
        </p:nvSpPr>
        <p:spPr>
          <a:xfrm>
            <a:off x="646925" y="3588943"/>
            <a:ext cx="8105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Organización de servicios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e64195a944_0_64" title="Captura de pantalla 2026-04-26 a la(s) 20.14.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4388" y="4088867"/>
            <a:ext cx="2571925" cy="223540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e64195a944_0_64"/>
          <p:cNvSpPr/>
          <p:nvPr/>
        </p:nvSpPr>
        <p:spPr>
          <a:xfrm>
            <a:off x="4265825" y="4439358"/>
            <a:ext cx="867900" cy="252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64195a944_0_64"/>
          <p:cNvSpPr/>
          <p:nvPr/>
        </p:nvSpPr>
        <p:spPr>
          <a:xfrm>
            <a:off x="5497025" y="4303758"/>
            <a:ext cx="1942800" cy="523200"/>
          </a:xfrm>
          <a:prstGeom prst="wedgeRectCallout">
            <a:avLst>
              <a:gd fmla="val -66561" name="adj1"/>
              <a:gd fmla="val -817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dominio funcional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91" name="Google Shape;191;g3e64195a944_0_64"/>
          <p:cNvSpPr/>
          <p:nvPr/>
        </p:nvSpPr>
        <p:spPr>
          <a:xfrm>
            <a:off x="249792" y="5379308"/>
            <a:ext cx="2732700" cy="662400"/>
          </a:xfrm>
          <a:prstGeom prst="wedgeRectCallout">
            <a:avLst>
              <a:gd fmla="val 58361" name="adj1"/>
              <a:gd fmla="val -3223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implementación de servicios del dominio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192" name="Google Shape;192;g3e64195a944_0_64"/>
          <p:cNvSpPr/>
          <p:nvPr/>
        </p:nvSpPr>
        <p:spPr>
          <a:xfrm>
            <a:off x="3227925" y="5352750"/>
            <a:ext cx="2085000" cy="9231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7" name="Google Shape;197;g3e64195a944_0_12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g3e64195a944_0_12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e64195a944_0_12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0" name="Google Shape;200;g3e64195a944_0_126"/>
          <p:cNvSpPr txBox="1"/>
          <p:nvPr/>
        </p:nvSpPr>
        <p:spPr>
          <a:xfrm>
            <a:off x="1144588" y="185738"/>
            <a:ext cx="50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Estructura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e64195a944_0_126"/>
          <p:cNvSpPr/>
          <p:nvPr/>
        </p:nvSpPr>
        <p:spPr>
          <a:xfrm>
            <a:off x="519150" y="3785849"/>
            <a:ext cx="8105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Cuando un proyecto crece, la organización por dominio vence a la organización plana.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e64195a944_0_126"/>
          <p:cNvSpPr/>
          <p:nvPr/>
        </p:nvSpPr>
        <p:spPr>
          <a:xfrm>
            <a:off x="646150" y="1065852"/>
            <a:ext cx="81057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Todo lo relacionado al dominio funcional vive junto.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Ya no ordenamos por archivo.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Ordenamos por problema de negocio/dominio funcional.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T</a:t>
            </a:r>
            <a:r>
              <a:rPr lang="es-CL" sz="1800">
                <a:solidFill>
                  <a:schemeClr val="dk1"/>
                </a:solidFill>
              </a:rPr>
              <a:t>ambién agrupamos componentes, servicios e interfaces por dominio.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Todo lo relacionado al dominio vive junto.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7" name="Google Shape;207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646913" y="1065868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 eliminar el ejemplo de Weather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1144588" y="185738"/>
            <a:ext cx="54051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2800">
                <a:solidFill>
                  <a:srgbClr val="0070C0"/>
                </a:solidFill>
              </a:rPr>
              <a:t>Weather</a:t>
            </a:r>
            <a:endParaRPr/>
          </a:p>
        </p:txBody>
      </p:sp>
      <p:pic>
        <p:nvPicPr>
          <p:cNvPr id="212" name="Google Shape;212;p4" title="Captura de pantalla 2026-04-26 a la(s) 20.37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5988" y="1577025"/>
            <a:ext cx="3012024" cy="11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"/>
          <p:cNvSpPr/>
          <p:nvPr/>
        </p:nvSpPr>
        <p:spPr>
          <a:xfrm>
            <a:off x="3164425" y="1933275"/>
            <a:ext cx="2317800" cy="7125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5793350" y="1984483"/>
            <a:ext cx="1942800" cy="523200"/>
          </a:xfrm>
          <a:prstGeom prst="wedgeRectCallout">
            <a:avLst>
              <a:gd fmla="val -66561" name="adj1"/>
              <a:gd fmla="val -817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Eliminar archivos del servicio </a:t>
            </a:r>
            <a:r>
              <a:rPr b="1" lang="es-CL">
                <a:solidFill>
                  <a:schemeClr val="dk1"/>
                </a:solidFill>
              </a:rPr>
              <a:t>weather</a:t>
            </a:r>
            <a:endParaRPr b="1"/>
          </a:p>
        </p:txBody>
      </p:sp>
      <p:sp>
        <p:nvSpPr>
          <p:cNvPr id="215" name="Google Shape;215;p4"/>
          <p:cNvSpPr/>
          <p:nvPr/>
        </p:nvSpPr>
        <p:spPr>
          <a:xfrm>
            <a:off x="376150" y="2836425"/>
            <a:ext cx="4035600" cy="2793900"/>
          </a:xfrm>
          <a:prstGeom prst="rect">
            <a:avLst/>
          </a:prstGeom>
          <a:solidFill>
            <a:srgbClr val="DDEAF6"/>
          </a:solidFill>
          <a:ln cap="flat" cmpd="sng" w="28575">
            <a:solidFill>
              <a:srgbClr val="00B0F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4746950" y="2846162"/>
            <a:ext cx="4035600" cy="3474900"/>
          </a:xfrm>
          <a:prstGeom prst="rect">
            <a:avLst/>
          </a:prstGeom>
          <a:solidFill>
            <a:srgbClr val="DDEAF6"/>
          </a:solidFill>
          <a:ln cap="flat" cmpd="sng" w="28575">
            <a:solidFill>
              <a:srgbClr val="00B0F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574225" y="3053475"/>
            <a:ext cx="3631200" cy="2407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4949150" y="3081763"/>
            <a:ext cx="3631200" cy="306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574229" y="3081776"/>
            <a:ext cx="18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rgbClr val="00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949154" y="3089300"/>
            <a:ext cx="18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</a:t>
            </a:r>
            <a:r>
              <a:rPr lang="es-CL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400">
              <a:solidFill>
                <a:srgbClr val="00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1" name="Google Shape;221;p4" title="Captura de pantalla 2026-04-26 a la(s) 23.19.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625" y="3469238"/>
            <a:ext cx="32724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" title="Captura de pantalla 2026-04-26 a la(s) 23.19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625" y="3838160"/>
            <a:ext cx="3272402" cy="77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"/>
          <p:cNvSpPr/>
          <p:nvPr/>
        </p:nvSpPr>
        <p:spPr>
          <a:xfrm>
            <a:off x="857225" y="4144617"/>
            <a:ext cx="1375800" cy="1218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2597100" y="4424817"/>
            <a:ext cx="1375800" cy="1218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795625" y="3516775"/>
            <a:ext cx="3177300" cy="2097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" title="Captura de pantalla 2026-04-26 a la(s) 23.20.2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625" y="4686900"/>
            <a:ext cx="3272401" cy="61772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"/>
          <p:cNvSpPr/>
          <p:nvPr/>
        </p:nvSpPr>
        <p:spPr>
          <a:xfrm>
            <a:off x="857225" y="4820633"/>
            <a:ext cx="3115800" cy="4629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1412875" y="5822225"/>
            <a:ext cx="1942800" cy="665400"/>
          </a:xfrm>
          <a:prstGeom prst="wedgeRectCallout">
            <a:avLst>
              <a:gd fmla="val 2568" name="adj1"/>
              <a:gd fmla="val -12106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Eliminar referencias </a:t>
            </a:r>
            <a:r>
              <a:rPr b="1" lang="es-CL">
                <a:solidFill>
                  <a:schemeClr val="dk1"/>
                </a:solidFill>
              </a:rPr>
              <a:t>weather </a:t>
            </a:r>
            <a:r>
              <a:rPr lang="es-CL">
                <a:solidFill>
                  <a:schemeClr val="dk1"/>
                </a:solidFill>
              </a:rPr>
              <a:t>desde el componente app (ts)</a:t>
            </a:r>
            <a:endParaRPr/>
          </a:p>
        </p:txBody>
      </p:sp>
      <p:pic>
        <p:nvPicPr>
          <p:cNvPr id="229" name="Google Shape;229;p4" title="Captura de pantalla 2026-04-26 a la(s) 23.20.5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76100" y="3495916"/>
            <a:ext cx="3177299" cy="219126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0" name="Google Shape;230;p4"/>
          <p:cNvSpPr/>
          <p:nvPr/>
        </p:nvSpPr>
        <p:spPr>
          <a:xfrm>
            <a:off x="6699250" y="5687175"/>
            <a:ext cx="2229300" cy="665400"/>
          </a:xfrm>
          <a:prstGeom prst="wedgeRectCallout">
            <a:avLst>
              <a:gd fmla="val 2568" name="adj1"/>
              <a:gd fmla="val -12106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Eliminar referencias </a:t>
            </a:r>
            <a:r>
              <a:rPr b="1" lang="es-CL">
                <a:solidFill>
                  <a:schemeClr val="dk1"/>
                </a:solidFill>
              </a:rPr>
              <a:t>weather </a:t>
            </a:r>
            <a:r>
              <a:rPr lang="es-CL">
                <a:solidFill>
                  <a:schemeClr val="dk1"/>
                </a:solidFill>
              </a:rPr>
              <a:t>desde el componente app (html)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e64195a944_0_149" title="Captura de pantalla 2026-04-26 a la(s) 23.50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475" y="1870172"/>
            <a:ext cx="4159752" cy="90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e64195a944_0_149" title="Captura de pantalla 2026-04-26 a la(s) 23.52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475" y="2827490"/>
            <a:ext cx="5985926" cy="10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e64195a944_0_149" title="Captura de pantalla 2026-04-26 a la(s) 23.52.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475" y="3993988"/>
            <a:ext cx="4430199" cy="13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e64195a944_0_149" title="Captura de pantalla 2026-04-26 a la(s) 23.52.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475" y="5400973"/>
            <a:ext cx="5499825" cy="10228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39" name="Google Shape;239;g3e64195a944_0_149"/>
          <p:cNvPicPr preferRelativeResize="0"/>
          <p:nvPr/>
        </p:nvPicPr>
        <p:blipFill rotWithShape="1">
          <a:blip r:embed="rId7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g3e64195a944_0_14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" name="Google Shape;241;g3e64195a944_0_14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2" name="Google Shape;242;g3e64195a944_0_149"/>
          <p:cNvSpPr/>
          <p:nvPr/>
        </p:nvSpPr>
        <p:spPr>
          <a:xfrm>
            <a:off x="646913" y="1065868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funcionalidades que deberían estar dentro del </a:t>
            </a:r>
            <a:r>
              <a:rPr b="1" lang="es-CL" sz="1800">
                <a:solidFill>
                  <a:schemeClr val="dk1"/>
                </a:solidFill>
              </a:rPr>
              <a:t>servicio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43" name="Google Shape;243;g3e64195a944_0_149"/>
          <p:cNvSpPr txBox="1"/>
          <p:nvPr/>
        </p:nvSpPr>
        <p:spPr>
          <a:xfrm>
            <a:off x="1144588" y="185738"/>
            <a:ext cx="540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App</a:t>
            </a:r>
            <a:endParaRPr/>
          </a:p>
        </p:txBody>
      </p:sp>
      <p:sp>
        <p:nvSpPr>
          <p:cNvPr id="244" name="Google Shape;244;g3e64195a944_0_149"/>
          <p:cNvSpPr txBox="1"/>
          <p:nvPr/>
        </p:nvSpPr>
        <p:spPr>
          <a:xfrm>
            <a:off x="633908" y="153148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signia de cruz" id="245" name="Google Shape;245;g3e64195a944_0_1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9776" y="2271500"/>
            <a:ext cx="267513" cy="2675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e64195a944_0_149"/>
          <p:cNvSpPr/>
          <p:nvPr/>
        </p:nvSpPr>
        <p:spPr>
          <a:xfrm>
            <a:off x="4982122" y="1888094"/>
            <a:ext cx="2174400" cy="853200"/>
          </a:xfrm>
          <a:prstGeom prst="wedgeRectCallout">
            <a:avLst>
              <a:gd fmla="val -98065" name="adj1"/>
              <a:gd fmla="val 11522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el arreglo de productos dentro del servicio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47" name="Google Shape;247;g3e64195a944_0_149"/>
          <p:cNvSpPr txBox="1"/>
          <p:nvPr/>
        </p:nvSpPr>
        <p:spPr>
          <a:xfrm>
            <a:off x="5707725" y="1512399"/>
            <a:ext cx="29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Antes de la refactorización</a:t>
            </a:r>
            <a:endParaRPr/>
          </a:p>
        </p:txBody>
      </p:sp>
      <p:sp>
        <p:nvSpPr>
          <p:cNvPr id="248" name="Google Shape;248;g3e64195a944_0_149"/>
          <p:cNvSpPr/>
          <p:nvPr/>
        </p:nvSpPr>
        <p:spPr>
          <a:xfrm>
            <a:off x="888750" y="2300400"/>
            <a:ext cx="2688300" cy="2097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64195a944_0_149"/>
          <p:cNvSpPr/>
          <p:nvPr/>
        </p:nvSpPr>
        <p:spPr>
          <a:xfrm>
            <a:off x="1144600" y="3256700"/>
            <a:ext cx="2217600" cy="2097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64195a944_0_149"/>
          <p:cNvSpPr/>
          <p:nvPr/>
        </p:nvSpPr>
        <p:spPr>
          <a:xfrm>
            <a:off x="2821000" y="4837675"/>
            <a:ext cx="2217600" cy="2097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e64195a944_0_149"/>
          <p:cNvSpPr/>
          <p:nvPr/>
        </p:nvSpPr>
        <p:spPr>
          <a:xfrm>
            <a:off x="888750" y="5614508"/>
            <a:ext cx="1175100" cy="2097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e64195a944_0_149"/>
          <p:cNvSpPr/>
          <p:nvPr/>
        </p:nvSpPr>
        <p:spPr>
          <a:xfrm>
            <a:off x="5494347" y="3363394"/>
            <a:ext cx="2174400" cy="853200"/>
          </a:xfrm>
          <a:prstGeom prst="wedgeRectCallout">
            <a:avLst>
              <a:gd fmla="val -142551" name="adj1"/>
              <a:gd fmla="val -50993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Modificamos la forma en que accedemos a los productos</a:t>
            </a:r>
            <a:endParaRPr/>
          </a:p>
        </p:txBody>
      </p:sp>
      <p:sp>
        <p:nvSpPr>
          <p:cNvPr id="253" name="Google Shape;253;g3e64195a944_0_149"/>
          <p:cNvSpPr/>
          <p:nvPr/>
        </p:nvSpPr>
        <p:spPr>
          <a:xfrm>
            <a:off x="5494347" y="4382182"/>
            <a:ext cx="2174400" cy="853200"/>
          </a:xfrm>
          <a:prstGeom prst="wedgeRectCallout">
            <a:avLst>
              <a:gd fmla="val -70516" name="adj1"/>
              <a:gd fmla="val 1566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el arreglo de productos dentro del servicio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54" name="Google Shape;254;g3e64195a944_0_149"/>
          <p:cNvSpPr/>
          <p:nvPr/>
        </p:nvSpPr>
        <p:spPr>
          <a:xfrm>
            <a:off x="6493422" y="5459757"/>
            <a:ext cx="2174400" cy="853200"/>
          </a:xfrm>
          <a:prstGeom prst="wedgeRectCallout">
            <a:avLst>
              <a:gd fmla="val -247392" name="adj1"/>
              <a:gd fmla="val -25045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el arreglo de productos dentro del servicio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" title="Captura de pantalla 2026-04-27 a la(s) 00.00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50" y="1890742"/>
            <a:ext cx="4335125" cy="178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60" name="Google Shape;260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"/>
          <p:cNvSpPr txBox="1"/>
          <p:nvPr/>
        </p:nvSpPr>
        <p:spPr>
          <a:xfrm>
            <a:off x="1144588" y="185738"/>
            <a:ext cx="53591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Servicio Product</a:t>
            </a:r>
            <a:endParaRPr/>
          </a:p>
        </p:txBody>
      </p:sp>
      <p:cxnSp>
        <p:nvCxnSpPr>
          <p:cNvPr id="262" name="Google Shape;262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532866" y="1552189"/>
            <a:ext cx="185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product.ts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5508754" y="1635022"/>
            <a:ext cx="322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Después de la refactorización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960325" y="2834342"/>
            <a:ext cx="3114300" cy="31290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 de insignia1" id="267" name="Google Shape;26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4621" y="273385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"/>
          <p:cNvSpPr/>
          <p:nvPr/>
        </p:nvSpPr>
        <p:spPr>
          <a:xfrm>
            <a:off x="5189074" y="2780467"/>
            <a:ext cx="2420400" cy="572700"/>
          </a:xfrm>
          <a:prstGeom prst="wedgeRectCallout">
            <a:avLst>
              <a:gd fmla="val -75140" name="adj1"/>
              <a:gd fmla="val -13910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Incluir </a:t>
            </a:r>
            <a:r>
              <a:rPr lang="es-CL">
                <a:solidFill>
                  <a:schemeClr val="dk1"/>
                </a:solidFill>
              </a:rPr>
              <a:t>lista de productos 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</a:t>
            </a:r>
            <a:r>
              <a:rPr b="1" lang="es-CL">
                <a:solidFill>
                  <a:schemeClr val="dk1"/>
                </a:solidFill>
              </a:rPr>
              <a:t>servicio product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46913" y="1065868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funcionalidades que deberían estar dentro del </a:t>
            </a:r>
            <a:r>
              <a:rPr b="1" lang="es-CL" sz="1800">
                <a:solidFill>
                  <a:schemeClr val="dk1"/>
                </a:solidFill>
              </a:rPr>
              <a:t>servicio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646925" y="3874681"/>
            <a:ext cx="81057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 lista de productos queda disponible para ser compartida por todos los componentes que utilicen el servicio.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e665c02925_0_34" title="Captura de pantalla 2026-04-27 a la(s) 00.05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035192"/>
            <a:ext cx="5977339" cy="1380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76" name="Google Shape;276;g3e665c02925_0_34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g3e665c02925_0_3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8" name="Google Shape;278;g3e665c02925_0_3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9" name="Google Shape;279;g3e665c02925_0_34"/>
          <p:cNvSpPr/>
          <p:nvPr/>
        </p:nvSpPr>
        <p:spPr>
          <a:xfrm>
            <a:off x="646913" y="1065868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funcionalidades que deberían estar dentro del </a:t>
            </a:r>
            <a:r>
              <a:rPr b="1" lang="es-CL" sz="1800">
                <a:solidFill>
                  <a:schemeClr val="dk1"/>
                </a:solidFill>
              </a:rPr>
              <a:t>servicio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80" name="Google Shape;280;g3e665c02925_0_34"/>
          <p:cNvSpPr txBox="1"/>
          <p:nvPr/>
        </p:nvSpPr>
        <p:spPr>
          <a:xfrm>
            <a:off x="1144588" y="185738"/>
            <a:ext cx="540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App</a:t>
            </a:r>
            <a:endParaRPr/>
          </a:p>
        </p:txBody>
      </p:sp>
      <p:sp>
        <p:nvSpPr>
          <p:cNvPr id="281" name="Google Shape;281;g3e665c02925_0_34"/>
          <p:cNvSpPr txBox="1"/>
          <p:nvPr/>
        </p:nvSpPr>
        <p:spPr>
          <a:xfrm>
            <a:off x="633908" y="1573814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e665c02925_0_34"/>
          <p:cNvSpPr txBox="1"/>
          <p:nvPr/>
        </p:nvSpPr>
        <p:spPr>
          <a:xfrm>
            <a:off x="5270500" y="1512400"/>
            <a:ext cx="3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B050"/>
                </a:solidFill>
              </a:rPr>
              <a:t>Después</a:t>
            </a:r>
            <a:r>
              <a:rPr lang="es-CL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de la refactorización</a:t>
            </a:r>
            <a:endParaRPr>
              <a:solidFill>
                <a:srgbClr val="00B050"/>
              </a:solidFill>
            </a:endParaRPr>
          </a:p>
        </p:txBody>
      </p:sp>
      <p:pic>
        <p:nvPicPr>
          <p:cNvPr id="283" name="Google Shape;283;g3e665c02925_0_34" title="Captura de pantalla 2026-04-27 a la(s) 00.05.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900" y="2969717"/>
            <a:ext cx="5769525" cy="106973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4" name="Google Shape;284;g3e665c02925_0_34"/>
          <p:cNvSpPr/>
          <p:nvPr/>
        </p:nvSpPr>
        <p:spPr>
          <a:xfrm>
            <a:off x="5853547" y="3402869"/>
            <a:ext cx="2174400" cy="853200"/>
          </a:xfrm>
          <a:prstGeom prst="wedgeRectCallout">
            <a:avLst>
              <a:gd fmla="val -208716" name="adj1"/>
              <a:gd fmla="val -2709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Accedemos a la lista de productos del servicio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sp>
        <p:nvSpPr>
          <p:cNvPr id="285" name="Google Shape;285;g3e665c02925_0_34"/>
          <p:cNvSpPr/>
          <p:nvPr/>
        </p:nvSpPr>
        <p:spPr>
          <a:xfrm>
            <a:off x="6747547" y="4473644"/>
            <a:ext cx="2174400" cy="853200"/>
          </a:xfrm>
          <a:prstGeom prst="wedgeRectCallout">
            <a:avLst>
              <a:gd fmla="val -147132" name="adj1"/>
              <a:gd fmla="val 18587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Accedemos a la lista de productos del servicio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 b="1"/>
          </a:p>
        </p:txBody>
      </p:sp>
      <p:pic>
        <p:nvPicPr>
          <p:cNvPr id="286" name="Google Shape;286;g3e665c02925_0_34" title="Captura de pantalla 2026-04-27 a la(s) 00.05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900" y="5414278"/>
            <a:ext cx="6137018" cy="10697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g3e665c02925_0_34"/>
          <p:cNvSpPr/>
          <p:nvPr/>
        </p:nvSpPr>
        <p:spPr>
          <a:xfrm>
            <a:off x="6493422" y="5544423"/>
            <a:ext cx="2174400" cy="853200"/>
          </a:xfrm>
          <a:prstGeom prst="wedgeRectCallout">
            <a:avLst>
              <a:gd fmla="val -225976" name="adj1"/>
              <a:gd fmla="val -18845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Accedemos a la lista de productos del servicio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Marca de insignia1" id="288" name="Google Shape;288;g3e665c02925_0_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299" y="2126050"/>
            <a:ext cx="312600" cy="31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ca de insignia1" id="289" name="Google Shape;289;g3e665c02925_0_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299" y="3231838"/>
            <a:ext cx="312600" cy="31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ca de insignia1" id="290" name="Google Shape;290;g3e665c02925_0_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299" y="4622488"/>
            <a:ext cx="312600" cy="31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ca de insignia1" id="291" name="Google Shape;291;g3e665c02925_0_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299" y="5814704"/>
            <a:ext cx="312600" cy="3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e665c02925_0_34" title="Captura de pantalla 2026-04-27 a la(s) 00.31.4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900" y="1905987"/>
            <a:ext cx="3690584" cy="10697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3" name="Google Shape;293;g3e665c02925_0_34"/>
          <p:cNvSpPr/>
          <p:nvPr/>
        </p:nvSpPr>
        <p:spPr>
          <a:xfrm>
            <a:off x="5363125" y="1976950"/>
            <a:ext cx="3463500" cy="921300"/>
          </a:xfrm>
          <a:prstGeom prst="wedgeRectCallout">
            <a:avLst>
              <a:gd fmla="val -86592" name="adj1"/>
              <a:gd fmla="val 7669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Quitamos declaración de la lista de productos y declaramos public la inyección de dependencia del servicio product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7" title="Captura de pantalla 2026-04-27 a la(s) 00.39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988" y="2225559"/>
            <a:ext cx="6240025" cy="147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99" name="Google Shape;299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tenemos que actualizar las referencias o invocaciones a funciones dentro de la vista.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1452006" y="1887005"/>
            <a:ext cx="20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144588" y="185738"/>
            <a:ext cx="58977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App</a:t>
            </a:r>
            <a:endParaRPr/>
          </a:p>
        </p:txBody>
      </p:sp>
      <p:sp>
        <p:nvSpPr>
          <p:cNvPr id="305" name="Google Shape;305;p7"/>
          <p:cNvSpPr txBox="1"/>
          <p:nvPr/>
        </p:nvSpPr>
        <p:spPr>
          <a:xfrm>
            <a:off x="5391713" y="1844183"/>
            <a:ext cx="29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Antes de la refactorización</a:t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4336925" y="2974933"/>
            <a:ext cx="3156000" cy="369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signia de cruz" id="307" name="Google Shape;3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8086" y="2940915"/>
            <a:ext cx="437337" cy="43733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7"/>
          <p:cNvSpPr/>
          <p:nvPr/>
        </p:nvSpPr>
        <p:spPr>
          <a:xfrm>
            <a:off x="3677932" y="3601885"/>
            <a:ext cx="4284000" cy="612000"/>
          </a:xfrm>
          <a:prstGeom prst="wedgeRectCallout">
            <a:avLst>
              <a:gd fmla="val 5567" name="adj1"/>
              <a:gd fmla="val -87285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 </a:t>
            </a:r>
            <a:r>
              <a:rPr lang="es-CL">
                <a:solidFill>
                  <a:schemeClr val="dk1"/>
                </a:solidFill>
              </a:rPr>
              <a:t>el estado de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</a:rPr>
              <a:t>la lista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</a:rPr>
              <a:t>de productos no pertenece al componente app</a:t>
            </a:r>
            <a:endParaRPr/>
          </a:p>
        </p:txBody>
      </p:sp>
      <p:pic>
        <p:nvPicPr>
          <p:cNvPr id="309" name="Google Shape;309;p7" title="Captura de pantalla 2026-04-27 a la(s) 00.35.5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888" y="4824906"/>
            <a:ext cx="7438532" cy="1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"/>
          <p:cNvSpPr txBox="1"/>
          <p:nvPr/>
        </p:nvSpPr>
        <p:spPr>
          <a:xfrm>
            <a:off x="900079" y="4464291"/>
            <a:ext cx="20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4902158" y="4448902"/>
            <a:ext cx="322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Después de la refactorización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3226182" y="5396317"/>
            <a:ext cx="4746000" cy="30600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 de insignia1" id="313" name="Google Shape;3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5795" y="5320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7"/>
          <p:cNvSpPr/>
          <p:nvPr/>
        </p:nvSpPr>
        <p:spPr>
          <a:xfrm>
            <a:off x="3859975" y="5917842"/>
            <a:ext cx="4284000" cy="523200"/>
          </a:xfrm>
          <a:prstGeom prst="wedgeRectCallout">
            <a:avLst>
              <a:gd fmla="val -30909" name="adj1"/>
              <a:gd fmla="val -82703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 </a:t>
            </a:r>
            <a:r>
              <a:rPr lang="es-CL">
                <a:solidFill>
                  <a:schemeClr val="dk1"/>
                </a:solidFill>
              </a:rPr>
              <a:t>el estado de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s-CL">
                <a:solidFill>
                  <a:schemeClr val="dk1"/>
                </a:solidFill>
              </a:rPr>
              <a:t>lista de productos le pertenece al servicio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9" name="Google Shape;319;g3dbceefb519_0_2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g3dbceefb519_0_2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g3dbceefb519_0_2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2" name="Google Shape;322;g3dbceefb519_0_28"/>
          <p:cNvSpPr/>
          <p:nvPr/>
        </p:nvSpPr>
        <p:spPr>
          <a:xfrm>
            <a:off x="627062" y="11011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Todas las funcionalidades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las vamos a mover desde el </a:t>
            </a:r>
            <a:r>
              <a:rPr b="1" lang="es-CL" sz="1800">
                <a:solidFill>
                  <a:schemeClr val="dk1"/>
                </a:solidFill>
              </a:rPr>
              <a:t>componente App</a:t>
            </a:r>
            <a:r>
              <a:rPr lang="es-CL" sz="1800">
                <a:solidFill>
                  <a:schemeClr val="dk1"/>
                </a:solidFill>
              </a:rPr>
              <a:t> hacia el nuevo componente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dbceefb519_0_28"/>
          <p:cNvSpPr txBox="1"/>
          <p:nvPr/>
        </p:nvSpPr>
        <p:spPr>
          <a:xfrm>
            <a:off x="1144588" y="185738"/>
            <a:ext cx="589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Product</a:t>
            </a:r>
            <a:endParaRPr/>
          </a:p>
        </p:txBody>
      </p:sp>
      <p:pic>
        <p:nvPicPr>
          <p:cNvPr id="324" name="Google Shape;324;g3dbceefb519_0_28" title="Captura de pantalla 2026-05-03 a la(s) 22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050" y="2058487"/>
            <a:ext cx="5087045" cy="442168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dbceefb519_0_28"/>
          <p:cNvSpPr/>
          <p:nvPr/>
        </p:nvSpPr>
        <p:spPr>
          <a:xfrm>
            <a:off x="688700" y="2717525"/>
            <a:ext cx="4878300" cy="8703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dbceefb519_0_28"/>
          <p:cNvSpPr/>
          <p:nvPr/>
        </p:nvSpPr>
        <p:spPr>
          <a:xfrm>
            <a:off x="6132151" y="2717525"/>
            <a:ext cx="2662500" cy="853200"/>
          </a:xfrm>
          <a:prstGeom prst="wedgeRectCallout">
            <a:avLst>
              <a:gd fmla="val -75511" name="adj1"/>
              <a:gd fmla="val -258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Importamos </a:t>
            </a:r>
            <a:r>
              <a:rPr b="1" lang="es-CL">
                <a:solidFill>
                  <a:schemeClr val="dk1"/>
                </a:solidFill>
              </a:rPr>
              <a:t>IProduct, ProductService, ProductList y ModalAdd</a:t>
            </a:r>
            <a:endParaRPr b="1"/>
          </a:p>
        </p:txBody>
      </p:sp>
      <p:sp>
        <p:nvSpPr>
          <p:cNvPr id="327" name="Google Shape;327;g3dbceefb519_0_28"/>
          <p:cNvSpPr/>
          <p:nvPr/>
        </p:nvSpPr>
        <p:spPr>
          <a:xfrm>
            <a:off x="777600" y="4055250"/>
            <a:ext cx="1370700" cy="7812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dbceefb519_0_28"/>
          <p:cNvSpPr/>
          <p:nvPr/>
        </p:nvSpPr>
        <p:spPr>
          <a:xfrm>
            <a:off x="2834376" y="3983250"/>
            <a:ext cx="2662500" cy="853200"/>
          </a:xfrm>
          <a:prstGeom prst="wedgeRectCallout">
            <a:avLst>
              <a:gd fmla="val -75511" name="adj1"/>
              <a:gd fmla="val -258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Declaramos las dependencias del componente: </a:t>
            </a:r>
            <a:r>
              <a:rPr b="1" lang="es-CL">
                <a:solidFill>
                  <a:schemeClr val="dk1"/>
                </a:solidFill>
              </a:rPr>
              <a:t>ModalAdd, ProductList y FormsModule</a:t>
            </a:r>
            <a:endParaRPr b="1"/>
          </a:p>
        </p:txBody>
      </p:sp>
      <p:sp>
        <p:nvSpPr>
          <p:cNvPr id="329" name="Google Shape;329;g3dbceefb519_0_28"/>
          <p:cNvSpPr/>
          <p:nvPr/>
        </p:nvSpPr>
        <p:spPr>
          <a:xfrm>
            <a:off x="824175" y="5698975"/>
            <a:ext cx="3938400" cy="3969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dbceefb519_0_28"/>
          <p:cNvSpPr/>
          <p:nvPr/>
        </p:nvSpPr>
        <p:spPr>
          <a:xfrm>
            <a:off x="824175" y="6165775"/>
            <a:ext cx="3938400" cy="312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dbceefb519_0_28"/>
          <p:cNvSpPr/>
          <p:nvPr/>
        </p:nvSpPr>
        <p:spPr>
          <a:xfrm>
            <a:off x="5431650" y="5501150"/>
            <a:ext cx="3363000" cy="523200"/>
          </a:xfrm>
          <a:prstGeom prst="wedgeRectCallout">
            <a:avLst>
              <a:gd fmla="val -70212" name="adj1"/>
              <a:gd fmla="val -305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Declaramos</a:t>
            </a:r>
            <a:r>
              <a:rPr lang="es-CL">
                <a:solidFill>
                  <a:schemeClr val="dk1"/>
                </a:solidFill>
              </a:rPr>
              <a:t> las variables para controlar el </a:t>
            </a:r>
            <a:r>
              <a:rPr b="1" lang="es-CL">
                <a:solidFill>
                  <a:schemeClr val="dk1"/>
                </a:solidFill>
              </a:rPr>
              <a:t>modal</a:t>
            </a:r>
            <a:r>
              <a:rPr lang="es-CL">
                <a:solidFill>
                  <a:schemeClr val="dk1"/>
                </a:solidFill>
              </a:rPr>
              <a:t> y la </a:t>
            </a:r>
            <a:r>
              <a:rPr b="1" lang="es-CL">
                <a:solidFill>
                  <a:schemeClr val="dk1"/>
                </a:solidFill>
              </a:rPr>
              <a:t>lista filtrada</a:t>
            </a:r>
            <a:endParaRPr b="1"/>
          </a:p>
        </p:txBody>
      </p:sp>
      <p:sp>
        <p:nvSpPr>
          <p:cNvPr id="332" name="Google Shape;332;g3dbceefb519_0_28"/>
          <p:cNvSpPr/>
          <p:nvPr/>
        </p:nvSpPr>
        <p:spPr>
          <a:xfrm>
            <a:off x="5431650" y="6066862"/>
            <a:ext cx="3363000" cy="523200"/>
          </a:xfrm>
          <a:prstGeom prst="wedgeRectCallout">
            <a:avLst>
              <a:gd fmla="val -70212" name="adj1"/>
              <a:gd fmla="val -305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Hacemos inyección de dependencia del </a:t>
            </a:r>
            <a:r>
              <a:rPr b="1" lang="es-CL">
                <a:solidFill>
                  <a:schemeClr val="dk1"/>
                </a:solidFill>
              </a:rPr>
              <a:t>servicio ProductService</a:t>
            </a:r>
            <a:endParaRPr b="1"/>
          </a:p>
        </p:txBody>
      </p:sp>
      <p:sp>
        <p:nvSpPr>
          <p:cNvPr id="333" name="Google Shape;333;g3dbceefb519_0_28"/>
          <p:cNvSpPr txBox="1"/>
          <p:nvPr/>
        </p:nvSpPr>
        <p:spPr>
          <a:xfrm>
            <a:off x="542386" y="1719775"/>
            <a:ext cx="12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dbceefb519_0_57" title="Captura de pantalla 2026-05-03 a la(s) 22.4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" y="2015109"/>
            <a:ext cx="5897701" cy="4500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39" name="Google Shape;339;g3dbceefb519_0_57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g3dbceefb519_0_5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g3dbceefb519_0_5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42" name="Google Shape;342;g3dbceefb519_0_57"/>
          <p:cNvSpPr/>
          <p:nvPr/>
        </p:nvSpPr>
        <p:spPr>
          <a:xfrm>
            <a:off x="627062" y="11011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Todas las funcionalidades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las vamos a mover desde el </a:t>
            </a:r>
            <a:r>
              <a:rPr b="1" lang="es-CL" sz="1800">
                <a:solidFill>
                  <a:schemeClr val="dk1"/>
                </a:solidFill>
              </a:rPr>
              <a:t>componente App</a:t>
            </a:r>
            <a:r>
              <a:rPr lang="es-CL" sz="1800">
                <a:solidFill>
                  <a:schemeClr val="dk1"/>
                </a:solidFill>
              </a:rPr>
              <a:t> hacia el nuevo componente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dbceefb519_0_57"/>
          <p:cNvSpPr txBox="1"/>
          <p:nvPr/>
        </p:nvSpPr>
        <p:spPr>
          <a:xfrm>
            <a:off x="1144588" y="185738"/>
            <a:ext cx="589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Product</a:t>
            </a:r>
            <a:endParaRPr/>
          </a:p>
        </p:txBody>
      </p:sp>
      <p:sp>
        <p:nvSpPr>
          <p:cNvPr id="344" name="Google Shape;344;g3dbceefb519_0_57"/>
          <p:cNvSpPr/>
          <p:nvPr/>
        </p:nvSpPr>
        <p:spPr>
          <a:xfrm>
            <a:off x="824175" y="2562442"/>
            <a:ext cx="5621100" cy="1014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dbceefb519_0_57"/>
          <p:cNvSpPr/>
          <p:nvPr/>
        </p:nvSpPr>
        <p:spPr>
          <a:xfrm>
            <a:off x="824175" y="3677308"/>
            <a:ext cx="5621100" cy="10749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dbceefb519_0_57"/>
          <p:cNvSpPr/>
          <p:nvPr/>
        </p:nvSpPr>
        <p:spPr>
          <a:xfrm>
            <a:off x="6312051" y="2414654"/>
            <a:ext cx="2662500" cy="853200"/>
          </a:xfrm>
          <a:prstGeom prst="wedgeRectCallout">
            <a:avLst>
              <a:gd fmla="val -196840" name="adj1"/>
              <a:gd fmla="val -17943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Utilizamos </a:t>
            </a:r>
            <a:r>
              <a:rPr b="1" lang="es-CL">
                <a:solidFill>
                  <a:schemeClr val="dk1"/>
                </a:solidFill>
              </a:rPr>
              <a:t>ngOnInit</a:t>
            </a:r>
            <a:r>
              <a:rPr lang="es-CL">
                <a:solidFill>
                  <a:schemeClr val="dk1"/>
                </a:solidFill>
              </a:rPr>
              <a:t> para realizar la carga inicial de productos</a:t>
            </a:r>
            <a:endParaRPr b="1"/>
          </a:p>
        </p:txBody>
      </p:sp>
      <p:sp>
        <p:nvSpPr>
          <p:cNvPr id="347" name="Google Shape;347;g3dbceefb519_0_57"/>
          <p:cNvSpPr/>
          <p:nvPr/>
        </p:nvSpPr>
        <p:spPr>
          <a:xfrm>
            <a:off x="6312051" y="3612792"/>
            <a:ext cx="2662500" cy="853200"/>
          </a:xfrm>
          <a:prstGeom prst="wedgeRectCallout">
            <a:avLst>
              <a:gd fmla="val -154706" name="adj1"/>
              <a:gd fmla="val -21923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Definimos </a:t>
            </a:r>
            <a:r>
              <a:rPr b="1" lang="es-CL">
                <a:solidFill>
                  <a:schemeClr val="dk1"/>
                </a:solidFill>
              </a:rPr>
              <a:t>filteredProducts</a:t>
            </a:r>
            <a:r>
              <a:rPr lang="es-CL">
                <a:solidFill>
                  <a:schemeClr val="dk1"/>
                </a:solidFill>
              </a:rPr>
              <a:t> como dato derivado del estado de productos y del filtro</a:t>
            </a:r>
            <a:endParaRPr b="1"/>
          </a:p>
        </p:txBody>
      </p:sp>
      <p:sp>
        <p:nvSpPr>
          <p:cNvPr id="348" name="Google Shape;348;g3dbceefb519_0_57"/>
          <p:cNvSpPr/>
          <p:nvPr/>
        </p:nvSpPr>
        <p:spPr>
          <a:xfrm>
            <a:off x="824175" y="4805038"/>
            <a:ext cx="3938400" cy="17004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bceefb519_0_57"/>
          <p:cNvSpPr/>
          <p:nvPr/>
        </p:nvSpPr>
        <p:spPr>
          <a:xfrm>
            <a:off x="5369900" y="5467704"/>
            <a:ext cx="3363000" cy="523200"/>
          </a:xfrm>
          <a:prstGeom prst="wedgeRectCallout">
            <a:avLst>
              <a:gd fmla="val -70212" name="adj1"/>
              <a:gd fmla="val -305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Integramos</a:t>
            </a:r>
            <a:r>
              <a:rPr lang="es-CL">
                <a:solidFill>
                  <a:schemeClr val="dk1"/>
                </a:solidFill>
              </a:rPr>
              <a:t> las funciones para controlar la apertura del modal</a:t>
            </a:r>
            <a:endParaRPr b="1"/>
          </a:p>
        </p:txBody>
      </p:sp>
      <p:sp>
        <p:nvSpPr>
          <p:cNvPr id="350" name="Google Shape;350;g3dbceefb519_0_57"/>
          <p:cNvSpPr txBox="1"/>
          <p:nvPr/>
        </p:nvSpPr>
        <p:spPr>
          <a:xfrm>
            <a:off x="531802" y="1688025"/>
            <a:ext cx="12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g3dbceefb519_0_76" title="Captura de pantalla 2026-05-03 a la(s) 22.5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" y="2023717"/>
            <a:ext cx="5255622" cy="444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56" name="Google Shape;356;g3dbceefb519_0_76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g3dbceefb519_0_7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g3dbceefb519_0_7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9" name="Google Shape;359;g3dbceefb519_0_76"/>
          <p:cNvSpPr/>
          <p:nvPr/>
        </p:nvSpPr>
        <p:spPr>
          <a:xfrm>
            <a:off x="627062" y="1105593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Todas las funcionalidades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las vamos a mover desde el </a:t>
            </a:r>
            <a:r>
              <a:rPr b="1" lang="es-CL" sz="1800">
                <a:solidFill>
                  <a:schemeClr val="dk1"/>
                </a:solidFill>
              </a:rPr>
              <a:t>componente App</a:t>
            </a:r>
            <a:r>
              <a:rPr lang="es-CL" sz="1800">
                <a:solidFill>
                  <a:schemeClr val="dk1"/>
                </a:solidFill>
              </a:rPr>
              <a:t> hacia el nuevo componente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dbceefb519_0_76"/>
          <p:cNvSpPr txBox="1"/>
          <p:nvPr/>
        </p:nvSpPr>
        <p:spPr>
          <a:xfrm>
            <a:off x="1144588" y="185738"/>
            <a:ext cx="589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Product</a:t>
            </a:r>
            <a:endParaRPr/>
          </a:p>
        </p:txBody>
      </p:sp>
      <p:sp>
        <p:nvSpPr>
          <p:cNvPr id="361" name="Google Shape;361;g3dbceefb519_0_76"/>
          <p:cNvSpPr/>
          <p:nvPr/>
        </p:nvSpPr>
        <p:spPr>
          <a:xfrm>
            <a:off x="824175" y="3059858"/>
            <a:ext cx="5017800" cy="11313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dbceefb519_0_76"/>
          <p:cNvSpPr/>
          <p:nvPr/>
        </p:nvSpPr>
        <p:spPr>
          <a:xfrm>
            <a:off x="824175" y="4290908"/>
            <a:ext cx="5017800" cy="20592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dbceefb519_0_76"/>
          <p:cNvSpPr/>
          <p:nvPr/>
        </p:nvSpPr>
        <p:spPr>
          <a:xfrm>
            <a:off x="6216801" y="2943421"/>
            <a:ext cx="2662500" cy="853200"/>
          </a:xfrm>
          <a:prstGeom prst="wedgeRectCallout">
            <a:avLst>
              <a:gd fmla="val -154706" name="adj1"/>
              <a:gd fmla="val -24099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Integramos</a:t>
            </a:r>
            <a:r>
              <a:rPr lang="es-CL">
                <a:solidFill>
                  <a:schemeClr val="dk1"/>
                </a:solidFill>
              </a:rPr>
              <a:t> la funci</a:t>
            </a:r>
            <a:r>
              <a:rPr lang="es-CL">
                <a:solidFill>
                  <a:schemeClr val="dk1"/>
                </a:solidFill>
              </a:rPr>
              <a:t>ón para </a:t>
            </a:r>
            <a:r>
              <a:rPr b="1" lang="es-CL">
                <a:solidFill>
                  <a:schemeClr val="dk1"/>
                </a:solidFill>
              </a:rPr>
              <a:t>guardar producto</a:t>
            </a:r>
            <a:endParaRPr b="1"/>
          </a:p>
        </p:txBody>
      </p:sp>
      <p:sp>
        <p:nvSpPr>
          <p:cNvPr id="364" name="Google Shape;364;g3dbceefb519_0_76"/>
          <p:cNvSpPr/>
          <p:nvPr/>
        </p:nvSpPr>
        <p:spPr>
          <a:xfrm>
            <a:off x="6216801" y="4191146"/>
            <a:ext cx="2662500" cy="853200"/>
          </a:xfrm>
          <a:prstGeom prst="wedgeRectCallout">
            <a:avLst>
              <a:gd fmla="val -201610" name="adj1"/>
              <a:gd fmla="val -28931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Integramos</a:t>
            </a:r>
            <a:r>
              <a:rPr lang="es-CL">
                <a:solidFill>
                  <a:schemeClr val="dk1"/>
                </a:solidFill>
              </a:rPr>
              <a:t> la función para </a:t>
            </a:r>
            <a:r>
              <a:rPr b="1" lang="es-CL">
                <a:solidFill>
                  <a:schemeClr val="dk1"/>
                </a:solidFill>
              </a:rPr>
              <a:t>crear</a:t>
            </a:r>
            <a:r>
              <a:rPr b="1" lang="es-CL">
                <a:solidFill>
                  <a:schemeClr val="dk1"/>
                </a:solidFill>
              </a:rPr>
              <a:t> producto</a:t>
            </a:r>
            <a:endParaRPr b="1"/>
          </a:p>
        </p:txBody>
      </p:sp>
      <p:sp>
        <p:nvSpPr>
          <p:cNvPr id="365" name="Google Shape;365;g3dbceefb519_0_76"/>
          <p:cNvSpPr txBox="1"/>
          <p:nvPr/>
        </p:nvSpPr>
        <p:spPr>
          <a:xfrm>
            <a:off x="531802" y="1688025"/>
            <a:ext cx="12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g3dbceefb519_0_93" title="Captura de pantalla 2026-05-03 a la(s) 22.55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" y="2011908"/>
            <a:ext cx="5426624" cy="442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71" name="Google Shape;371;g3dbceefb519_0_93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2" name="Google Shape;372;g3dbceefb519_0_9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g3dbceefb519_0_9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74" name="Google Shape;374;g3dbceefb519_0_93"/>
          <p:cNvSpPr/>
          <p:nvPr/>
        </p:nvSpPr>
        <p:spPr>
          <a:xfrm>
            <a:off x="627062" y="1090554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Todas las funcionalidades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las vamos a mover desde el </a:t>
            </a:r>
            <a:r>
              <a:rPr b="1" lang="es-CL" sz="1800">
                <a:solidFill>
                  <a:schemeClr val="dk1"/>
                </a:solidFill>
              </a:rPr>
              <a:t>componente App</a:t>
            </a:r>
            <a:r>
              <a:rPr lang="es-CL" sz="1800">
                <a:solidFill>
                  <a:schemeClr val="dk1"/>
                </a:solidFill>
              </a:rPr>
              <a:t> hacia el nuevo componente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bceefb519_0_93"/>
          <p:cNvSpPr txBox="1"/>
          <p:nvPr/>
        </p:nvSpPr>
        <p:spPr>
          <a:xfrm>
            <a:off x="1144588" y="185738"/>
            <a:ext cx="589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Product</a:t>
            </a:r>
            <a:endParaRPr/>
          </a:p>
        </p:txBody>
      </p:sp>
      <p:sp>
        <p:nvSpPr>
          <p:cNvPr id="376" name="Google Shape;376;g3dbceefb519_0_93"/>
          <p:cNvSpPr/>
          <p:nvPr/>
        </p:nvSpPr>
        <p:spPr>
          <a:xfrm>
            <a:off x="707775" y="2223775"/>
            <a:ext cx="5271900" cy="1374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bceefb519_0_93"/>
          <p:cNvSpPr/>
          <p:nvPr/>
        </p:nvSpPr>
        <p:spPr>
          <a:xfrm>
            <a:off x="707775" y="3634958"/>
            <a:ext cx="5271900" cy="19647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bceefb519_0_93"/>
          <p:cNvSpPr/>
          <p:nvPr/>
        </p:nvSpPr>
        <p:spPr>
          <a:xfrm>
            <a:off x="707750" y="5637092"/>
            <a:ext cx="5271900" cy="8304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dbceefb519_0_93"/>
          <p:cNvSpPr/>
          <p:nvPr/>
        </p:nvSpPr>
        <p:spPr>
          <a:xfrm>
            <a:off x="6216800" y="2266500"/>
            <a:ext cx="2778900" cy="474600"/>
          </a:xfrm>
          <a:prstGeom prst="wedgeRectCallout">
            <a:avLst>
              <a:gd fmla="val -66462" name="adj1"/>
              <a:gd fmla="val -801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Espacio para controlar el filtro</a:t>
            </a:r>
            <a:endParaRPr b="1"/>
          </a:p>
        </p:txBody>
      </p:sp>
      <p:sp>
        <p:nvSpPr>
          <p:cNvPr id="380" name="Google Shape;380;g3dbceefb519_0_93"/>
          <p:cNvSpPr/>
          <p:nvPr/>
        </p:nvSpPr>
        <p:spPr>
          <a:xfrm>
            <a:off x="6216800" y="4148750"/>
            <a:ext cx="2778900" cy="571500"/>
          </a:xfrm>
          <a:prstGeom prst="wedgeRectCallout">
            <a:avLst>
              <a:gd fmla="val -66462" name="adj1"/>
              <a:gd fmla="val -801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Espacio para controlar el componente </a:t>
            </a:r>
            <a:r>
              <a:rPr b="1" lang="es-CL">
                <a:solidFill>
                  <a:schemeClr val="dk1"/>
                </a:solidFill>
              </a:rPr>
              <a:t>ModalAdd</a:t>
            </a:r>
            <a:endParaRPr b="1"/>
          </a:p>
        </p:txBody>
      </p:sp>
      <p:sp>
        <p:nvSpPr>
          <p:cNvPr id="381" name="Google Shape;381;g3dbceefb519_0_93"/>
          <p:cNvSpPr/>
          <p:nvPr/>
        </p:nvSpPr>
        <p:spPr>
          <a:xfrm>
            <a:off x="6273950" y="5690000"/>
            <a:ext cx="2778900" cy="571500"/>
          </a:xfrm>
          <a:prstGeom prst="wedgeRectCallout">
            <a:avLst>
              <a:gd fmla="val -66462" name="adj1"/>
              <a:gd fmla="val -801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Espacio para controlar el componente </a:t>
            </a:r>
            <a:r>
              <a:rPr b="1" lang="es-CL">
                <a:solidFill>
                  <a:schemeClr val="dk1"/>
                </a:solidFill>
              </a:rPr>
              <a:t>ProductList</a:t>
            </a:r>
            <a:endParaRPr b="1"/>
          </a:p>
        </p:txBody>
      </p:sp>
      <p:sp>
        <p:nvSpPr>
          <p:cNvPr id="382" name="Google Shape;382;g3dbceefb519_0_93"/>
          <p:cNvSpPr txBox="1"/>
          <p:nvPr/>
        </p:nvSpPr>
        <p:spPr>
          <a:xfrm>
            <a:off x="531802" y="1688025"/>
            <a:ext cx="12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87" name="Google Shape;387;g3dbceefb519_0_11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g3dbceefb519_0_11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g3dbceefb519_0_11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90" name="Google Shape;390;g3dbceefb519_0_112"/>
          <p:cNvSpPr/>
          <p:nvPr/>
        </p:nvSpPr>
        <p:spPr>
          <a:xfrm>
            <a:off x="627050" y="1164628"/>
            <a:ext cx="8105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componente principal App solo </a:t>
            </a:r>
            <a:r>
              <a:rPr lang="es-CL" sz="1800">
                <a:solidFill>
                  <a:schemeClr val="dk1"/>
                </a:solidFill>
              </a:rPr>
              <a:t>referencia</a:t>
            </a:r>
            <a:r>
              <a:rPr lang="es-CL" sz="1800">
                <a:solidFill>
                  <a:schemeClr val="dk1"/>
                </a:solidFill>
              </a:rPr>
              <a:t> al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dbceefb519_0_112"/>
          <p:cNvSpPr txBox="1"/>
          <p:nvPr/>
        </p:nvSpPr>
        <p:spPr>
          <a:xfrm>
            <a:off x="1144588" y="185738"/>
            <a:ext cx="589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App</a:t>
            </a:r>
            <a:endParaRPr/>
          </a:p>
        </p:txBody>
      </p:sp>
      <p:pic>
        <p:nvPicPr>
          <p:cNvPr id="392" name="Google Shape;392;g3dbceefb519_0_112" title="Captura de pantalla 2026-05-03 a la(s) 23.10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625" y="1887838"/>
            <a:ext cx="7460747" cy="380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dbceefb519_0_112"/>
          <p:cNvSpPr txBox="1"/>
          <p:nvPr/>
        </p:nvSpPr>
        <p:spPr>
          <a:xfrm>
            <a:off x="756961" y="1549150"/>
            <a:ext cx="12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/>
          </a:p>
        </p:txBody>
      </p:sp>
      <p:sp>
        <p:nvSpPr>
          <p:cNvPr id="394" name="Google Shape;394;g3dbceefb519_0_112"/>
          <p:cNvSpPr/>
          <p:nvPr/>
        </p:nvSpPr>
        <p:spPr>
          <a:xfrm>
            <a:off x="930600" y="2350775"/>
            <a:ext cx="7282800" cy="3387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dbceefb519_0_112"/>
          <p:cNvSpPr/>
          <p:nvPr/>
        </p:nvSpPr>
        <p:spPr>
          <a:xfrm>
            <a:off x="1040658" y="3620825"/>
            <a:ext cx="2028600" cy="2421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dbceefb519_0_112"/>
          <p:cNvSpPr/>
          <p:nvPr/>
        </p:nvSpPr>
        <p:spPr>
          <a:xfrm>
            <a:off x="6206225" y="2954400"/>
            <a:ext cx="2778900" cy="474600"/>
          </a:xfrm>
          <a:prstGeom prst="wedgeRectCallout">
            <a:avLst>
              <a:gd fmla="val -65773" name="adj1"/>
              <a:gd fmla="val -108328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Importamos el componente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endParaRPr b="1"/>
          </a:p>
        </p:txBody>
      </p:sp>
      <p:sp>
        <p:nvSpPr>
          <p:cNvPr id="397" name="Google Shape;397;g3dbceefb519_0_112"/>
          <p:cNvSpPr/>
          <p:nvPr/>
        </p:nvSpPr>
        <p:spPr>
          <a:xfrm>
            <a:off x="4178450" y="4059300"/>
            <a:ext cx="2447100" cy="629100"/>
          </a:xfrm>
          <a:prstGeom prst="wedgeRectCallout">
            <a:avLst>
              <a:gd fmla="val -89976" name="adj1"/>
              <a:gd fmla="val -9299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Declaramos la dependencia del componente: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r>
              <a:rPr lang="es-CL">
                <a:solidFill>
                  <a:schemeClr val="dk1"/>
                </a:solidFill>
              </a:rPr>
              <a:t>.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g3dbceefb519_0_138" title="Captura de pantalla 2026-05-03 a la(s) 23.10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125" y="1887838"/>
            <a:ext cx="7651750" cy="300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403" name="Google Shape;403;g3dbceefb519_0_138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g3dbceefb519_0_13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5" name="Google Shape;405;g3dbceefb519_0_13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06" name="Google Shape;406;g3dbceefb519_0_138"/>
          <p:cNvSpPr/>
          <p:nvPr/>
        </p:nvSpPr>
        <p:spPr>
          <a:xfrm>
            <a:off x="627050" y="1164628"/>
            <a:ext cx="8105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componente principal App solo </a:t>
            </a:r>
            <a:r>
              <a:rPr lang="es-CL" sz="1800">
                <a:solidFill>
                  <a:schemeClr val="dk1"/>
                </a:solidFill>
              </a:rPr>
              <a:t>referencia</a:t>
            </a:r>
            <a:r>
              <a:rPr lang="es-CL" sz="1800">
                <a:solidFill>
                  <a:schemeClr val="dk1"/>
                </a:solidFill>
              </a:rPr>
              <a:t> al dominio </a:t>
            </a:r>
            <a:r>
              <a:rPr b="1" lang="es-CL" sz="1800">
                <a:solidFill>
                  <a:schemeClr val="dk1"/>
                </a:solidFill>
              </a:rPr>
              <a:t>p</a:t>
            </a:r>
            <a:r>
              <a:rPr b="1" lang="es-CL" sz="1800">
                <a:solidFill>
                  <a:schemeClr val="dk1"/>
                </a:solidFill>
              </a:rPr>
              <a:t>roducts</a:t>
            </a:r>
            <a:r>
              <a:rPr lang="es-CL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dbceefb519_0_138"/>
          <p:cNvSpPr txBox="1"/>
          <p:nvPr/>
        </p:nvSpPr>
        <p:spPr>
          <a:xfrm>
            <a:off x="1144588" y="185738"/>
            <a:ext cx="589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Refactorizar </a:t>
            </a:r>
            <a:r>
              <a:rPr b="1" lang="es-CL" sz="2800">
                <a:solidFill>
                  <a:srgbClr val="0070C0"/>
                </a:solidFill>
              </a:rPr>
              <a:t>App</a:t>
            </a:r>
            <a:endParaRPr/>
          </a:p>
        </p:txBody>
      </p:sp>
      <p:sp>
        <p:nvSpPr>
          <p:cNvPr id="408" name="Google Shape;408;g3dbceefb519_0_138"/>
          <p:cNvSpPr txBox="1"/>
          <p:nvPr/>
        </p:nvSpPr>
        <p:spPr>
          <a:xfrm>
            <a:off x="756961" y="1549150"/>
            <a:ext cx="12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html</a:t>
            </a:r>
            <a:endParaRPr/>
          </a:p>
        </p:txBody>
      </p:sp>
      <p:sp>
        <p:nvSpPr>
          <p:cNvPr id="409" name="Google Shape;409;g3dbceefb519_0_138"/>
          <p:cNvSpPr/>
          <p:nvPr/>
        </p:nvSpPr>
        <p:spPr>
          <a:xfrm>
            <a:off x="756950" y="4492350"/>
            <a:ext cx="3635100" cy="3387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dbceefb519_0_138"/>
          <p:cNvSpPr/>
          <p:nvPr/>
        </p:nvSpPr>
        <p:spPr>
          <a:xfrm>
            <a:off x="5448450" y="4966350"/>
            <a:ext cx="2949300" cy="629100"/>
          </a:xfrm>
          <a:prstGeom prst="wedgeRectCallout">
            <a:avLst>
              <a:gd fmla="val -89976" name="adj1"/>
              <a:gd fmla="val -92994" name="adj2"/>
            </a:avLst>
          </a:prstGeom>
          <a:solidFill>
            <a:srgbClr val="F7CAAC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El componente </a:t>
            </a:r>
            <a:r>
              <a:rPr b="1" lang="es-CL">
                <a:solidFill>
                  <a:schemeClr val="dk1"/>
                </a:solidFill>
              </a:rPr>
              <a:t>Product</a:t>
            </a:r>
            <a:r>
              <a:rPr lang="es-CL">
                <a:solidFill>
                  <a:schemeClr val="dk1"/>
                </a:solidFill>
              </a:rPr>
              <a:t> se integra en la UI como contenedor del dominio </a:t>
            </a:r>
            <a:r>
              <a:rPr b="1" lang="es-CL">
                <a:solidFill>
                  <a:schemeClr val="dk1"/>
                </a:solidFill>
              </a:rPr>
              <a:t>products</a:t>
            </a:r>
            <a:r>
              <a:rPr lang="es-CL">
                <a:solidFill>
                  <a:schemeClr val="dk1"/>
                </a:solidFill>
              </a:rPr>
              <a:t>.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665c02925_0_66"/>
          <p:cNvSpPr/>
          <p:nvPr/>
        </p:nvSpPr>
        <p:spPr>
          <a:xfrm>
            <a:off x="646925" y="2598901"/>
            <a:ext cx="81057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El componente principal </a:t>
            </a:r>
            <a:r>
              <a:rPr b="1" lang="es-CL" sz="1800">
                <a:solidFill>
                  <a:schemeClr val="dk1"/>
                </a:solidFill>
              </a:rPr>
              <a:t>Product</a:t>
            </a:r>
            <a:r>
              <a:rPr lang="es-CL" sz="1800">
                <a:solidFill>
                  <a:schemeClr val="dk1"/>
                </a:solidFill>
              </a:rPr>
              <a:t>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r>
              <a:rPr lang="es-CL" sz="1800">
                <a:solidFill>
                  <a:schemeClr val="dk1"/>
                </a:solidFill>
              </a:rPr>
              <a:t> entrega el criterio del filtro.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filteredProducts </a:t>
            </a:r>
            <a:r>
              <a:rPr lang="es-CL" sz="1800">
                <a:solidFill>
                  <a:schemeClr val="dk1"/>
                </a:solidFill>
              </a:rPr>
              <a:t>debería vivir </a:t>
            </a:r>
            <a:r>
              <a:rPr b="1" lang="es-CL" sz="1800">
                <a:solidFill>
                  <a:schemeClr val="dk1"/>
                </a:solidFill>
              </a:rPr>
              <a:t>junto al estado que filtra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Regla de Oro</a:t>
            </a:r>
            <a:r>
              <a:rPr lang="es-CL" sz="1800">
                <a:solidFill>
                  <a:schemeClr val="dk1"/>
                </a:solidFill>
              </a:rPr>
              <a:t>: El dato derivado debería vivir cerca de su fuente.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416" name="Google Shape;416;g3e665c02925_0_6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g3e665c02925_0_6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8" name="Google Shape;418;g3e665c02925_0_6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19" name="Google Shape;419;g3e665c02925_0_66"/>
          <p:cNvSpPr txBox="1"/>
          <p:nvPr/>
        </p:nvSpPr>
        <p:spPr>
          <a:xfrm>
            <a:off x="1144588" y="185738"/>
            <a:ext cx="625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Reflexionemos</a:t>
            </a:r>
            <a:endParaRPr/>
          </a:p>
        </p:txBody>
      </p:sp>
      <p:sp>
        <p:nvSpPr>
          <p:cNvPr id="420" name="Google Shape;420;g3e665c02925_0_66"/>
          <p:cNvSpPr/>
          <p:nvPr/>
        </p:nvSpPr>
        <p:spPr>
          <a:xfrm>
            <a:off x="646925" y="1065871"/>
            <a:ext cx="8105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Luego de este refactor ¿</a:t>
            </a:r>
            <a:r>
              <a:rPr lang="es-CL" sz="1800">
                <a:solidFill>
                  <a:schemeClr val="dk1"/>
                </a:solidFill>
              </a:rPr>
              <a:t>podemos mover la</a:t>
            </a:r>
            <a:r>
              <a:rPr lang="es-CL" sz="1800">
                <a:solidFill>
                  <a:schemeClr val="dk1"/>
                </a:solidFill>
              </a:rPr>
              <a:t> variable calculada </a:t>
            </a:r>
            <a:r>
              <a:rPr b="1" lang="es-CL" sz="1800">
                <a:solidFill>
                  <a:schemeClr val="dk1"/>
                </a:solidFill>
              </a:rPr>
              <a:t>filteredProducts</a:t>
            </a:r>
            <a:r>
              <a:rPr lang="es-CL" sz="1800">
                <a:solidFill>
                  <a:schemeClr val="dk1"/>
                </a:solidFill>
              </a:rPr>
              <a:t> al </a:t>
            </a:r>
            <a:r>
              <a:rPr b="1" lang="es-CL" sz="1800">
                <a:solidFill>
                  <a:schemeClr val="dk1"/>
                </a:solidFill>
              </a:rPr>
              <a:t>servicio product</a:t>
            </a:r>
            <a:r>
              <a:rPr lang="es-CL" sz="1800">
                <a:solidFill>
                  <a:schemeClr val="dk1"/>
                </a:solidFill>
              </a:rPr>
              <a:t>?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¿Porqué?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