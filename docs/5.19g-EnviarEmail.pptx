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7086600" cy="8686800"/>
  <p:embeddedFontLst>
    <p:embeddedFont>
      <p:font typeface="Aharoni" panose="02010803020104030203" pitchFamily="2" charset="-79"/>
      <p:bold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Libre Franklin" pitchFamily="2" charset="77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ck5q25D2JYxfl0GIIBL4p07lb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AC7BF5-9D0B-41B9-89C9-70A5FDE6D07C}">
  <a:tblStyle styleId="{D5AC7BF5-9D0B-41B9-89C9-70A5FDE6D07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117" d="100"/>
          <a:sy n="117" d="100"/>
        </p:scale>
        <p:origin x="167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f400108b3_0_19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ef400108b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f400108b3_0_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ef400108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6a733236_0_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f26a73323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7dff24cd_1_11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f27dff24c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f400108b3_0_12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ef400108b3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f400108b3_0_14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ef400108b3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f400108b3_0_16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ef400108b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f400108b3_0_99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ef400108b3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f400108b3_0_72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ef400108b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1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2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3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f400108b3_0_193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g3ef400108b3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f27dff24cd_0_2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g3f27dff24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f27dff24cd_0_17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f27dff24cd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f27dff24cd_0_32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g3f27dff24c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00" cy="2930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6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7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8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27dff24cd_1_20:notes"/>
          <p:cNvSpPr txBox="1">
            <a:spLocks noGrp="1"/>
          </p:cNvSpPr>
          <p:nvPr>
            <p:ph type="body" idx="1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g3f27dff24cd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89088" y="1085850"/>
            <a:ext cx="3908425" cy="2930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4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3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35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5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3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3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3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0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marL="0" lvl="0" indent="0" algn="ctr" rtl="0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lang="es-CL" sz="2000" i="1">
                <a:solidFill>
                  <a:srgbClr val="0033CC"/>
                </a:solidFill>
              </a:rPr>
              <a:t>caguilsepulveda@gmail.com</a:t>
            </a:r>
            <a:endParaRPr/>
          </a:p>
        </p:txBody>
      </p:sp>
      <p:pic>
        <p:nvPicPr>
          <p:cNvPr id="90" name="Google Shape;90;p1" descr="escudo_color"/>
          <p:cNvPicPr preferRelativeResize="0"/>
          <p:nvPr/>
        </p:nvPicPr>
        <p:blipFill rotWithShape="1">
          <a:blip r:embed="rId3">
            <a:alphaModFix/>
          </a:blip>
          <a:srcRect r="2507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2911700" y="2655013"/>
            <a:ext cx="483472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Enviar Email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1" i="0" u="none" strike="noStrike" cap="none">
                <a:solidFill>
                  <a:srgbClr val="0070C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Librería Nodemailer</a:t>
            </a:r>
            <a:endParaRPr sz="3600" b="1" i="0" u="none" strike="noStrike" cap="none">
              <a:solidFill>
                <a:srgbClr val="0070C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042026" y="3934072"/>
            <a:ext cx="544743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895076" y="2082625"/>
            <a:ext cx="1944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19g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l="6232" r="5907"/>
          <a:stretch/>
        </p:blipFill>
        <p:spPr>
          <a:xfrm>
            <a:off x="877307" y="1745716"/>
            <a:ext cx="1473263" cy="160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7132" y="306074"/>
            <a:ext cx="1897170" cy="1108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7307" y="3255177"/>
            <a:ext cx="1483111" cy="1678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29386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</a:rPr>
              <a:t>Problema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27050" y="1164615"/>
            <a:ext cx="8105700" cy="51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Imaginen que diseñaron un sistema de acceso perfecto siguiendo las normas de OWASP. Las contraseñas están encriptadas con un hash tan robusto que es imposible descifrarlas, incluso con acceso total a la base de datos.</a:t>
            </a:r>
            <a:endParaRPr sz="2400">
              <a:solidFill>
                <a:schemeClr val="dk1"/>
              </a:solidFill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3C3C3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</a:rPr>
              <a:t>Un día, un usuario olvida su contraseña. Les escribe desesperado porque necesita acceder a su información técnica urgente.</a:t>
            </a:r>
            <a:endParaRPr sz="1800">
              <a:solidFill>
                <a:srgbClr val="3C3C3C"/>
              </a:solidFill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3C3C"/>
              </a:solidFill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</a:rPr>
              <a:t>¿Cómo resuelven este problema?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just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Crear una </a:t>
            </a:r>
            <a:r>
              <a:rPr lang="es-CL" sz="1800" b="1">
                <a:solidFill>
                  <a:schemeClr val="dk1"/>
                </a:solidFill>
              </a:rPr>
              <a:t>contraseña temporal</a:t>
            </a:r>
            <a:r>
              <a:rPr lang="es-CL" sz="1800">
                <a:solidFill>
                  <a:schemeClr val="dk1"/>
                </a:solidFill>
              </a:rPr>
              <a:t> y enviarla manualmente por un canal externo</a:t>
            </a:r>
            <a:r>
              <a:rPr lang="es-CL" sz="1800">
                <a:solidFill>
                  <a:srgbClr val="3C3C3C"/>
                </a:solidFill>
              </a:rPr>
              <a:t>.</a:t>
            </a:r>
            <a:endParaRPr sz="1800">
              <a:solidFill>
                <a:srgbClr val="3C3C3C"/>
              </a:solidFill>
            </a:endParaRPr>
          </a:p>
          <a:p>
            <a:pPr marL="9144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3C3C"/>
              </a:solidFill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•"/>
            </a:pPr>
            <a:r>
              <a:rPr lang="es-CL" sz="1800">
                <a:solidFill>
                  <a:srgbClr val="3C3C3C"/>
                </a:solidFill>
              </a:rPr>
              <a:t>Ahora, imaginen que ese usuario se multiplica por 500 usuarios en 1 día.</a:t>
            </a:r>
            <a:endParaRPr sz="1800">
              <a:solidFill>
                <a:srgbClr val="3C3C3C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3C3C"/>
              </a:solidFill>
            </a:endParaRPr>
          </a:p>
        </p:txBody>
      </p:sp>
      <p:cxnSp>
        <p:nvCxnSpPr>
          <p:cNvPr id="107" name="Google Shape;107;p2"/>
          <p:cNvCxnSpPr/>
          <p:nvPr/>
        </p:nvCxnSpPr>
        <p:spPr>
          <a:xfrm flipH="1">
            <a:off x="3610343" y="6849772"/>
            <a:ext cx="860037" cy="150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5663059" y="6849772"/>
            <a:ext cx="530508" cy="33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ef400108b3_0_19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f400108b3_0_19"/>
          <p:cNvSpPr txBox="1"/>
          <p:nvPr/>
        </p:nvSpPr>
        <p:spPr>
          <a:xfrm>
            <a:off x="1144600" y="185750"/>
            <a:ext cx="7712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</a:rPr>
              <a:t>Solución - Flujo de recuperación automático</a:t>
            </a:r>
            <a:endParaRPr/>
          </a:p>
        </p:txBody>
      </p:sp>
      <p:cxnSp>
        <p:nvCxnSpPr>
          <p:cNvPr id="115" name="Google Shape;115;g3ef400108b3_0_1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6" name="Google Shape;116;g3ef400108b3_0_1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7" name="Google Shape;117;g3ef400108b3_0_19"/>
          <p:cNvSpPr/>
          <p:nvPr/>
        </p:nvSpPr>
        <p:spPr>
          <a:xfrm>
            <a:off x="627050" y="1164625"/>
            <a:ext cx="8105700" cy="3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Delegar la validación de identidad en un </a:t>
            </a:r>
            <a:r>
              <a:rPr lang="es-CL" sz="1800" b="1">
                <a:solidFill>
                  <a:schemeClr val="dk1"/>
                </a:solidFill>
              </a:rPr>
              <a:t>token temporal</a:t>
            </a:r>
            <a:r>
              <a:rPr lang="es-CL" sz="1800">
                <a:solidFill>
                  <a:schemeClr val="dk1"/>
                </a:solidFill>
              </a:rPr>
              <a:t> enviado por </a:t>
            </a:r>
            <a:r>
              <a:rPr lang="es-CL" sz="1800" b="1">
                <a:solidFill>
                  <a:schemeClr val="dk1"/>
                </a:solidFill>
              </a:rPr>
              <a:t>correo electrónico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El usuario ingresa su correo en la vista de la app o se reutiliza el correo registrado en su onboarding.</a:t>
            </a:r>
            <a:endParaRPr sz="1800">
              <a:solidFill>
                <a:schemeClr val="dk1"/>
              </a:solidFill>
            </a:endParaRPr>
          </a:p>
          <a:p>
            <a:pPr marL="914400" marR="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es-CL" sz="1800">
                <a:solidFill>
                  <a:schemeClr val="dk1"/>
                </a:solidFill>
              </a:rPr>
              <a:t>El servidor genera un identificador único (ej. JWT firmado) con un tiempo de expiración corto (ej. 15 minutos) 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La aplicación </a:t>
            </a:r>
            <a:r>
              <a:rPr lang="es-CL" sz="1800" b="1">
                <a:solidFill>
                  <a:schemeClr val="dk1"/>
                </a:solidFill>
              </a:rPr>
              <a:t>dispara un email automatizado</a:t>
            </a:r>
            <a:r>
              <a:rPr lang="es-CL" sz="1800">
                <a:solidFill>
                  <a:schemeClr val="dk1"/>
                </a:solidFill>
              </a:rPr>
              <a:t> que contiene un enlace dinámico.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El usuario, al hacer clic en el enlace, el backend verifica el token y le permite al usuario ingresar una nueva contraseña. 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El sistema es capaz de atender entre 1.500 a 10.000 usuarios en paralelo sin saturar al equipo de desarrollo.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3C3C"/>
              </a:solidFill>
            </a:endParaRPr>
          </a:p>
        </p:txBody>
      </p:sp>
      <p:cxnSp>
        <p:nvCxnSpPr>
          <p:cNvPr id="118" name="Google Shape;118;g3ef400108b3_0_19"/>
          <p:cNvCxnSpPr/>
          <p:nvPr/>
        </p:nvCxnSpPr>
        <p:spPr>
          <a:xfrm flipH="1">
            <a:off x="3610280" y="6849772"/>
            <a:ext cx="8601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19" name="Google Shape;119;g3ef400108b3_0_19"/>
          <p:cNvCxnSpPr/>
          <p:nvPr/>
        </p:nvCxnSpPr>
        <p:spPr>
          <a:xfrm rot="10800000">
            <a:off x="5663167" y="6849806"/>
            <a:ext cx="530400" cy="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20" name="Google Shape;120;g3ef400108b3_0_19"/>
          <p:cNvSpPr/>
          <p:nvPr/>
        </p:nvSpPr>
        <p:spPr>
          <a:xfrm>
            <a:off x="627050" y="4906659"/>
            <a:ext cx="81057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¿Qué herramienta ayudó a resolver el problema eliminando la intervención humana?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Envió de Email.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C3C3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ef400108b3_0_0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f400108b3_0_0"/>
          <p:cNvSpPr txBox="1"/>
          <p:nvPr/>
        </p:nvSpPr>
        <p:spPr>
          <a:xfrm>
            <a:off x="1144588" y="185738"/>
            <a:ext cx="2938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Envío de Emails</a:t>
            </a:r>
            <a:endParaRPr/>
          </a:p>
        </p:txBody>
      </p:sp>
      <p:cxnSp>
        <p:nvCxnSpPr>
          <p:cNvPr id="127" name="Google Shape;127;g3ef400108b3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" name="Google Shape;128;g3ef400108b3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9" name="Google Shape;129;g3ef400108b3_0_0"/>
          <p:cNvSpPr/>
          <p:nvPr/>
        </p:nvSpPr>
        <p:spPr>
          <a:xfrm>
            <a:off x="627062" y="1164637"/>
            <a:ext cx="8105700" cy="28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de las funcionalidades más utilizadas en los sistemas web es el envío de emails hacia los usuarios.</a:t>
            </a:r>
            <a:endParaRPr>
              <a:solidFill>
                <a:schemeClr val="dk1"/>
              </a:solidFill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 funcionalidad es </a:t>
            </a:r>
            <a:r>
              <a:rPr lang="es-CL" sz="1800">
                <a:solidFill>
                  <a:schemeClr val="dk1"/>
                </a:solidFill>
              </a:rPr>
              <a:t>implementada exclusivamente en el</a:t>
            </a:r>
            <a:r>
              <a:rPr lang="es-CL" sz="1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backend.</a:t>
            </a:r>
            <a:endParaRPr>
              <a:solidFill>
                <a:schemeClr val="dk1"/>
              </a:solidFill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Una acción en el frontend gatilla generalmente una operación en el servicio web del backend para enviar un Email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nuestro proyecto, 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el servidor NodeJS utilizaremos la librería Nodemailer para </a:t>
            </a:r>
            <a:r>
              <a:rPr lang="es-CL" sz="1800">
                <a:solidFill>
                  <a:schemeClr val="dk1"/>
                </a:solidFill>
              </a:rPr>
              <a:t>implementar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 tarea.</a:t>
            </a:r>
            <a:endParaRPr sz="1800" b="0" i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g3ef400108b3_0_0"/>
          <p:cNvCxnSpPr/>
          <p:nvPr/>
        </p:nvCxnSpPr>
        <p:spPr>
          <a:xfrm flipH="1">
            <a:off x="3610280" y="6849772"/>
            <a:ext cx="860100" cy="1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31" name="Google Shape;131;g3ef400108b3_0_0"/>
          <p:cNvCxnSpPr/>
          <p:nvPr/>
        </p:nvCxnSpPr>
        <p:spPr>
          <a:xfrm rot="10800000">
            <a:off x="5663167" y="6849806"/>
            <a:ext cx="530400" cy="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32" name="Google Shape;132;g3ef400108b3_0_0"/>
          <p:cNvSpPr/>
          <p:nvPr/>
        </p:nvSpPr>
        <p:spPr>
          <a:xfrm>
            <a:off x="2527742" y="4244547"/>
            <a:ext cx="385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https://nodemailer.com/about/</a:t>
            </a:r>
            <a:endParaRPr/>
          </a:p>
        </p:txBody>
      </p:sp>
      <p:pic>
        <p:nvPicPr>
          <p:cNvPr id="133" name="Google Shape;133;g3ef400108b3_0_0" descr="Nodemail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7880" y="4820909"/>
            <a:ext cx="19050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Servicios de Email Gratuitos</a:t>
            </a:r>
            <a:endParaRPr/>
          </a:p>
        </p:txBody>
      </p:sp>
      <p:cxnSp>
        <p:nvCxnSpPr>
          <p:cNvPr id="140" name="Google Shape;140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716463" y="1164637"/>
            <a:ext cx="78327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Comparativa de los mejores proveedores de correo electrónico gratuito</a:t>
            </a:r>
            <a:endParaRPr/>
          </a:p>
        </p:txBody>
      </p:sp>
      <p:graphicFrame>
        <p:nvGraphicFramePr>
          <p:cNvPr id="143" name="Google Shape;143;p3"/>
          <p:cNvGraphicFramePr/>
          <p:nvPr/>
        </p:nvGraphicFramePr>
        <p:xfrm>
          <a:off x="388831" y="175080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{D5AC7BF5-9D0B-41B9-89C9-70A5FDE6D07C}</a:tableStyleId>
              </a:tblPr>
              <a:tblGrid>
                <a:gridCol w="110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8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 u="none" strike="noStrike" cap="none"/>
                        <a:t>Proveedor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Gmail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Yahoo 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Outlook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GMX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Zoho 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Proton 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350"/>
                        <a:t>Tutanota</a:t>
                      </a:r>
                      <a:endParaRPr sz="135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Almacenamiento del buzón de correo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 GB incluido el almacenamiento en la nube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 TB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 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65 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 GB (plan básico)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500 MB (plan gratuito)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 GB (versión gratuita)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Almacenamiento en la nube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15 GB incluido el buzón de correo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Solo integraciones de terceros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 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 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Volumen máximo para los archivos adjuntos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 MB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 MB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25 MB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50 MB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20 GB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POP3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IMAP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Ubicación de los servidores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 escala mundial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CL" sz="1000"/>
                        <a:t>A escala mundial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CL" sz="1000"/>
                        <a:t>A escala mundial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Alemania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-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Suiza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/>
                        <a:t>Alemania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00" b="1"/>
                        <a:t>Política europea de protección de datos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4" name="Google Shape;144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5597" y="5586316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6309" y="5586316"/>
            <a:ext cx="243107" cy="2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74831" y="5586316"/>
            <a:ext cx="243107" cy="2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15214" y="5586316"/>
            <a:ext cx="243107" cy="2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5980" y="5576969"/>
            <a:ext cx="243107" cy="2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5912" y="5573553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78961" y="5586316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1683" y="4686243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2616" y="4685104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15214" y="4690867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8440" y="4685104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2211" y="4676896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2540" y="4224587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6384" y="4245639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5679" y="4241426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8440" y="4245639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3" descr="Marca de verificació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8741" y="4240182"/>
            <a:ext cx="290644" cy="290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4283" y="4287719"/>
            <a:ext cx="243107" cy="243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" descr="Cerra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7945" y="4691376"/>
            <a:ext cx="243107" cy="24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f26a733236_0_0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26a733236_0_0"/>
          <p:cNvSpPr txBox="1"/>
          <p:nvPr/>
        </p:nvSpPr>
        <p:spPr>
          <a:xfrm>
            <a:off x="1144606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</a:rPr>
              <a:t>Flujo de Recuperación de Contraseña</a:t>
            </a:r>
            <a:endParaRPr/>
          </a:p>
        </p:txBody>
      </p:sp>
      <p:cxnSp>
        <p:nvCxnSpPr>
          <p:cNvPr id="169" name="Google Shape;169;g3f26a733236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g3f26a733236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1" name="Google Shape;171;g3f26a733236_0_0"/>
          <p:cNvSpPr/>
          <p:nvPr/>
        </p:nvSpPr>
        <p:spPr>
          <a:xfrm>
            <a:off x="716475" y="1164474"/>
            <a:ext cx="7832700" cy="52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Arial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¿Quién recibe esa acción de recuperar contraseña?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 b="1">
                <a:solidFill>
                  <a:srgbClr val="3C3C3C"/>
                </a:solidFill>
              </a:rPr>
              <a:t>Angular</a:t>
            </a:r>
            <a:endParaRPr sz="1800" b="1">
              <a:solidFill>
                <a:srgbClr val="3C3C3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¿Angular envía correos?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No, lo hace el </a:t>
            </a:r>
            <a:r>
              <a:rPr lang="es-CL" sz="1800" b="1">
                <a:solidFill>
                  <a:srgbClr val="3C3C3C"/>
                </a:solidFill>
              </a:rPr>
              <a:t>Backend</a:t>
            </a:r>
            <a:r>
              <a:rPr lang="es-CL" sz="1800">
                <a:solidFill>
                  <a:srgbClr val="3C3C3C"/>
                </a:solidFill>
              </a:rPr>
              <a:t>.</a:t>
            </a:r>
            <a:endParaRPr sz="1800">
              <a:solidFill>
                <a:srgbClr val="3C3C3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¿Cómo envía correos el Backend?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 b="1">
                <a:solidFill>
                  <a:srgbClr val="3C3C3C"/>
                </a:solidFill>
              </a:rPr>
              <a:t>Nodemailer</a:t>
            </a:r>
            <a:endParaRPr sz="1800" b="1">
              <a:solidFill>
                <a:srgbClr val="3C3C3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¿Nodemailer puede enviar correos por sí solo?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No, Necesita un proveedor – </a:t>
            </a:r>
            <a:r>
              <a:rPr lang="es-CL" sz="1800" b="1">
                <a:solidFill>
                  <a:srgbClr val="3C3C3C"/>
                </a:solidFill>
              </a:rPr>
              <a:t>Google OAuth</a:t>
            </a:r>
            <a:endParaRPr sz="1800" b="1">
              <a:solidFill>
                <a:srgbClr val="3C3C3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¿Por qué configuramos OAuth?</a:t>
            </a:r>
            <a:endParaRPr sz="1800">
              <a:solidFill>
                <a:srgbClr val="3C3C3C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>
                <a:solidFill>
                  <a:srgbClr val="3C3C3C"/>
                </a:solidFill>
              </a:rPr>
              <a:t>Para que </a:t>
            </a:r>
            <a:r>
              <a:rPr lang="es-CL" sz="1800" b="1">
                <a:solidFill>
                  <a:srgbClr val="3C3C3C"/>
                </a:solidFill>
              </a:rPr>
              <a:t>Google autorice</a:t>
            </a:r>
            <a:r>
              <a:rPr lang="es-CL" sz="1800">
                <a:solidFill>
                  <a:srgbClr val="3C3C3C"/>
                </a:solidFill>
              </a:rPr>
              <a:t> a nuestra aplicación.</a:t>
            </a:r>
            <a:endParaRPr sz="1800">
              <a:solidFill>
                <a:srgbClr val="3C3C3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¿Quién entrega finalmente el correo?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 b="1">
                <a:solidFill>
                  <a:srgbClr val="3C3C3C"/>
                </a:solidFill>
              </a:rPr>
              <a:t>Gmail</a:t>
            </a:r>
            <a:endParaRPr sz="1800" b="1">
              <a:solidFill>
                <a:srgbClr val="3C3C3C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3C3C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AutoNum type="arabicPeriod"/>
            </a:pPr>
            <a:r>
              <a:rPr lang="es-CL" sz="1800">
                <a:solidFill>
                  <a:srgbClr val="3C3C3C"/>
                </a:solidFill>
              </a:rPr>
              <a:t>¿Quién recibe el correo?</a:t>
            </a:r>
            <a:endParaRPr sz="1800">
              <a:solidFill>
                <a:srgbClr val="3C3C3C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Char char="○"/>
            </a:pPr>
            <a:r>
              <a:rPr lang="es-CL" sz="1800" b="1">
                <a:solidFill>
                  <a:srgbClr val="3C3C3C"/>
                </a:solidFill>
              </a:rPr>
              <a:t>Usuario</a:t>
            </a:r>
            <a:endParaRPr sz="1800" b="1">
              <a:solidFill>
                <a:srgbClr val="3C3C3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f27dff24cd_1_11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f27dff24cd_1_11"/>
          <p:cNvSpPr txBox="1"/>
          <p:nvPr/>
        </p:nvSpPr>
        <p:spPr>
          <a:xfrm>
            <a:off x="1144606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</a:rPr>
              <a:t>Flujo de Recuperación de Contraseña</a:t>
            </a:r>
            <a:endParaRPr/>
          </a:p>
        </p:txBody>
      </p:sp>
      <p:cxnSp>
        <p:nvCxnSpPr>
          <p:cNvPr id="178" name="Google Shape;178;g3f27dff24cd_1_1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" name="Google Shape;179;g3f27dff24cd_1_1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180" name="Google Shape;180;g3f27dff24cd_1_11" title="Flujo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0801" y="936300"/>
            <a:ext cx="3682383" cy="552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" title="Captura de pantalla 2026-06-24 a la(s) 23.35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25" y="2213600"/>
            <a:ext cx="8011351" cy="4162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6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188" name="Google Shape;188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" name="Google Shape;189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627050" y="1164609"/>
            <a:ext cx="8105700" cy="8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nuestro proyecto de Google Cloud vamos a habilitar la API de Gmail.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la opción de API y servicios </a:t>
            </a:r>
            <a:r>
              <a:rPr lang="es-CL" sz="1800">
                <a:solidFill>
                  <a:schemeClr val="dk1"/>
                </a:solidFill>
              </a:rPr>
              <a:t>habilitados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66325" y="4497550"/>
            <a:ext cx="911400" cy="202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930525" y="4565125"/>
            <a:ext cx="1220700" cy="202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6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6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566325" y="2213600"/>
            <a:ext cx="1436700" cy="246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541723" y="2139502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1509733" y="4401704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976964" y="4469264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7" title="Captura de pantalla 2026-06-24 a la(s) 23.39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88" y="1939650"/>
            <a:ext cx="8393426" cy="3196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4" name="Google Shape;204;p7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206" name="Google Shape;206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7" name="Google Shape;207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“Habilitar API y Servicios” para este proyecto.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409178" y="2282425"/>
            <a:ext cx="1317600" cy="306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7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7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8" title="Captura de pantalla 2026-06-24 a la(s) 23.41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63" y="1739041"/>
            <a:ext cx="8613079" cy="3768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7" name="Google Shape;217;p8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219" name="Google Shape;219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0" name="Google Shape;220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el servicio de Gmail API.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712500" y="3549250"/>
            <a:ext cx="1788300" cy="1809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8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8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" title="Captura de pantalla 2026-06-24 a la(s) 23.42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8225" y="1624076"/>
            <a:ext cx="6867548" cy="468456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p9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232" name="Google Shape;232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3" name="Google Shape;233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Habilitar la API de Gmail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2510322" y="3542500"/>
            <a:ext cx="692100" cy="428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9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" title="Captura de pantalla 2026-06-25 a la(s) 00.38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63" y="1549555"/>
            <a:ext cx="7089674" cy="48775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3" name="Google Shape;243;p4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"/>
          <p:cNvSpPr txBox="1"/>
          <p:nvPr/>
        </p:nvSpPr>
        <p:spPr>
          <a:xfrm>
            <a:off x="1144588" y="185738"/>
            <a:ext cx="45977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245" name="Google Shape;245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6" name="Google Shape;246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7" name="Google Shape;247;p4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los datos de Consentimiento de OAuth.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1068075" y="1567350"/>
            <a:ext cx="1620300" cy="24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2614274" y="4890875"/>
            <a:ext cx="1558500" cy="24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4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"/>
          <p:cNvSpPr/>
          <p:nvPr/>
        </p:nvSpPr>
        <p:spPr>
          <a:xfrm>
            <a:off x="2299574" y="1492951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4104512" y="481646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255" name="Google Shape;255;p4"/>
          <p:cNvSpPr/>
          <p:nvPr/>
        </p:nvSpPr>
        <p:spPr>
          <a:xfrm>
            <a:off x="1044975" y="4259000"/>
            <a:ext cx="1620300" cy="24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2157212" y="422021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ef400108b3_0_120" title="Captura de pantalla 2026-06-25 a la(s) 00.40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27" y="1793799"/>
            <a:ext cx="8288727" cy="365868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2" name="Google Shape;262;g3ef400108b3_0_120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ef400108b3_0_120"/>
          <p:cNvSpPr txBox="1"/>
          <p:nvPr/>
        </p:nvSpPr>
        <p:spPr>
          <a:xfrm>
            <a:off x="1144588" y="185738"/>
            <a:ext cx="459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264" name="Google Shape;264;g3ef400108b3_0_12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5" name="Google Shape;265;g3ef400108b3_0_12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6" name="Google Shape;266;g3ef400108b3_0_120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los datos de Consentimiento de OAuth.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ef400108b3_0_120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ef400108b3_0_120"/>
          <p:cNvSpPr/>
          <p:nvPr/>
        </p:nvSpPr>
        <p:spPr>
          <a:xfrm>
            <a:off x="2198600" y="3276600"/>
            <a:ext cx="3329400" cy="32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ef400108b3_0_120"/>
          <p:cNvSpPr/>
          <p:nvPr/>
        </p:nvSpPr>
        <p:spPr>
          <a:xfrm>
            <a:off x="2198600" y="3789825"/>
            <a:ext cx="3329400" cy="32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g3ef400108b3_0_120" descr="Cambios en Gmail ~ ITAE"/>
          <p:cNvPicPr preferRelativeResize="0"/>
          <p:nvPr/>
        </p:nvPicPr>
        <p:blipFill rotWithShape="1">
          <a:blip r:embed="rId5">
            <a:alphaModFix/>
          </a:blip>
          <a:srcRect l="41097" t="28022" r="5655" b="28044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ef400108b3_0_120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22" r="64720" b="28044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ef400108b3_0_120"/>
          <p:cNvSpPr/>
          <p:nvPr/>
        </p:nvSpPr>
        <p:spPr>
          <a:xfrm>
            <a:off x="5290599" y="3231901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3" name="Google Shape;273;g3ef400108b3_0_120"/>
          <p:cNvSpPr/>
          <p:nvPr/>
        </p:nvSpPr>
        <p:spPr>
          <a:xfrm>
            <a:off x="5290612" y="375681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4" name="Google Shape;274;g3ef400108b3_0_120"/>
          <p:cNvSpPr/>
          <p:nvPr/>
        </p:nvSpPr>
        <p:spPr>
          <a:xfrm>
            <a:off x="6063075" y="2636725"/>
            <a:ext cx="2491500" cy="830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f400108b3_0_120"/>
          <p:cNvSpPr/>
          <p:nvPr/>
        </p:nvSpPr>
        <p:spPr>
          <a:xfrm>
            <a:off x="8226087" y="2590990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ef400108b3_0_140" title="Captura de pantalla 2026-06-25 a la(s) 00.40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627" y="1793799"/>
            <a:ext cx="8288727" cy="365868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1" name="Google Shape;281;g3ef400108b3_0_140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ef400108b3_0_140"/>
          <p:cNvSpPr txBox="1"/>
          <p:nvPr/>
        </p:nvSpPr>
        <p:spPr>
          <a:xfrm>
            <a:off x="1144588" y="185738"/>
            <a:ext cx="459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283" name="Google Shape;283;g3ef400108b3_0_14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4" name="Google Shape;284;g3ef400108b3_0_14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5" name="Google Shape;285;g3ef400108b3_0_140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los datos de Consentimiento de OAuth.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3ef400108b3_0_140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ef400108b3_0_140"/>
          <p:cNvSpPr/>
          <p:nvPr/>
        </p:nvSpPr>
        <p:spPr>
          <a:xfrm>
            <a:off x="2198600" y="3276600"/>
            <a:ext cx="3329400" cy="32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f400108b3_0_140"/>
          <p:cNvSpPr/>
          <p:nvPr/>
        </p:nvSpPr>
        <p:spPr>
          <a:xfrm>
            <a:off x="2198600" y="3789825"/>
            <a:ext cx="3329400" cy="32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ef400108b3_0_140" descr="Cambios en Gmail ~ ITAE"/>
          <p:cNvPicPr preferRelativeResize="0"/>
          <p:nvPr/>
        </p:nvPicPr>
        <p:blipFill rotWithShape="1">
          <a:blip r:embed="rId5">
            <a:alphaModFix/>
          </a:blip>
          <a:srcRect l="41097" t="28022" r="5655" b="28044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ef400108b3_0_140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22" r="64720" b="28044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ef400108b3_0_140"/>
          <p:cNvSpPr/>
          <p:nvPr/>
        </p:nvSpPr>
        <p:spPr>
          <a:xfrm>
            <a:off x="5290599" y="3231901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292" name="Google Shape;292;g3ef400108b3_0_140"/>
          <p:cNvSpPr/>
          <p:nvPr/>
        </p:nvSpPr>
        <p:spPr>
          <a:xfrm>
            <a:off x="5290612" y="375681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293" name="Google Shape;293;g3ef400108b3_0_140"/>
          <p:cNvSpPr/>
          <p:nvPr/>
        </p:nvSpPr>
        <p:spPr>
          <a:xfrm>
            <a:off x="6063075" y="2636725"/>
            <a:ext cx="2491500" cy="830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f400108b3_0_140"/>
          <p:cNvSpPr/>
          <p:nvPr/>
        </p:nvSpPr>
        <p:spPr>
          <a:xfrm>
            <a:off x="8226087" y="2590990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4</a:t>
            </a:r>
            <a:endParaRPr/>
          </a:p>
        </p:txBody>
      </p:sp>
      <p:sp>
        <p:nvSpPr>
          <p:cNvPr id="295" name="Google Shape;295;g3ef400108b3_0_140"/>
          <p:cNvSpPr/>
          <p:nvPr/>
        </p:nvSpPr>
        <p:spPr>
          <a:xfrm>
            <a:off x="445425" y="2485400"/>
            <a:ext cx="1539600" cy="304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ef400108b3_0_140"/>
          <p:cNvSpPr/>
          <p:nvPr/>
        </p:nvSpPr>
        <p:spPr>
          <a:xfrm>
            <a:off x="1864449" y="2440701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ef400108b3_0_160" title="Captura de pantalla 2026-06-25 a la(s) 00.44.08.png"/>
          <p:cNvPicPr preferRelativeResize="0"/>
          <p:nvPr/>
        </p:nvPicPr>
        <p:blipFill rotWithShape="1">
          <a:blip r:embed="rId3">
            <a:alphaModFix/>
          </a:blip>
          <a:srcRect t="74393"/>
          <a:stretch/>
        </p:blipFill>
        <p:spPr>
          <a:xfrm>
            <a:off x="1251400" y="4730773"/>
            <a:ext cx="6641172" cy="162002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2" name="Google Shape;302;g3ef400108b3_0_160" title="Captura de pantalla 2026-06-25 a la(s) 00.44.08.png"/>
          <p:cNvPicPr preferRelativeResize="0"/>
          <p:nvPr/>
        </p:nvPicPr>
        <p:blipFill rotWithShape="1">
          <a:blip r:embed="rId3">
            <a:alphaModFix/>
          </a:blip>
          <a:srcRect b="54114"/>
          <a:stretch/>
        </p:blipFill>
        <p:spPr>
          <a:xfrm>
            <a:off x="1251412" y="1540650"/>
            <a:ext cx="6641172" cy="290302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3" name="Google Shape;303;g3ef400108b3_0_160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g3ef400108b3_0_160"/>
          <p:cNvSpPr txBox="1"/>
          <p:nvPr/>
        </p:nvSpPr>
        <p:spPr>
          <a:xfrm>
            <a:off x="1144588" y="185738"/>
            <a:ext cx="459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305" name="Google Shape;305;g3ef400108b3_0_16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6" name="Google Shape;306;g3ef400108b3_0_16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7" name="Google Shape;307;g3ef400108b3_0_160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los datos de Consentimiento de OAuth.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ef400108b3_0_160"/>
          <p:cNvSpPr/>
          <p:nvPr/>
        </p:nvSpPr>
        <p:spPr>
          <a:xfrm>
            <a:off x="3124400" y="2722171"/>
            <a:ext cx="1295100" cy="523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ef400108b3_0_160" descr="Cambios en Gmail ~ ITAE"/>
          <p:cNvPicPr preferRelativeResize="0"/>
          <p:nvPr/>
        </p:nvPicPr>
        <p:blipFill rotWithShape="1">
          <a:blip r:embed="rId5">
            <a:alphaModFix/>
          </a:blip>
          <a:srcRect l="41097" t="28022" r="5655" b="28044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ef400108b3_0_160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22" r="64720" b="28044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ef400108b3_0_160"/>
          <p:cNvSpPr/>
          <p:nvPr/>
        </p:nvSpPr>
        <p:spPr>
          <a:xfrm>
            <a:off x="4324287" y="2782876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312" name="Google Shape;312;g3ef400108b3_0_160"/>
          <p:cNvSpPr/>
          <p:nvPr/>
        </p:nvSpPr>
        <p:spPr>
          <a:xfrm>
            <a:off x="3124400" y="4816275"/>
            <a:ext cx="3547200" cy="1486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f400108b3_0_160"/>
          <p:cNvSpPr/>
          <p:nvPr/>
        </p:nvSpPr>
        <p:spPr>
          <a:xfrm>
            <a:off x="6493562" y="520816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4</a:t>
            </a:r>
            <a:endParaRPr/>
          </a:p>
        </p:txBody>
      </p:sp>
      <p:sp>
        <p:nvSpPr>
          <p:cNvPr id="314" name="Google Shape;314;g3ef400108b3_0_160"/>
          <p:cNvSpPr/>
          <p:nvPr/>
        </p:nvSpPr>
        <p:spPr>
          <a:xfrm>
            <a:off x="1287025" y="2537025"/>
            <a:ext cx="1730700" cy="253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f400108b3_0_160"/>
          <p:cNvSpPr/>
          <p:nvPr/>
        </p:nvSpPr>
        <p:spPr>
          <a:xfrm>
            <a:off x="2585499" y="2466526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6" name="Google Shape;316;g3ef400108b3_0_160"/>
          <p:cNvSpPr txBox="1"/>
          <p:nvPr/>
        </p:nvSpPr>
        <p:spPr>
          <a:xfrm>
            <a:off x="1251400" y="4191974"/>
            <a:ext cx="558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900" b="1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rPr>
              <a:t>…</a:t>
            </a:r>
            <a:endParaRPr sz="1100"/>
          </a:p>
        </p:txBody>
      </p:sp>
      <p:sp>
        <p:nvSpPr>
          <p:cNvPr id="317" name="Google Shape;317;g3ef400108b3_0_160"/>
          <p:cNvSpPr/>
          <p:nvPr/>
        </p:nvSpPr>
        <p:spPr>
          <a:xfrm>
            <a:off x="3124400" y="3726476"/>
            <a:ext cx="1295100" cy="608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ef400108b3_0_160"/>
          <p:cNvSpPr/>
          <p:nvPr/>
        </p:nvSpPr>
        <p:spPr>
          <a:xfrm>
            <a:off x="4368698" y="3830104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319" name="Google Shape;319;g3ef400108b3_0_160"/>
          <p:cNvSpPr/>
          <p:nvPr/>
        </p:nvSpPr>
        <p:spPr>
          <a:xfrm>
            <a:off x="6989950" y="4501675"/>
            <a:ext cx="2311200" cy="180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s-CL" sz="1800"/>
              <a:t>A</a:t>
            </a:r>
            <a:r>
              <a:rPr lang="es-CL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gregamos el usuario de prueba (el email que usaremos para enviar correos).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ef400108b3_0_99" title="Captura de pantalla 2026-06-24 a la(s) 23.45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50" y="1779281"/>
            <a:ext cx="7777490" cy="46026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5" name="Google Shape;325;g3ef400108b3_0_99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ef400108b3_0_99"/>
          <p:cNvSpPr txBox="1"/>
          <p:nvPr/>
        </p:nvSpPr>
        <p:spPr>
          <a:xfrm>
            <a:off x="1144588" y="185738"/>
            <a:ext cx="459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327" name="Google Shape;327;g3ef400108b3_0_9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8" name="Google Shape;328;g3ef400108b3_0_9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9" name="Google Shape;329;g3ef400108b3_0_99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Generamos un nuevo ID de Cliente de OAuth para el envío de Email.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ef400108b3_0_99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f400108b3_0_99"/>
          <p:cNvSpPr/>
          <p:nvPr/>
        </p:nvSpPr>
        <p:spPr>
          <a:xfrm>
            <a:off x="703071" y="1779275"/>
            <a:ext cx="1762800" cy="304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ef400108b3_0_99"/>
          <p:cNvSpPr/>
          <p:nvPr/>
        </p:nvSpPr>
        <p:spPr>
          <a:xfrm>
            <a:off x="1282734" y="6105203"/>
            <a:ext cx="7160400" cy="135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f400108b3_0_99"/>
          <p:cNvSpPr/>
          <p:nvPr/>
        </p:nvSpPr>
        <p:spPr>
          <a:xfrm>
            <a:off x="777661" y="4300411"/>
            <a:ext cx="7466400" cy="11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ef400108b3_0_99"/>
          <p:cNvSpPr/>
          <p:nvPr/>
        </p:nvSpPr>
        <p:spPr>
          <a:xfrm>
            <a:off x="2409829" y="5210677"/>
            <a:ext cx="1658400" cy="24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g3ef400108b3_0_99" descr="Cambios en Gmail ~ ITAE"/>
          <p:cNvPicPr preferRelativeResize="0"/>
          <p:nvPr/>
        </p:nvPicPr>
        <p:blipFill rotWithShape="1">
          <a:blip r:embed="rId5">
            <a:alphaModFix/>
          </a:blip>
          <a:srcRect l="41097" t="28022" r="5655" b="28044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ef400108b3_0_99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22" r="64720" b="28044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g3ef400108b3_0_99"/>
          <p:cNvSpPr/>
          <p:nvPr/>
        </p:nvSpPr>
        <p:spPr>
          <a:xfrm>
            <a:off x="2003224" y="1734576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8" name="Google Shape;338;g3ef400108b3_0_99"/>
          <p:cNvSpPr/>
          <p:nvPr/>
        </p:nvSpPr>
        <p:spPr>
          <a:xfrm>
            <a:off x="3784062" y="513626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339" name="Google Shape;339;g3ef400108b3_0_99"/>
          <p:cNvSpPr/>
          <p:nvPr/>
        </p:nvSpPr>
        <p:spPr>
          <a:xfrm>
            <a:off x="703075" y="4704099"/>
            <a:ext cx="1762800" cy="245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ef400108b3_0_99"/>
          <p:cNvSpPr/>
          <p:nvPr/>
        </p:nvSpPr>
        <p:spPr>
          <a:xfrm>
            <a:off x="2077087" y="4629690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g3ef400108b3_0_72" title="Captura de pantalla 2026-06-24 a la(s) 23.47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75" y="1755730"/>
            <a:ext cx="8329052" cy="367244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6" name="Google Shape;346;g3ef400108b3_0_72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ef400108b3_0_72"/>
          <p:cNvSpPr txBox="1"/>
          <p:nvPr/>
        </p:nvSpPr>
        <p:spPr>
          <a:xfrm>
            <a:off x="1144588" y="185738"/>
            <a:ext cx="459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</a:t>
            </a:r>
            <a:endParaRPr/>
          </a:p>
        </p:txBody>
      </p:sp>
      <p:cxnSp>
        <p:nvCxnSpPr>
          <p:cNvPr id="348" name="Google Shape;348;g3ef400108b3_0_7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9" name="Google Shape;349;g3ef400108b3_0_7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0" name="Google Shape;350;g3ef400108b3_0_72"/>
          <p:cNvSpPr/>
          <p:nvPr/>
        </p:nvSpPr>
        <p:spPr>
          <a:xfrm>
            <a:off x="627050" y="1164632"/>
            <a:ext cx="8105700" cy="4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Generamos un nuevo ID de Cliente de OAuth para el envío de Email.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ef400108b3_0_72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f400108b3_0_72"/>
          <p:cNvSpPr/>
          <p:nvPr/>
        </p:nvSpPr>
        <p:spPr>
          <a:xfrm>
            <a:off x="3391425" y="2882375"/>
            <a:ext cx="3313800" cy="459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f400108b3_0_72"/>
          <p:cNvSpPr/>
          <p:nvPr/>
        </p:nvSpPr>
        <p:spPr>
          <a:xfrm>
            <a:off x="1282734" y="6105203"/>
            <a:ext cx="7160400" cy="135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3ef400108b3_0_72"/>
          <p:cNvSpPr/>
          <p:nvPr/>
        </p:nvSpPr>
        <p:spPr>
          <a:xfrm>
            <a:off x="777661" y="4300411"/>
            <a:ext cx="7466400" cy="11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ef400108b3_0_72" descr="Cambios en Gmail ~ ITAE"/>
          <p:cNvPicPr preferRelativeResize="0"/>
          <p:nvPr/>
        </p:nvPicPr>
        <p:blipFill rotWithShape="1">
          <a:blip r:embed="rId5">
            <a:alphaModFix/>
          </a:blip>
          <a:srcRect l="41097" t="28022" r="5655" b="28044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g3ef400108b3_0_72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22" r="64720" b="28044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16" title="Captura de pantalla 2026-06-25 a la(s) 00.03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775" y="990500"/>
            <a:ext cx="5632461" cy="541518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2" name="Google Shape;362;p16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6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364" name="Google Shape;364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5" name="Google Shape;365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3336450" y="2010904"/>
            <a:ext cx="3055200" cy="28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3354354" y="6086200"/>
            <a:ext cx="449700" cy="28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6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6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/>
          <p:nvPr/>
        </p:nvSpPr>
        <p:spPr>
          <a:xfrm>
            <a:off x="6316491" y="1917900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2947755" y="6030020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627063" y="4331885"/>
            <a:ext cx="2353763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Llenamos con datos básicos de nuestra aplicación y luego presionamos “Crear”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3336450" y="2334754"/>
            <a:ext cx="3055200" cy="28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6316553" y="2334751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3336450" y="5175529"/>
            <a:ext cx="3055200" cy="281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228283" y="5119352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17" title="Captura de pantalla 2026-06-25 a la(s) 00.0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959" y="1705689"/>
            <a:ext cx="3724076" cy="465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7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7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384" name="Google Shape;384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5" name="Google Shape;385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2870550" y="3074075"/>
            <a:ext cx="3396300" cy="566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7" name="Google Shape;387;p17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7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7"/>
          <p:cNvSpPr/>
          <p:nvPr/>
        </p:nvSpPr>
        <p:spPr>
          <a:xfrm>
            <a:off x="2870575" y="4620700"/>
            <a:ext cx="3396300" cy="393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228291" y="2915382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6228344" y="4546542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92" name="Google Shape;392;p1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nos entrega un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ID de cliente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 un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secreto de cliente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8" title="Captura de pantalla 2026-06-25 a la(s) 00.24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350" y="1653682"/>
            <a:ext cx="6519301" cy="473986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8" name="Google Shape;398;p18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8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400" name="Google Shape;400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1" name="Google Shape;401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627063" y="1164637"/>
            <a:ext cx="37001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Navegamos a la siguiente URL: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4235406" y="1193726"/>
            <a:ext cx="4467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https://developers.google.com/oauthplayground</a:t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1335839" y="5861111"/>
            <a:ext cx="2454600" cy="271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7212450" y="2079550"/>
            <a:ext cx="425400" cy="271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5363125" y="4335200"/>
            <a:ext cx="2137500" cy="183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2110661" y="5799983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7637845" y="2018418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7500615" y="419892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7500684" y="4518189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id="411" name="Google Shape;411;p18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8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8"/>
          <p:cNvSpPr/>
          <p:nvPr/>
        </p:nvSpPr>
        <p:spPr>
          <a:xfrm>
            <a:off x="3695394" y="5799975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3248991" y="1653674"/>
            <a:ext cx="3808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Seguimos los pasos en estricto rigor y al final presionamos “Authorize APIs”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5164844" y="5212654"/>
            <a:ext cx="2724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deben llenar los datos </a:t>
            </a:r>
            <a:r>
              <a:rPr lang="es-CL" sz="1600">
                <a:solidFill>
                  <a:schemeClr val="dk1"/>
                </a:solidFill>
              </a:rPr>
              <a:t>3 y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 con el ID de cliente y el secreto 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5363125" y="4536004"/>
            <a:ext cx="2137500" cy="183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19" title="Captura de pantalla 2026-06-25 a la(s) 01.08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925" y="1814828"/>
            <a:ext cx="3485824" cy="400399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22" name="Google Shape;422;p19" title="Captura de pantalla 2026-06-25 a la(s) 01.08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187" y="1814825"/>
            <a:ext cx="3284870" cy="25490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23" name="Google Shape;423;p19" descr="Resultado de imagen para angular logos"/>
          <p:cNvPicPr preferRelativeResize="0"/>
          <p:nvPr/>
        </p:nvPicPr>
        <p:blipFill rotWithShape="1">
          <a:blip r:embed="rId5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9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425" name="Google Shape;425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6" name="Google Shape;426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427" name="Google Shape;427;p19" descr="Cambios en Gmail ~ ITAE"/>
          <p:cNvPicPr preferRelativeResize="0"/>
          <p:nvPr/>
        </p:nvPicPr>
        <p:blipFill rotWithShape="1">
          <a:blip r:embed="rId6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9" descr="Cambios en Gmail ~ ITAE"/>
          <p:cNvPicPr preferRelativeResize="0"/>
          <p:nvPr/>
        </p:nvPicPr>
        <p:blipFill rotWithShape="1">
          <a:blip r:embed="rId6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9"/>
          <p:cNvSpPr/>
          <p:nvPr/>
        </p:nvSpPr>
        <p:spPr>
          <a:xfrm>
            <a:off x="577649" y="3305675"/>
            <a:ext cx="2911800" cy="434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4776327" y="4988290"/>
            <a:ext cx="910500" cy="386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2806437" y="3325997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5544530" y="4984329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627062" y="1042239"/>
            <a:ext cx="810505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nos solicitará escoger la cuenta Gmail y conceder el permiso de acceso a nuestra aplicación (esto en varias pantallas)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20" title="Captura de pantalla 2026-06-25 a la(s) 01.09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750" y="1051075"/>
            <a:ext cx="3260825" cy="52940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9" name="Google Shape;439;p20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0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441" name="Google Shape;441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2" name="Google Shape;442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443" name="Google Shape;443;p20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0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0"/>
          <p:cNvSpPr/>
          <p:nvPr/>
        </p:nvSpPr>
        <p:spPr>
          <a:xfrm>
            <a:off x="6859825" y="5720075"/>
            <a:ext cx="1445700" cy="523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0"/>
          <p:cNvSpPr/>
          <p:nvPr/>
        </p:nvSpPr>
        <p:spPr>
          <a:xfrm>
            <a:off x="627062" y="1042239"/>
            <a:ext cx="44957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paso final permitimos el acceso.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4052744" y="3061781"/>
            <a:ext cx="612000" cy="24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776977" y="2584035"/>
            <a:ext cx="2995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indica los permisos que se conceden a nuestra aplicación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21" title="Captura de pantalla 2026-06-25 a la(s) 01.16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63" y="1604096"/>
            <a:ext cx="8042486" cy="471238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54" name="Google Shape;454;p21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1"/>
          <p:cNvSpPr txBox="1"/>
          <p:nvPr/>
        </p:nvSpPr>
        <p:spPr>
          <a:xfrm>
            <a:off x="1144588" y="185738"/>
            <a:ext cx="505619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Crear ID de Cliente OAuth …</a:t>
            </a:r>
            <a:endParaRPr/>
          </a:p>
        </p:txBody>
      </p:sp>
      <p:cxnSp>
        <p:nvCxnSpPr>
          <p:cNvPr id="456" name="Google Shape;456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7" name="Google Shape;457;p2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458" name="Google Shape;458;p21" descr="Cambios en Gmail ~ ITAE"/>
          <p:cNvPicPr preferRelativeResize="0"/>
          <p:nvPr/>
        </p:nvPicPr>
        <p:blipFill rotWithShape="1">
          <a:blip r:embed="rId5">
            <a:alphaModFix/>
          </a:blip>
          <a:srcRect l="41099" t="28019" r="5653" b="28047"/>
          <a:stretch/>
        </p:blipFill>
        <p:spPr>
          <a:xfrm>
            <a:off x="6705163" y="318378"/>
            <a:ext cx="795587" cy="328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1" descr="Cambios en Gmail ~ ITAE"/>
          <p:cNvPicPr preferRelativeResize="0"/>
          <p:nvPr/>
        </p:nvPicPr>
        <p:blipFill rotWithShape="1">
          <a:blip r:embed="rId5">
            <a:alphaModFix/>
          </a:blip>
          <a:srcRect l="5653" t="28019" r="64720" b="28047"/>
          <a:stretch/>
        </p:blipFill>
        <p:spPr>
          <a:xfrm>
            <a:off x="6173575" y="267619"/>
            <a:ext cx="498129" cy="36933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1"/>
          <p:cNvSpPr/>
          <p:nvPr/>
        </p:nvSpPr>
        <p:spPr>
          <a:xfrm>
            <a:off x="627062" y="1162499"/>
            <a:ext cx="81050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 estamos en el panel de administración de OAuth 2.0 Playground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2191357" y="5669933"/>
            <a:ext cx="4761300" cy="83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Generamos un </a:t>
            </a:r>
            <a:r>
              <a:rPr lang="es-CL" sz="1600" b="1">
                <a:solidFill>
                  <a:schemeClr val="dk1"/>
                </a:solidFill>
              </a:rPr>
              <a:t>Refresh Token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un </a:t>
            </a:r>
            <a:r>
              <a:rPr lang="es-CL" sz="1600" b="1">
                <a:solidFill>
                  <a:schemeClr val="dk1"/>
                </a:solidFill>
              </a:rPr>
              <a:t>Access Token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presionando el botón azul. Seleccionamos “</a:t>
            </a:r>
            <a:r>
              <a:rPr lang="es-CL" sz="1600" b="1">
                <a:solidFill>
                  <a:schemeClr val="dk1"/>
                </a:solidFill>
              </a:rPr>
              <a:t>Auto-refresh the token before it expires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254321" y="3738750"/>
            <a:ext cx="1612200" cy="268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559675" y="4051775"/>
            <a:ext cx="2894400" cy="603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22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>
            <a:off x="1144588" y="185738"/>
            <a:ext cx="64171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470" name="Google Shape;470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1" name="Google Shape;471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Vamos a nuestro proyecto backend para implementar un envío de email.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627087" y="1692310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las librerías necesarias: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1027134" y="2156074"/>
            <a:ext cx="461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install nodemailer googleapis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3" title="Captura de pantalla 2026-06-25 a la(s) 02.0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63" y="2195063"/>
            <a:ext cx="8246273" cy="25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3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3"/>
          <p:cNvSpPr txBox="1"/>
          <p:nvPr/>
        </p:nvSpPr>
        <p:spPr>
          <a:xfrm>
            <a:off x="1144588" y="185738"/>
            <a:ext cx="641714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482" name="Google Shape;482;p2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3" name="Google Shape;483;p2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84" name="Google Shape;484;p23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Configuramos las variables de ambiente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621277" y="1863300"/>
            <a:ext cx="3865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.env.local - .env.dev - .env.prod</a:t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519150" y="3605250"/>
            <a:ext cx="8105700" cy="875400"/>
          </a:xfrm>
          <a:prstGeom prst="rect">
            <a:avLst/>
          </a:prstGeom>
          <a:solidFill>
            <a:srgbClr val="FFFF00">
              <a:alpha val="10196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6004701" y="2430715"/>
            <a:ext cx="2584500" cy="737400"/>
          </a:xfrm>
          <a:prstGeom prst="wedgeRoundRectCallout">
            <a:avLst>
              <a:gd name="adj1" fmla="val -29654"/>
              <a:gd name="adj2" fmla="val 106276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Credenciales entregadas por la API de Google Mail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g3ef400108b3_0_193" title="Captura de pantalla 2026-06-26 a la(s) 12.10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00" y="1968947"/>
            <a:ext cx="7526399" cy="4233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g3ef400108b3_0_193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ef400108b3_0_193"/>
          <p:cNvSpPr txBox="1"/>
          <p:nvPr/>
        </p:nvSpPr>
        <p:spPr>
          <a:xfrm>
            <a:off x="1144588" y="185738"/>
            <a:ext cx="6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495" name="Google Shape;495;g3ef400108b3_0_19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6" name="Google Shape;496;g3ef400108b3_0_19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97" name="Google Shape;497;g3ef400108b3_0_193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ef400108b3_0_193"/>
          <p:cNvSpPr txBox="1"/>
          <p:nvPr/>
        </p:nvSpPr>
        <p:spPr>
          <a:xfrm>
            <a:off x="955218" y="1661167"/>
            <a:ext cx="801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.js</a:t>
            </a:r>
            <a:endParaRPr/>
          </a:p>
        </p:txBody>
      </p:sp>
      <p:sp>
        <p:nvSpPr>
          <p:cNvPr id="499" name="Google Shape;499;g3ef400108b3_0_193"/>
          <p:cNvSpPr/>
          <p:nvPr/>
        </p:nvSpPr>
        <p:spPr>
          <a:xfrm>
            <a:off x="6148250" y="1509761"/>
            <a:ext cx="2584500" cy="882000"/>
          </a:xfrm>
          <a:prstGeom prst="wedgeRoundRectCallout">
            <a:avLst>
              <a:gd name="adj1" fmla="val -29654"/>
              <a:gd name="adj2" fmla="val 106276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Obtenemos las credenciales desde las variables de ambiente</a:t>
            </a:r>
            <a:endParaRPr/>
          </a:p>
        </p:txBody>
      </p:sp>
      <p:sp>
        <p:nvSpPr>
          <p:cNvPr id="500" name="Google Shape;500;g3ef400108b3_0_193"/>
          <p:cNvSpPr/>
          <p:nvPr/>
        </p:nvSpPr>
        <p:spPr>
          <a:xfrm>
            <a:off x="892475" y="2840184"/>
            <a:ext cx="7087500" cy="12819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ef400108b3_0_193"/>
          <p:cNvSpPr/>
          <p:nvPr/>
        </p:nvSpPr>
        <p:spPr>
          <a:xfrm>
            <a:off x="892475" y="4253234"/>
            <a:ext cx="4225800" cy="18039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ef400108b3_0_193"/>
          <p:cNvSpPr/>
          <p:nvPr/>
        </p:nvSpPr>
        <p:spPr>
          <a:xfrm>
            <a:off x="5859425" y="4570508"/>
            <a:ext cx="2584500" cy="1120800"/>
          </a:xfrm>
          <a:prstGeom prst="wedgeRoundRectCallout">
            <a:avLst>
              <a:gd name="adj1" fmla="val -78187"/>
              <a:gd name="adj2" fmla="val -14394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Crea el cliente de autenticación OAuth para interactuar con el servicio de google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g3f27dff24cd_0_2" title="Captura de pantalla 2026-06-26 a la(s) 12.02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438" y="2029859"/>
            <a:ext cx="6075324" cy="43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f27dff24cd_0_2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f27dff24cd_0_2"/>
          <p:cNvSpPr txBox="1"/>
          <p:nvPr/>
        </p:nvSpPr>
        <p:spPr>
          <a:xfrm>
            <a:off x="1144588" y="185738"/>
            <a:ext cx="6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510" name="Google Shape;510;g3f27dff24cd_0_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1" name="Google Shape;511;g3f27dff24cd_0_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12" name="Google Shape;512;g3f27dff24cd_0_2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f27dff24cd_0_2"/>
          <p:cNvSpPr txBox="1"/>
          <p:nvPr/>
        </p:nvSpPr>
        <p:spPr>
          <a:xfrm>
            <a:off x="955218" y="1661167"/>
            <a:ext cx="801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.js</a:t>
            </a:r>
            <a:endParaRPr/>
          </a:p>
        </p:txBody>
      </p:sp>
      <p:sp>
        <p:nvSpPr>
          <p:cNvPr id="514" name="Google Shape;514;g3f27dff24cd_0_2"/>
          <p:cNvSpPr/>
          <p:nvPr/>
        </p:nvSpPr>
        <p:spPr>
          <a:xfrm>
            <a:off x="6148250" y="882684"/>
            <a:ext cx="2903400" cy="1770600"/>
          </a:xfrm>
          <a:prstGeom prst="wedgeRoundRectCallout">
            <a:avLst>
              <a:gd name="adj1" fmla="val -15132"/>
              <a:gd name="adj2" fmla="val 87730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600">
                <a:solidFill>
                  <a:schemeClr val="dk1"/>
                </a:solidFill>
              </a:rPr>
              <a:t>Crea un objeto Transport que contiene todos los datos relativos a credenciales de autorización para hacer uso del servicio de GMail</a:t>
            </a:r>
            <a:endParaRPr sz="16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515" name="Google Shape;515;g3f27dff24cd_0_2"/>
          <p:cNvSpPr/>
          <p:nvPr/>
        </p:nvSpPr>
        <p:spPr>
          <a:xfrm>
            <a:off x="1400725" y="3302934"/>
            <a:ext cx="5898600" cy="29811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g3f27dff24cd_0_17" title="Captura de pantalla 2026-06-26 a la(s) 12.02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00" y="1989600"/>
            <a:ext cx="8574600" cy="41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f27dff24cd_0_17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f27dff24cd_0_17"/>
          <p:cNvSpPr txBox="1"/>
          <p:nvPr/>
        </p:nvSpPr>
        <p:spPr>
          <a:xfrm>
            <a:off x="1144588" y="185738"/>
            <a:ext cx="6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523" name="Google Shape;523;g3f27dff24cd_0_1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4" name="Google Shape;524;g3f27dff24cd_0_1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25" name="Google Shape;525;g3f27dff24cd_0_17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f27dff24cd_0_17"/>
          <p:cNvSpPr txBox="1"/>
          <p:nvPr/>
        </p:nvSpPr>
        <p:spPr>
          <a:xfrm>
            <a:off x="955218" y="1661167"/>
            <a:ext cx="801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.js</a:t>
            </a:r>
            <a:endParaRPr/>
          </a:p>
        </p:txBody>
      </p:sp>
      <p:sp>
        <p:nvSpPr>
          <p:cNvPr id="527" name="Google Shape;527;g3f27dff24cd_0_17"/>
          <p:cNvSpPr/>
          <p:nvPr/>
        </p:nvSpPr>
        <p:spPr>
          <a:xfrm>
            <a:off x="5430300" y="1839700"/>
            <a:ext cx="3429000" cy="701100"/>
          </a:xfrm>
          <a:prstGeom prst="wedgeRoundRectCallout">
            <a:avLst>
              <a:gd name="adj1" fmla="val -76010"/>
              <a:gd name="adj2" fmla="val 26710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Implementamos un endpoint para gestionar el envío de correos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28" name="Google Shape;528;g3f27dff24cd_0_17"/>
          <p:cNvSpPr/>
          <p:nvPr/>
        </p:nvSpPr>
        <p:spPr>
          <a:xfrm>
            <a:off x="430025" y="2294400"/>
            <a:ext cx="4070700" cy="3078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g3f27dff24cd_0_17"/>
          <p:cNvSpPr/>
          <p:nvPr/>
        </p:nvSpPr>
        <p:spPr>
          <a:xfrm>
            <a:off x="771525" y="5855025"/>
            <a:ext cx="3527400" cy="3078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27dff24cd_0_17"/>
          <p:cNvSpPr/>
          <p:nvPr/>
        </p:nvSpPr>
        <p:spPr>
          <a:xfrm>
            <a:off x="5141475" y="5408475"/>
            <a:ext cx="3429000" cy="830400"/>
          </a:xfrm>
          <a:prstGeom prst="wedgeRoundRectCallout">
            <a:avLst>
              <a:gd name="adj1" fmla="val -76010"/>
              <a:gd name="adj2" fmla="val 26710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Recibimos la dirección de email desde el body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g3f27dff24cd_0_32" title="Captura de pantalla 2026-06-26 a la(s) 12.02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38" y="2008500"/>
            <a:ext cx="6584314" cy="4489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g3f27dff24cd_0_32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f27dff24cd_0_32"/>
          <p:cNvSpPr txBox="1"/>
          <p:nvPr/>
        </p:nvSpPr>
        <p:spPr>
          <a:xfrm>
            <a:off x="1144588" y="185738"/>
            <a:ext cx="641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el envío con JavaScript</a:t>
            </a:r>
            <a:endParaRPr/>
          </a:p>
        </p:txBody>
      </p:sp>
      <p:cxnSp>
        <p:nvCxnSpPr>
          <p:cNvPr id="538" name="Google Shape;538;g3f27dff24cd_0_3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9" name="Google Shape;539;g3f27dff24cd_0_3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40" name="Google Shape;540;g3f27dff24cd_0_32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27dff24cd_0_32"/>
          <p:cNvSpPr txBox="1"/>
          <p:nvPr/>
        </p:nvSpPr>
        <p:spPr>
          <a:xfrm>
            <a:off x="955218" y="1661167"/>
            <a:ext cx="801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highlight>
                  <a:srgbClr val="FFFF00"/>
                </a:highlight>
              </a:rPr>
              <a:t>app</a:t>
            </a:r>
            <a:r>
              <a:rPr lang="es-CL" sz="14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.js</a:t>
            </a:r>
            <a:endParaRPr/>
          </a:p>
        </p:txBody>
      </p:sp>
      <p:sp>
        <p:nvSpPr>
          <p:cNvPr id="542" name="Google Shape;542;g3f27dff24cd_0_32"/>
          <p:cNvSpPr/>
          <p:nvPr/>
        </p:nvSpPr>
        <p:spPr>
          <a:xfrm>
            <a:off x="5543750" y="1164625"/>
            <a:ext cx="3429000" cy="939600"/>
          </a:xfrm>
          <a:prstGeom prst="wedgeRoundRectCallout">
            <a:avLst>
              <a:gd name="adj1" fmla="val -52480"/>
              <a:gd name="adj2" fmla="val 61465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Creamos un objeto JSON con todos los datos relativos al email que queremos enviar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43" name="Google Shape;543;g3f27dff24cd_0_32"/>
          <p:cNvSpPr/>
          <p:nvPr/>
        </p:nvSpPr>
        <p:spPr>
          <a:xfrm>
            <a:off x="1359600" y="2036350"/>
            <a:ext cx="4070700" cy="14994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27dff24cd_0_32"/>
          <p:cNvSpPr/>
          <p:nvPr/>
        </p:nvSpPr>
        <p:spPr>
          <a:xfrm>
            <a:off x="1359600" y="3724500"/>
            <a:ext cx="5019300" cy="25143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g3f27dff24cd_0_32"/>
          <p:cNvSpPr/>
          <p:nvPr/>
        </p:nvSpPr>
        <p:spPr>
          <a:xfrm>
            <a:off x="5116275" y="4210850"/>
            <a:ext cx="3429000" cy="830400"/>
          </a:xfrm>
          <a:prstGeom prst="wedgeRoundRectCallout">
            <a:avLst>
              <a:gd name="adj1" fmla="val -95896"/>
              <a:gd name="adj2" fmla="val -78176"/>
              <a:gd name="adj3" fmla="val 16667"/>
            </a:avLst>
          </a:prstGeom>
          <a:solidFill>
            <a:srgbClr val="FFC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</a:rPr>
              <a:t>Realizamos el envío mediante la función sendMail()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26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6"/>
          <p:cNvSpPr txBox="1"/>
          <p:nvPr/>
        </p:nvSpPr>
        <p:spPr>
          <a:xfrm>
            <a:off x="1144588" y="185738"/>
            <a:ext cx="390632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Ejecutar la Aplicación</a:t>
            </a:r>
            <a:endParaRPr/>
          </a:p>
        </p:txBody>
      </p:sp>
      <p:cxnSp>
        <p:nvCxnSpPr>
          <p:cNvPr id="552" name="Google Shape;552;p2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3" name="Google Shape;553;p2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54" name="Google Shape;554;p2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Ejecutamos nuestro programa de NodeJS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900060" y="1533987"/>
            <a:ext cx="170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start</a:t>
            </a:r>
            <a:endParaRPr sz="180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627100" y="2142812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Probamos nuestro endpoint </a:t>
            </a:r>
            <a:r>
              <a:rPr lang="es-CL" sz="1800" b="1">
                <a:solidFill>
                  <a:schemeClr val="dk1"/>
                </a:solidFill>
              </a:rPr>
              <a:t>/email-test</a:t>
            </a:r>
            <a:r>
              <a:rPr lang="es-CL" sz="1800">
                <a:solidFill>
                  <a:schemeClr val="dk1"/>
                </a:solidFill>
              </a:rPr>
              <a:t> desde postman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26" title="Captura de pantalla 2026-06-26 a la(s) 12.59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100" y="2651896"/>
            <a:ext cx="6919799" cy="3606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8" name="Google Shape;558;p26"/>
          <p:cNvSpPr/>
          <p:nvPr/>
        </p:nvSpPr>
        <p:spPr>
          <a:xfrm>
            <a:off x="1206500" y="2749100"/>
            <a:ext cx="2777100" cy="3942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3875586" y="2749108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60" name="Google Shape;560;p26"/>
          <p:cNvSpPr/>
          <p:nvPr/>
        </p:nvSpPr>
        <p:spPr>
          <a:xfrm>
            <a:off x="1206500" y="3989125"/>
            <a:ext cx="4554900" cy="3942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5162586" y="3989133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>
            <a:off x="6729300" y="2749100"/>
            <a:ext cx="1225500" cy="3942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6626086" y="2749108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564" name="Google Shape;564;p26"/>
          <p:cNvSpPr/>
          <p:nvPr/>
        </p:nvSpPr>
        <p:spPr>
          <a:xfrm>
            <a:off x="1346300" y="5326550"/>
            <a:ext cx="3116400" cy="667500"/>
          </a:xfrm>
          <a:prstGeom prst="rect">
            <a:avLst/>
          </a:prstGeom>
          <a:solidFill>
            <a:srgbClr val="FFFF00">
              <a:alpha val="10199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4264386" y="5183458"/>
            <a:ext cx="388800" cy="394200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27" title="Captura de pantalla 2026-06-25 a la(s) 02.19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425" y="1620647"/>
            <a:ext cx="7857152" cy="47085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1" name="Google Shape;571;p27" descr="Resultado de imagen para angular logos"/>
          <p:cNvPicPr preferRelativeResize="0"/>
          <p:nvPr/>
        </p:nvPicPr>
        <p:blipFill rotWithShape="1">
          <a:blip r:embed="rId4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7"/>
          <p:cNvSpPr txBox="1"/>
          <p:nvPr/>
        </p:nvSpPr>
        <p:spPr>
          <a:xfrm>
            <a:off x="1144588" y="185738"/>
            <a:ext cx="298132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 el Resultado</a:t>
            </a:r>
            <a:endParaRPr/>
          </a:p>
        </p:txBody>
      </p:sp>
      <p:cxnSp>
        <p:nvCxnSpPr>
          <p:cNvPr id="573" name="Google Shape;573;p2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4" name="Google Shape;574;p2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Visualizamos el email que recibimos en nuestra casilla de destinatario</a:t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7"/>
          <p:cNvSpPr/>
          <p:nvPr/>
        </p:nvSpPr>
        <p:spPr>
          <a:xfrm>
            <a:off x="2955252" y="2702411"/>
            <a:ext cx="5263200" cy="3386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28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1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8"/>
          <p:cNvSpPr txBox="1"/>
          <p:nvPr/>
        </p:nvSpPr>
        <p:spPr>
          <a:xfrm>
            <a:off x="1144588" y="185738"/>
            <a:ext cx="49509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Envío de Archivos Adjuntos</a:t>
            </a:r>
            <a:endParaRPr/>
          </a:p>
        </p:txBody>
      </p:sp>
      <p:cxnSp>
        <p:nvCxnSpPr>
          <p:cNvPr id="583" name="Google Shape;583;p2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4" name="Google Shape;584;p2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627063" y="1276208"/>
            <a:ext cx="790638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desea enviar el correo electrónico con un archivo adjunto y a varias cuentas: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4079" y="2282759"/>
            <a:ext cx="73723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8"/>
          <p:cNvSpPr/>
          <p:nvPr/>
        </p:nvSpPr>
        <p:spPr>
          <a:xfrm>
            <a:off x="1227263" y="4281766"/>
            <a:ext cx="7022658" cy="1411597"/>
          </a:xfrm>
          <a:prstGeom prst="rect">
            <a:avLst/>
          </a:prstGeom>
          <a:solidFill>
            <a:srgbClr val="FFFF00">
              <a:alpha val="10196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1328453" y="2890664"/>
            <a:ext cx="5553075" cy="354740"/>
          </a:xfrm>
          <a:prstGeom prst="rect">
            <a:avLst/>
          </a:prstGeom>
          <a:solidFill>
            <a:srgbClr val="FFFF00">
              <a:alpha val="10196"/>
            </a:srgbClr>
          </a:solidFill>
          <a:ln w="28575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g3f27dff24cd_1_20" descr="Resultado de imagen para angular logos"/>
          <p:cNvPicPr preferRelativeResize="0"/>
          <p:nvPr/>
        </p:nvPicPr>
        <p:blipFill rotWithShape="1">
          <a:blip r:embed="rId3">
            <a:alphaModFix/>
          </a:blip>
          <a:srcRect l="51972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g3f27dff24cd_1_20"/>
          <p:cNvSpPr txBox="1"/>
          <p:nvPr/>
        </p:nvSpPr>
        <p:spPr>
          <a:xfrm>
            <a:off x="1144588" y="185738"/>
            <a:ext cx="495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>
                <a:solidFill>
                  <a:srgbClr val="0070C0"/>
                </a:solidFill>
              </a:rPr>
              <a:t>Desafío</a:t>
            </a:r>
            <a:endParaRPr/>
          </a:p>
        </p:txBody>
      </p:sp>
      <p:cxnSp>
        <p:nvCxnSpPr>
          <p:cNvPr id="595" name="Google Shape;595;g3f27dff24cd_1_2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w="28575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6" name="Google Shape;596;g3f27dff24cd_1_2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597" name="Google Shape;597;g3f27dff24cd_1_20"/>
          <p:cNvSpPr/>
          <p:nvPr/>
        </p:nvSpPr>
        <p:spPr>
          <a:xfrm>
            <a:off x="627075" y="1276216"/>
            <a:ext cx="7906500" cy="48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Construya un endpoint recuperación de contraseña en el backend.</a:t>
            </a: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Implemente la solución Angular necesaria para permitir a un usuario recuperar el acceso a su cuenta: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Considere usar un token temporal para el link de recuperación o código de verificación.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Considere uso de formularios y validaciones mínimas.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1435</Words>
  <Application>Microsoft Macintosh PowerPoint</Application>
  <PresentationFormat>Presentación en pantalla (4:3)</PresentationFormat>
  <Paragraphs>256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Arial</vt:lpstr>
      <vt:lpstr>Libre Franklin</vt:lpstr>
      <vt:lpstr>Aharoni</vt:lpstr>
      <vt:lpstr>Consolas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 Gajardo</dc:creator>
  <cp:lastModifiedBy>Cesar Aguilera Sepulveda</cp:lastModifiedBy>
  <cp:revision>1</cp:revision>
  <dcterms:created xsi:type="dcterms:W3CDTF">1601-01-01T00:00:00Z</dcterms:created>
  <dcterms:modified xsi:type="dcterms:W3CDTF">2026-06-26T20:22:46Z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