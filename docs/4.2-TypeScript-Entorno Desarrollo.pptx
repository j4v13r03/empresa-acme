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7010400" cy="9296400"/>
  <p:embeddedFontLst>
    <p:embeddedFont>
      <p:font typeface="Helvetica Ne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jimz2YSFe3/UrQ124YvnA27kol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HelveticaNeue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8" Type="http://customschemas.google.com/relationships/presentationmetadata" Target="metadata"/><Relationship Id="rId27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8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158ca2092_1_0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d158ca2092_1_0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158ca2092_2_3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d158ca2092_2_3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18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9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20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158ca2092_6_1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d158ca2092_6_1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158ca2092_4_0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g3d158ca2092_4_0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158ca2092_3_0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g3d158ca2092_3_0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158ca2092_3_14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g3d158ca2092_3_14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158ca2092_2_18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s-CL"/>
              <a:t>crea un archivo “tsconfig.json” con todas las opciones por defecto que TypeScript: npx tsc --init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s-CL"/>
              <a:t>verificar dependencias el instalador y compilador: npm install -D typescript ts-node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s-CL"/>
              <a:t>intentar ejecutar local con: npx ts-node index.ts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3d158ca2092_2_18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32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32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34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3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3352800" y="3090863"/>
            <a:ext cx="507841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Configuración del Entorno de Desarrollo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3429000" y="4056152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&#10;&#10;Descripción generada automáticamente con confianza media"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363" y="287338"/>
            <a:ext cx="2027237" cy="118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62" y="1951037"/>
            <a:ext cx="2705100" cy="26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3250" y="1864216"/>
            <a:ext cx="46863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1542319" y="2837842"/>
            <a:ext cx="605936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INSTALACIÓN DEL FRAMEWORK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nodejs" id="109" name="Google Shape;10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8545" y="1115883"/>
            <a:ext cx="1026903" cy="102793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/>
        </p:nvSpPr>
        <p:spPr>
          <a:xfrm>
            <a:off x="1144588" y="185738"/>
            <a:ext cx="27206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NodeJS y NPM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838199" y="1212850"/>
            <a:ext cx="465178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 JS contiene todo lo necesario para el funcionamiento de Angular.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219656" y="1890520"/>
            <a:ext cx="2326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https://nodejs.org/es</a:t>
            </a:r>
            <a:endParaRPr b="0" i="1" sz="1800" u="none" cap="none" strike="noStrike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npm logo" id="115" name="Google Shape;115;p4"/>
          <p:cNvPicPr preferRelativeResize="0"/>
          <p:nvPr/>
        </p:nvPicPr>
        <p:blipFill rotWithShape="1">
          <a:blip r:embed="rId5">
            <a:alphaModFix/>
          </a:blip>
          <a:srcRect b="28583" l="0" r="0" t="28250"/>
          <a:stretch/>
        </p:blipFill>
        <p:spPr>
          <a:xfrm>
            <a:off x="7325955" y="1218611"/>
            <a:ext cx="1285840" cy="5550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/>
          <p:nvPr/>
        </p:nvSpPr>
        <p:spPr>
          <a:xfrm>
            <a:off x="838199" y="2570076"/>
            <a:ext cx="2632219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framework Javascript.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 del lado del servidor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basa en eventos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asíncrono.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4" title="Captura de pantalla 2026-03-20 110812.png"/>
          <p:cNvPicPr preferRelativeResize="0"/>
          <p:nvPr/>
        </p:nvPicPr>
        <p:blipFill rotWithShape="1">
          <a:blip r:embed="rId6">
            <a:alphaModFix/>
          </a:blip>
          <a:srcRect b="-25550" l="3972" r="20522" t="-10209"/>
          <a:stretch/>
        </p:blipFill>
        <p:spPr>
          <a:xfrm>
            <a:off x="3715214" y="2199946"/>
            <a:ext cx="5116660" cy="410439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1144588" y="185738"/>
            <a:ext cx="30796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NodeJS y NPM…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5"/>
          <p:cNvSpPr/>
          <p:nvPr/>
        </p:nvSpPr>
        <p:spPr>
          <a:xfrm>
            <a:off x="838199" y="1162499"/>
            <a:ext cx="80698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Proceso de instalación de NodeJS y NPM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5" title="Captura de pantalla 2026-03-19 a la(s) 23.40.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075" y="1778326"/>
            <a:ext cx="8069827" cy="420435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158ca2092_1_0"/>
          <p:cNvSpPr/>
          <p:nvPr/>
        </p:nvSpPr>
        <p:spPr>
          <a:xfrm>
            <a:off x="838263" y="1785746"/>
            <a:ext cx="2325000" cy="264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angular logos" id="133" name="Google Shape;133;g3d158ca2092_1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d158ca2092_1_0"/>
          <p:cNvSpPr txBox="1"/>
          <p:nvPr/>
        </p:nvSpPr>
        <p:spPr>
          <a:xfrm>
            <a:off x="1144588" y="185738"/>
            <a:ext cx="307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NodeJS y NPM…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g3d158ca2092_1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g3d158ca2092_1_0"/>
          <p:cNvSpPr/>
          <p:nvPr/>
        </p:nvSpPr>
        <p:spPr>
          <a:xfrm>
            <a:off x="838199" y="1162499"/>
            <a:ext cx="806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Verificar</a:t>
            </a:r>
            <a:r>
              <a:rPr b="0" i="0" lang="es-CL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instalación de NodeJS y NPM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d158ca2092_1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g3d158ca2092_1_0"/>
          <p:cNvPicPr preferRelativeResize="0"/>
          <p:nvPr/>
        </p:nvPicPr>
        <p:blipFill rotWithShape="1">
          <a:blip r:embed="rId4">
            <a:alphaModFix/>
          </a:blip>
          <a:srcRect b="41601" l="0" r="74569" t="20985"/>
          <a:stretch/>
        </p:blipFill>
        <p:spPr>
          <a:xfrm>
            <a:off x="838200" y="1778310"/>
            <a:ext cx="2325115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d158ca2092_1_0"/>
          <p:cNvPicPr preferRelativeResize="0"/>
          <p:nvPr/>
        </p:nvPicPr>
        <p:blipFill rotWithShape="1">
          <a:blip r:embed="rId4">
            <a:alphaModFix/>
          </a:blip>
          <a:srcRect b="0" l="0" r="74569" t="80473"/>
          <a:stretch/>
        </p:blipFill>
        <p:spPr>
          <a:xfrm>
            <a:off x="838200" y="3420897"/>
            <a:ext cx="2325115" cy="1004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d158ca2092_1_0" title="Captura de pantalla 2026-03-20 111639.png"/>
          <p:cNvPicPr preferRelativeResize="0"/>
          <p:nvPr/>
        </p:nvPicPr>
        <p:blipFill rotWithShape="1">
          <a:blip r:embed="rId5">
            <a:alphaModFix/>
          </a:blip>
          <a:srcRect b="2262" l="0" r="1322" t="1888"/>
          <a:stretch/>
        </p:blipFill>
        <p:spPr>
          <a:xfrm>
            <a:off x="2823525" y="2822125"/>
            <a:ext cx="5374802" cy="30082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1" name="Google Shape;141;g3d158ca2092_1_0"/>
          <p:cNvSpPr/>
          <p:nvPr/>
        </p:nvSpPr>
        <p:spPr>
          <a:xfrm>
            <a:off x="3708975" y="1785757"/>
            <a:ext cx="36039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node -v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npm -v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1144588" y="185738"/>
            <a:ext cx="70326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2E75B5"/>
                </a:solidFill>
              </a:rPr>
              <a:t>TS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838200" y="1287035"/>
            <a:ext cx="7956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Instalar </a:t>
            </a:r>
            <a:r>
              <a:rPr lang="es-CL" sz="1800">
                <a:solidFill>
                  <a:schemeClr val="dk1"/>
                </a:solidFill>
              </a:rPr>
              <a:t>ts node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modo global (-g) para correr </a:t>
            </a:r>
            <a:r>
              <a:rPr lang="es-CL" sz="1800">
                <a:solidFill>
                  <a:schemeClr val="dk1"/>
                </a:solidFill>
              </a:rPr>
              <a:t>TypeScript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365800" y="1668907"/>
            <a:ext cx="36039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npm install -g </a:t>
            </a: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typescript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npm </a:t>
            </a: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install -g ts-node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2" name="Google Shape;152;p7" title="Captura de pantalla 2026-03-20 113552.png"/>
          <p:cNvPicPr preferRelativeResize="0"/>
          <p:nvPr/>
        </p:nvPicPr>
        <p:blipFill rotWithShape="1">
          <a:blip r:embed="rId4">
            <a:alphaModFix/>
          </a:blip>
          <a:srcRect b="29229" l="0" r="0" t="0"/>
          <a:stretch/>
        </p:blipFill>
        <p:spPr>
          <a:xfrm>
            <a:off x="1068250" y="2531046"/>
            <a:ext cx="7185389" cy="288898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53" name="Google Shape;153;p7"/>
          <p:cNvCxnSpPr/>
          <p:nvPr/>
        </p:nvCxnSpPr>
        <p:spPr>
          <a:xfrm>
            <a:off x="2204075" y="3328500"/>
            <a:ext cx="1533900" cy="7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" name="Google Shape;154;p7"/>
          <p:cNvCxnSpPr/>
          <p:nvPr/>
        </p:nvCxnSpPr>
        <p:spPr>
          <a:xfrm>
            <a:off x="2151950" y="4478700"/>
            <a:ext cx="1437300" cy="11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9" name="Google Shape;159;g3d158ca2092_2_3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d158ca2092_2_3"/>
          <p:cNvSpPr txBox="1"/>
          <p:nvPr/>
        </p:nvSpPr>
        <p:spPr>
          <a:xfrm>
            <a:off x="1144588" y="185738"/>
            <a:ext cx="703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2E75B5"/>
                </a:solidFill>
              </a:rPr>
              <a:t>TS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g3d158ca2092_2_3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2" name="Google Shape;162;g3d158ca2092_2_3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d158ca2092_2_3"/>
          <p:cNvSpPr/>
          <p:nvPr/>
        </p:nvSpPr>
        <p:spPr>
          <a:xfrm>
            <a:off x="838200" y="1287035"/>
            <a:ext cx="795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Verificar instalación de ts-node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d158ca2092_2_3"/>
          <p:cNvSpPr/>
          <p:nvPr/>
        </p:nvSpPr>
        <p:spPr>
          <a:xfrm>
            <a:off x="1365800" y="1668907"/>
            <a:ext cx="36039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tsc -v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ts-node -v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5" name="Google Shape;165;g3d158ca2092_2_3" title="Captura de pantalla 2026-03-20 113712.png"/>
          <p:cNvPicPr preferRelativeResize="0"/>
          <p:nvPr/>
        </p:nvPicPr>
        <p:blipFill rotWithShape="1">
          <a:blip r:embed="rId4">
            <a:alphaModFix/>
          </a:blip>
          <a:srcRect b="29123" l="0" r="0" t="0"/>
          <a:stretch/>
        </p:blipFill>
        <p:spPr>
          <a:xfrm>
            <a:off x="785112" y="2523596"/>
            <a:ext cx="7185390" cy="288898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66" name="Google Shape;166;g3d158ca2092_2_3"/>
          <p:cNvCxnSpPr/>
          <p:nvPr/>
        </p:nvCxnSpPr>
        <p:spPr>
          <a:xfrm>
            <a:off x="1845962" y="3338260"/>
            <a:ext cx="507000" cy="5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" name="Google Shape;167;g3d158ca2092_2_3"/>
          <p:cNvCxnSpPr/>
          <p:nvPr/>
        </p:nvCxnSpPr>
        <p:spPr>
          <a:xfrm>
            <a:off x="1950212" y="3728949"/>
            <a:ext cx="578100" cy="1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2" name="Google Shape;172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1542319" y="2837842"/>
            <a:ext cx="605936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INSTALACIÓN DEL EDITOR 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9" name="Google Shape;179;p1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1144588" y="185738"/>
            <a:ext cx="483010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Visual Studio Code</a:t>
            </a:r>
            <a:endParaRPr b="1" i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1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2" name="Google Shape;182;p1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838200" y="1212850"/>
            <a:ext cx="43457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Descargar Visual Studio Code desde: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visual studio code logo" id="184" name="Google Shape;18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9014" y="1158924"/>
            <a:ext cx="1119198" cy="1168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6500" y="2081096"/>
            <a:ext cx="5549142" cy="415424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6" name="Google Shape;186;p17"/>
          <p:cNvSpPr/>
          <p:nvPr/>
        </p:nvSpPr>
        <p:spPr>
          <a:xfrm>
            <a:off x="3103224" y="1561883"/>
            <a:ext cx="32111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https://code.visualstudio.com/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1144588" y="185738"/>
            <a:ext cx="483010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Visual Studio Code</a:t>
            </a:r>
            <a:endParaRPr b="1" i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1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4" name="Google Shape;194;p1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838200" y="1212850"/>
            <a:ext cx="43457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Descargar Visual Studio Code desde: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visual studio code logo" id="196" name="Google Shape;19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9111" y="1142112"/>
            <a:ext cx="733727" cy="77229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/>
          <p:nvPr/>
        </p:nvSpPr>
        <p:spPr>
          <a:xfrm>
            <a:off x="5010026" y="1223788"/>
            <a:ext cx="287771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CL" sz="16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https://code.visualstudio.com/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259" y="2086074"/>
            <a:ext cx="7436009" cy="418275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3" name="Google Shape;203;p1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1144588" y="185738"/>
            <a:ext cx="63353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Abrir el proyecto creado en VSCode</a:t>
            </a:r>
            <a:endParaRPr b="1" i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1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6" name="Google Shape;206;p1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838200" y="1212850"/>
            <a:ext cx="7894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Abrir la carpeta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533062" y="3221113"/>
            <a:ext cx="1161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Extensiones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574888" y="2914542"/>
            <a:ext cx="110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Depuración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49676" y="2590990"/>
            <a:ext cx="178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Control de cambios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871974" y="2289701"/>
            <a:ext cx="74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Buscar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626500" y="1996535"/>
            <a:ext cx="110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Explorador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357463" y="5909609"/>
            <a:ext cx="135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Administración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19" title="Captura de pantalla 2026-03-20 a la(s) 11.44.42.png"/>
          <p:cNvPicPr preferRelativeResize="0"/>
          <p:nvPr/>
        </p:nvPicPr>
        <p:blipFill rotWithShape="1">
          <a:blip r:embed="rId4">
            <a:alphaModFix/>
          </a:blip>
          <a:srcRect b="0" l="0" r="2638" t="0"/>
          <a:stretch/>
        </p:blipFill>
        <p:spPr>
          <a:xfrm>
            <a:off x="1543443" y="1777832"/>
            <a:ext cx="6852470" cy="45638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19" name="Google Shape;219;p2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1144588" y="185738"/>
            <a:ext cx="36984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Consola de VS Code</a:t>
            </a:r>
            <a:endParaRPr b="1" i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2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2" name="Google Shape;222;p2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838200" y="1212850"/>
            <a:ext cx="78946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Ejecutar el IDE como administrador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Abrir la consola de Visual Studio Code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4" name="Google Shape;224;p20"/>
          <p:cNvPicPr preferRelativeResize="0"/>
          <p:nvPr/>
        </p:nvPicPr>
        <p:blipFill rotWithShape="1">
          <a:blip r:embed="rId4">
            <a:alphaModFix/>
          </a:blip>
          <a:srcRect b="33787" l="0" r="55860" t="0"/>
          <a:stretch/>
        </p:blipFill>
        <p:spPr>
          <a:xfrm>
            <a:off x="1206500" y="2005012"/>
            <a:ext cx="337566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6500" y="5016929"/>
            <a:ext cx="6301105" cy="89598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/>
          <p:nvPr/>
        </p:nvSpPr>
        <p:spPr>
          <a:xfrm rot="5400000">
            <a:off x="4755893" y="4514819"/>
            <a:ext cx="427551" cy="412727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2430035" y="2005012"/>
            <a:ext cx="367194" cy="20818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459866" y="4434457"/>
            <a:ext cx="2112133" cy="20818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33" name="Google Shape;233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542319" y="2837842"/>
            <a:ext cx="605936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s-CL" sz="3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 PRIMER TYPESCRIPT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0" name="Google Shape;240;g3d158ca2092_6_1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d158ca2092_6_1"/>
          <p:cNvSpPr txBox="1"/>
          <p:nvPr/>
        </p:nvSpPr>
        <p:spPr>
          <a:xfrm>
            <a:off x="1144588" y="185738"/>
            <a:ext cx="703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2E75B5"/>
                </a:solidFill>
              </a:rPr>
              <a:t>Directorio de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g3d158ca2092_6_1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3" name="Google Shape;243;g3d158ca2092_6_1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d158ca2092_6_1"/>
          <p:cNvSpPr/>
          <p:nvPr/>
        </p:nvSpPr>
        <p:spPr>
          <a:xfrm>
            <a:off x="838200" y="1212850"/>
            <a:ext cx="78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Cambiarse a la carpeta en la cual crearemos nuestro proyecto.</a:t>
            </a:r>
            <a:endParaRPr/>
          </a:p>
        </p:txBody>
      </p:sp>
      <p:sp>
        <p:nvSpPr>
          <p:cNvPr id="245" name="Google Shape;245;g3d158ca2092_6_1"/>
          <p:cNvSpPr/>
          <p:nvPr/>
        </p:nvSpPr>
        <p:spPr>
          <a:xfrm>
            <a:off x="838198" y="1692634"/>
            <a:ext cx="53856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la consola de Windows usar: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cd ..   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salir de una carpeta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cd \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Para ir a la raíz del directorio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cd &lt;nombre carpeta&gt; 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entrar en una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&lt;unidad&gt;:  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Cambiar la unidad de trabajo</a:t>
            </a:r>
            <a:endParaRPr/>
          </a:p>
        </p:txBody>
      </p:sp>
      <p:pic>
        <p:nvPicPr>
          <p:cNvPr id="246" name="Google Shape;246;g3d158ca2092_6_1" title="Captura de pantalla 2026-03-20 1249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0663" y="3250714"/>
            <a:ext cx="5682676" cy="32057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51" name="Google Shape;251;g3d158ca2092_4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d158ca2092_4_0"/>
          <p:cNvSpPr txBox="1"/>
          <p:nvPr/>
        </p:nvSpPr>
        <p:spPr>
          <a:xfrm>
            <a:off x="1144588" y="185738"/>
            <a:ext cx="703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2E75B5"/>
                </a:solidFill>
              </a:rPr>
              <a:t>Archivo de Configuración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g3d158ca2092_4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4" name="Google Shape;254;g3d158ca2092_4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d158ca2092_4_0"/>
          <p:cNvSpPr/>
          <p:nvPr/>
        </p:nvSpPr>
        <p:spPr>
          <a:xfrm>
            <a:off x="838200" y="1212850"/>
            <a:ext cx="78945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Iniciar archivo de configuración “</a:t>
            </a: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tsconfig.json</a:t>
            </a: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con todas las opciones por defecto que TypeScript necesita para entender cómo procesar tus archivos.</a:t>
            </a:r>
            <a:endParaRPr/>
          </a:p>
        </p:txBody>
      </p:sp>
      <p:sp>
        <p:nvSpPr>
          <p:cNvPr id="256" name="Google Shape;256;g3d158ca2092_4_0"/>
          <p:cNvSpPr/>
          <p:nvPr/>
        </p:nvSpPr>
        <p:spPr>
          <a:xfrm>
            <a:off x="3540900" y="2042300"/>
            <a:ext cx="20622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npx </a:t>
            </a: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tsc –init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57" name="Google Shape;257;g3d158ca2092_4_0" title="Captura de pantalla 2026-03-20 1251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7590" y="2596250"/>
            <a:ext cx="6588830" cy="374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62" name="Google Shape;262;g3d158ca2092_3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d158ca2092_3_0"/>
          <p:cNvSpPr txBox="1"/>
          <p:nvPr/>
        </p:nvSpPr>
        <p:spPr>
          <a:xfrm>
            <a:off x="1144588" y="185738"/>
            <a:ext cx="703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2E75B5"/>
                </a:solidFill>
              </a:rPr>
              <a:t>Archivo .ts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g3d158ca2092_3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5" name="Google Shape;265;g3d158ca2092_3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d158ca2092_3_0"/>
          <p:cNvSpPr/>
          <p:nvPr/>
        </p:nvSpPr>
        <p:spPr>
          <a:xfrm>
            <a:off x="838200" y="1287035"/>
            <a:ext cx="795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Crear Archivo .ts (index.ts para nuestro ejemplo)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g3d158ca2092_3_0" title="Captura de pantalla 2026-03-20 a la(s) 12.02.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200" y="1736053"/>
            <a:ext cx="5860823" cy="2681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8" name="Google Shape;268;g3d158ca2092_3_0" title="Captura de pantalla 2026-03-20 a la(s) 12.02.4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5075" y="3095852"/>
            <a:ext cx="6437827" cy="292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73" name="Google Shape;273;g3d158ca2092_3_14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d158ca2092_3_14"/>
          <p:cNvSpPr txBox="1"/>
          <p:nvPr/>
        </p:nvSpPr>
        <p:spPr>
          <a:xfrm>
            <a:off x="1144588" y="185738"/>
            <a:ext cx="703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2E75B5"/>
                </a:solidFill>
              </a:rPr>
              <a:t>Archivo .ts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g3d158ca2092_3_1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" name="Google Shape;276;g3d158ca2092_3_1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d158ca2092_3_14"/>
          <p:cNvSpPr/>
          <p:nvPr/>
        </p:nvSpPr>
        <p:spPr>
          <a:xfrm>
            <a:off x="838200" y="1287035"/>
            <a:ext cx="795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Crear Hola Mundo en index.ts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g3d158ca2092_3_14" title="Captura de pantalla 2026-03-20 a la(s) 12.03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038" y="2553227"/>
            <a:ext cx="7455923" cy="340759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d158ca2092_3_14"/>
          <p:cNvSpPr txBox="1"/>
          <p:nvPr/>
        </p:nvSpPr>
        <p:spPr>
          <a:xfrm>
            <a:off x="2576400" y="1869000"/>
            <a:ext cx="37083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s-CL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mensaje</a:t>
            </a:r>
            <a:r>
              <a:rPr lang="es-CL" sz="12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s-CL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200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 = </a:t>
            </a:r>
            <a:r>
              <a:rPr lang="es-CL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“Hola Mundo”</a:t>
            </a:r>
            <a:r>
              <a:rPr lang="es-CL" sz="12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rgbClr val="BF9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400"/>
              <a:buFont typeface="Consolas"/>
              <a:buNone/>
            </a:pPr>
            <a:r>
              <a:rPr lang="es-CL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s-CL" sz="12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CL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es-CL" sz="12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mensaje</a:t>
            </a:r>
            <a:r>
              <a:rPr lang="es-CL" sz="12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84" name="Google Shape;284;g3d158ca2092_2_18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g3d158ca2092_2_18"/>
          <p:cNvSpPr txBox="1"/>
          <p:nvPr/>
        </p:nvSpPr>
        <p:spPr>
          <a:xfrm>
            <a:off x="1144588" y="185738"/>
            <a:ext cx="703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2E75B5"/>
                </a:solidFill>
              </a:rPr>
              <a:t>Archivo .ts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g3d158ca2092_2_1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7" name="Google Shape;287;g3d158ca2092_2_1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d158ca2092_2_18"/>
          <p:cNvSpPr/>
          <p:nvPr/>
        </p:nvSpPr>
        <p:spPr>
          <a:xfrm>
            <a:off x="838200" y="1287035"/>
            <a:ext cx="795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Ejecutar index.ts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g3d158ca2092_2_18" title="Captura de pantalla 2026-03-20 a la(s) 12.03.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99" y="1734251"/>
            <a:ext cx="3663350" cy="20320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0" name="Google Shape;290;g3d158ca2092_2_18" title="Captura de pantalla 2026-03-20 a la(s) 12.04.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3425" y="1734250"/>
            <a:ext cx="3729091" cy="20320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1" name="Google Shape;291;g3d158ca2092_2_18" title="Captura de pantalla 2026-03-20 a la(s) 12.05.1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55825" y="3429000"/>
            <a:ext cx="5010150" cy="28744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2" name="Google Shape;292;g3d158ca2092_2_18"/>
          <p:cNvSpPr/>
          <p:nvPr/>
        </p:nvSpPr>
        <p:spPr>
          <a:xfrm>
            <a:off x="3504550" y="1287025"/>
            <a:ext cx="231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ts-node index.ts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