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6858000" cx="9144000"/>
  <p:notesSz cx="7010400" cy="9296400"/>
  <p:embeddedFontLst>
    <p:embeddedFont>
      <p:font typeface="Arimo"/>
      <p:regular r:id="rId49"/>
      <p:bold r:id="rId50"/>
      <p:italic r:id="rId51"/>
      <p:boldItalic r:id="rId52"/>
    </p:embeddedFont>
    <p:embeddedFont>
      <p:font typeface="Content"/>
      <p:regular r:id="rId53"/>
      <p:bold r:id="rId54"/>
    </p:embeddedFont>
    <p:embeddedFont>
      <p:font typeface="Helvetica Neue"/>
      <p:regular r:id="rId55"/>
      <p:bold r:id="rId56"/>
      <p:italic r:id="rId57"/>
      <p:boldItalic r:id="rId58"/>
    </p:embeddedFont>
    <p:embeddedFont>
      <p:font typeface="Arial Black"/>
      <p:regular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0" roundtripDataSignature="AMtx7mgb8WQwjLP+AU9MV6rvJSCexsvz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Arim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rimo-italic.fntdata"/><Relationship Id="rId50" Type="http://schemas.openxmlformats.org/officeDocument/2006/relationships/font" Target="fonts/Arimo-bold.fntdata"/><Relationship Id="rId53" Type="http://schemas.openxmlformats.org/officeDocument/2006/relationships/font" Target="fonts/Content-regular.fntdata"/><Relationship Id="rId52" Type="http://schemas.openxmlformats.org/officeDocument/2006/relationships/font" Target="fonts/Arimo-boldItalic.fntdata"/><Relationship Id="rId11" Type="http://schemas.openxmlformats.org/officeDocument/2006/relationships/slide" Target="slides/slide6.xml"/><Relationship Id="rId55" Type="http://schemas.openxmlformats.org/officeDocument/2006/relationships/font" Target="fonts/HelveticaNeue-regular.fntdata"/><Relationship Id="rId10" Type="http://schemas.openxmlformats.org/officeDocument/2006/relationships/slide" Target="slides/slide5.xml"/><Relationship Id="rId54" Type="http://schemas.openxmlformats.org/officeDocument/2006/relationships/font" Target="fonts/Content-bold.fntdata"/><Relationship Id="rId13" Type="http://schemas.openxmlformats.org/officeDocument/2006/relationships/slide" Target="slides/slide8.xml"/><Relationship Id="rId57" Type="http://schemas.openxmlformats.org/officeDocument/2006/relationships/font" Target="fonts/HelveticaNeue-italic.fntdata"/><Relationship Id="rId12" Type="http://schemas.openxmlformats.org/officeDocument/2006/relationships/slide" Target="slides/slide7.xml"/><Relationship Id="rId56" Type="http://schemas.openxmlformats.org/officeDocument/2006/relationships/font" Target="fonts/HelveticaNeue-bold.fntdata"/><Relationship Id="rId15" Type="http://schemas.openxmlformats.org/officeDocument/2006/relationships/slide" Target="slides/slide10.xml"/><Relationship Id="rId59" Type="http://schemas.openxmlformats.org/officeDocument/2006/relationships/font" Target="fonts/ArialBlack-regular.fntdata"/><Relationship Id="rId14" Type="http://schemas.openxmlformats.org/officeDocument/2006/relationships/slide" Target="slides/slide9.xml"/><Relationship Id="rId58" Type="http://schemas.openxmlformats.org/officeDocument/2006/relationships/font" Target="fonts/HelveticaNeue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Un componente tiene 3 cosas: lo que se ve, lo que hace, y cómo se ve</a:t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66cec1743_0_0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966cec1743_0_0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directiva: es una clase que extiende la funcionalidad del HTML, permitiendo manipular el DOM </a:t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Si no hay módulo… ¿quién arranca la app?</a:t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8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9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66cec1743_0_19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966cec1743_0_19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66cec1743_0_34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966cec1743_0_34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5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6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7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8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9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0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1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2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96875a10d5_0_27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4" name="Google Shape;584;g396875a10d5_0_27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96a4a38134_0_66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4" name="Google Shape;594;g396a4a38134_0_66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96a4a38134_0_0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96a4a38134_0_0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96a4a38134_0_10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96a4a38134_0_10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96a4a38134_1_9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96a4a38134_1_9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96a4a38134_0_31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96a4a38134_0_31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96a4a38134_0_42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96a4a38134_0_42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96a4a38134_0_54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96a4a38134_0_54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96a4a38134_0_84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96a4a38134_0_84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3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3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4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4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4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18.jpg"/><Relationship Id="rId7" Type="http://schemas.openxmlformats.org/officeDocument/2006/relationships/image" Target="../media/image30.jp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9.png"/><Relationship Id="rId5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hyperlink" Target="https://getbootstrap.com/docs/5.3/examples/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hyperlink" Target="https://www.npmjs.com/package/ngx-bootstrap" TargetMode="External"/><Relationship Id="rId5" Type="http://schemas.openxmlformats.org/officeDocument/2006/relationships/image" Target="../media/image2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hyperlink" Target="https://cdn.jsdelivr.net/npm/bootstrap@5.3.8/dist/css/bootstrap.min.css" TargetMode="External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73.png"/><Relationship Id="rId5" Type="http://schemas.openxmlformats.org/officeDocument/2006/relationships/hyperlink" Target="https://getbootstrap.com/docs/5.0/examples/pricing/" TargetMode="External"/><Relationship Id="rId6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hyperlink" Target="https://avmaisak.github.io/ngx-bootstrap-icons/icon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5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hyperlink" Target="https://avmaisak.github.io/ngx-bootstrap-icons/icons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7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60.png"/><Relationship Id="rId5" Type="http://schemas.openxmlformats.org/officeDocument/2006/relationships/image" Target="../media/image34.png"/><Relationship Id="rId6" Type="http://schemas.openxmlformats.org/officeDocument/2006/relationships/image" Target="../media/image49.png"/><Relationship Id="rId7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5" Type="http://schemas.openxmlformats.org/officeDocument/2006/relationships/image" Target="../media/image44.png"/><Relationship Id="rId6" Type="http://schemas.openxmlformats.org/officeDocument/2006/relationships/image" Target="../media/image42.png"/><Relationship Id="rId7" Type="http://schemas.openxmlformats.org/officeDocument/2006/relationships/image" Target="../media/image6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54.png"/><Relationship Id="rId5" Type="http://schemas.openxmlformats.org/officeDocument/2006/relationships/image" Target="../media/image46.png"/><Relationship Id="rId6" Type="http://schemas.openxmlformats.org/officeDocument/2006/relationships/image" Target="../media/image63.png"/><Relationship Id="rId7" Type="http://schemas.openxmlformats.org/officeDocument/2006/relationships/image" Target="../media/image51.png"/><Relationship Id="rId8" Type="http://schemas.openxmlformats.org/officeDocument/2006/relationships/image" Target="../media/image4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52.png"/><Relationship Id="rId5" Type="http://schemas.openxmlformats.org/officeDocument/2006/relationships/image" Target="../media/image31.png"/><Relationship Id="rId6" Type="http://schemas.openxmlformats.org/officeDocument/2006/relationships/image" Target="../media/image6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58.png"/><Relationship Id="rId5" Type="http://schemas.openxmlformats.org/officeDocument/2006/relationships/image" Target="../media/image55.png"/><Relationship Id="rId6" Type="http://schemas.openxmlformats.org/officeDocument/2006/relationships/image" Target="../media/image64.png"/><Relationship Id="rId7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7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Relationship Id="rId4" Type="http://schemas.openxmlformats.org/officeDocument/2006/relationships/image" Target="../media/image6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6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6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Relationship Id="rId4" Type="http://schemas.openxmlformats.org/officeDocument/2006/relationships/image" Target="../media/image6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Relationship Id="rId4" Type="http://schemas.openxmlformats.org/officeDocument/2006/relationships/image" Target="../media/image7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3688958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945074" y="1859571"/>
            <a:ext cx="81304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/>
          </a:p>
        </p:txBody>
      </p:sp>
      <p:pic>
        <p:nvPicPr>
          <p:cNvPr descr="Logotipo&#10;&#10;Descripción generada automáticamente con confianza media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3" y="287338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46586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un Componente?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838188" y="1212850"/>
            <a:ext cx="5193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</a:t>
            </a:r>
            <a:r>
              <a:rPr lang="es-CL" sz="1800">
                <a:solidFill>
                  <a:schemeClr val="dk1"/>
                </a:solidFill>
              </a:rPr>
              <a:t>un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bloque de construcción </a:t>
            </a:r>
            <a:r>
              <a:rPr b="1" lang="es-CL" sz="1800">
                <a:solidFill>
                  <a:schemeClr val="dk1"/>
                </a:solidFill>
              </a:rPr>
              <a:t>reutilizable y autónomo</a:t>
            </a:r>
            <a:r>
              <a:rPr lang="es-CL" sz="1800">
                <a:solidFill>
                  <a:schemeClr val="dk1"/>
                </a:solidFill>
              </a:rPr>
              <a:t> de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una aplicación Angular.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38188" y="2821231"/>
            <a:ext cx="789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Es una combinación de una plantilla </a:t>
            </a:r>
            <a:r>
              <a:rPr b="1" lang="es-CL" sz="1800">
                <a:solidFill>
                  <a:schemeClr val="dk1"/>
                </a:solidFill>
              </a:rPr>
              <a:t>HTML</a:t>
            </a:r>
            <a:r>
              <a:rPr lang="es-CL" sz="1800">
                <a:solidFill>
                  <a:schemeClr val="dk1"/>
                </a:solidFill>
              </a:rPr>
              <a:t>, estilos </a:t>
            </a:r>
            <a:r>
              <a:rPr b="1" lang="es-CL" sz="1800">
                <a:solidFill>
                  <a:schemeClr val="dk1"/>
                </a:solidFill>
              </a:rPr>
              <a:t>CSS</a:t>
            </a:r>
            <a:r>
              <a:rPr lang="es-CL" sz="1800">
                <a:solidFill>
                  <a:schemeClr val="dk1"/>
                </a:solidFill>
              </a:rPr>
              <a:t> y lógica </a:t>
            </a:r>
            <a:r>
              <a:rPr b="1" lang="es-CL" sz="1800">
                <a:solidFill>
                  <a:schemeClr val="dk1"/>
                </a:solidFill>
              </a:rPr>
              <a:t>TypeScript</a:t>
            </a:r>
            <a:r>
              <a:rPr lang="es-CL" sz="1800">
                <a:solidFill>
                  <a:schemeClr val="dk1"/>
                </a:solidFill>
              </a:rPr>
              <a:t>.  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8188" y="2021710"/>
            <a:ext cx="5158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componente </a:t>
            </a:r>
            <a:r>
              <a:rPr b="1" lang="es-CL" sz="1800">
                <a:solidFill>
                  <a:schemeClr val="dk1"/>
                </a:solidFill>
              </a:rPr>
              <a:t>controla </a:t>
            </a:r>
            <a:r>
              <a:rPr b="1" lang="es-CL" sz="1800">
                <a:solidFill>
                  <a:schemeClr val="dk1"/>
                </a:solidFill>
              </a:rPr>
              <a:t>una parte específica</a:t>
            </a:r>
            <a:r>
              <a:rPr lang="es-CL" sz="1800">
                <a:solidFill>
                  <a:schemeClr val="dk1"/>
                </a:solidFill>
              </a:rPr>
              <a:t> de la interfaz de usuario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Imagen relacionada" id="109" name="Google Shape;10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5800" y="1022200"/>
            <a:ext cx="2430950" cy="16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 title="ChatGPT Image 26 mar 2026, 12_22_25 p.m..png"/>
          <p:cNvPicPr preferRelativeResize="0"/>
          <p:nvPr/>
        </p:nvPicPr>
        <p:blipFill rotWithShape="1">
          <a:blip r:embed="rId5">
            <a:alphaModFix/>
          </a:blip>
          <a:srcRect b="0" l="6440" r="9597" t="43827"/>
          <a:stretch/>
        </p:blipFill>
        <p:spPr>
          <a:xfrm>
            <a:off x="2206050" y="3732146"/>
            <a:ext cx="5158802" cy="2300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1144588" y="185738"/>
            <a:ext cx="68980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estructura tiene un componente?</a:t>
            </a:r>
            <a:endParaRPr/>
          </a:p>
        </p:txBody>
      </p:sp>
      <p:cxnSp>
        <p:nvCxnSpPr>
          <p:cNvPr id="117" name="Google Shape;117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808800" y="101620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Los componentes constan de cuatro partes principales: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30413" y="1639600"/>
            <a:ext cx="75264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-CL" sz="1500">
                <a:solidFill>
                  <a:schemeClr val="dk1"/>
                </a:solidFill>
              </a:rPr>
              <a:t>Plantilla HTML (*.html): </a:t>
            </a:r>
            <a:r>
              <a:rPr lang="es-CL" sz="1500">
                <a:solidFill>
                  <a:schemeClr val="dk1"/>
                </a:solidFill>
              </a:rPr>
              <a:t>Define lo que se muestra en pantalla (la vista del componente).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-CL" sz="1500">
                <a:solidFill>
                  <a:schemeClr val="dk1"/>
                </a:solidFill>
              </a:rPr>
              <a:t>Estilos CSS (*.css): </a:t>
            </a:r>
            <a:r>
              <a:rPr lang="es-CL" sz="1500">
                <a:solidFill>
                  <a:schemeClr val="dk1"/>
                </a:solidFill>
              </a:rPr>
              <a:t>Define cómo se ve el componente (colores, tamaños, diseño).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-CL" sz="1500">
                <a:solidFill>
                  <a:schemeClr val="dk1"/>
                </a:solidFill>
              </a:rPr>
              <a:t>Código TypeScript (*.ts): </a:t>
            </a:r>
            <a:r>
              <a:rPr lang="es-CL" sz="1500">
                <a:solidFill>
                  <a:schemeClr val="dk1"/>
                </a:solidFill>
              </a:rPr>
              <a:t>Define cómo funciona el componente (lógica, datos y comportamiento).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s-CL" sz="1500">
                <a:solidFill>
                  <a:schemeClr val="dk1"/>
                </a:solidFill>
              </a:rPr>
              <a:t>Pruebas unitarias (*.spec.ts): </a:t>
            </a:r>
            <a:r>
              <a:rPr lang="es-CL" sz="1500">
                <a:solidFill>
                  <a:schemeClr val="dk1"/>
                </a:solidFill>
              </a:rPr>
              <a:t>Verifican que el componente funcione correctamente (no forman parte de la app).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1" name="Google Shape;121;p3" title="Captura de pantalla 2026-03-26 a la(s) 12.53.11.png"/>
          <p:cNvPicPr preferRelativeResize="0"/>
          <p:nvPr/>
        </p:nvPicPr>
        <p:blipFill rotWithShape="1">
          <a:blip r:embed="rId4">
            <a:alphaModFix/>
          </a:blip>
          <a:srcRect b="0" l="0" r="3456" t="4562"/>
          <a:stretch/>
        </p:blipFill>
        <p:spPr>
          <a:xfrm>
            <a:off x="3013200" y="4500000"/>
            <a:ext cx="3117600" cy="1704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" name="Google Shape;122;p3"/>
          <p:cNvSpPr/>
          <p:nvPr/>
        </p:nvSpPr>
        <p:spPr>
          <a:xfrm>
            <a:off x="3685387" y="6203991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>
                <a:solidFill>
                  <a:schemeClr val="dk1"/>
                </a:solidFill>
                <a:highlight>
                  <a:schemeClr val="lt1"/>
                </a:highlight>
              </a:rPr>
              <a:t>componente app</a:t>
            </a:r>
            <a:endParaRPr i="1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7" name="Google Shape;127;g3966cec1743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966cec1743_0_0"/>
          <p:cNvSpPr txBox="1"/>
          <p:nvPr/>
        </p:nvSpPr>
        <p:spPr>
          <a:xfrm>
            <a:off x="1144600" y="185750"/>
            <a:ext cx="758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b="1" lang="es-CL" sz="2500">
                <a:solidFill>
                  <a:srgbClr val="0070C0"/>
                </a:solidFill>
              </a:rPr>
              <a:t>Cómo</a:t>
            </a:r>
            <a:r>
              <a:rPr b="1" lang="es-CL" sz="2500">
                <a:solidFill>
                  <a:srgbClr val="0070C0"/>
                </a:solidFill>
              </a:rPr>
              <a:t> se conectan las partes del componente</a:t>
            </a:r>
            <a:r>
              <a:rPr b="1" lang="es-CL" sz="25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100"/>
          </a:p>
        </p:txBody>
      </p:sp>
      <p:cxnSp>
        <p:nvCxnSpPr>
          <p:cNvPr id="129" name="Google Shape;129;g3966cec1743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g3966cec1743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131" name="Google Shape;131;g3966cec1743_0_0" title="Captura de pantalla 2026-03-26 a la(s) 12.35.38.png"/>
          <p:cNvPicPr preferRelativeResize="0"/>
          <p:nvPr/>
        </p:nvPicPr>
        <p:blipFill rotWithShape="1">
          <a:blip r:embed="rId4">
            <a:alphaModFix/>
          </a:blip>
          <a:srcRect b="0" l="2670" r="2660" t="0"/>
          <a:stretch/>
        </p:blipFill>
        <p:spPr>
          <a:xfrm>
            <a:off x="1366831" y="3023000"/>
            <a:ext cx="6410326" cy="3238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g3966cec1743_0_0"/>
          <p:cNvSpPr/>
          <p:nvPr/>
        </p:nvSpPr>
        <p:spPr>
          <a:xfrm>
            <a:off x="1366837" y="2684291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966cec1743_0_0"/>
          <p:cNvSpPr/>
          <p:nvPr/>
        </p:nvSpPr>
        <p:spPr>
          <a:xfrm>
            <a:off x="961350" y="1054950"/>
            <a:ext cx="72213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Angular usa una configuración fundamental para unir HTML, CSS y lógica usando el decorador </a:t>
            </a:r>
            <a:r>
              <a:rPr b="1" lang="es-CL" sz="1800">
                <a:solidFill>
                  <a:schemeClr val="dk1"/>
                </a:solidFill>
              </a:rPr>
              <a:t>@Component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El decorador </a:t>
            </a:r>
            <a:r>
              <a:rPr b="1" lang="es-CL" sz="1800">
                <a:solidFill>
                  <a:schemeClr val="dk1"/>
                </a:solidFill>
              </a:rPr>
              <a:t>@Component</a:t>
            </a:r>
            <a:r>
              <a:rPr lang="es-CL" sz="1800">
                <a:solidFill>
                  <a:schemeClr val="dk1"/>
                </a:solidFill>
              </a:rPr>
              <a:t> se ubica en la parte superior del Typescript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4" name="Google Shape;134;g3966cec1743_0_0"/>
          <p:cNvSpPr/>
          <p:nvPr/>
        </p:nvSpPr>
        <p:spPr>
          <a:xfrm>
            <a:off x="7313650" y="3757200"/>
            <a:ext cx="1211100" cy="577200"/>
          </a:xfrm>
          <a:prstGeom prst="wedgeRectCallout">
            <a:avLst>
              <a:gd fmla="val -347953" name="adj1"/>
              <a:gd fmla="val -16848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Decorador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@Component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966cec1743_0_0"/>
          <p:cNvSpPr/>
          <p:nvPr/>
        </p:nvSpPr>
        <p:spPr>
          <a:xfrm>
            <a:off x="5235650" y="4017400"/>
            <a:ext cx="1409400" cy="577200"/>
          </a:xfrm>
          <a:prstGeom prst="wedgeRectCallout">
            <a:avLst>
              <a:gd fmla="val -141042" name="adj1"/>
              <a:gd fmla="val -1576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Lugar donde renderizar el componente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966cec1743_0_0"/>
          <p:cNvSpPr/>
          <p:nvPr/>
        </p:nvSpPr>
        <p:spPr>
          <a:xfrm>
            <a:off x="6879075" y="4594600"/>
            <a:ext cx="1153500" cy="577200"/>
          </a:xfrm>
          <a:prstGeom prst="wedgeRectCallout">
            <a:avLst>
              <a:gd fmla="val -258849" name="adj1"/>
              <a:gd fmla="val -2351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Layout del componente</a:t>
            </a:r>
            <a:endParaRPr>
              <a:solidFill>
                <a:schemeClr val="dk1"/>
              </a:solidFill>
              <a:latin typeface="Content"/>
              <a:ea typeface="Content"/>
              <a:cs typeface="Content"/>
              <a:sym typeface="Content"/>
            </a:endParaRPr>
          </a:p>
        </p:txBody>
      </p:sp>
      <p:sp>
        <p:nvSpPr>
          <p:cNvPr id="137" name="Google Shape;137;g3966cec1743_0_0"/>
          <p:cNvSpPr/>
          <p:nvPr/>
        </p:nvSpPr>
        <p:spPr>
          <a:xfrm>
            <a:off x="5334800" y="4906125"/>
            <a:ext cx="1211100" cy="577200"/>
          </a:xfrm>
          <a:prstGeom prst="wedgeRectCallout">
            <a:avLst>
              <a:gd fmla="val -167852" name="adj1"/>
              <a:gd fmla="val -3070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Diseño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del componente</a:t>
            </a:r>
            <a:endParaRPr>
              <a:solidFill>
                <a:schemeClr val="dk1"/>
              </a:solidFill>
              <a:latin typeface="Content"/>
              <a:ea typeface="Content"/>
              <a:cs typeface="Content"/>
              <a:sym typeface="Content"/>
            </a:endParaRPr>
          </a:p>
        </p:txBody>
      </p:sp>
      <p:sp>
        <p:nvSpPr>
          <p:cNvPr id="138" name="Google Shape;138;g3966cec1743_0_0"/>
          <p:cNvSpPr/>
          <p:nvPr/>
        </p:nvSpPr>
        <p:spPr>
          <a:xfrm>
            <a:off x="4176375" y="5648325"/>
            <a:ext cx="1211100" cy="577200"/>
          </a:xfrm>
          <a:prstGeom prst="wedgeRectCallout">
            <a:avLst>
              <a:gd fmla="val -114010" name="adj1"/>
              <a:gd fmla="val -5279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Lógica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del componente</a:t>
            </a:r>
            <a:endParaRPr>
              <a:solidFill>
                <a:schemeClr val="dk1"/>
              </a:solidFill>
              <a:latin typeface="Content"/>
              <a:ea typeface="Content"/>
              <a:cs typeface="Content"/>
              <a:sym typeface="Conten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3" name="Google Shape;143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 txBox="1"/>
          <p:nvPr/>
        </p:nvSpPr>
        <p:spPr>
          <a:xfrm>
            <a:off x="1144588" y="185738"/>
            <a:ext cx="42328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Definiendo un Template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147" name="Google Shape;147;p4"/>
          <p:cNvPicPr preferRelativeResize="0"/>
          <p:nvPr/>
        </p:nvPicPr>
        <p:blipFill rotWithShape="1">
          <a:blip r:embed="rId4">
            <a:alphaModFix/>
          </a:blip>
          <a:srcRect b="0" l="0" r="0" t="18214"/>
          <a:stretch/>
        </p:blipFill>
        <p:spPr>
          <a:xfrm>
            <a:off x="627063" y="3160605"/>
            <a:ext cx="7628810" cy="296115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/>
          <p:nvPr/>
        </p:nvSpPr>
        <p:spPr>
          <a:xfrm>
            <a:off x="627063" y="1131831"/>
            <a:ext cx="8248650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template se puede definir de 3 maneras diferentes:</a:t>
            </a:r>
            <a:endParaRPr/>
          </a:p>
          <a:p>
            <a:pPr indent="-2286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Plantillas en línea de una línea, usando las comillas dobles. </a:t>
            </a:r>
            <a:endParaRPr/>
          </a:p>
          <a:p>
            <a:pPr indent="-22860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Plantillas en línea multilínea, usando el backtick. </a:t>
            </a:r>
            <a:endParaRPr/>
          </a:p>
          <a:p>
            <a:pPr indent="-22860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archivo separado para la plantilla y referenciarlo en la propiedad templateUrl.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4320677" y="2798280"/>
            <a:ext cx="4284000" cy="1938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39305" y="2798280"/>
            <a:ext cx="3720300" cy="2591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1144588" y="185738"/>
            <a:ext cx="765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Uniendo componentes utilizando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directivas</a:t>
            </a:r>
            <a:endParaRPr/>
          </a:p>
        </p:txBody>
      </p:sp>
      <p:cxnSp>
        <p:nvCxnSpPr>
          <p:cNvPr id="157" name="Google Shape;157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85100" y="1164238"/>
            <a:ext cx="817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posible llamar otro componente solo haciendo referencia a su </a:t>
            </a:r>
            <a:r>
              <a:rPr b="1" lang="es-CL" sz="1800">
                <a:solidFill>
                  <a:schemeClr val="dk1"/>
                </a:solidFill>
              </a:rPr>
              <a:t>directiva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Una </a:t>
            </a:r>
            <a:r>
              <a:rPr b="1" lang="es-CL" sz="1800">
                <a:solidFill>
                  <a:schemeClr val="dk1"/>
                </a:solidFill>
              </a:rPr>
              <a:t>directiva</a:t>
            </a:r>
            <a:r>
              <a:rPr lang="es-CL" sz="1800">
                <a:solidFill>
                  <a:schemeClr val="dk1"/>
                </a:solidFill>
              </a:rPr>
              <a:t> es una clase que extiende la funcionalidad de HTML </a:t>
            </a:r>
            <a:r>
              <a:rPr b="1" lang="es-CL" sz="1800">
                <a:solidFill>
                  <a:schemeClr val="dk1"/>
                </a:solidFill>
              </a:rPr>
              <a:t>permitiendo manipular el DOM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75312" y="5540389"/>
            <a:ext cx="8393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ejemplo, el componente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ProductList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simplemente agregando la etiqueta (o directiva) </a:t>
            </a:r>
            <a:r>
              <a:rPr lang="es-CL" sz="1800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&lt;app-product-list&gt;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39305" y="2790780"/>
            <a:ext cx="3720300" cy="19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1"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selector: </a:t>
            </a: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'app-root'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template: </a:t>
            </a: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     &lt;div&gt;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        &lt;h1&gt;{{title}}&lt;/h1&gt;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     &lt;/div&gt;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s-CL" sz="1200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&lt;app-product-list&gt;&lt;/app-product-list&gt;</a:t>
            </a: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  `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styleUrls: [</a:t>
            </a: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'./app.css'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b="0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39305" y="4680540"/>
            <a:ext cx="3597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b="1" lang="es-CL" sz="12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2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s-CL" sz="1200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'Empresa ACME'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39913" y="2463692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320687" y="2790775"/>
            <a:ext cx="428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1"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selector: </a:t>
            </a: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'app-product-list'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templateUrl: </a:t>
            </a: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'./product-list.html'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styleUrls: [</a:t>
            </a:r>
            <a:r>
              <a:rPr lang="es-CL" sz="1200">
                <a:solidFill>
                  <a:srgbClr val="548135"/>
                </a:solidFill>
                <a:latin typeface="Consolas"/>
                <a:ea typeface="Consolas"/>
                <a:cs typeface="Consolas"/>
                <a:sym typeface="Consolas"/>
              </a:rPr>
              <a:t>'./product-list.css'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b="0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320677" y="3946152"/>
            <a:ext cx="3597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b="1" lang="es-CL" sz="12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ProductList</a:t>
            </a:r>
            <a:r>
              <a:rPr lang="es-CL" sz="12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321285" y="2463692"/>
            <a:ext cx="24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-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list.ts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98188" y="3953652"/>
            <a:ext cx="3238800" cy="202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422258" y="2979509"/>
            <a:ext cx="1530000" cy="277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137079" y="3266913"/>
            <a:ext cx="1812798" cy="772630"/>
          </a:xfrm>
          <a:custGeom>
            <a:rect b="b" l="l" r="r" t="t"/>
            <a:pathLst>
              <a:path extrusionOk="0" h="772630" w="1981200">
                <a:moveTo>
                  <a:pt x="1914525" y="0"/>
                </a:moveTo>
                <a:cubicBezTo>
                  <a:pt x="1924050" y="15875"/>
                  <a:pt x="1931992" y="32814"/>
                  <a:pt x="1943100" y="47625"/>
                </a:cubicBezTo>
                <a:cubicBezTo>
                  <a:pt x="1985909" y="104704"/>
                  <a:pt x="1962097" y="47467"/>
                  <a:pt x="1981200" y="104775"/>
                </a:cubicBezTo>
                <a:cubicBezTo>
                  <a:pt x="1978025" y="127000"/>
                  <a:pt x="1978126" y="149946"/>
                  <a:pt x="1971675" y="171450"/>
                </a:cubicBezTo>
                <a:cubicBezTo>
                  <a:pt x="1964517" y="195309"/>
                  <a:pt x="1897563" y="255783"/>
                  <a:pt x="1895475" y="257175"/>
                </a:cubicBezTo>
                <a:lnTo>
                  <a:pt x="1809750" y="314325"/>
                </a:lnTo>
                <a:lnTo>
                  <a:pt x="1781175" y="333375"/>
                </a:lnTo>
                <a:cubicBezTo>
                  <a:pt x="1771650" y="339725"/>
                  <a:pt x="1762839" y="347305"/>
                  <a:pt x="1752600" y="352425"/>
                </a:cubicBezTo>
                <a:cubicBezTo>
                  <a:pt x="1733550" y="361950"/>
                  <a:pt x="1713847" y="370268"/>
                  <a:pt x="1695450" y="381000"/>
                </a:cubicBezTo>
                <a:cubicBezTo>
                  <a:pt x="1632063" y="417976"/>
                  <a:pt x="1648095" y="420897"/>
                  <a:pt x="1581150" y="447675"/>
                </a:cubicBezTo>
                <a:cubicBezTo>
                  <a:pt x="1505472" y="477946"/>
                  <a:pt x="1576819" y="439016"/>
                  <a:pt x="1514475" y="466725"/>
                </a:cubicBezTo>
                <a:cubicBezTo>
                  <a:pt x="1495012" y="475375"/>
                  <a:pt x="1476788" y="486650"/>
                  <a:pt x="1457325" y="495300"/>
                </a:cubicBezTo>
                <a:cubicBezTo>
                  <a:pt x="1383131" y="528275"/>
                  <a:pt x="1488135" y="470370"/>
                  <a:pt x="1381125" y="523875"/>
                </a:cubicBezTo>
                <a:cubicBezTo>
                  <a:pt x="1364566" y="532154"/>
                  <a:pt x="1350689" y="545574"/>
                  <a:pt x="1333500" y="552450"/>
                </a:cubicBezTo>
                <a:cubicBezTo>
                  <a:pt x="1318469" y="558463"/>
                  <a:pt x="1301382" y="557323"/>
                  <a:pt x="1285875" y="561975"/>
                </a:cubicBezTo>
                <a:cubicBezTo>
                  <a:pt x="1269498" y="566888"/>
                  <a:pt x="1254259" y="575022"/>
                  <a:pt x="1238250" y="581025"/>
                </a:cubicBezTo>
                <a:cubicBezTo>
                  <a:pt x="1228849" y="584550"/>
                  <a:pt x="1218655" y="586060"/>
                  <a:pt x="1209675" y="590550"/>
                </a:cubicBezTo>
                <a:cubicBezTo>
                  <a:pt x="1145587" y="622594"/>
                  <a:pt x="1224441" y="602285"/>
                  <a:pt x="1123950" y="638175"/>
                </a:cubicBezTo>
                <a:cubicBezTo>
                  <a:pt x="1099294" y="646981"/>
                  <a:pt x="1073423" y="652090"/>
                  <a:pt x="1047750" y="657225"/>
                </a:cubicBezTo>
                <a:cubicBezTo>
                  <a:pt x="1015014" y="663772"/>
                  <a:pt x="993412" y="667307"/>
                  <a:pt x="962025" y="676275"/>
                </a:cubicBezTo>
                <a:cubicBezTo>
                  <a:pt x="952371" y="679033"/>
                  <a:pt x="943104" y="683042"/>
                  <a:pt x="933450" y="685800"/>
                </a:cubicBezTo>
                <a:cubicBezTo>
                  <a:pt x="832683" y="714590"/>
                  <a:pt x="974013" y="669104"/>
                  <a:pt x="838200" y="714375"/>
                </a:cubicBezTo>
                <a:cubicBezTo>
                  <a:pt x="828675" y="717550"/>
                  <a:pt x="819615" y="722901"/>
                  <a:pt x="809625" y="723900"/>
                </a:cubicBezTo>
                <a:cubicBezTo>
                  <a:pt x="495874" y="755275"/>
                  <a:pt x="682921" y="741314"/>
                  <a:pt x="247650" y="752475"/>
                </a:cubicBezTo>
                <a:cubicBezTo>
                  <a:pt x="209550" y="755650"/>
                  <a:pt x="171247" y="756947"/>
                  <a:pt x="133350" y="762000"/>
                </a:cubicBezTo>
                <a:cubicBezTo>
                  <a:pt x="123398" y="763327"/>
                  <a:pt x="114790" y="770810"/>
                  <a:pt x="104775" y="771525"/>
                </a:cubicBezTo>
                <a:cubicBezTo>
                  <a:pt x="69939" y="774013"/>
                  <a:pt x="34925" y="771525"/>
                  <a:pt x="0" y="771525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 txBox="1"/>
          <p:nvPr/>
        </p:nvSpPr>
        <p:spPr>
          <a:xfrm>
            <a:off x="1144588" y="185738"/>
            <a:ext cx="76915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Módulo Principal de </a:t>
            </a:r>
            <a:r>
              <a:rPr b="1" lang="es-CL" sz="2800">
                <a:solidFill>
                  <a:srgbClr val="0070C0"/>
                </a:solidFill>
              </a:rPr>
              <a:t>un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Proyecto Tra</a:t>
            </a:r>
            <a:r>
              <a:rPr b="1" lang="es-CL" sz="2800">
                <a:solidFill>
                  <a:srgbClr val="0070C0"/>
                </a:solidFill>
              </a:rPr>
              <a:t>dicional</a:t>
            </a:r>
            <a:endParaRPr/>
          </a:p>
        </p:txBody>
      </p:sp>
      <p:cxnSp>
        <p:nvCxnSpPr>
          <p:cNvPr id="176" name="Google Shape;176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7" name="Google Shape;177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808830" y="1187800"/>
            <a:ext cx="792400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 aplicación angular (no standalone) debe tener al menos un módulo.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Algunos módulos son importados, p.e.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BrowserModule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permite relacionar nuestro proyecto para </a:t>
            </a:r>
            <a:r>
              <a:rPr lang="es-CL" sz="1800">
                <a:solidFill>
                  <a:schemeClr val="dk1"/>
                </a:solidFill>
              </a:rPr>
              <a:t>que se renderice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el navegador.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7"/>
          <p:cNvPicPr preferRelativeResize="0"/>
          <p:nvPr/>
        </p:nvPicPr>
        <p:blipFill rotWithShape="1">
          <a:blip r:embed="rId4">
            <a:alphaModFix/>
          </a:blip>
          <a:srcRect b="43254" l="24383" r="36297" t="0"/>
          <a:stretch/>
        </p:blipFill>
        <p:spPr>
          <a:xfrm>
            <a:off x="824028" y="3656170"/>
            <a:ext cx="2728407" cy="2209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7"/>
          <p:cNvPicPr preferRelativeResize="0"/>
          <p:nvPr/>
        </p:nvPicPr>
        <p:blipFill rotWithShape="1">
          <a:blip r:embed="rId5">
            <a:alphaModFix/>
          </a:blip>
          <a:srcRect b="0" l="0" r="77377" t="73648"/>
          <a:stretch/>
        </p:blipFill>
        <p:spPr>
          <a:xfrm>
            <a:off x="808830" y="2488537"/>
            <a:ext cx="1713127" cy="111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45272" y="2743860"/>
            <a:ext cx="4887565" cy="301069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4572000" y="3857393"/>
            <a:ext cx="1040383" cy="18359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1999" y="4428033"/>
            <a:ext cx="1040383" cy="18359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248671" y="5010634"/>
            <a:ext cx="1159299" cy="18359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776414" y="2653429"/>
            <a:ext cx="4965030" cy="321183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663737" y="2334159"/>
            <a:ext cx="14734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-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module.ts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836363" y="4905617"/>
            <a:ext cx="1876012" cy="577227"/>
          </a:xfrm>
          <a:prstGeom prst="wedgeRectCallout">
            <a:avLst>
              <a:gd fmla="val -70704" name="adj1"/>
              <a:gd fmla="val -1538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Vincula la vista del componente al módulo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979577" y="4183490"/>
            <a:ext cx="2194415" cy="577227"/>
          </a:xfrm>
          <a:prstGeom prst="wedgeRectCallout">
            <a:avLst>
              <a:gd fmla="val -65883" name="adj1"/>
              <a:gd fmla="val 1102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Indica el tipo de plataforma para despliegue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248939" y="3461363"/>
            <a:ext cx="2194415" cy="577227"/>
          </a:xfrm>
          <a:prstGeom prst="wedgeRectCallout">
            <a:avLst>
              <a:gd fmla="val -78617" name="adj1"/>
              <a:gd fmla="val 3082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Vincula el código y datos del componente al módulo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7" title="Captura de pantalla 2026-03-27 a la(s) 12.31.0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76425" y="2667462"/>
            <a:ext cx="4965024" cy="316348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 txBox="1"/>
          <p:nvPr/>
        </p:nvSpPr>
        <p:spPr>
          <a:xfrm>
            <a:off x="1144588" y="185738"/>
            <a:ext cx="71011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¿Cómo Ubica Angular un Componente?</a:t>
            </a:r>
            <a:endParaRPr/>
          </a:p>
        </p:txBody>
      </p:sp>
      <p:cxnSp>
        <p:nvCxnSpPr>
          <p:cNvPr id="197" name="Google Shape;197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8" name="Google Shape;198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27062" y="1164637"/>
            <a:ext cx="810577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Nuestro módulo declara nuestro componente inicial. 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componente debe pertenecer a un módulo para poder usarlo.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AppModule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inicia (flecha negra) a nuestro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AppComponent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AppModule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importa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BrowserModule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(módulo de angular)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9244" y="3132428"/>
            <a:ext cx="3485454" cy="278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8"/>
          <p:cNvPicPr preferRelativeResize="0"/>
          <p:nvPr/>
        </p:nvPicPr>
        <p:blipFill rotWithShape="1">
          <a:blip r:embed="rId5">
            <a:alphaModFix/>
          </a:blip>
          <a:srcRect b="0" l="0" r="77377" t="73648"/>
          <a:stretch/>
        </p:blipFill>
        <p:spPr>
          <a:xfrm>
            <a:off x="4572000" y="3132428"/>
            <a:ext cx="1713127" cy="11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6" name="Google Shape;206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 txBox="1"/>
          <p:nvPr/>
        </p:nvSpPr>
        <p:spPr>
          <a:xfrm>
            <a:off x="1144588" y="185738"/>
            <a:ext cx="48424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Empresa ACME</a:t>
            </a:r>
            <a:endParaRPr/>
          </a:p>
        </p:txBody>
      </p:sp>
      <p:cxnSp>
        <p:nvCxnSpPr>
          <p:cNvPr id="208" name="Google Shape;208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624681" y="1111233"/>
            <a:ext cx="810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</a:rPr>
              <a:t>Objetivo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Crear interfaz de una empresa de venta de productos</a:t>
            </a:r>
            <a:r>
              <a:rPr lang="es-CL" sz="1800">
                <a:solidFill>
                  <a:schemeClr val="dk1"/>
                </a:solidFill>
              </a:rPr>
              <a:t> en Angular Tradicional.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1144606" y="5228528"/>
            <a:ext cx="305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Esta interfaz necesita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Estilos propios de Bootstrap</a:t>
            </a:r>
            <a:endParaRPr sz="1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earn Bootstrap Tutorial - JavaTpoint" id="212" name="Google Shape;21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8269" y="5092582"/>
            <a:ext cx="1180986" cy="1180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9" title="Captura de pantalla 2026-03-27 a la(s) 14.41.2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5763" y="2186036"/>
            <a:ext cx="7252465" cy="248593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8" name="Google Shape;218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 txBox="1"/>
          <p:nvPr/>
        </p:nvSpPr>
        <p:spPr>
          <a:xfrm>
            <a:off x="1144588" y="185738"/>
            <a:ext cx="52015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Empresa ACME …</a:t>
            </a:r>
            <a:endParaRPr/>
          </a:p>
        </p:txBody>
      </p:sp>
      <p:cxnSp>
        <p:nvCxnSpPr>
          <p:cNvPr id="220" name="Google Shape;220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624680" y="1127072"/>
            <a:ext cx="78640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una carpeta para nuestros proyectos: </a:t>
            </a:r>
            <a:r>
              <a:rPr lang="es-CL" sz="18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ejemplos-angular </a:t>
            </a:r>
            <a:endParaRPr sz="1800">
              <a:solidFill>
                <a:srgbClr val="CC00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3" name="Google Shape;223;p10"/>
          <p:cNvPicPr preferRelativeResize="0"/>
          <p:nvPr/>
        </p:nvPicPr>
        <p:blipFill rotWithShape="1">
          <a:blip r:embed="rId4">
            <a:alphaModFix/>
          </a:blip>
          <a:srcRect b="66180" l="0" r="0" t="0"/>
          <a:stretch/>
        </p:blipFill>
        <p:spPr>
          <a:xfrm>
            <a:off x="1328453" y="1707488"/>
            <a:ext cx="1447800" cy="286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Descripción generada automáticamente con confianza baja" id="224" name="Google Shape;224;p10"/>
          <p:cNvPicPr preferRelativeResize="0"/>
          <p:nvPr/>
        </p:nvPicPr>
        <p:blipFill rotWithShape="1">
          <a:blip r:embed="rId5">
            <a:alphaModFix/>
          </a:blip>
          <a:srcRect b="58150" l="0" r="0" t="0"/>
          <a:stretch/>
        </p:blipFill>
        <p:spPr>
          <a:xfrm>
            <a:off x="1598421" y="2046834"/>
            <a:ext cx="1638529" cy="23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3340653" y="2050677"/>
            <a:ext cx="367194" cy="159566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24680" y="2583124"/>
            <a:ext cx="7864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 startAt="2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una consola de Símbolo de Sistema o de PowerShell (Windows) o Terminal </a:t>
            </a:r>
            <a:r>
              <a:rPr lang="es-CL" sz="1800">
                <a:solidFill>
                  <a:schemeClr val="dk1"/>
                </a:solidFill>
              </a:rPr>
              <a:t>(linux o mac)</a:t>
            </a:r>
            <a:endParaRPr sz="18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Was ist PowerShell und wozu wird es benötigt" id="227" name="Google Shape;22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0111" y="4529041"/>
            <a:ext cx="1169570" cy="619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mbolo del Sistema ( CMD )" id="228" name="Google Shape;22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7875" y="4529038"/>
            <a:ext cx="619627" cy="6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0"/>
          <p:cNvSpPr/>
          <p:nvPr/>
        </p:nvSpPr>
        <p:spPr>
          <a:xfrm>
            <a:off x="624679" y="5385230"/>
            <a:ext cx="78640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 startAt="3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Ubicarse dentro de la carpeta de proyectos: </a:t>
            </a:r>
            <a:r>
              <a:rPr lang="es-CL" sz="18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ejemplos-angular </a:t>
            </a:r>
            <a:endParaRPr sz="1800">
              <a:solidFill>
                <a:srgbClr val="CC00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0" name="Google Shape;23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36911" y="3382809"/>
            <a:ext cx="4061665" cy="10284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1" name="Google Shape;23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5425" y="3382813"/>
            <a:ext cx="3492300" cy="1028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p10"/>
          <p:cNvSpPr txBox="1"/>
          <p:nvPr/>
        </p:nvSpPr>
        <p:spPr>
          <a:xfrm>
            <a:off x="912248" y="5795112"/>
            <a:ext cx="72092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Puedes usar el comando “cd” para cambiar el directorio </a:t>
            </a:r>
            <a:endParaRPr sz="1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37" name="Google Shape;237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 txBox="1"/>
          <p:nvPr/>
        </p:nvSpPr>
        <p:spPr>
          <a:xfrm>
            <a:off x="1144588" y="185738"/>
            <a:ext cx="52015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Empresa ACME …</a:t>
            </a:r>
            <a:endParaRPr/>
          </a:p>
        </p:txBody>
      </p:sp>
      <p:cxnSp>
        <p:nvCxnSpPr>
          <p:cNvPr id="239" name="Google Shape;239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838199" y="1164637"/>
            <a:ext cx="79565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 startAt="4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nuevo proyecto llamado 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mi-app-mod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con el comando:</a:t>
            </a:r>
            <a:endParaRPr sz="18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2663700" y="1608625"/>
            <a:ext cx="38166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00" spcFirstLastPara="1" rIns="81200" wrap="square" tIns="406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21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 new mi-app-mod –-standalone=false</a:t>
            </a:r>
            <a:endParaRPr sz="1421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43" name="Google Shape;243;p11" title="Captura de pantalla 2026-03-27 a la(s) 12.41.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570" y="2048865"/>
            <a:ext cx="6462857" cy="2964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1" title="Captura de pantalla 2026-03-27 a la(s) 12.42.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0563" y="4814154"/>
            <a:ext cx="6462876" cy="120827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/>
          <p:nvPr/>
        </p:nvSpPr>
        <p:spPr>
          <a:xfrm>
            <a:off x="6794538" y="2463650"/>
            <a:ext cx="4707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00" spcFirstLastPara="1" rIns="81200" wrap="square" tIns="406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43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CSS</a:t>
            </a:r>
            <a:endParaRPr b="1" sz="1243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6395232" y="2669891"/>
            <a:ext cx="3612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00" spcFirstLastPara="1" rIns="81200" wrap="square" tIns="406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21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No</a:t>
            </a:r>
            <a:endParaRPr sz="1243"/>
          </a:p>
        </p:txBody>
      </p:sp>
      <p:sp>
        <p:nvSpPr>
          <p:cNvPr id="247" name="Google Shape;247;p11"/>
          <p:cNvSpPr/>
          <p:nvPr/>
        </p:nvSpPr>
        <p:spPr>
          <a:xfrm>
            <a:off x="4115734" y="5749125"/>
            <a:ext cx="26406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00" spcFirstLastPara="1" rIns="81200" wrap="square" tIns="406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43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Instalado exitosamente</a:t>
            </a:r>
            <a:endParaRPr b="1" sz="1243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739097" y="5814969"/>
            <a:ext cx="326100" cy="141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12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600" lIns="81200" spcFirstLastPara="1" rIns="81200" wrap="square" tIns="40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9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7042937" y="2822300"/>
            <a:ext cx="6375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00" spcFirstLastPara="1" rIns="81200" wrap="square" tIns="40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21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243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 txBox="1"/>
          <p:nvPr/>
        </p:nvSpPr>
        <p:spPr>
          <a:xfrm>
            <a:off x="1144616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Bootstrap</a:t>
            </a:r>
            <a:endParaRPr/>
          </a:p>
        </p:txBody>
      </p:sp>
      <p:cxnSp>
        <p:nvCxnSpPr>
          <p:cNvPr id="256" name="Google Shape;256;p1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7" name="Google Shape;257;p1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838200" y="1960224"/>
            <a:ext cx="5263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Sitio Oficial de Bootstrap, opción ejemplos:</a:t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2216260" y="2383756"/>
            <a:ext cx="471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https://getbootstrap.com/docs/5.3/examples/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838200" y="1084650"/>
            <a:ext cx="697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Bootstrap nos ayuda a maquetar un sitio web con rapidez y, sobre todo, ayudándonos a que el diseño sea correcto y responsivo.</a:t>
            </a:r>
            <a:endParaRPr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earn Bootstrap Tutorial - JavaTpoint" id="261" name="Google Shape;26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9530" y="1036913"/>
            <a:ext cx="923324" cy="92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1340" y="3019657"/>
            <a:ext cx="4881308" cy="30868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p12"/>
          <p:cNvSpPr/>
          <p:nvPr/>
        </p:nvSpPr>
        <p:spPr>
          <a:xfrm>
            <a:off x="6854452" y="4076240"/>
            <a:ext cx="367200" cy="159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7221650" y="3963025"/>
            <a:ext cx="1922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Snippet de ejemplo del cual usaremos su código HTML</a:t>
            </a:r>
            <a:endParaRPr sz="1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69" name="Google Shape;269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 txBox="1"/>
          <p:nvPr/>
        </p:nvSpPr>
        <p:spPr>
          <a:xfrm>
            <a:off x="1144588" y="185738"/>
            <a:ext cx="39821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ngx-bootstrap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1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2" name="Google Shape;272;p1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838200" y="1960224"/>
            <a:ext cx="5263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Sitio de la librería:</a:t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1450851" y="2443510"/>
            <a:ext cx="5263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https://www.npmjs.com/package/ngx-bootstrap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838200" y="1084661"/>
            <a:ext cx="76505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21252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ngx-bootstrap proporciona componentes Bootstrap con tecnología Angular, por lo que no es necesario incluir componentes JS originales.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Un dibujo de una señal de transito&#10;&#10;Descripción generada automáticamente con confianza media" id="276" name="Google Shape;27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9960" y="1929998"/>
            <a:ext cx="1169746" cy="1422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81" name="Google Shape;281;p1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 txBox="1"/>
          <p:nvPr/>
        </p:nvSpPr>
        <p:spPr>
          <a:xfrm>
            <a:off x="1144588" y="185738"/>
            <a:ext cx="3720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Bootstrap…</a:t>
            </a:r>
            <a:endParaRPr/>
          </a:p>
        </p:txBody>
      </p:sp>
      <p:cxnSp>
        <p:nvCxnSpPr>
          <p:cNvPr id="283" name="Google Shape;283;p1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4" name="Google Shape;284;p1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838200" y="1084661"/>
            <a:ext cx="58757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arenR" startAt="5"/>
            </a:pPr>
            <a:r>
              <a:rPr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Iniciar Visual Studio Code y abrir nueva terminal</a:t>
            </a:r>
            <a:endParaRPr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2304172" y="5245307"/>
            <a:ext cx="533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Los siguientes comandos deben ser ejecutados dentro del directorio del proyecto: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mi-app-mod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4" title="Captura de pantalla 2026-03-27 a la(s) 12.43.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7000" y="1614450"/>
            <a:ext cx="6630001" cy="3470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8" name="Google Shape;288;p14"/>
          <p:cNvSpPr/>
          <p:nvPr/>
        </p:nvSpPr>
        <p:spPr>
          <a:xfrm>
            <a:off x="3183725" y="4206725"/>
            <a:ext cx="4254600" cy="646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93" name="Google Shape;293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5"/>
          <p:cNvSpPr txBox="1"/>
          <p:nvPr/>
        </p:nvSpPr>
        <p:spPr>
          <a:xfrm>
            <a:off x="1144588" y="185738"/>
            <a:ext cx="3720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Bootstrap…</a:t>
            </a:r>
            <a:endParaRPr/>
          </a:p>
        </p:txBody>
      </p:sp>
      <p:cxnSp>
        <p:nvCxnSpPr>
          <p:cNvPr id="295" name="Google Shape;295;p1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6" name="Google Shape;296;p1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777662" y="1100012"/>
            <a:ext cx="7771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arenR" startAt="6"/>
            </a:pPr>
            <a:r>
              <a:rPr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Instalar la librería ngx-bootstrap</a:t>
            </a:r>
            <a:endParaRPr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465916" y="1672392"/>
            <a:ext cx="4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npm install ngx-bootstrap</a:t>
            </a:r>
            <a:endParaRPr sz="16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9" name="Google Shape;299;p15" title="Captura de pantalla 2026-03-27 a la(s) 12.45.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2013" y="2178726"/>
            <a:ext cx="6519973" cy="22652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04" name="Google Shape;304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 txBox="1"/>
          <p:nvPr/>
        </p:nvSpPr>
        <p:spPr>
          <a:xfrm>
            <a:off x="1144588" y="185738"/>
            <a:ext cx="3720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Bootstrap…</a:t>
            </a:r>
            <a:endParaRPr/>
          </a:p>
        </p:txBody>
      </p:sp>
      <p:cxnSp>
        <p:nvCxnSpPr>
          <p:cNvPr id="306" name="Google Shape;306;p1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7" name="Google Shape;307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777662" y="1100012"/>
            <a:ext cx="7771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arenR" startAt="7"/>
            </a:pPr>
            <a:r>
              <a:rPr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Agregar CDN de CSS de Bootstrap a nuestro proyecto</a:t>
            </a:r>
            <a:endParaRPr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847196" y="1541731"/>
            <a:ext cx="74496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000"/>
              <a:buFont typeface="Consolas"/>
              <a:buNone/>
            </a:pPr>
            <a:r>
              <a:rPr b="0" i="0" lang="es-CL" sz="10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&lt;link href="</a:t>
            </a:r>
            <a:r>
              <a:rPr lang="es-CL" sz="1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https://cdn.jsdelivr.net/npm/bootstrap@5.3.8/dist/css/bootstrap.min.css</a:t>
            </a:r>
            <a:r>
              <a:rPr b="0" i="0" lang="es-CL" sz="10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" rel="stylesheet"&gt; </a:t>
            </a:r>
            <a:endParaRPr/>
          </a:p>
        </p:txBody>
      </p:sp>
      <p:sp>
        <p:nvSpPr>
          <p:cNvPr id="310" name="Google Shape;310;p16"/>
          <p:cNvSpPr txBox="1"/>
          <p:nvPr/>
        </p:nvSpPr>
        <p:spPr>
          <a:xfrm>
            <a:off x="863461" y="5401655"/>
            <a:ext cx="741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Abrir el archivo index.html del proyecto y agregar el CDN de Bootstrap 5.3 en la sección del &lt;head&gt;</a:t>
            </a:r>
            <a:endParaRPr sz="1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16" title="Captura de pantalla 2026-03-27 a la(s) 12.46.2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760" y="2157415"/>
            <a:ext cx="7628493" cy="293145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2" name="Google Shape;312;p16"/>
          <p:cNvSpPr/>
          <p:nvPr/>
        </p:nvSpPr>
        <p:spPr>
          <a:xfrm rot="10800000">
            <a:off x="847285" y="3771117"/>
            <a:ext cx="367200" cy="159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706437" y="1860391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index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html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8" name="Google Shape;318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7"/>
          <p:cNvSpPr txBox="1"/>
          <p:nvPr/>
        </p:nvSpPr>
        <p:spPr>
          <a:xfrm>
            <a:off x="1144588" y="185738"/>
            <a:ext cx="36215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Bootstrap…</a:t>
            </a:r>
            <a:endParaRPr/>
          </a:p>
        </p:txBody>
      </p:sp>
      <p:cxnSp>
        <p:nvCxnSpPr>
          <p:cNvPr id="320" name="Google Shape;320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1" name="Google Shape;321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838200" y="1084661"/>
            <a:ext cx="7771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arenR" startAt="8"/>
            </a:pPr>
            <a:r>
              <a:rPr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Verificar que funcionan los estilos de Bootstrap en nuestro proyecto</a:t>
            </a:r>
            <a:endParaRPr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1216441" y="1438042"/>
            <a:ext cx="73366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Ver el código fuente HTML del snippet y copiarlo en el portapapeles</a:t>
            </a:r>
            <a:endParaRPr sz="1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17"/>
          <p:cNvPicPr preferRelativeResize="0"/>
          <p:nvPr/>
        </p:nvPicPr>
        <p:blipFill rotWithShape="1">
          <a:blip r:embed="rId4">
            <a:alphaModFix/>
          </a:blip>
          <a:srcRect b="31147" l="75569" r="5909" t="20613"/>
          <a:stretch/>
        </p:blipFill>
        <p:spPr>
          <a:xfrm>
            <a:off x="3713053" y="2360032"/>
            <a:ext cx="4840058" cy="405187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5" name="Google Shape;325;p17"/>
          <p:cNvSpPr/>
          <p:nvPr/>
        </p:nvSpPr>
        <p:spPr>
          <a:xfrm>
            <a:off x="5352968" y="5773339"/>
            <a:ext cx="2937552" cy="268935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8327067" y="5862388"/>
            <a:ext cx="367194" cy="159566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7"/>
          <p:cNvSpPr txBox="1"/>
          <p:nvPr/>
        </p:nvSpPr>
        <p:spPr>
          <a:xfrm>
            <a:off x="1328453" y="3096217"/>
            <a:ext cx="195792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Botón derecho sobre la página y seleccionar opción “Ver código fuente de la página”</a:t>
            </a:r>
            <a:endParaRPr sz="1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7"/>
          <p:cNvSpPr txBox="1"/>
          <p:nvPr/>
        </p:nvSpPr>
        <p:spPr>
          <a:xfrm>
            <a:off x="1216441" y="1899037"/>
            <a:ext cx="5960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https://getbootstrap.com/docs/5.0/examples/pricing/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use pointer Icons in SVG, PNG, AI to Download" id="329" name="Google Shape;32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6062" y="5895566"/>
            <a:ext cx="418833" cy="418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34" name="Google Shape;334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8"/>
          <p:cNvSpPr txBox="1"/>
          <p:nvPr/>
        </p:nvSpPr>
        <p:spPr>
          <a:xfrm>
            <a:off x="1144588" y="185738"/>
            <a:ext cx="36215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Bootstrap…</a:t>
            </a:r>
            <a:endParaRPr/>
          </a:p>
        </p:txBody>
      </p:sp>
      <p:cxnSp>
        <p:nvCxnSpPr>
          <p:cNvPr id="336" name="Google Shape;336;p1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1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838200" y="1084661"/>
            <a:ext cx="7771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arenR" startAt="9"/>
            </a:pPr>
            <a:r>
              <a:rPr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Copiar el código del snippet en nuestro proyecto</a:t>
            </a:r>
            <a:endParaRPr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18"/>
          <p:cNvPicPr preferRelativeResize="0"/>
          <p:nvPr/>
        </p:nvPicPr>
        <p:blipFill rotWithShape="1">
          <a:blip r:embed="rId4">
            <a:alphaModFix/>
          </a:blip>
          <a:srcRect b="0" l="0" r="0" t="5120"/>
          <a:stretch/>
        </p:blipFill>
        <p:spPr>
          <a:xfrm>
            <a:off x="3290476" y="1745370"/>
            <a:ext cx="5810250" cy="450057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0" name="Google Shape;340;p18"/>
          <p:cNvSpPr txBox="1"/>
          <p:nvPr/>
        </p:nvSpPr>
        <p:spPr>
          <a:xfrm>
            <a:off x="1840507" y="2905459"/>
            <a:ext cx="9541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18"/>
          <p:cNvSpPr txBox="1"/>
          <p:nvPr/>
        </p:nvSpPr>
        <p:spPr>
          <a:xfrm>
            <a:off x="1840507" y="3947084"/>
            <a:ext cx="10711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2" name="Google Shape;342;p18"/>
          <p:cNvCxnSpPr>
            <a:endCxn id="340" idx="3"/>
          </p:cNvCxnSpPr>
          <p:nvPr/>
        </p:nvCxnSpPr>
        <p:spPr>
          <a:xfrm flipH="1">
            <a:off x="2794614" y="1923425"/>
            <a:ext cx="954000" cy="1166700"/>
          </a:xfrm>
          <a:prstGeom prst="straightConnector1">
            <a:avLst/>
          </a:prstGeom>
          <a:noFill/>
          <a:ln cap="flat" cmpd="sng" w="9525">
            <a:solidFill>
              <a:srgbClr val="0033CC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3" name="Google Shape;343;p18"/>
          <p:cNvCxnSpPr>
            <a:endCxn id="341" idx="3"/>
          </p:cNvCxnSpPr>
          <p:nvPr/>
        </p:nvCxnSpPr>
        <p:spPr>
          <a:xfrm rot="10800000">
            <a:off x="2911634" y="4131750"/>
            <a:ext cx="837000" cy="1641600"/>
          </a:xfrm>
          <a:prstGeom prst="straightConnector1">
            <a:avLst/>
          </a:prstGeom>
          <a:noFill/>
          <a:ln cap="flat" cmpd="sng" w="9525">
            <a:solidFill>
              <a:srgbClr val="0033CC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44" name="Google Shape;344;p18"/>
          <p:cNvSpPr txBox="1"/>
          <p:nvPr/>
        </p:nvSpPr>
        <p:spPr>
          <a:xfrm>
            <a:off x="255211" y="4688206"/>
            <a:ext cx="2656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Copiar todo el código ubicado </a:t>
            </a:r>
            <a:r>
              <a:rPr lang="es-CL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dentro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de la etiqueta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y reemplazar el contenido de </a:t>
            </a:r>
            <a:r>
              <a:rPr b="1" i="1" lang="es-CL" sz="1800">
                <a:solidFill>
                  <a:srgbClr val="0033CC"/>
                </a:solidFill>
              </a:rPr>
              <a:t>app.html</a:t>
            </a:r>
            <a:endParaRPr b="1" i="1" sz="1800">
              <a:solidFill>
                <a:srgbClr val="0033CC"/>
              </a:solidFill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3290487" y="1406666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html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50" name="Google Shape;350;p1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9"/>
          <p:cNvSpPr txBox="1"/>
          <p:nvPr/>
        </p:nvSpPr>
        <p:spPr>
          <a:xfrm>
            <a:off x="1144588" y="185738"/>
            <a:ext cx="36215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Instalar Bootstrap…</a:t>
            </a:r>
            <a:endParaRPr/>
          </a:p>
        </p:txBody>
      </p:sp>
      <p:cxnSp>
        <p:nvCxnSpPr>
          <p:cNvPr id="352" name="Google Shape;352;p1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3" name="Google Shape;353;p1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54" name="Google Shape;354;p19"/>
          <p:cNvSpPr/>
          <p:nvPr/>
        </p:nvSpPr>
        <p:spPr>
          <a:xfrm>
            <a:off x="838200" y="1084661"/>
            <a:ext cx="77715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AutoNum type="arabicParenR" startAt="10"/>
            </a:pPr>
            <a:r>
              <a:rPr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Lanzar el proyecto</a:t>
            </a:r>
            <a:endParaRPr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z de usuario gráfica, Aplicación&#10;&#10;Descripción generada automáticamente" id="355" name="Google Shape;3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5288" y="1959124"/>
            <a:ext cx="6353410" cy="441584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6" name="Google Shape;356;p19"/>
          <p:cNvSpPr/>
          <p:nvPr/>
        </p:nvSpPr>
        <p:spPr>
          <a:xfrm>
            <a:off x="3795903" y="1537213"/>
            <a:ext cx="155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 serve -o</a:t>
            </a:r>
            <a:endParaRPr sz="16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61" name="Google Shape;361;p2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0"/>
          <p:cNvSpPr txBox="1"/>
          <p:nvPr/>
        </p:nvSpPr>
        <p:spPr>
          <a:xfrm>
            <a:off x="1144588" y="185738"/>
            <a:ext cx="68899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Visualización de íconos para Bootstrap</a:t>
            </a:r>
            <a:endParaRPr/>
          </a:p>
        </p:txBody>
      </p:sp>
      <p:cxnSp>
        <p:nvCxnSpPr>
          <p:cNvPr id="363" name="Google Shape;363;p2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4" name="Google Shape;364;p2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65" name="Google Shape;365;p20"/>
          <p:cNvSpPr/>
          <p:nvPr/>
        </p:nvSpPr>
        <p:spPr>
          <a:xfrm>
            <a:off x="624625" y="1118028"/>
            <a:ext cx="78948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Lamentablemente ngx-bootstrap no permite la visualización de íconos de Bootstrap. Pero podemos instalar la librería llamada ngx-bootstrap-icons.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6" name="Google Shape;366;p20"/>
          <p:cNvPicPr preferRelativeResize="0"/>
          <p:nvPr/>
        </p:nvPicPr>
        <p:blipFill rotWithShape="1">
          <a:blip r:embed="rId4">
            <a:alphaModFix/>
          </a:blip>
          <a:srcRect b="20123" l="0" r="0" t="0"/>
          <a:stretch/>
        </p:blipFill>
        <p:spPr>
          <a:xfrm>
            <a:off x="1905787" y="3221162"/>
            <a:ext cx="5367587" cy="27492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7" name="Google Shape;367;p20"/>
          <p:cNvSpPr txBox="1"/>
          <p:nvPr/>
        </p:nvSpPr>
        <p:spPr>
          <a:xfrm>
            <a:off x="1772574" y="2369500"/>
            <a:ext cx="563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https://avmaisak.github.io/ngx-bootstrap-icons/icons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72" name="Google Shape;372;g3966cec1743_0_19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966cec1743_0_19"/>
          <p:cNvSpPr txBox="1"/>
          <p:nvPr/>
        </p:nvSpPr>
        <p:spPr>
          <a:xfrm>
            <a:off x="1144588" y="185738"/>
            <a:ext cx="689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Visualización de íconos para Bootstrap</a:t>
            </a:r>
            <a:endParaRPr/>
          </a:p>
        </p:txBody>
      </p:sp>
      <p:cxnSp>
        <p:nvCxnSpPr>
          <p:cNvPr id="374" name="Google Shape;374;g3966cec1743_0_1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5" name="Google Shape;375;g3966cec1743_0_1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76" name="Google Shape;376;g3966cec1743_0_19"/>
          <p:cNvSpPr/>
          <p:nvPr/>
        </p:nvSpPr>
        <p:spPr>
          <a:xfrm>
            <a:off x="624625" y="1118028"/>
            <a:ext cx="78948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nstalar la librería llamada ngx-bootstrap-icons.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g3966cec1743_0_19"/>
          <p:cNvSpPr/>
          <p:nvPr/>
        </p:nvSpPr>
        <p:spPr>
          <a:xfrm>
            <a:off x="2720847" y="1926300"/>
            <a:ext cx="370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npm install ngx-bootstrap-icons</a:t>
            </a:r>
            <a:endParaRPr sz="16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8" name="Google Shape;378;g3966cec1743_0_19" title="Captura de pantalla 2026-03-27 a la(s) 14.02.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763" y="2772688"/>
            <a:ext cx="7964473" cy="170089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83" name="Google Shape;383;p2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1"/>
          <p:cNvSpPr txBox="1"/>
          <p:nvPr/>
        </p:nvSpPr>
        <p:spPr>
          <a:xfrm>
            <a:off x="1144588" y="185738"/>
            <a:ext cx="71881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Visualización de íconos para Bootstrap…</a:t>
            </a:r>
            <a:endParaRPr/>
          </a:p>
        </p:txBody>
      </p:sp>
      <p:cxnSp>
        <p:nvCxnSpPr>
          <p:cNvPr id="385" name="Google Shape;385;p2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6" name="Google Shape;386;p2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627063" y="1247037"/>
            <a:ext cx="78616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Importar el módulo NgxBootstrapIconsModule en nuestro módulo:</a:t>
            </a:r>
            <a:endParaRPr/>
          </a:p>
        </p:txBody>
      </p:sp>
      <p:pic>
        <p:nvPicPr>
          <p:cNvPr id="388" name="Google Shape;388;p21" title="Captura de pantalla 2026-03-27 a la(s) 14.04.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6150" y="1946575"/>
            <a:ext cx="6365001" cy="436359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9" name="Google Shape;389;p21"/>
          <p:cNvSpPr/>
          <p:nvPr/>
        </p:nvSpPr>
        <p:spPr>
          <a:xfrm rot="10800000">
            <a:off x="1573710" y="3136117"/>
            <a:ext cx="367200" cy="159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1573712" y="1616366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app-module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ts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95" name="Google Shape;395;p2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2"/>
          <p:cNvSpPr txBox="1"/>
          <p:nvPr/>
        </p:nvSpPr>
        <p:spPr>
          <a:xfrm>
            <a:off x="1144588" y="185738"/>
            <a:ext cx="71881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Visualización de íconos para Bootstrap…</a:t>
            </a:r>
            <a:endParaRPr/>
          </a:p>
        </p:txBody>
      </p:sp>
      <p:cxnSp>
        <p:nvCxnSpPr>
          <p:cNvPr id="397" name="Google Shape;397;p2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8" name="Google Shape;398;p2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99" name="Google Shape;399;p22"/>
          <p:cNvSpPr/>
          <p:nvPr/>
        </p:nvSpPr>
        <p:spPr>
          <a:xfrm>
            <a:off x="627063" y="1247037"/>
            <a:ext cx="78616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Importar los íconos en el componente que los utilizará:</a:t>
            </a:r>
            <a:endParaRPr/>
          </a:p>
        </p:txBody>
      </p:sp>
      <p:sp>
        <p:nvSpPr>
          <p:cNvPr id="400" name="Google Shape;400;p22"/>
          <p:cNvSpPr txBox="1"/>
          <p:nvPr/>
        </p:nvSpPr>
        <p:spPr>
          <a:xfrm>
            <a:off x="1434001" y="5831463"/>
            <a:ext cx="62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Se recomienda importar sólo los íconos a utilizar (no todos)</a:t>
            </a:r>
            <a:endParaRPr i="1" sz="1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22" title="Captura de pantalla 2026-03-27 a la(s) 14.06.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7875" y="2016431"/>
            <a:ext cx="7088251" cy="347849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2" name="Google Shape;402;p22"/>
          <p:cNvSpPr/>
          <p:nvPr/>
        </p:nvSpPr>
        <p:spPr>
          <a:xfrm>
            <a:off x="1027887" y="1677716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app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ts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07" name="Google Shape;407;p2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3"/>
          <p:cNvSpPr txBox="1"/>
          <p:nvPr/>
        </p:nvSpPr>
        <p:spPr>
          <a:xfrm>
            <a:off x="1144588" y="185738"/>
            <a:ext cx="71881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Visualización de íconos para Bootstrap…</a:t>
            </a:r>
            <a:endParaRPr/>
          </a:p>
        </p:txBody>
      </p:sp>
      <p:cxnSp>
        <p:nvCxnSpPr>
          <p:cNvPr id="409" name="Google Shape;409;p2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0" name="Google Shape;410;p2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627063" y="1247037"/>
            <a:ext cx="53525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Buscar el ícono que deseamos utilizar:</a:t>
            </a:r>
            <a:endParaRPr/>
          </a:p>
        </p:txBody>
      </p:sp>
      <p:sp>
        <p:nvSpPr>
          <p:cNvPr id="412" name="Google Shape;412;p23"/>
          <p:cNvSpPr txBox="1"/>
          <p:nvPr/>
        </p:nvSpPr>
        <p:spPr>
          <a:xfrm>
            <a:off x="4969669" y="4354994"/>
            <a:ext cx="3854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&lt;i-bs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80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bell</a:t>
            </a:r>
            <a:r>
              <a:rPr lang="es-CL" sz="180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-fill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80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75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80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75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s-CL" sz="1800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&lt;/i-bs&gt;</a:t>
            </a:r>
            <a:endParaRPr/>
          </a:p>
        </p:txBody>
      </p:sp>
      <p:sp>
        <p:nvSpPr>
          <p:cNvPr id="413" name="Google Shape;413;p23"/>
          <p:cNvSpPr txBox="1"/>
          <p:nvPr/>
        </p:nvSpPr>
        <p:spPr>
          <a:xfrm>
            <a:off x="4865295" y="2828829"/>
            <a:ext cx="3763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Copiar el tag que define el ícono para su representación. Pegar en nuestro código html para su visualización. </a:t>
            </a:r>
            <a:endParaRPr i="1" sz="1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600" y="2335850"/>
            <a:ext cx="3203200" cy="39689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5" name="Google Shape;415;p23"/>
          <p:cNvSpPr txBox="1"/>
          <p:nvPr/>
        </p:nvSpPr>
        <p:spPr>
          <a:xfrm>
            <a:off x="1754999" y="1733988"/>
            <a:ext cx="563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https://avmaisak.github.io/ngx-bootstrap-icons/icons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20" name="Google Shape;420;p2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4"/>
          <p:cNvSpPr txBox="1"/>
          <p:nvPr/>
        </p:nvSpPr>
        <p:spPr>
          <a:xfrm>
            <a:off x="1144588" y="185738"/>
            <a:ext cx="71881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Visualización de íconos para Bootstrap…</a:t>
            </a:r>
            <a:endParaRPr/>
          </a:p>
        </p:txBody>
      </p:sp>
      <p:cxnSp>
        <p:nvCxnSpPr>
          <p:cNvPr id="422" name="Google Shape;422;p2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3" name="Google Shape;423;p2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627063" y="1247037"/>
            <a:ext cx="7433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Agregar el código del ícono en nuestro template:</a:t>
            </a:r>
            <a:endParaRPr/>
          </a:p>
        </p:txBody>
      </p:sp>
      <p:pic>
        <p:nvPicPr>
          <p:cNvPr id="425" name="Google Shape;425;p24" title="Captura de pantalla 2026-03-27 a la(s) 14.08.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233" y="2152488"/>
            <a:ext cx="8243544" cy="38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4"/>
          <p:cNvSpPr/>
          <p:nvPr/>
        </p:nvSpPr>
        <p:spPr>
          <a:xfrm>
            <a:off x="450237" y="1813791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app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html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4"/>
          <p:cNvSpPr/>
          <p:nvPr/>
        </p:nvSpPr>
        <p:spPr>
          <a:xfrm rot="10800000">
            <a:off x="938710" y="4863317"/>
            <a:ext cx="367200" cy="159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32" name="Google Shape;432;g3966cec1743_0_3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3966cec1743_0_34"/>
          <p:cNvSpPr txBox="1"/>
          <p:nvPr/>
        </p:nvSpPr>
        <p:spPr>
          <a:xfrm>
            <a:off x="1144588" y="185738"/>
            <a:ext cx="718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Visualización de íconos para Bootstrap…</a:t>
            </a:r>
            <a:endParaRPr/>
          </a:p>
        </p:txBody>
      </p:sp>
      <p:cxnSp>
        <p:nvCxnSpPr>
          <p:cNvPr id="434" name="Google Shape;434;g3966cec1743_0_3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5" name="Google Shape;435;g3966cec1743_0_3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36" name="Google Shape;436;g3966cec1743_0_34"/>
          <p:cNvSpPr/>
          <p:nvPr/>
        </p:nvSpPr>
        <p:spPr>
          <a:xfrm>
            <a:off x="627063" y="1247037"/>
            <a:ext cx="74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Icono bell en nuestra visualización.</a:t>
            </a:r>
            <a:endParaRPr/>
          </a:p>
        </p:txBody>
      </p:sp>
      <p:pic>
        <p:nvPicPr>
          <p:cNvPr id="437" name="Google Shape;437;g3966cec1743_0_34" title="Captura de pantalla 2026-03-27 a la(s) 14.13.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4074" y="1832250"/>
            <a:ext cx="5335850" cy="4324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42" name="Google Shape;442;p2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5"/>
          <p:cNvSpPr txBox="1"/>
          <p:nvPr/>
        </p:nvSpPr>
        <p:spPr>
          <a:xfrm>
            <a:off x="1144588" y="185738"/>
            <a:ext cx="54361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- CRUD de Productos</a:t>
            </a:r>
            <a:endParaRPr/>
          </a:p>
        </p:txBody>
      </p:sp>
      <p:cxnSp>
        <p:nvCxnSpPr>
          <p:cNvPr id="444" name="Google Shape;444;p2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" name="Google Shape;445;p2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594065" y="1212850"/>
            <a:ext cx="82013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a construir un CRUD de productos paso a paso en Angular.</a:t>
            </a:r>
            <a:endParaRPr/>
          </a:p>
        </p:txBody>
      </p:sp>
      <p:pic>
        <p:nvPicPr>
          <p:cNvPr id="447" name="Google Shape;447;p25"/>
          <p:cNvPicPr preferRelativeResize="0"/>
          <p:nvPr/>
        </p:nvPicPr>
        <p:blipFill rotWithShape="1">
          <a:blip r:embed="rId4">
            <a:alphaModFix/>
          </a:blip>
          <a:srcRect b="77727" l="0" r="0" t="0"/>
          <a:stretch/>
        </p:blipFill>
        <p:spPr>
          <a:xfrm>
            <a:off x="427663" y="1999210"/>
            <a:ext cx="8304245" cy="882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5"/>
          <p:cNvPicPr preferRelativeResize="0"/>
          <p:nvPr/>
        </p:nvPicPr>
        <p:blipFill rotWithShape="1">
          <a:blip r:embed="rId5">
            <a:alphaModFix/>
          </a:blip>
          <a:srcRect b="33473" l="0" r="0" t="92"/>
          <a:stretch/>
        </p:blipFill>
        <p:spPr>
          <a:xfrm>
            <a:off x="383237" y="2780597"/>
            <a:ext cx="8377527" cy="3157562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5"/>
          <p:cNvSpPr/>
          <p:nvPr/>
        </p:nvSpPr>
        <p:spPr>
          <a:xfrm>
            <a:off x="3103224" y="1529693"/>
            <a:ext cx="41088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CRUD</a:t>
            </a:r>
            <a:r>
              <a:rPr lang="es-CL" sz="18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 (Create, Read, Update, Delete)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54" name="Google Shape;454;p2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6"/>
          <p:cNvSpPr txBox="1"/>
          <p:nvPr/>
        </p:nvSpPr>
        <p:spPr>
          <a:xfrm>
            <a:off x="1144588" y="185738"/>
            <a:ext cx="70834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Agregar Barra de Navegación</a:t>
            </a:r>
            <a:endParaRPr/>
          </a:p>
        </p:txBody>
      </p:sp>
      <p:cxnSp>
        <p:nvCxnSpPr>
          <p:cNvPr id="456" name="Google Shape;456;p2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7" name="Google Shape;457;p26"/>
          <p:cNvSpPr/>
          <p:nvPr/>
        </p:nvSpPr>
        <p:spPr>
          <a:xfrm>
            <a:off x="122738" y="6545250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594065" y="1212850"/>
            <a:ext cx="820132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encabezado, utilizamos las siguientes etiquetas: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&lt;nav&gt;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permite crear una barra de navegación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class=“navbar”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&lt;a&gt;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permite crear un enlace o hipervínculo (# dirige a la misma página)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&lt;img&gt;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permite crear una imagen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&lt;h1&gt;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permite crear un título grande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59" name="Google Shape;459;p26"/>
          <p:cNvPicPr preferRelativeResize="0"/>
          <p:nvPr/>
        </p:nvPicPr>
        <p:blipFill rotWithShape="1">
          <a:blip r:embed="rId4">
            <a:alphaModFix/>
          </a:blip>
          <a:srcRect b="80831" l="0" r="0" t="0"/>
          <a:stretch/>
        </p:blipFill>
        <p:spPr>
          <a:xfrm>
            <a:off x="1827554" y="3072782"/>
            <a:ext cx="5857180" cy="5525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0" name="Google Shape;460;p26"/>
          <p:cNvSpPr/>
          <p:nvPr/>
        </p:nvSpPr>
        <p:spPr>
          <a:xfrm>
            <a:off x="1459254" y="3192479"/>
            <a:ext cx="306300" cy="3126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2071905" y="2886484"/>
            <a:ext cx="306300" cy="3126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4449755" y="3167485"/>
            <a:ext cx="306300" cy="3126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id="463" name="Google Shape;463;p26" title="Captura de pantalla 2026-03-27 a la(s) 14.20.5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2888" y="4087929"/>
            <a:ext cx="6478226" cy="209364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4" name="Google Shape;464;p26"/>
          <p:cNvSpPr/>
          <p:nvPr/>
        </p:nvSpPr>
        <p:spPr>
          <a:xfrm>
            <a:off x="1635335" y="4007950"/>
            <a:ext cx="306300" cy="312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2001761" y="4547534"/>
            <a:ext cx="306300" cy="312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2071902" y="5226689"/>
            <a:ext cx="306300" cy="312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4756049" y="5683812"/>
            <a:ext cx="1652400" cy="441300"/>
          </a:xfrm>
          <a:prstGeom prst="wedgeRectCallout">
            <a:avLst>
              <a:gd fmla="val -64351" name="adj1"/>
              <a:gd fmla="val -6378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Enlace a variable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4204986" y="3397300"/>
            <a:ext cx="1529400" cy="459600"/>
          </a:xfrm>
          <a:prstGeom prst="wedgeRectCallout">
            <a:avLst>
              <a:gd fmla="val -36809" name="adj1"/>
              <a:gd fmla="val 10509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Copiar imagen a carpeta p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ublic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73" name="Google Shape;473;p2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7"/>
          <p:cNvSpPr txBox="1"/>
          <p:nvPr/>
        </p:nvSpPr>
        <p:spPr>
          <a:xfrm>
            <a:off x="1144588" y="185738"/>
            <a:ext cx="60340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Definir Grilla Bootstrap</a:t>
            </a:r>
            <a:endParaRPr/>
          </a:p>
        </p:txBody>
      </p:sp>
      <p:cxnSp>
        <p:nvCxnSpPr>
          <p:cNvPr id="475" name="Google Shape;475;p2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6" name="Google Shape;476;p2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77" name="Google Shape;477;p27"/>
          <p:cNvSpPr/>
          <p:nvPr/>
        </p:nvSpPr>
        <p:spPr>
          <a:xfrm>
            <a:off x="838200" y="1377497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campo para filtro de productos: 1 fila y 2 columnas</a:t>
            </a:r>
            <a:endParaRPr/>
          </a:p>
        </p:txBody>
      </p:sp>
      <p:pic>
        <p:nvPicPr>
          <p:cNvPr id="478" name="Google Shape;47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599" y="2038174"/>
            <a:ext cx="8048791" cy="396118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9" name="Google Shape;479;p27"/>
          <p:cNvSpPr/>
          <p:nvPr/>
        </p:nvSpPr>
        <p:spPr>
          <a:xfrm>
            <a:off x="609461" y="3165254"/>
            <a:ext cx="3951900" cy="40800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27"/>
          <p:cNvCxnSpPr/>
          <p:nvPr/>
        </p:nvCxnSpPr>
        <p:spPr>
          <a:xfrm rot="10800000">
            <a:off x="3103224" y="1757677"/>
            <a:ext cx="1774771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1" name="Google Shape;481;p27"/>
          <p:cNvCxnSpPr/>
          <p:nvPr/>
        </p:nvCxnSpPr>
        <p:spPr>
          <a:xfrm>
            <a:off x="3531617" y="1757677"/>
            <a:ext cx="0" cy="140757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482" name="Google Shape;482;p27"/>
          <p:cNvCxnSpPr/>
          <p:nvPr/>
        </p:nvCxnSpPr>
        <p:spPr>
          <a:xfrm>
            <a:off x="1772241" y="3042856"/>
            <a:ext cx="0" cy="627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87" name="Google Shape;487;p2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8"/>
          <p:cNvSpPr txBox="1"/>
          <p:nvPr/>
        </p:nvSpPr>
        <p:spPr>
          <a:xfrm>
            <a:off x="1144588" y="185738"/>
            <a:ext cx="59939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Definir Grilla Bootstrap</a:t>
            </a:r>
            <a:endParaRPr/>
          </a:p>
        </p:txBody>
      </p:sp>
      <p:cxnSp>
        <p:nvCxnSpPr>
          <p:cNvPr id="489" name="Google Shape;489;p2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0" name="Google Shape;490;p2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91" name="Google Shape;491;p28"/>
          <p:cNvSpPr/>
          <p:nvPr/>
        </p:nvSpPr>
        <p:spPr>
          <a:xfrm>
            <a:off x="838200" y="1212850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campo para filtro: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class=“row”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class=“col”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92" name="Google Shape;49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259" y="1875061"/>
            <a:ext cx="43338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8"/>
          <p:cNvSpPr/>
          <p:nvPr/>
        </p:nvSpPr>
        <p:spPr>
          <a:xfrm>
            <a:off x="1266809" y="1694675"/>
            <a:ext cx="306388" cy="31273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94" name="Google Shape;494;p28"/>
          <p:cNvSpPr/>
          <p:nvPr/>
        </p:nvSpPr>
        <p:spPr>
          <a:xfrm>
            <a:off x="3775968" y="1623455"/>
            <a:ext cx="306388" cy="31273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descr="Resultado de imagen para bootstrap col grid" id="495" name="Google Shape;49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3799" y="2449415"/>
            <a:ext cx="2919039" cy="1689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bootstrap col grid" id="496" name="Google Shape;496;p28"/>
          <p:cNvPicPr preferRelativeResize="0"/>
          <p:nvPr/>
        </p:nvPicPr>
        <p:blipFill rotWithShape="1">
          <a:blip r:embed="rId6">
            <a:alphaModFix/>
          </a:blip>
          <a:srcRect b="4642" l="0" r="0" t="21672"/>
          <a:stretch/>
        </p:blipFill>
        <p:spPr>
          <a:xfrm>
            <a:off x="2166656" y="4411133"/>
            <a:ext cx="6566182" cy="17975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7" name="Google Shape;497;p28"/>
          <p:cNvSpPr/>
          <p:nvPr/>
        </p:nvSpPr>
        <p:spPr>
          <a:xfrm>
            <a:off x="6163174" y="1744133"/>
            <a:ext cx="2569664" cy="459540"/>
          </a:xfrm>
          <a:prstGeom prst="wedgeRectCallout">
            <a:avLst>
              <a:gd fmla="val -36809" name="adj1"/>
              <a:gd fmla="val 10509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Filtro que indica sobre qué tipo de dispositivo aplicar el estilo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441860" y="4713996"/>
            <a:ext cx="1376186" cy="1099985"/>
          </a:xfrm>
          <a:prstGeom prst="wedgeRectCallout">
            <a:avLst>
              <a:gd fmla="val 75026" name="adj1"/>
              <a:gd fmla="val 1734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Sistema de Grilla de Bootstrap. Toda pantalla posee filas de 12 columnas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28"/>
          <p:cNvPicPr preferRelativeResize="0"/>
          <p:nvPr/>
        </p:nvPicPr>
        <p:blipFill rotWithShape="1">
          <a:blip r:embed="rId4">
            <a:alphaModFix amt="85000"/>
          </a:blip>
          <a:srcRect b="18736" l="0" r="0" t="8606"/>
          <a:stretch/>
        </p:blipFill>
        <p:spPr>
          <a:xfrm>
            <a:off x="2166656" y="4470399"/>
            <a:ext cx="3323329" cy="366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8" title="Captura de pantalla 2026-03-27 a la(s) 14.24.0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6188" y="2642200"/>
            <a:ext cx="4224001" cy="1437031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8"/>
          <p:cNvSpPr/>
          <p:nvPr/>
        </p:nvSpPr>
        <p:spPr>
          <a:xfrm>
            <a:off x="4740625" y="2869985"/>
            <a:ext cx="306300" cy="312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02" name="Google Shape;502;p28"/>
          <p:cNvSpPr/>
          <p:nvPr/>
        </p:nvSpPr>
        <p:spPr>
          <a:xfrm>
            <a:off x="3343669" y="3315412"/>
            <a:ext cx="306300" cy="3126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07" name="Google Shape;507;p2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9"/>
          <p:cNvSpPr txBox="1"/>
          <p:nvPr/>
        </p:nvSpPr>
        <p:spPr>
          <a:xfrm>
            <a:off x="1144588" y="185738"/>
            <a:ext cx="55563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Agregar Tabla HTML</a:t>
            </a:r>
            <a:endParaRPr/>
          </a:p>
        </p:txBody>
      </p:sp>
      <p:cxnSp>
        <p:nvCxnSpPr>
          <p:cNvPr id="509" name="Google Shape;509;p2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0" name="Google Shape;510;p2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11" name="Google Shape;511;p29"/>
          <p:cNvSpPr/>
          <p:nvPr/>
        </p:nvSpPr>
        <p:spPr>
          <a:xfrm>
            <a:off x="838200" y="1212850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tabla de datos: HTML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&lt;table&gt;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2" name="Google Shape;5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1635651"/>
            <a:ext cx="6609047" cy="621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ml-table-structure" id="513" name="Google Shape;51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5619" y="2327817"/>
            <a:ext cx="3003243" cy="2751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ml-table-output" id="514" name="Google Shape;51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9652" y="5120405"/>
            <a:ext cx="1824715" cy="1246147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9"/>
          <p:cNvSpPr/>
          <p:nvPr/>
        </p:nvSpPr>
        <p:spPr>
          <a:xfrm>
            <a:off x="5122791" y="5639150"/>
            <a:ext cx="734388" cy="3753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p29" title="Captura de pantalla 2026-03-27 a la(s) 14.30.1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2311075"/>
            <a:ext cx="3626444" cy="39622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7" name="Google Shape;517;p29"/>
          <p:cNvSpPr/>
          <p:nvPr/>
        </p:nvSpPr>
        <p:spPr>
          <a:xfrm>
            <a:off x="6345899" y="4691800"/>
            <a:ext cx="1914300" cy="441300"/>
          </a:xfrm>
          <a:prstGeom prst="wedgeRectCallout">
            <a:avLst>
              <a:gd fmla="val -86330" name="adj1"/>
              <a:gd fmla="val -5544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&lt;tbody&gt; c</a:t>
            </a: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orresponde a datos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9"/>
          <p:cNvSpPr/>
          <p:nvPr/>
        </p:nvSpPr>
        <p:spPr>
          <a:xfrm>
            <a:off x="6345898" y="2597800"/>
            <a:ext cx="2272500" cy="441300"/>
          </a:xfrm>
          <a:prstGeom prst="wedgeRectCallout">
            <a:avLst>
              <a:gd fmla="val -82759" name="adj1"/>
              <a:gd fmla="val -3198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&lt;thead&gt; indica encabezados. Se puede omitir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23" name="Google Shape;523;p3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0"/>
          <p:cNvSpPr txBox="1"/>
          <p:nvPr/>
        </p:nvSpPr>
        <p:spPr>
          <a:xfrm>
            <a:off x="1144588" y="185738"/>
            <a:ext cx="57968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Agregar Tarjeta HTML</a:t>
            </a:r>
            <a:endParaRPr/>
          </a:p>
        </p:txBody>
      </p:sp>
      <p:cxnSp>
        <p:nvCxnSpPr>
          <p:cNvPr id="525" name="Google Shape;525;p3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6" name="Google Shape;526;p3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27" name="Google Shape;527;p30"/>
          <p:cNvSpPr/>
          <p:nvPr/>
        </p:nvSpPr>
        <p:spPr>
          <a:xfrm>
            <a:off x="838200" y="1212850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tarjeta contenedora: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class=“card”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28" name="Google Shape;528;p30"/>
          <p:cNvPicPr preferRelativeResize="0"/>
          <p:nvPr/>
        </p:nvPicPr>
        <p:blipFill rotWithShape="1">
          <a:blip r:embed="rId4">
            <a:alphaModFix/>
          </a:blip>
          <a:srcRect b="6649" l="0" r="0" t="2381"/>
          <a:stretch/>
        </p:blipFill>
        <p:spPr>
          <a:xfrm>
            <a:off x="532867" y="1715428"/>
            <a:ext cx="5875104" cy="199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0"/>
          <p:cNvPicPr preferRelativeResize="0"/>
          <p:nvPr/>
        </p:nvPicPr>
        <p:blipFill rotWithShape="1">
          <a:blip r:embed="rId5">
            <a:alphaModFix/>
          </a:blip>
          <a:srcRect b="22795" l="4699" r="3635" t="40529"/>
          <a:stretch/>
        </p:blipFill>
        <p:spPr>
          <a:xfrm>
            <a:off x="777662" y="2579648"/>
            <a:ext cx="5385512" cy="803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0"/>
          <p:cNvPicPr preferRelativeResize="0"/>
          <p:nvPr/>
        </p:nvPicPr>
        <p:blipFill rotWithShape="1">
          <a:blip r:embed="rId5">
            <a:alphaModFix/>
          </a:blip>
          <a:srcRect b="81817" l="0" r="60927" t="3909"/>
          <a:stretch/>
        </p:blipFill>
        <p:spPr>
          <a:xfrm>
            <a:off x="532867" y="1799153"/>
            <a:ext cx="2295559" cy="312738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/>
          <p:nvPr/>
        </p:nvSpPr>
        <p:spPr>
          <a:xfrm>
            <a:off x="900112" y="2187049"/>
            <a:ext cx="306388" cy="31273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32" name="Google Shape;532;p30"/>
          <p:cNvSpPr/>
          <p:nvPr/>
        </p:nvSpPr>
        <p:spPr>
          <a:xfrm>
            <a:off x="5071492" y="5077930"/>
            <a:ext cx="306388" cy="31273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33" name="Google Shape;533;p30"/>
          <p:cNvSpPr/>
          <p:nvPr/>
        </p:nvSpPr>
        <p:spPr>
          <a:xfrm>
            <a:off x="6652766" y="2165104"/>
            <a:ext cx="1591122" cy="566770"/>
          </a:xfrm>
          <a:prstGeom prst="wedgeRectCallout">
            <a:avLst>
              <a:gd fmla="val -56740" name="adj1"/>
              <a:gd fmla="val 10877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Se utilizan 2 card’s una dentro de otra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441029" y="1850120"/>
            <a:ext cx="6058800" cy="2138700"/>
          </a:xfrm>
          <a:prstGeom prst="rect">
            <a:avLst/>
          </a:prstGeom>
          <a:noFill/>
          <a:ln cap="flat" cmpd="sng" w="12700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0996" y="3734995"/>
            <a:ext cx="24669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34830" y="4406971"/>
            <a:ext cx="47910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0"/>
          <p:cNvSpPr/>
          <p:nvPr/>
        </p:nvSpPr>
        <p:spPr>
          <a:xfrm>
            <a:off x="5826052" y="1761102"/>
            <a:ext cx="306388" cy="312738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id="538" name="Google Shape;538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96167" y="5365102"/>
            <a:ext cx="1190625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0"/>
          <p:cNvSpPr/>
          <p:nvPr/>
        </p:nvSpPr>
        <p:spPr>
          <a:xfrm>
            <a:off x="4009377" y="4134476"/>
            <a:ext cx="306388" cy="312738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540" name="Google Shape;540;p30"/>
          <p:cNvCxnSpPr/>
          <p:nvPr/>
        </p:nvCxnSpPr>
        <p:spPr>
          <a:xfrm>
            <a:off x="4449602" y="4256742"/>
            <a:ext cx="520067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541" name="Google Shape;541;p30"/>
          <p:cNvCxnSpPr/>
          <p:nvPr/>
        </p:nvCxnSpPr>
        <p:spPr>
          <a:xfrm>
            <a:off x="4497041" y="5203035"/>
            <a:ext cx="520067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542" name="Google Shape;542;p30"/>
          <p:cNvSpPr/>
          <p:nvPr/>
        </p:nvSpPr>
        <p:spPr>
          <a:xfrm>
            <a:off x="4204806" y="4903865"/>
            <a:ext cx="122398" cy="54905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4003226" y="4507212"/>
            <a:ext cx="131604" cy="119621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0"/>
          <p:cNvSpPr/>
          <p:nvPr/>
        </p:nvSpPr>
        <p:spPr>
          <a:xfrm>
            <a:off x="3796167" y="4099851"/>
            <a:ext cx="144829" cy="1999147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0"/>
          <p:cNvSpPr/>
          <p:nvPr/>
        </p:nvSpPr>
        <p:spPr>
          <a:xfrm>
            <a:off x="3486479" y="3855043"/>
            <a:ext cx="306388" cy="2475251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50" name="Google Shape;550;p3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1"/>
          <p:cNvSpPr txBox="1"/>
          <p:nvPr/>
        </p:nvSpPr>
        <p:spPr>
          <a:xfrm>
            <a:off x="1144588" y="185738"/>
            <a:ext cx="40959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Estilos CSS</a:t>
            </a:r>
            <a:endParaRPr/>
          </a:p>
        </p:txBody>
      </p:sp>
      <p:cxnSp>
        <p:nvCxnSpPr>
          <p:cNvPr id="552" name="Google Shape;552;p3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3" name="Google Shape;553;p3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54" name="Google Shape;554;p31"/>
          <p:cNvSpPr/>
          <p:nvPr/>
        </p:nvSpPr>
        <p:spPr>
          <a:xfrm>
            <a:off x="838200" y="1212850"/>
            <a:ext cx="7894638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Agregaremos algunos estilos básicos a nuestro componente.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Haremos los cambios en el archivo </a:t>
            </a:r>
            <a:r>
              <a:rPr i="1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app.css</a:t>
            </a:r>
            <a:endParaRPr i="1"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5" name="Google Shape;5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6445" y="3813684"/>
            <a:ext cx="2202719" cy="1930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1"/>
          <p:cNvPicPr preferRelativeResize="0"/>
          <p:nvPr/>
        </p:nvPicPr>
        <p:blipFill rotWithShape="1">
          <a:blip r:embed="rId5">
            <a:alphaModFix/>
          </a:blip>
          <a:srcRect b="0" l="0" r="49918" t="0"/>
          <a:stretch/>
        </p:blipFill>
        <p:spPr>
          <a:xfrm>
            <a:off x="5240582" y="3404571"/>
            <a:ext cx="2819762" cy="27709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7" name="Google Shape;557;p31"/>
          <p:cNvSpPr/>
          <p:nvPr/>
        </p:nvSpPr>
        <p:spPr>
          <a:xfrm>
            <a:off x="1267254" y="2374887"/>
            <a:ext cx="1591122" cy="720319"/>
          </a:xfrm>
          <a:prstGeom prst="wedgeRectCallout">
            <a:avLst>
              <a:gd fmla="val 38260" name="adj1"/>
              <a:gd fmla="val 14977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Define el color blanco del texto con id=“titulo”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8" name="Google Shape;55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36763" y="2731546"/>
            <a:ext cx="3070474" cy="249922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1"/>
          <p:cNvSpPr/>
          <p:nvPr/>
        </p:nvSpPr>
        <p:spPr>
          <a:xfrm>
            <a:off x="655264" y="4512895"/>
            <a:ext cx="1690473" cy="720319"/>
          </a:xfrm>
          <a:prstGeom prst="wedgeRectCallout">
            <a:avLst>
              <a:gd fmla="val 72272" name="adj1"/>
              <a:gd fmla="val 6428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Define margen izquierdo y derecho para el body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1"/>
          <p:cNvSpPr/>
          <p:nvPr/>
        </p:nvSpPr>
        <p:spPr>
          <a:xfrm>
            <a:off x="3348020" y="5606140"/>
            <a:ext cx="16618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Un </a:t>
            </a:r>
            <a:r>
              <a:rPr i="1" lang="es-CL" sz="12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s-CL" sz="12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, es el tamaño de una letra “</a:t>
            </a:r>
            <a:r>
              <a:rPr b="1" lang="es-CL" sz="12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s-CL" sz="12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2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1"/>
          <p:cNvSpPr/>
          <p:nvPr/>
        </p:nvSpPr>
        <p:spPr>
          <a:xfrm>
            <a:off x="7724902" y="3334378"/>
            <a:ext cx="584607" cy="2850038"/>
          </a:xfrm>
          <a:custGeom>
            <a:rect b="b" l="l" r="r" t="t"/>
            <a:pathLst>
              <a:path extrusionOk="0" h="2804743" w="823767">
                <a:moveTo>
                  <a:pt x="326571" y="33551"/>
                </a:moveTo>
                <a:cubicBezTo>
                  <a:pt x="311020" y="42882"/>
                  <a:pt x="270559" y="52241"/>
                  <a:pt x="251926" y="70874"/>
                </a:cubicBezTo>
                <a:cubicBezTo>
                  <a:pt x="189722" y="133078"/>
                  <a:pt x="279918" y="67764"/>
                  <a:pt x="205273" y="117527"/>
                </a:cubicBezTo>
                <a:cubicBezTo>
                  <a:pt x="168105" y="173280"/>
                  <a:pt x="208698" y="124802"/>
                  <a:pt x="158620" y="154849"/>
                </a:cubicBezTo>
                <a:cubicBezTo>
                  <a:pt x="94581" y="193273"/>
                  <a:pt x="191263" y="156411"/>
                  <a:pt x="111967" y="182841"/>
                </a:cubicBezTo>
                <a:cubicBezTo>
                  <a:pt x="121298" y="189061"/>
                  <a:pt x="131202" y="194497"/>
                  <a:pt x="139959" y="201502"/>
                </a:cubicBezTo>
                <a:cubicBezTo>
                  <a:pt x="146828" y="206998"/>
                  <a:pt x="151077" y="215638"/>
                  <a:pt x="158620" y="220164"/>
                </a:cubicBezTo>
                <a:cubicBezTo>
                  <a:pt x="167054" y="225224"/>
                  <a:pt x="177281" y="226384"/>
                  <a:pt x="186612" y="229494"/>
                </a:cubicBezTo>
                <a:cubicBezTo>
                  <a:pt x="195943" y="235714"/>
                  <a:pt x="211884" y="237276"/>
                  <a:pt x="214604" y="248155"/>
                </a:cubicBezTo>
                <a:cubicBezTo>
                  <a:pt x="216738" y="256690"/>
                  <a:pt x="201438" y="259947"/>
                  <a:pt x="195942" y="266817"/>
                </a:cubicBezTo>
                <a:cubicBezTo>
                  <a:pt x="188937" y="275574"/>
                  <a:pt x="183501" y="285478"/>
                  <a:pt x="177281" y="294809"/>
                </a:cubicBezTo>
                <a:cubicBezTo>
                  <a:pt x="174171" y="304139"/>
                  <a:pt x="173011" y="314367"/>
                  <a:pt x="167951" y="322800"/>
                </a:cubicBezTo>
                <a:cubicBezTo>
                  <a:pt x="163425" y="330344"/>
                  <a:pt x="154785" y="334592"/>
                  <a:pt x="149289" y="341462"/>
                </a:cubicBezTo>
                <a:cubicBezTo>
                  <a:pt x="102201" y="400321"/>
                  <a:pt x="157030" y="343050"/>
                  <a:pt x="111967" y="388115"/>
                </a:cubicBezTo>
                <a:cubicBezTo>
                  <a:pt x="108857" y="397446"/>
                  <a:pt x="108092" y="407923"/>
                  <a:pt x="102636" y="416107"/>
                </a:cubicBezTo>
                <a:cubicBezTo>
                  <a:pt x="95317" y="427086"/>
                  <a:pt x="74645" y="430903"/>
                  <a:pt x="74645" y="444098"/>
                </a:cubicBezTo>
                <a:cubicBezTo>
                  <a:pt x="74645" y="455312"/>
                  <a:pt x="91709" y="460238"/>
                  <a:pt x="102636" y="462760"/>
                </a:cubicBezTo>
                <a:cubicBezTo>
                  <a:pt x="133093" y="469789"/>
                  <a:pt x="164840" y="468980"/>
                  <a:pt x="195942" y="472090"/>
                </a:cubicBezTo>
                <a:cubicBezTo>
                  <a:pt x="202163" y="478310"/>
                  <a:pt x="206736" y="486817"/>
                  <a:pt x="214604" y="490751"/>
                </a:cubicBezTo>
                <a:cubicBezTo>
                  <a:pt x="260338" y="513618"/>
                  <a:pt x="263172" y="477589"/>
                  <a:pt x="233265" y="537404"/>
                </a:cubicBezTo>
                <a:cubicBezTo>
                  <a:pt x="232053" y="549523"/>
                  <a:pt x="225144" y="649258"/>
                  <a:pt x="214604" y="677364"/>
                </a:cubicBezTo>
                <a:cubicBezTo>
                  <a:pt x="210666" y="687864"/>
                  <a:pt x="202163" y="696025"/>
                  <a:pt x="195942" y="705355"/>
                </a:cubicBezTo>
                <a:cubicBezTo>
                  <a:pt x="186256" y="734413"/>
                  <a:pt x="159232" y="766387"/>
                  <a:pt x="195942" y="789331"/>
                </a:cubicBezTo>
                <a:cubicBezTo>
                  <a:pt x="212623" y="799756"/>
                  <a:pt x="251926" y="807992"/>
                  <a:pt x="251926" y="807992"/>
                </a:cubicBezTo>
                <a:cubicBezTo>
                  <a:pt x="238274" y="828470"/>
                  <a:pt x="222497" y="849629"/>
                  <a:pt x="214604" y="873307"/>
                </a:cubicBezTo>
                <a:cubicBezTo>
                  <a:pt x="202921" y="908357"/>
                  <a:pt x="208421" y="943230"/>
                  <a:pt x="186612" y="975943"/>
                </a:cubicBezTo>
                <a:lnTo>
                  <a:pt x="149289" y="1031927"/>
                </a:lnTo>
                <a:lnTo>
                  <a:pt x="130628" y="1059919"/>
                </a:lnTo>
                <a:cubicBezTo>
                  <a:pt x="146179" y="1069250"/>
                  <a:pt x="161902" y="1078299"/>
                  <a:pt x="177281" y="1087911"/>
                </a:cubicBezTo>
                <a:cubicBezTo>
                  <a:pt x="186790" y="1093854"/>
                  <a:pt x="195243" y="1101557"/>
                  <a:pt x="205273" y="1106572"/>
                </a:cubicBezTo>
                <a:cubicBezTo>
                  <a:pt x="214070" y="1110970"/>
                  <a:pt x="223934" y="1112792"/>
                  <a:pt x="233265" y="1115902"/>
                </a:cubicBezTo>
                <a:cubicBezTo>
                  <a:pt x="227242" y="1139995"/>
                  <a:pt x="215597" y="1190625"/>
                  <a:pt x="205273" y="1209209"/>
                </a:cubicBezTo>
                <a:cubicBezTo>
                  <a:pt x="198865" y="1220744"/>
                  <a:pt x="186612" y="1227870"/>
                  <a:pt x="177281" y="1237200"/>
                </a:cubicBezTo>
                <a:cubicBezTo>
                  <a:pt x="174171" y="1246531"/>
                  <a:pt x="170653" y="1255735"/>
                  <a:pt x="167951" y="1265192"/>
                </a:cubicBezTo>
                <a:cubicBezTo>
                  <a:pt x="163965" y="1279144"/>
                  <a:pt x="156746" y="1315592"/>
                  <a:pt x="149289" y="1330507"/>
                </a:cubicBezTo>
                <a:cubicBezTo>
                  <a:pt x="144274" y="1340537"/>
                  <a:pt x="136848" y="1349168"/>
                  <a:pt x="130628" y="1358498"/>
                </a:cubicBezTo>
                <a:cubicBezTo>
                  <a:pt x="168186" y="1396058"/>
                  <a:pt x="126426" y="1360697"/>
                  <a:pt x="186612" y="1386490"/>
                </a:cubicBezTo>
                <a:cubicBezTo>
                  <a:pt x="196919" y="1390907"/>
                  <a:pt x="204574" y="1400136"/>
                  <a:pt x="214604" y="1405151"/>
                </a:cubicBezTo>
                <a:cubicBezTo>
                  <a:pt x="223401" y="1409550"/>
                  <a:pt x="233265" y="1411372"/>
                  <a:pt x="242596" y="1414482"/>
                </a:cubicBezTo>
                <a:cubicBezTo>
                  <a:pt x="236375" y="1433143"/>
                  <a:pt x="232731" y="1452872"/>
                  <a:pt x="223934" y="1470466"/>
                </a:cubicBezTo>
                <a:cubicBezTo>
                  <a:pt x="217714" y="1482907"/>
                  <a:pt x="210157" y="1494765"/>
                  <a:pt x="205273" y="1507788"/>
                </a:cubicBezTo>
                <a:cubicBezTo>
                  <a:pt x="200770" y="1519795"/>
                  <a:pt x="199997" y="1532945"/>
                  <a:pt x="195942" y="1545111"/>
                </a:cubicBezTo>
                <a:cubicBezTo>
                  <a:pt x="180724" y="1590764"/>
                  <a:pt x="181478" y="1585469"/>
                  <a:pt x="158620" y="1619755"/>
                </a:cubicBezTo>
                <a:cubicBezTo>
                  <a:pt x="155510" y="1635306"/>
                  <a:pt x="136602" y="1656893"/>
                  <a:pt x="149289" y="1666409"/>
                </a:cubicBezTo>
                <a:cubicBezTo>
                  <a:pt x="218228" y="1718114"/>
                  <a:pt x="267000" y="1630758"/>
                  <a:pt x="205273" y="1713062"/>
                </a:cubicBezTo>
                <a:cubicBezTo>
                  <a:pt x="202163" y="1722392"/>
                  <a:pt x="201002" y="1732619"/>
                  <a:pt x="195942" y="1741053"/>
                </a:cubicBezTo>
                <a:cubicBezTo>
                  <a:pt x="191416" y="1748596"/>
                  <a:pt x="182776" y="1752846"/>
                  <a:pt x="177281" y="1759715"/>
                </a:cubicBezTo>
                <a:cubicBezTo>
                  <a:pt x="170276" y="1768472"/>
                  <a:pt x="165799" y="1779092"/>
                  <a:pt x="158620" y="1787707"/>
                </a:cubicBezTo>
                <a:cubicBezTo>
                  <a:pt x="150173" y="1797844"/>
                  <a:pt x="138729" y="1805282"/>
                  <a:pt x="130628" y="1815698"/>
                </a:cubicBezTo>
                <a:cubicBezTo>
                  <a:pt x="116859" y="1833402"/>
                  <a:pt x="93306" y="1871682"/>
                  <a:pt x="93306" y="1871682"/>
                </a:cubicBezTo>
                <a:cubicBezTo>
                  <a:pt x="161515" y="1917154"/>
                  <a:pt x="75740" y="1861643"/>
                  <a:pt x="158620" y="1909004"/>
                </a:cubicBezTo>
                <a:cubicBezTo>
                  <a:pt x="168357" y="1914568"/>
                  <a:pt x="177281" y="1921445"/>
                  <a:pt x="186612" y="1927666"/>
                </a:cubicBezTo>
                <a:cubicBezTo>
                  <a:pt x="189722" y="1940107"/>
                  <a:pt x="195942" y="1952164"/>
                  <a:pt x="195942" y="1964988"/>
                </a:cubicBezTo>
                <a:cubicBezTo>
                  <a:pt x="195942" y="2067436"/>
                  <a:pt x="194191" y="2065302"/>
                  <a:pt x="177281" y="2132939"/>
                </a:cubicBezTo>
                <a:cubicBezTo>
                  <a:pt x="180391" y="2142270"/>
                  <a:pt x="179657" y="2153976"/>
                  <a:pt x="186612" y="2160931"/>
                </a:cubicBezTo>
                <a:cubicBezTo>
                  <a:pt x="196447" y="2170766"/>
                  <a:pt x="216778" y="2167665"/>
                  <a:pt x="223934" y="2179592"/>
                </a:cubicBezTo>
                <a:cubicBezTo>
                  <a:pt x="228994" y="2188026"/>
                  <a:pt x="219002" y="2198787"/>
                  <a:pt x="214604" y="2207584"/>
                </a:cubicBezTo>
                <a:cubicBezTo>
                  <a:pt x="195944" y="2244904"/>
                  <a:pt x="199051" y="2229358"/>
                  <a:pt x="167951" y="2254237"/>
                </a:cubicBezTo>
                <a:cubicBezTo>
                  <a:pt x="161082" y="2259732"/>
                  <a:pt x="155510" y="2266678"/>
                  <a:pt x="149289" y="2272898"/>
                </a:cubicBezTo>
                <a:cubicBezTo>
                  <a:pt x="158620" y="2282229"/>
                  <a:pt x="166302" y="2293570"/>
                  <a:pt x="177281" y="2300890"/>
                </a:cubicBezTo>
                <a:cubicBezTo>
                  <a:pt x="189579" y="2309089"/>
                  <a:pt x="245193" y="2318204"/>
                  <a:pt x="251926" y="2319551"/>
                </a:cubicBezTo>
                <a:cubicBezTo>
                  <a:pt x="233786" y="2333156"/>
                  <a:pt x="210768" y="2347671"/>
                  <a:pt x="195942" y="2366204"/>
                </a:cubicBezTo>
                <a:cubicBezTo>
                  <a:pt x="188937" y="2374961"/>
                  <a:pt x="183501" y="2384865"/>
                  <a:pt x="177281" y="2394196"/>
                </a:cubicBezTo>
                <a:cubicBezTo>
                  <a:pt x="155402" y="2459838"/>
                  <a:pt x="183877" y="2378807"/>
                  <a:pt x="149289" y="2459511"/>
                </a:cubicBezTo>
                <a:cubicBezTo>
                  <a:pt x="145415" y="2468551"/>
                  <a:pt x="146103" y="2479822"/>
                  <a:pt x="139959" y="2487502"/>
                </a:cubicBezTo>
                <a:cubicBezTo>
                  <a:pt x="126803" y="2503947"/>
                  <a:pt x="102417" y="2509347"/>
                  <a:pt x="83975" y="2515494"/>
                </a:cubicBezTo>
                <a:cubicBezTo>
                  <a:pt x="164196" y="2568974"/>
                  <a:pt x="62698" y="2504855"/>
                  <a:pt x="139959" y="2543486"/>
                </a:cubicBezTo>
                <a:cubicBezTo>
                  <a:pt x="163502" y="2555258"/>
                  <a:pt x="169254" y="2563450"/>
                  <a:pt x="186612" y="2580809"/>
                </a:cubicBezTo>
                <a:cubicBezTo>
                  <a:pt x="100899" y="2602236"/>
                  <a:pt x="189205" y="2571269"/>
                  <a:pt x="130628" y="2618131"/>
                </a:cubicBezTo>
                <a:cubicBezTo>
                  <a:pt x="122948" y="2624275"/>
                  <a:pt x="111433" y="2623063"/>
                  <a:pt x="102636" y="2627462"/>
                </a:cubicBezTo>
                <a:cubicBezTo>
                  <a:pt x="92606" y="2632477"/>
                  <a:pt x="83401" y="2639118"/>
                  <a:pt x="74645" y="2646123"/>
                </a:cubicBezTo>
                <a:cubicBezTo>
                  <a:pt x="67776" y="2651618"/>
                  <a:pt x="63526" y="2660258"/>
                  <a:pt x="55983" y="2664784"/>
                </a:cubicBezTo>
                <a:cubicBezTo>
                  <a:pt x="47549" y="2669844"/>
                  <a:pt x="37322" y="2671005"/>
                  <a:pt x="27991" y="2674115"/>
                </a:cubicBezTo>
                <a:cubicBezTo>
                  <a:pt x="18661" y="2683446"/>
                  <a:pt x="0" y="2688912"/>
                  <a:pt x="0" y="2702107"/>
                </a:cubicBezTo>
                <a:cubicBezTo>
                  <a:pt x="0" y="2711942"/>
                  <a:pt x="19452" y="2706558"/>
                  <a:pt x="27991" y="2711437"/>
                </a:cubicBezTo>
                <a:cubicBezTo>
                  <a:pt x="41493" y="2719153"/>
                  <a:pt x="52375" y="2730803"/>
                  <a:pt x="65314" y="2739429"/>
                </a:cubicBezTo>
                <a:cubicBezTo>
                  <a:pt x="80404" y="2749489"/>
                  <a:pt x="96588" y="2757809"/>
                  <a:pt x="111967" y="2767421"/>
                </a:cubicBezTo>
                <a:cubicBezTo>
                  <a:pt x="121476" y="2773364"/>
                  <a:pt x="129929" y="2781067"/>
                  <a:pt x="139959" y="2786082"/>
                </a:cubicBezTo>
                <a:cubicBezTo>
                  <a:pt x="153348" y="2792777"/>
                  <a:pt x="193310" y="2801752"/>
                  <a:pt x="205273" y="2804743"/>
                </a:cubicBezTo>
                <a:cubicBezTo>
                  <a:pt x="317240" y="2801633"/>
                  <a:pt x="429311" y="2801150"/>
                  <a:pt x="541175" y="2795413"/>
                </a:cubicBezTo>
                <a:cubicBezTo>
                  <a:pt x="550998" y="2794909"/>
                  <a:pt x="560213" y="2790152"/>
                  <a:pt x="569167" y="2786082"/>
                </a:cubicBezTo>
                <a:cubicBezTo>
                  <a:pt x="594492" y="2774571"/>
                  <a:pt x="643812" y="2748760"/>
                  <a:pt x="643812" y="2748760"/>
                </a:cubicBezTo>
                <a:cubicBezTo>
                  <a:pt x="687204" y="2683670"/>
                  <a:pt x="659580" y="2733829"/>
                  <a:pt x="681134" y="2590139"/>
                </a:cubicBezTo>
                <a:cubicBezTo>
                  <a:pt x="683822" y="2572221"/>
                  <a:pt x="691808" y="2518133"/>
                  <a:pt x="699796" y="2496833"/>
                </a:cubicBezTo>
                <a:cubicBezTo>
                  <a:pt x="704680" y="2483810"/>
                  <a:pt x="712237" y="2471952"/>
                  <a:pt x="718457" y="2459511"/>
                </a:cubicBezTo>
                <a:cubicBezTo>
                  <a:pt x="724871" y="2427437"/>
                  <a:pt x="728332" y="2406286"/>
                  <a:pt x="737118" y="2375535"/>
                </a:cubicBezTo>
                <a:cubicBezTo>
                  <a:pt x="761807" y="2289127"/>
                  <a:pt x="725663" y="2429094"/>
                  <a:pt x="765110" y="2300890"/>
                </a:cubicBezTo>
                <a:cubicBezTo>
                  <a:pt x="772652" y="2276377"/>
                  <a:pt x="777551" y="2251127"/>
                  <a:pt x="783771" y="2226245"/>
                </a:cubicBezTo>
                <a:cubicBezTo>
                  <a:pt x="786881" y="2213804"/>
                  <a:pt x="787367" y="2200393"/>
                  <a:pt x="793102" y="2188923"/>
                </a:cubicBezTo>
                <a:lnTo>
                  <a:pt x="811763" y="2151600"/>
                </a:lnTo>
                <a:cubicBezTo>
                  <a:pt x="823847" y="1402334"/>
                  <a:pt x="831267" y="1223688"/>
                  <a:pt x="811763" y="313470"/>
                </a:cubicBezTo>
                <a:cubicBezTo>
                  <a:pt x="810853" y="271016"/>
                  <a:pt x="792364" y="266325"/>
                  <a:pt x="765110" y="248155"/>
                </a:cubicBezTo>
                <a:cubicBezTo>
                  <a:pt x="762000" y="232604"/>
                  <a:pt x="763298" y="215465"/>
                  <a:pt x="755779" y="201502"/>
                </a:cubicBezTo>
                <a:cubicBezTo>
                  <a:pt x="741034" y="174118"/>
                  <a:pt x="699796" y="126858"/>
                  <a:pt x="699796" y="126858"/>
                </a:cubicBezTo>
                <a:cubicBezTo>
                  <a:pt x="690889" y="100137"/>
                  <a:pt x="691252" y="87320"/>
                  <a:pt x="662473" y="70874"/>
                </a:cubicBezTo>
                <a:cubicBezTo>
                  <a:pt x="651339" y="64512"/>
                  <a:pt x="637592" y="64653"/>
                  <a:pt x="625151" y="61543"/>
                </a:cubicBezTo>
                <a:cubicBezTo>
                  <a:pt x="615820" y="55323"/>
                  <a:pt x="607407" y="47436"/>
                  <a:pt x="597159" y="42882"/>
                </a:cubicBezTo>
                <a:cubicBezTo>
                  <a:pt x="548624" y="21311"/>
                  <a:pt x="528993" y="22481"/>
                  <a:pt x="475861" y="14890"/>
                </a:cubicBezTo>
                <a:cubicBezTo>
                  <a:pt x="426165" y="-1674"/>
                  <a:pt x="419639" y="-8004"/>
                  <a:pt x="345232" y="14890"/>
                </a:cubicBezTo>
                <a:cubicBezTo>
                  <a:pt x="334514" y="18188"/>
                  <a:pt x="342122" y="24220"/>
                  <a:pt x="326571" y="33551"/>
                </a:cubicBez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66" name="Google Shape;566;p3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 txBox="1"/>
          <p:nvPr/>
        </p:nvSpPr>
        <p:spPr>
          <a:xfrm>
            <a:off x="1144588" y="185738"/>
            <a:ext cx="18036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Resumen</a:t>
            </a:r>
            <a:endParaRPr/>
          </a:p>
        </p:txBody>
      </p:sp>
      <p:cxnSp>
        <p:nvCxnSpPr>
          <p:cNvPr id="568" name="Google Shape;568;p3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9" name="Google Shape;569;p3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70" name="Google Shape;570;p32"/>
          <p:cNvSpPr/>
          <p:nvPr/>
        </p:nvSpPr>
        <p:spPr>
          <a:xfrm>
            <a:off x="838200" y="1212850"/>
            <a:ext cx="78946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Hemos construido un componente principal que corresponde a la página web de administración de productos de la empresa ACME.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1" name="Google Shape;57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449816"/>
            <a:ext cx="2886793" cy="165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2986" y="4568556"/>
            <a:ext cx="1771798" cy="1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32"/>
          <p:cNvSpPr/>
          <p:nvPr/>
        </p:nvSpPr>
        <p:spPr>
          <a:xfrm>
            <a:off x="777662" y="2102136"/>
            <a:ext cx="181652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app.ts</a:t>
            </a:r>
            <a:endParaRPr i="1" sz="16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2"/>
          <p:cNvSpPr/>
          <p:nvPr/>
        </p:nvSpPr>
        <p:spPr>
          <a:xfrm>
            <a:off x="3874610" y="2111262"/>
            <a:ext cx="204414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app.html</a:t>
            </a:r>
            <a:endParaRPr i="1" sz="16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2"/>
          <p:cNvSpPr/>
          <p:nvPr/>
        </p:nvSpPr>
        <p:spPr>
          <a:xfrm>
            <a:off x="5948971" y="4230002"/>
            <a:ext cx="196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app.css</a:t>
            </a:r>
            <a:endParaRPr i="1" sz="16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6" name="Google Shape;57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60009" y="2492968"/>
            <a:ext cx="4723849" cy="13688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7" name="Google Shape;577;p32"/>
          <p:cNvCxnSpPr/>
          <p:nvPr/>
        </p:nvCxnSpPr>
        <p:spPr>
          <a:xfrm>
            <a:off x="4480201" y="3796194"/>
            <a:ext cx="183597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578" name="Google Shape;578;p32"/>
          <p:cNvSpPr/>
          <p:nvPr/>
        </p:nvSpPr>
        <p:spPr>
          <a:xfrm>
            <a:off x="1634448" y="2939408"/>
            <a:ext cx="734388" cy="20468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2"/>
          <p:cNvSpPr/>
          <p:nvPr/>
        </p:nvSpPr>
        <p:spPr>
          <a:xfrm>
            <a:off x="3724993" y="2505945"/>
            <a:ext cx="333214" cy="154801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2"/>
          <p:cNvSpPr/>
          <p:nvPr/>
        </p:nvSpPr>
        <p:spPr>
          <a:xfrm>
            <a:off x="2369975" y="3023118"/>
            <a:ext cx="1355018" cy="270857"/>
          </a:xfrm>
          <a:custGeom>
            <a:rect b="b" l="l" r="r" t="t"/>
            <a:pathLst>
              <a:path extrusionOk="0" h="251927" w="1259632">
                <a:moveTo>
                  <a:pt x="0" y="9331"/>
                </a:moveTo>
                <a:cubicBezTo>
                  <a:pt x="43543" y="12441"/>
                  <a:pt x="86974" y="18662"/>
                  <a:pt x="130628" y="18662"/>
                </a:cubicBezTo>
                <a:cubicBezTo>
                  <a:pt x="158792" y="18662"/>
                  <a:pt x="186555" y="11881"/>
                  <a:pt x="214604" y="9331"/>
                </a:cubicBezTo>
                <a:cubicBezTo>
                  <a:pt x="254990" y="5659"/>
                  <a:pt x="295469" y="3110"/>
                  <a:pt x="335902" y="0"/>
                </a:cubicBezTo>
                <a:lnTo>
                  <a:pt x="933061" y="9331"/>
                </a:lnTo>
                <a:cubicBezTo>
                  <a:pt x="945879" y="9708"/>
                  <a:pt x="957865" y="15880"/>
                  <a:pt x="970383" y="18662"/>
                </a:cubicBezTo>
                <a:cubicBezTo>
                  <a:pt x="985864" y="22102"/>
                  <a:pt x="1001485" y="24882"/>
                  <a:pt x="1017036" y="27992"/>
                </a:cubicBezTo>
                <a:cubicBezTo>
                  <a:pt x="1032587" y="37323"/>
                  <a:pt x="1048932" y="45443"/>
                  <a:pt x="1063689" y="55984"/>
                </a:cubicBezTo>
                <a:cubicBezTo>
                  <a:pt x="1070848" y="61097"/>
                  <a:pt x="1074483" y="70711"/>
                  <a:pt x="1082351" y="74645"/>
                </a:cubicBezTo>
                <a:cubicBezTo>
                  <a:pt x="1099945" y="83442"/>
                  <a:pt x="1138334" y="93306"/>
                  <a:pt x="1138334" y="93306"/>
                </a:cubicBezTo>
                <a:cubicBezTo>
                  <a:pt x="1150775" y="105747"/>
                  <a:pt x="1165898" y="115990"/>
                  <a:pt x="1175657" y="130629"/>
                </a:cubicBezTo>
                <a:lnTo>
                  <a:pt x="1212979" y="186613"/>
                </a:lnTo>
                <a:cubicBezTo>
                  <a:pt x="1216089" y="199054"/>
                  <a:pt x="1215197" y="213265"/>
                  <a:pt x="1222310" y="223935"/>
                </a:cubicBezTo>
                <a:cubicBezTo>
                  <a:pt x="1228531" y="233266"/>
                  <a:pt x="1241331" y="235868"/>
                  <a:pt x="1250302" y="242596"/>
                </a:cubicBezTo>
                <a:cubicBezTo>
                  <a:pt x="1253821" y="245235"/>
                  <a:pt x="1256522" y="248817"/>
                  <a:pt x="1259632" y="251927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1" name="Google Shape;581;p32" title="Captura de pantalla 2026-03-27 a la(s) 14.41.2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9425" y="4425574"/>
            <a:ext cx="4820628" cy="1652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86" name="Google Shape;586;g396875a10d5_0_27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g396875a10d5_0_27"/>
          <p:cNvSpPr txBox="1"/>
          <p:nvPr/>
        </p:nvSpPr>
        <p:spPr>
          <a:xfrm>
            <a:off x="1144638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Angular Moderno</a:t>
            </a:r>
            <a:endParaRPr/>
          </a:p>
        </p:txBody>
      </p:sp>
      <p:cxnSp>
        <p:nvCxnSpPr>
          <p:cNvPr id="588" name="Google Shape;588;g396875a10d5_0_2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9" name="Google Shape;589;g396875a10d5_0_2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90" name="Google Shape;590;g396875a10d5_0_27"/>
          <p:cNvSpPr txBox="1"/>
          <p:nvPr>
            <p:ph type="title"/>
          </p:nvPr>
        </p:nvSpPr>
        <p:spPr>
          <a:xfrm>
            <a:off x="628650" y="1845450"/>
            <a:ext cx="7886700" cy="3167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Un proyecto Angular Standalone no tiene m</a:t>
            </a:r>
            <a:r>
              <a:rPr lang="es-CL"/>
              <a:t>ódulo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Si no hay modulo ¿Quien arranca la APP? </a:t>
            </a:r>
            <a:endParaRPr/>
          </a:p>
        </p:txBody>
      </p:sp>
      <p:sp>
        <p:nvSpPr>
          <p:cNvPr id="591" name="Google Shape;591;g396875a10d5_0_27"/>
          <p:cNvSpPr txBox="1"/>
          <p:nvPr/>
        </p:nvSpPr>
        <p:spPr>
          <a:xfrm>
            <a:off x="3252150" y="5443225"/>
            <a:ext cx="26397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bootstrapApplication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96" name="Google Shape;596;g396a4a38134_0_6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g396a4a38134_0_66"/>
          <p:cNvSpPr txBox="1"/>
          <p:nvPr/>
        </p:nvSpPr>
        <p:spPr>
          <a:xfrm>
            <a:off x="1144638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Angular Moderno - </a:t>
            </a:r>
            <a:r>
              <a:rPr b="1" lang="es-CL" sz="2800">
                <a:solidFill>
                  <a:srgbClr val="0070C0"/>
                </a:solidFill>
              </a:rPr>
              <a:t>bootstrapApplication</a:t>
            </a:r>
            <a:endParaRPr/>
          </a:p>
        </p:txBody>
      </p:sp>
      <p:cxnSp>
        <p:nvCxnSpPr>
          <p:cNvPr id="598" name="Google Shape;598;g396a4a38134_0_6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9" name="Google Shape;599;g396a4a38134_0_6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600" name="Google Shape;600;g396a4a38134_0_66"/>
          <p:cNvSpPr/>
          <p:nvPr/>
        </p:nvSpPr>
        <p:spPr>
          <a:xfrm>
            <a:off x="838200" y="1212850"/>
            <a:ext cx="7894500" cy="21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Es la función moderna de Angular (introducida en v14+) utilizada para iniciar aplicaciones sin necesidad de un NgModule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Se encarga de inicializar la plataforma, configurar el motor de renderizado y lanzar el componente raíz (AppComponent) directamente.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Simplifica la configuración de la aplicación en el archivo main.ts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01" name="Google Shape;601;g396a4a38134_0_66" title="Captura de pantalla 2026-03-29 a la(s) 17.57.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7763" y="3880175"/>
            <a:ext cx="6748476" cy="175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2" name="Google Shape;602;g396a4a38134_0_66"/>
          <p:cNvSpPr/>
          <p:nvPr/>
        </p:nvSpPr>
        <p:spPr>
          <a:xfrm rot="10800000">
            <a:off x="1251460" y="4900542"/>
            <a:ext cx="367200" cy="159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607" name="Google Shape;607;g396a4a38134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96a4a38134_0_0"/>
          <p:cNvSpPr txBox="1"/>
          <p:nvPr/>
        </p:nvSpPr>
        <p:spPr>
          <a:xfrm>
            <a:off x="1144600" y="185750"/>
            <a:ext cx="777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Visualización de íconos </a:t>
            </a:r>
            <a:r>
              <a:rPr b="1" lang="es-CL" sz="2800">
                <a:solidFill>
                  <a:srgbClr val="0070C0"/>
                </a:solidFill>
              </a:rPr>
              <a:t>en Angular Moderno</a:t>
            </a:r>
            <a:endParaRPr/>
          </a:p>
        </p:txBody>
      </p:sp>
      <p:cxnSp>
        <p:nvCxnSpPr>
          <p:cNvPr id="609" name="Google Shape;609;g396a4a38134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0" name="Google Shape;610;g396a4a38134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611" name="Google Shape;611;g396a4a38134_0_0"/>
          <p:cNvSpPr/>
          <p:nvPr/>
        </p:nvSpPr>
        <p:spPr>
          <a:xfrm>
            <a:off x="624625" y="1118013"/>
            <a:ext cx="78948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Lamentablemente </a:t>
            </a: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ngx-bootstrap-icons </a:t>
            </a:r>
            <a:r>
              <a:rPr b="1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está diseñado para standalone moderno.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Char char="○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 módulos.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Char char="○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Provoca un acoplamiento fuerte con Angular.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Char char="○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Requiere aprovisionamiento global de iconos.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Char char="•"/>
            </a:pPr>
            <a:r>
              <a:rPr b="1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Alternativas</a:t>
            </a: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Char char="○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Simple: bootstrap-icons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Char char="○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Avanzada: @ng-icons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que vamos a usar es </a:t>
            </a:r>
            <a:r>
              <a:rPr b="1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bootstrap-icons</a:t>
            </a:r>
            <a:endParaRPr b="1"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Char char="○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utiliza módulos.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Char char="○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pesar de proveer una configuración global: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2" marL="13716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Char char="■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 separar el problema de la apariencia a nivel de css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2" marL="13716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Helvetica Neue"/>
              <a:buChar char="■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Nos genera un desacoplamiento de Angular en la lógica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616" name="Google Shape;616;g396a4a38134_0_1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g396a4a38134_0_10"/>
          <p:cNvSpPr txBox="1"/>
          <p:nvPr/>
        </p:nvSpPr>
        <p:spPr>
          <a:xfrm>
            <a:off x="1144602" y="185750"/>
            <a:ext cx="778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Visualización de íconos </a:t>
            </a:r>
            <a:r>
              <a:rPr b="1" lang="es-CL" sz="2800">
                <a:solidFill>
                  <a:srgbClr val="0070C0"/>
                </a:solidFill>
              </a:rPr>
              <a:t>en </a:t>
            </a:r>
            <a:r>
              <a:rPr b="1" lang="es-CL" sz="2800">
                <a:solidFill>
                  <a:srgbClr val="0070C0"/>
                </a:solidFill>
              </a:rPr>
              <a:t>Angular Moderno</a:t>
            </a:r>
            <a:endParaRPr/>
          </a:p>
        </p:txBody>
      </p:sp>
      <p:cxnSp>
        <p:nvCxnSpPr>
          <p:cNvPr id="618" name="Google Shape;618;g396a4a38134_0_1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9" name="Google Shape;619;g396a4a38134_0_1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620" name="Google Shape;620;g396a4a38134_0_10"/>
          <p:cNvSpPr/>
          <p:nvPr/>
        </p:nvSpPr>
        <p:spPr>
          <a:xfrm>
            <a:off x="624600" y="1281851"/>
            <a:ext cx="78948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Instalar la librería llamada bootstrap-icons.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1" name="Google Shape;621;g396a4a38134_0_10"/>
          <p:cNvSpPr/>
          <p:nvPr/>
        </p:nvSpPr>
        <p:spPr>
          <a:xfrm>
            <a:off x="2720847" y="1762500"/>
            <a:ext cx="370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npm install bootstrap-icons</a:t>
            </a:r>
            <a:endParaRPr sz="16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2" name="Google Shape;622;g396a4a38134_0_10" title="Captura de pantalla 2026-03-29 a la(s) 18.16.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250" y="2767950"/>
            <a:ext cx="7783501" cy="105848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627" name="Google Shape;627;g396a4a38134_1_9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g396a4a38134_1_9"/>
          <p:cNvSpPr txBox="1"/>
          <p:nvPr/>
        </p:nvSpPr>
        <p:spPr>
          <a:xfrm>
            <a:off x="1144613" y="185750"/>
            <a:ext cx="777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Visualización de íconos en Angular Moderno</a:t>
            </a:r>
            <a:endParaRPr/>
          </a:p>
        </p:txBody>
      </p:sp>
      <p:cxnSp>
        <p:nvCxnSpPr>
          <p:cNvPr id="629" name="Google Shape;629;g396a4a38134_1_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0" name="Google Shape;630;g396a4a38134_1_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631" name="Google Shape;631;g396a4a38134_1_9"/>
          <p:cNvSpPr/>
          <p:nvPr/>
        </p:nvSpPr>
        <p:spPr>
          <a:xfrm>
            <a:off x="2468473" y="1703650"/>
            <a:ext cx="4179000" cy="24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000"/>
              <a:buFont typeface="Consolas"/>
              <a:buNone/>
            </a:pPr>
            <a:r>
              <a:rPr lang="es-CL">
                <a:solidFill>
                  <a:srgbClr val="0070C0"/>
                </a:solidFill>
              </a:rPr>
              <a:t>@import</a:t>
            </a:r>
            <a:r>
              <a:rPr lang="es-CL"/>
              <a:t> </a:t>
            </a:r>
            <a:r>
              <a:rPr lang="es-CL">
                <a:solidFill>
                  <a:srgbClr val="BC4C00"/>
                </a:solidFill>
              </a:rPr>
              <a:t>'bootstrap-icons/font/bootstrap-icons.css';</a:t>
            </a:r>
            <a:endParaRPr>
              <a:solidFill>
                <a:srgbClr val="BC4C00"/>
              </a:solidFill>
            </a:endParaRPr>
          </a:p>
        </p:txBody>
      </p:sp>
      <p:sp>
        <p:nvSpPr>
          <p:cNvPr id="632" name="Google Shape;632;g396a4a38134_1_9"/>
          <p:cNvSpPr/>
          <p:nvPr/>
        </p:nvSpPr>
        <p:spPr>
          <a:xfrm rot="10800000">
            <a:off x="227035" y="1949942"/>
            <a:ext cx="367200" cy="159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96a4a38134_1_9"/>
          <p:cNvSpPr/>
          <p:nvPr/>
        </p:nvSpPr>
        <p:spPr>
          <a:xfrm>
            <a:off x="706437" y="1860391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styles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css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4" name="Google Shape;634;g396a4a38134_1_9" title="Captura de pantalla 2026-03-29 a la(s) 18.27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988" y="2199098"/>
            <a:ext cx="7410022" cy="324783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5" name="Google Shape;635;g396a4a38134_1_9"/>
          <p:cNvSpPr/>
          <p:nvPr/>
        </p:nvSpPr>
        <p:spPr>
          <a:xfrm>
            <a:off x="627063" y="1247037"/>
            <a:ext cx="78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</a:rPr>
              <a:t>Importar la librería en styles.css global del proyecto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640" name="Google Shape;640;g396a4a38134_0_31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396a4a38134_0_31"/>
          <p:cNvSpPr txBox="1"/>
          <p:nvPr/>
        </p:nvSpPr>
        <p:spPr>
          <a:xfrm>
            <a:off x="1144600" y="185750"/>
            <a:ext cx="78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Visualización de íconos en Angular Moderno</a:t>
            </a:r>
            <a:endParaRPr/>
          </a:p>
        </p:txBody>
      </p:sp>
      <p:cxnSp>
        <p:nvCxnSpPr>
          <p:cNvPr id="642" name="Google Shape;642;g396a4a38134_0_3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3" name="Google Shape;643;g396a4a38134_0_3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644" name="Google Shape;644;g396a4a38134_0_31"/>
          <p:cNvSpPr/>
          <p:nvPr/>
        </p:nvSpPr>
        <p:spPr>
          <a:xfrm>
            <a:off x="627063" y="1247037"/>
            <a:ext cx="78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componente no requiere configuración adicional</a:t>
            </a:r>
            <a:endParaRPr/>
          </a:p>
        </p:txBody>
      </p:sp>
      <p:sp>
        <p:nvSpPr>
          <p:cNvPr id="645" name="Google Shape;645;g396a4a38134_0_31"/>
          <p:cNvSpPr/>
          <p:nvPr/>
        </p:nvSpPr>
        <p:spPr>
          <a:xfrm>
            <a:off x="1463262" y="1830116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app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ts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g396a4a38134_0_31" title="Captura de pantalla 2026-03-29 a la(s) 18.17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250" y="2168816"/>
            <a:ext cx="6217496" cy="351024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651" name="Google Shape;651;g396a4a38134_0_42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g396a4a38134_0_42"/>
          <p:cNvSpPr txBox="1"/>
          <p:nvPr/>
        </p:nvSpPr>
        <p:spPr>
          <a:xfrm>
            <a:off x="1144601" y="185750"/>
            <a:ext cx="785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Visualización de íconos en Angular Moderno</a:t>
            </a:r>
            <a:endParaRPr/>
          </a:p>
        </p:txBody>
      </p:sp>
      <p:cxnSp>
        <p:nvCxnSpPr>
          <p:cNvPr id="653" name="Google Shape;653;g396a4a38134_0_4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4" name="Google Shape;654;g396a4a38134_0_4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655" name="Google Shape;655;g396a4a38134_0_42"/>
          <p:cNvSpPr/>
          <p:nvPr/>
        </p:nvSpPr>
        <p:spPr>
          <a:xfrm>
            <a:off x="627063" y="1247037"/>
            <a:ext cx="535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Buscar el ícono que deseamos utilizar:</a:t>
            </a:r>
            <a:endParaRPr/>
          </a:p>
        </p:txBody>
      </p:sp>
      <p:sp>
        <p:nvSpPr>
          <p:cNvPr id="656" name="Google Shape;656;g396a4a38134_0_42"/>
          <p:cNvSpPr txBox="1"/>
          <p:nvPr/>
        </p:nvSpPr>
        <p:spPr>
          <a:xfrm>
            <a:off x="2856300" y="1832788"/>
            <a:ext cx="343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/>
              <a:t>https://icons.getbootstrap.com/</a:t>
            </a:r>
            <a:endParaRPr/>
          </a:p>
        </p:txBody>
      </p:sp>
      <p:pic>
        <p:nvPicPr>
          <p:cNvPr id="657" name="Google Shape;657;g396a4a38134_0_42" title="Captura de pantalla 2026-03-29 a la(s) 18.19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425" y="2418562"/>
            <a:ext cx="7557156" cy="185238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8" name="Google Shape;658;g396a4a38134_0_42"/>
          <p:cNvSpPr txBox="1"/>
          <p:nvPr/>
        </p:nvSpPr>
        <p:spPr>
          <a:xfrm>
            <a:off x="793420" y="4586204"/>
            <a:ext cx="3763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Copiar el tag que define el ícono para su representación. Pegar en nuestro código html para su visualización. </a:t>
            </a:r>
            <a:endParaRPr i="1" sz="1800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96a4a38134_0_42"/>
          <p:cNvSpPr txBox="1"/>
          <p:nvPr/>
        </p:nvSpPr>
        <p:spPr>
          <a:xfrm>
            <a:off x="5375200" y="4957900"/>
            <a:ext cx="29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5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CL" sz="1550">
                <a:solidFill>
                  <a:srgbClr val="BC4C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155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55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CL" sz="155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CL" sz="1550">
                <a:solidFill>
                  <a:srgbClr val="183691"/>
                </a:solidFill>
                <a:latin typeface="Consolas"/>
                <a:ea typeface="Consolas"/>
                <a:cs typeface="Consolas"/>
                <a:sym typeface="Consolas"/>
              </a:rPr>
              <a:t>"bi bi-eye"</a:t>
            </a:r>
            <a:r>
              <a:rPr lang="es-CL" sz="155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s-CL" sz="1550">
                <a:solidFill>
                  <a:srgbClr val="BC4C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155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664" name="Google Shape;664;g396a4a38134_0_5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g396a4a38134_0_54"/>
          <p:cNvSpPr txBox="1"/>
          <p:nvPr/>
        </p:nvSpPr>
        <p:spPr>
          <a:xfrm>
            <a:off x="1144601" y="185750"/>
            <a:ext cx="77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Visualización de íconos en Angular Moderno</a:t>
            </a:r>
            <a:endParaRPr/>
          </a:p>
        </p:txBody>
      </p:sp>
      <p:cxnSp>
        <p:nvCxnSpPr>
          <p:cNvPr id="666" name="Google Shape;666;g396a4a38134_0_5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7" name="Google Shape;667;g396a4a38134_0_5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668" name="Google Shape;668;g396a4a38134_0_54"/>
          <p:cNvSpPr/>
          <p:nvPr/>
        </p:nvSpPr>
        <p:spPr>
          <a:xfrm>
            <a:off x="627063" y="1247037"/>
            <a:ext cx="74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Agregar el código del ícono en nuestro template:</a:t>
            </a:r>
            <a:endParaRPr/>
          </a:p>
        </p:txBody>
      </p:sp>
      <p:sp>
        <p:nvSpPr>
          <p:cNvPr id="669" name="Google Shape;669;g396a4a38134_0_54"/>
          <p:cNvSpPr/>
          <p:nvPr/>
        </p:nvSpPr>
        <p:spPr>
          <a:xfrm>
            <a:off x="1224587" y="1815691"/>
            <a:ext cx="181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app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CL" sz="1600">
                <a:solidFill>
                  <a:srgbClr val="0033CC"/>
                </a:solidFill>
                <a:highlight>
                  <a:srgbClr val="FFFF00"/>
                </a:highlight>
              </a:rPr>
              <a:t>html</a:t>
            </a:r>
            <a:endParaRPr sz="16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0" name="Google Shape;670;g396a4a38134_0_54" title="Captura de pantalla 2026-03-29 a la(s) 18.22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4575" y="2154391"/>
            <a:ext cx="7028038" cy="4080035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671" name="Google Shape;671;g396a4a38134_0_54"/>
          <p:cNvSpPr/>
          <p:nvPr/>
        </p:nvSpPr>
        <p:spPr>
          <a:xfrm rot="10800000">
            <a:off x="2610360" y="4917992"/>
            <a:ext cx="367200" cy="159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676" name="Google Shape;676;g396a4a38134_0_8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g396a4a38134_0_84"/>
          <p:cNvSpPr txBox="1"/>
          <p:nvPr/>
        </p:nvSpPr>
        <p:spPr>
          <a:xfrm>
            <a:off x="1144601" y="185750"/>
            <a:ext cx="775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Visualización de íconos en Angular Moderno</a:t>
            </a:r>
            <a:endParaRPr/>
          </a:p>
        </p:txBody>
      </p:sp>
      <p:cxnSp>
        <p:nvCxnSpPr>
          <p:cNvPr id="678" name="Google Shape;678;g396a4a38134_0_8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9" name="Google Shape;679;g396a4a38134_0_8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680" name="Google Shape;680;g396a4a38134_0_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599" y="2000949"/>
            <a:ext cx="8048791" cy="396118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1" name="Google Shape;681;g396a4a38134_0_84"/>
          <p:cNvSpPr/>
          <p:nvPr/>
        </p:nvSpPr>
        <p:spPr>
          <a:xfrm>
            <a:off x="3795903" y="1537213"/>
            <a:ext cx="155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 serve -o</a:t>
            </a:r>
            <a:endParaRPr sz="16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2" name="Google Shape;682;g396a4a38134_0_84"/>
          <p:cNvSpPr/>
          <p:nvPr/>
        </p:nvSpPr>
        <p:spPr>
          <a:xfrm>
            <a:off x="627063" y="1247037"/>
            <a:ext cx="743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Lanzar el proyecto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