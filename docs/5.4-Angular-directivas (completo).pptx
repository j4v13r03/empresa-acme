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9144000"/>
  <p:notesSz cx="7086600" cy="8686800"/>
  <p:embeddedFontLst>
    <p:embeddedFont>
      <p:font typeface="Arimo"/>
      <p:regular r:id="rId34"/>
      <p:bold r:id="rId35"/>
      <p:italic r:id="rId36"/>
      <p:boldItalic r:id="rId37"/>
    </p:embeddedFont>
    <p:embeddedFont>
      <p:font typeface="Content"/>
      <p:regular r:id="rId38"/>
      <p:bold r:id="rId39"/>
    </p:embeddedFont>
    <p:embeddedFont>
      <p:font typeface="Helvetica Neue"/>
      <p:regular r:id="rId40"/>
      <p:bold r:id="rId41"/>
      <p:italic r:id="rId42"/>
      <p:boldItalic r:id="rId43"/>
    </p:embeddedFont>
    <p:embeddedFont>
      <p:font typeface="Arial Black"/>
      <p:regular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5" roundtripDataSignature="AMtx7miylUUhi5aLo/fKbKvptjJP6521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regular.fntdata"/><Relationship Id="rId20" Type="http://schemas.openxmlformats.org/officeDocument/2006/relationships/slide" Target="slides/slide15.xml"/><Relationship Id="rId42" Type="http://schemas.openxmlformats.org/officeDocument/2006/relationships/font" Target="fonts/HelveticaNeue-italic.fntdata"/><Relationship Id="rId41" Type="http://schemas.openxmlformats.org/officeDocument/2006/relationships/font" Target="fonts/HelveticaNeue-bold.fntdata"/><Relationship Id="rId22" Type="http://schemas.openxmlformats.org/officeDocument/2006/relationships/slide" Target="slides/slide17.xml"/><Relationship Id="rId44" Type="http://schemas.openxmlformats.org/officeDocument/2006/relationships/font" Target="fonts/ArialBlack-regular.fntdata"/><Relationship Id="rId21" Type="http://schemas.openxmlformats.org/officeDocument/2006/relationships/slide" Target="slides/slide16.xml"/><Relationship Id="rId43" Type="http://schemas.openxmlformats.org/officeDocument/2006/relationships/font" Target="fonts/HelveticaNeue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Arimo-bold.fntdata"/><Relationship Id="rId12" Type="http://schemas.openxmlformats.org/officeDocument/2006/relationships/slide" Target="slides/slide7.xml"/><Relationship Id="rId34" Type="http://schemas.openxmlformats.org/officeDocument/2006/relationships/font" Target="fonts/Arimo-regular.fntdata"/><Relationship Id="rId15" Type="http://schemas.openxmlformats.org/officeDocument/2006/relationships/slide" Target="slides/slide10.xml"/><Relationship Id="rId37" Type="http://schemas.openxmlformats.org/officeDocument/2006/relationships/font" Target="fonts/Arimo-boldItalic.fntdata"/><Relationship Id="rId14" Type="http://schemas.openxmlformats.org/officeDocument/2006/relationships/slide" Target="slides/slide9.xml"/><Relationship Id="rId36" Type="http://schemas.openxmlformats.org/officeDocument/2006/relationships/font" Target="fonts/Arimo-italic.fntdata"/><Relationship Id="rId17" Type="http://schemas.openxmlformats.org/officeDocument/2006/relationships/slide" Target="slides/slide12.xml"/><Relationship Id="rId39" Type="http://schemas.openxmlformats.org/officeDocument/2006/relationships/font" Target="fonts/Content-bold.fntdata"/><Relationship Id="rId16" Type="http://schemas.openxmlformats.org/officeDocument/2006/relationships/slide" Target="slides/slide11.xml"/><Relationship Id="rId38" Type="http://schemas.openxmlformats.org/officeDocument/2006/relationships/font" Target="fonts/Content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1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494" y="1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6a4d9ba4e_0_5:notes"/>
          <p:cNvSpPr txBox="1"/>
          <p:nvPr>
            <p:ph idx="1" type="body"/>
          </p:nvPr>
        </p:nvSpPr>
        <p:spPr>
          <a:xfrm>
            <a:off x="709302" y="4180226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96a4d9ba4e_0_5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69d1732bc_0_0:notes"/>
          <p:cNvSpPr txBox="1"/>
          <p:nvPr>
            <p:ph idx="1" type="body"/>
          </p:nvPr>
        </p:nvSpPr>
        <p:spPr>
          <a:xfrm>
            <a:off x="709302" y="4180226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969d1732bc_0_0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69d1732bc_0_26:notes"/>
          <p:cNvSpPr txBox="1"/>
          <p:nvPr>
            <p:ph idx="1" type="body"/>
          </p:nvPr>
        </p:nvSpPr>
        <p:spPr>
          <a:xfrm>
            <a:off x="709302" y="4180226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969d1732bc_0_26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5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6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7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8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9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9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0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0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1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2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96a4d9ba4e_0_82:notes"/>
          <p:cNvSpPr txBox="1"/>
          <p:nvPr>
            <p:ph idx="1" type="body"/>
          </p:nvPr>
        </p:nvSpPr>
        <p:spPr>
          <a:xfrm>
            <a:off x="709302" y="4180226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396a4d9ba4e_0_82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96a4d9ba4e_0_109:notes"/>
          <p:cNvSpPr txBox="1"/>
          <p:nvPr>
            <p:ph idx="1" type="body"/>
          </p:nvPr>
        </p:nvSpPr>
        <p:spPr>
          <a:xfrm>
            <a:off x="709302" y="4180226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g396a4d9ba4e_0_109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96a4d9ba4e_0_135:notes"/>
          <p:cNvSpPr txBox="1"/>
          <p:nvPr>
            <p:ph idx="1" type="body"/>
          </p:nvPr>
        </p:nvSpPr>
        <p:spPr>
          <a:xfrm>
            <a:off x="709302" y="4180226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96a4d9ba4e_0_135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7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8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8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9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9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30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30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32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3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3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jpg"/><Relationship Id="rId5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hyperlink" Target="https://pixabay.com/es/images/search/" TargetMode="External"/><Relationship Id="rId5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Relationship Id="rId4" Type="http://schemas.openxmlformats.org/officeDocument/2006/relationships/image" Target="../media/image1.png"/><Relationship Id="rId5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9.png"/><Relationship Id="rId4" Type="http://schemas.openxmlformats.org/officeDocument/2006/relationships/image" Target="../media/image1.png"/><Relationship Id="rId5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42.png"/><Relationship Id="rId5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8.png"/><Relationship Id="rId4" Type="http://schemas.openxmlformats.org/officeDocument/2006/relationships/image" Target="../media/image1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1.png"/><Relationship Id="rId4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ANGULAR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52800" y="3090863"/>
            <a:ext cx="50784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Directivas</a:t>
            </a:r>
            <a:endParaRPr b="1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429000" y="3688958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6232" r="5907" t="0"/>
          <a:stretch/>
        </p:blipFill>
        <p:spPr>
          <a:xfrm>
            <a:off x="762000" y="2206625"/>
            <a:ext cx="2386013" cy="25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7945074" y="1859571"/>
            <a:ext cx="813043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/>
          </a:p>
        </p:txBody>
      </p:sp>
      <p:pic>
        <p:nvPicPr>
          <p:cNvPr descr="Logotipo&#10;&#10;Descripción generada automáticamente con confianza media"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363" y="287338"/>
            <a:ext cx="2027237" cy="11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1144588" y="185738"/>
            <a:ext cx="44807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son las Directivas?</a:t>
            </a:r>
            <a:endParaRPr/>
          </a:p>
        </p:txBody>
      </p:sp>
      <p:cxnSp>
        <p:nvCxnSpPr>
          <p:cNvPr id="104" name="Google Shape;104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838199" y="1212850"/>
            <a:ext cx="7956531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instrucciones para manipular </a:t>
            </a:r>
            <a:r>
              <a:rPr lang="es-CL" sz="1800">
                <a:solidFill>
                  <a:schemeClr val="dk1"/>
                </a:solidFill>
              </a:rPr>
              <a:t>como se muestra y comporta el HTML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 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Permiten comportamiento dinámico.</a:t>
            </a:r>
            <a:endParaRPr sz="1800">
              <a:solidFill>
                <a:schemeClr val="dk1"/>
              </a:solidFill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componentes son un tipo</a:t>
            </a:r>
            <a:r>
              <a:rPr b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directiva.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Podemos crear las propias (personalizar), o usar las de Angular (built-in).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Existen 3 tipos:</a:t>
            </a:r>
            <a:endParaRPr sz="18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777662" y="4619708"/>
            <a:ext cx="152997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Directivas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7019959" y="4209699"/>
            <a:ext cx="1774771" cy="601578"/>
          </a:xfrm>
          <a:prstGeom prst="wedgeRectCallout">
            <a:avLst>
              <a:gd fmla="val -82750" name="adj1"/>
              <a:gd fmla="val 30122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permiten usar lógica dentro del html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3124061" y="5366571"/>
            <a:ext cx="938782" cy="93878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3129477" y="4359446"/>
            <a:ext cx="938782" cy="93878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3124061" y="3352321"/>
            <a:ext cx="938782" cy="93878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3062862" y="5721012"/>
            <a:ext cx="108074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Personalizado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3184119" y="4714179"/>
            <a:ext cx="85792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Estructural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3249272" y="3689680"/>
            <a:ext cx="67037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Atributo</a:t>
            </a:r>
            <a:endParaRPr/>
          </a:p>
        </p:txBody>
      </p:sp>
      <p:cxnSp>
        <p:nvCxnSpPr>
          <p:cNvPr id="115" name="Google Shape;115;p2"/>
          <p:cNvCxnSpPr>
            <a:stCxn id="107" idx="3"/>
            <a:endCxn id="111" idx="2"/>
          </p:cNvCxnSpPr>
          <p:nvPr/>
        </p:nvCxnSpPr>
        <p:spPr>
          <a:xfrm flipH="1" rot="10800000">
            <a:off x="2307637" y="3821841"/>
            <a:ext cx="816300" cy="1028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" name="Google Shape;116;p2"/>
          <p:cNvCxnSpPr>
            <a:stCxn id="107" idx="3"/>
            <a:endCxn id="110" idx="2"/>
          </p:cNvCxnSpPr>
          <p:nvPr/>
        </p:nvCxnSpPr>
        <p:spPr>
          <a:xfrm flipH="1" rot="10800000">
            <a:off x="2307637" y="4828941"/>
            <a:ext cx="821700" cy="21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" name="Google Shape;117;p2"/>
          <p:cNvCxnSpPr>
            <a:stCxn id="107" idx="3"/>
            <a:endCxn id="112" idx="1"/>
          </p:cNvCxnSpPr>
          <p:nvPr/>
        </p:nvCxnSpPr>
        <p:spPr>
          <a:xfrm>
            <a:off x="2307637" y="4850541"/>
            <a:ext cx="755100" cy="1001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2"/>
          <p:cNvSpPr txBox="1"/>
          <p:nvPr/>
        </p:nvSpPr>
        <p:spPr>
          <a:xfrm>
            <a:off x="4136630" y="3527163"/>
            <a:ext cx="135966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ngClass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ngStyle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4136630" y="4427452"/>
            <a:ext cx="287931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*ngIf - @if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*ngFor - @for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*ngSwitch - @switch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4139536" y="5582319"/>
            <a:ext cx="16129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Dropdown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Highliter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25" name="Google Shape;125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 txBox="1"/>
          <p:nvPr/>
        </p:nvSpPr>
        <p:spPr>
          <a:xfrm>
            <a:off x="1144588" y="185738"/>
            <a:ext cx="48413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Directivas - Personalizadas</a:t>
            </a:r>
            <a:endParaRPr/>
          </a:p>
        </p:txBody>
      </p:sp>
      <p:cxnSp>
        <p:nvCxnSpPr>
          <p:cNvPr id="127" name="Google Shape;127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838860" y="1287035"/>
            <a:ext cx="78939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Ya hemos </a:t>
            </a:r>
            <a:r>
              <a:rPr lang="es-CL" sz="1800">
                <a:solidFill>
                  <a:schemeClr val="dk1"/>
                </a:solidFill>
              </a:rPr>
              <a:t>visto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800">
                <a:solidFill>
                  <a:schemeClr val="dk1"/>
                </a:solidFill>
              </a:rPr>
              <a:t>algunas (en la clase de componentes)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471667" y="1947369"/>
            <a:ext cx="250051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6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app.ts</a:t>
            </a:r>
            <a:endParaRPr i="1" sz="16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509268" y="2342487"/>
            <a:ext cx="3328200" cy="1939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s-CL" sz="1200">
                <a:solidFill>
                  <a:srgbClr val="009999"/>
                </a:solidFill>
                <a:latin typeface="Consolas"/>
                <a:ea typeface="Consolas"/>
                <a:cs typeface="Consolas"/>
                <a:sym typeface="Consolas"/>
              </a:rPr>
              <a:t>Component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selector: </a:t>
            </a:r>
            <a:r>
              <a:rPr lang="es-CL" sz="1200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’</a:t>
            </a:r>
            <a:r>
              <a:rPr lang="es-CL" sz="12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app-root</a:t>
            </a:r>
            <a:r>
              <a:rPr lang="es-CL" sz="1200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’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template: </a:t>
            </a:r>
            <a:r>
              <a:rPr lang="es-CL" sz="1200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´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    &lt;div&gt;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      &lt;h1&gt;{{title}}&lt;/h1&gt;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s-CL" sz="12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&lt;product-list&gt;&lt;/product-list&gt;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    &lt;/div&gt;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CL" sz="1200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´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export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2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200">
                <a:solidFill>
                  <a:srgbClr val="009999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 }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4672386" y="1947369"/>
            <a:ext cx="250051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6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product-list.ts</a:t>
            </a:r>
            <a:endParaRPr i="1" sz="16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4672386" y="2340340"/>
            <a:ext cx="3977371" cy="1015663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s-CL" sz="1200">
                <a:solidFill>
                  <a:srgbClr val="009999"/>
                </a:solidFill>
                <a:latin typeface="Consolas"/>
                <a:ea typeface="Consolas"/>
                <a:cs typeface="Consolas"/>
                <a:sym typeface="Consolas"/>
              </a:rPr>
              <a:t>Component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selector: </a:t>
            </a:r>
            <a:r>
              <a:rPr lang="es-CL" sz="1200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’</a:t>
            </a:r>
            <a:r>
              <a:rPr b="1" lang="es-CL" sz="12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product-list</a:t>
            </a:r>
            <a:r>
              <a:rPr lang="es-CL" sz="1200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’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templateURL: </a:t>
            </a:r>
            <a:r>
              <a:rPr lang="es-CL" sz="1200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’</a:t>
            </a:r>
            <a:r>
              <a:rPr lang="es-CL" sz="12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./product-list.html</a:t>
            </a:r>
            <a:r>
              <a:rPr lang="es-CL" sz="1200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’</a:t>
            </a:r>
            <a:endParaRPr sz="120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export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2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200">
                <a:solidFill>
                  <a:srgbClr val="009999"/>
                </a:solidFill>
                <a:latin typeface="Consolas"/>
                <a:ea typeface="Consolas"/>
                <a:cs typeface="Consolas"/>
                <a:sym typeface="Consolas"/>
              </a:rPr>
              <a:t>ProductList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 }</a:t>
            </a:r>
            <a:endParaRPr/>
          </a:p>
        </p:txBody>
      </p:sp>
      <p:cxnSp>
        <p:nvCxnSpPr>
          <p:cNvPr id="134" name="Google Shape;134;p3"/>
          <p:cNvCxnSpPr/>
          <p:nvPr/>
        </p:nvCxnSpPr>
        <p:spPr>
          <a:xfrm flipH="1">
            <a:off x="3776399" y="2694612"/>
            <a:ext cx="1101600" cy="734400"/>
          </a:xfrm>
          <a:prstGeom prst="bentConnector3">
            <a:avLst>
              <a:gd fmla="val 49999" name="adj1"/>
            </a:avLst>
          </a:prstGeom>
          <a:noFill/>
          <a:ln cap="flat" cmpd="sng" w="9525">
            <a:solidFill>
              <a:srgbClr val="D2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 txBox="1"/>
          <p:nvPr/>
        </p:nvSpPr>
        <p:spPr>
          <a:xfrm>
            <a:off x="1144609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Directivas Estructurales (</a:t>
            </a:r>
            <a:r>
              <a:rPr b="1" lang="es-CL" sz="2800">
                <a:solidFill>
                  <a:srgbClr val="0070C0"/>
                </a:solidFill>
              </a:rPr>
              <a:t>más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visible)</a:t>
            </a:r>
            <a:endParaRPr/>
          </a:p>
        </p:txBody>
      </p:sp>
      <p:cxnSp>
        <p:nvCxnSpPr>
          <p:cNvPr id="141" name="Google Shape;141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" name="Google Shape;142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838200" y="1212850"/>
            <a:ext cx="7894800" cy="20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Corresponden a elementos en el HTML que permiten añadir, manipular o eliminar elementos del DOM.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Para Angular tradicional, las directivas están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antecedidas por un </a:t>
            </a:r>
            <a:r>
              <a:rPr i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asterisco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(*) seguido del nombre de la directiva.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Para </a:t>
            </a:r>
            <a:r>
              <a:rPr lang="es-CL" sz="1800">
                <a:solidFill>
                  <a:schemeClr val="dk1"/>
                </a:solidFill>
              </a:rPr>
              <a:t>Angular moderno, las directivas están antecedidas por un </a:t>
            </a:r>
            <a:r>
              <a:rPr i="1" lang="es-CL" sz="1800">
                <a:solidFill>
                  <a:schemeClr val="dk1"/>
                </a:solidFill>
              </a:rPr>
              <a:t>arroba</a:t>
            </a:r>
            <a:r>
              <a:rPr lang="es-CL" sz="1800">
                <a:solidFill>
                  <a:schemeClr val="dk1"/>
                </a:solidFill>
              </a:rPr>
              <a:t> (@) seguido del nombre de la directiva.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1206475" y="3318373"/>
            <a:ext cx="7526400" cy="15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*ngIf / @if: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Permite mostrar/ocultar elementos del DOM.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s-CL" sz="1800">
                <a:solidFill>
                  <a:schemeClr val="dk1"/>
                </a:solidFill>
              </a:rPr>
              <a:t>*ngFor / @for:</a:t>
            </a:r>
            <a:r>
              <a:rPr lang="es-CL" sz="1800">
                <a:solidFill>
                  <a:schemeClr val="dk1"/>
                </a:solidFill>
              </a:rPr>
              <a:t> Permite ejecutar bucles sobre elementos del DOM.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s-CL" sz="1800">
                <a:solidFill>
                  <a:schemeClr val="dk1"/>
                </a:solidFill>
              </a:rPr>
              <a:t>*ngSwitchCase / @switch:</a:t>
            </a:r>
            <a:r>
              <a:rPr lang="es-CL" sz="1800">
                <a:solidFill>
                  <a:schemeClr val="dk1"/>
                </a:solidFill>
              </a:rPr>
              <a:t> Permite ejecutar casos condicionales sobre elementos del DOM.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1027125" y="5189376"/>
            <a:ext cx="2819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Para utilizar </a:t>
            </a:r>
            <a:r>
              <a:rPr lang="es-CL" sz="1600">
                <a:solidFill>
                  <a:srgbClr val="0033CC"/>
                </a:solidFill>
              </a:rPr>
              <a:t>las</a:t>
            </a:r>
            <a:r>
              <a:rPr lang="es-CL" sz="16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directivas en modo tradicional, </a:t>
            </a:r>
            <a:r>
              <a:rPr lang="es-CL" sz="1600">
                <a:solidFill>
                  <a:srgbClr val="0033CC"/>
                </a:solidFill>
              </a:rPr>
              <a:t>es necesario</a:t>
            </a:r>
            <a:r>
              <a:rPr lang="es-CL" sz="16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600">
                <a:solidFill>
                  <a:srgbClr val="0033CC"/>
                </a:solidFill>
              </a:rPr>
              <a:t>importarlas en el componente.</a:t>
            </a:r>
            <a:endParaRPr sz="1600">
              <a:solidFill>
                <a:srgbClr val="0033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4108525" y="5189376"/>
            <a:ext cx="4302900" cy="1015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200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NgIf, NgFor </a:t>
            </a:r>
            <a:r>
              <a:rPr lang="es-CL" sz="1200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200">
                <a:solidFill>
                  <a:srgbClr val="B45F06"/>
                </a:solidFill>
                <a:latin typeface="Consolas"/>
                <a:ea typeface="Consolas"/>
                <a:cs typeface="Consolas"/>
                <a:sym typeface="Consolas"/>
              </a:rPr>
              <a:t>'@angular/common'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s-CL" sz="1200">
                <a:solidFill>
                  <a:srgbClr val="009999"/>
                </a:solidFill>
                <a:latin typeface="Consolas"/>
                <a:ea typeface="Consolas"/>
                <a:cs typeface="Consolas"/>
                <a:sym typeface="Consolas"/>
              </a:rPr>
              <a:t>Component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selector: </a:t>
            </a:r>
            <a:r>
              <a:rPr lang="es-CL" sz="1200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’</a:t>
            </a:r>
            <a:r>
              <a:rPr lang="es-CL" sz="12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s-CL" sz="12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-root</a:t>
            </a:r>
            <a:r>
              <a:rPr lang="es-CL" sz="1200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’</a:t>
            </a: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imports: </a:t>
            </a:r>
            <a:r>
              <a:rPr lang="es-CL" sz="1200">
                <a:solidFill>
                  <a:srgbClr val="0070C0"/>
                </a:solidFill>
                <a:latin typeface="Comic Sans MS"/>
                <a:ea typeface="Comic Sans MS"/>
                <a:cs typeface="Comic Sans MS"/>
                <a:sym typeface="Comic Sans MS"/>
              </a:rPr>
              <a:t>[</a:t>
            </a:r>
            <a:r>
              <a:rPr lang="es-CL" sz="1200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s-CL" sz="1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NgIf, NgFor</a:t>
            </a:r>
            <a:r>
              <a:rPr lang="es-CL" sz="1200">
                <a:solidFill>
                  <a:srgbClr val="0070C0"/>
                </a:solidFill>
                <a:latin typeface="Comic Sans MS"/>
                <a:ea typeface="Comic Sans MS"/>
                <a:cs typeface="Comic Sans MS"/>
                <a:sym typeface="Comic Sans MS"/>
              </a:rPr>
              <a:t>]</a:t>
            </a:r>
            <a:r>
              <a:rPr lang="es-CL" sz="1200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120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51" name="Google Shape;151;p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 txBox="1"/>
          <p:nvPr/>
        </p:nvSpPr>
        <p:spPr>
          <a:xfrm>
            <a:off x="1144600" y="185750"/>
            <a:ext cx="7588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5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Directivas Estructurales: </a:t>
            </a:r>
            <a:r>
              <a:rPr b="1" lang="es-CL" sz="25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*ngIf </a:t>
            </a:r>
            <a:r>
              <a:rPr b="1" lang="es-CL" sz="2500">
                <a:solidFill>
                  <a:srgbClr val="0070C0"/>
                </a:solidFill>
              </a:rPr>
              <a:t>(Tradicional)</a:t>
            </a:r>
            <a:endParaRPr b="1" sz="250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53" name="Google Shape;153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4" name="Google Shape;154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838200" y="1212850"/>
            <a:ext cx="78946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 directiva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toma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una expresión booleana y hace que toda la porción del DOM aparezca o desaparezca dada su condición.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https://cdn-images-1.medium.com/max/2000/1*SahqKuoFBajeZLD1N79-bg.jpeg" id="156" name="Google Shape;156;p5"/>
          <p:cNvPicPr preferRelativeResize="0"/>
          <p:nvPr/>
        </p:nvPicPr>
        <p:blipFill rotWithShape="1">
          <a:blip r:embed="rId4">
            <a:alphaModFix/>
          </a:blip>
          <a:srcRect b="32316" l="8508" r="7831" t="32316"/>
          <a:stretch/>
        </p:blipFill>
        <p:spPr>
          <a:xfrm>
            <a:off x="1389652" y="2672726"/>
            <a:ext cx="6548955" cy="6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/>
          <p:nvPr/>
        </p:nvSpPr>
        <p:spPr>
          <a:xfrm>
            <a:off x="816493" y="5167649"/>
            <a:ext cx="8223034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&lt;div *ngIf=</a:t>
            </a:r>
            <a:r>
              <a:rPr lang="es-CL" sz="14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"false"</a:t>
            </a:r>
            <a:r>
              <a:rPr lang="es-CL" sz="14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&gt;&lt;/div&gt;</a:t>
            </a:r>
            <a:r>
              <a:rPr lang="es-CL" sz="1400">
                <a:solidFill>
                  <a:srgbClr val="BD260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es-CL" sz="1400">
                <a:solidFill>
                  <a:srgbClr val="999988"/>
                </a:solidFill>
                <a:latin typeface="Consolas"/>
                <a:ea typeface="Consolas"/>
                <a:cs typeface="Consolas"/>
                <a:sym typeface="Consolas"/>
              </a:rPr>
              <a:t>&lt;!-- este div nunca se mostrará --&gt;</a:t>
            </a:r>
            <a:r>
              <a:rPr lang="es-CL" sz="1400">
                <a:solidFill>
                  <a:srgbClr val="BD260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&lt;div *ngIf=</a:t>
            </a:r>
            <a:r>
              <a:rPr lang="es-CL" sz="14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"a &gt; b"</a:t>
            </a:r>
            <a:r>
              <a:rPr lang="es-CL" sz="14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&gt;&lt;/div&gt;</a:t>
            </a:r>
            <a:r>
              <a:rPr lang="es-CL" sz="1400">
                <a:solidFill>
                  <a:srgbClr val="BD260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es-CL" sz="1400">
                <a:solidFill>
                  <a:srgbClr val="999988"/>
                </a:solidFill>
                <a:latin typeface="Consolas"/>
                <a:ea typeface="Consolas"/>
                <a:cs typeface="Consolas"/>
                <a:sym typeface="Consolas"/>
              </a:rPr>
              <a:t>&lt;!-- este div se mostrará sólo si a es mayor que b --&gt;</a:t>
            </a:r>
            <a:r>
              <a:rPr lang="es-CL" sz="1400">
                <a:solidFill>
                  <a:srgbClr val="BD260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&lt;div *ngIf=</a:t>
            </a:r>
            <a:r>
              <a:rPr lang="es-CL" sz="14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"str == 'si'"</a:t>
            </a:r>
            <a:r>
              <a:rPr lang="es-CL" sz="14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&gt;&lt;/div&gt;</a:t>
            </a:r>
            <a:r>
              <a:rPr lang="es-CL" sz="1400">
                <a:solidFill>
                  <a:srgbClr val="BD260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es-CL" sz="1400">
                <a:solidFill>
                  <a:srgbClr val="999988"/>
                </a:solidFill>
                <a:latin typeface="Consolas"/>
                <a:ea typeface="Consolas"/>
                <a:cs typeface="Consolas"/>
                <a:sym typeface="Consolas"/>
              </a:rPr>
              <a:t>&lt;!-- se mostrará si str es la cadena "si" --&gt;</a:t>
            </a:r>
            <a:r>
              <a:rPr lang="es-CL" sz="1400">
                <a:solidFill>
                  <a:srgbClr val="BD260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&lt;div *ngIf=</a:t>
            </a:r>
            <a:r>
              <a:rPr lang="es-CL" sz="1400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"myFunc()"</a:t>
            </a:r>
            <a:r>
              <a:rPr lang="es-CL" sz="14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&gt;&lt;/div&gt;</a:t>
            </a:r>
            <a:r>
              <a:rPr lang="es-CL" sz="1400">
                <a:solidFill>
                  <a:srgbClr val="BD260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es-CL" sz="1400">
                <a:solidFill>
                  <a:srgbClr val="999988"/>
                </a:solidFill>
                <a:latin typeface="Consolas"/>
                <a:ea typeface="Consolas"/>
                <a:cs typeface="Consolas"/>
                <a:sym typeface="Consolas"/>
              </a:rPr>
              <a:t>&lt;!-- se mostrará si myFunc devuelve true --&gt;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838200" y="4672586"/>
            <a:ext cx="15918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Ejemplos: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325029" y="2034474"/>
            <a:ext cx="4224905" cy="628700"/>
          </a:xfrm>
          <a:prstGeom prst="wedgeRectCallout">
            <a:avLst>
              <a:gd fmla="val -67092" name="adj1"/>
              <a:gd fmla="val 46297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posible utilizar operadores lógicos para evaluar la condición booleana, tales como &amp;&amp; y ||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5" title="Captura de pantalla 2026-03-29 a la(s) 21.28.3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9650" y="3484223"/>
            <a:ext cx="4774346" cy="8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/>
          <p:cNvSpPr/>
          <p:nvPr/>
        </p:nvSpPr>
        <p:spPr>
          <a:xfrm>
            <a:off x="5101670" y="3527585"/>
            <a:ext cx="1562840" cy="628700"/>
          </a:xfrm>
          <a:prstGeom prst="wedgeRectCallout">
            <a:avLst>
              <a:gd fmla="val -91181" name="adj1"/>
              <a:gd fmla="val 25087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Mostrará el párrafo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66" name="Google Shape;166;g396a4d9ba4e_0_5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96a4d9ba4e_0_5"/>
          <p:cNvSpPr txBox="1"/>
          <p:nvPr/>
        </p:nvSpPr>
        <p:spPr>
          <a:xfrm>
            <a:off x="1144600" y="185750"/>
            <a:ext cx="7588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5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Directivas Estructurales: </a:t>
            </a:r>
            <a:r>
              <a:rPr b="1" lang="es-CL" sz="25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@i</a:t>
            </a:r>
            <a:r>
              <a:rPr b="1" lang="es-CL" sz="25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f </a:t>
            </a:r>
            <a:r>
              <a:rPr b="1" lang="es-CL" sz="2500">
                <a:solidFill>
                  <a:srgbClr val="0070C0"/>
                </a:solidFill>
              </a:rPr>
              <a:t>(Moderno)</a:t>
            </a:r>
            <a:endParaRPr b="1" sz="250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8" name="Google Shape;168;g396a4d9ba4e_0_5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9" name="Google Shape;169;g396a4d9ba4e_0_5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70" name="Google Shape;170;g396a4d9ba4e_0_5"/>
          <p:cNvSpPr/>
          <p:nvPr/>
        </p:nvSpPr>
        <p:spPr>
          <a:xfrm>
            <a:off x="838200" y="1212850"/>
            <a:ext cx="7894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 directiva toma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una expresión booleana y hace que toda la porción del DOM aparezca o desaparezca dada su condición.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g396a4d9ba4e_0_5"/>
          <p:cNvSpPr/>
          <p:nvPr/>
        </p:nvSpPr>
        <p:spPr>
          <a:xfrm>
            <a:off x="816493" y="5167649"/>
            <a:ext cx="82230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@if (</a:t>
            </a:r>
            <a:r>
              <a:rPr lang="es-CL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s-CL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){ &lt;div&gt;&lt;/div&gt; } </a:t>
            </a:r>
            <a:r>
              <a:rPr i="1" lang="es-CL">
                <a:solidFill>
                  <a:srgbClr val="999988"/>
                </a:solidFill>
                <a:latin typeface="Consolas"/>
                <a:ea typeface="Consolas"/>
                <a:cs typeface="Consolas"/>
                <a:sym typeface="Consolas"/>
              </a:rPr>
              <a:t>&lt;!-- esta expresión nunca mostrará el div--&gt;</a:t>
            </a:r>
            <a:r>
              <a:rPr lang="es-CL">
                <a:solidFill>
                  <a:srgbClr val="BD260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@if (</a:t>
            </a:r>
            <a:r>
              <a:rPr lang="es-CL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a &gt; b</a:t>
            </a:r>
            <a:r>
              <a:rPr lang="es-CL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){ &lt;div&gt;&lt;/div&gt; }</a:t>
            </a:r>
            <a:r>
              <a:rPr lang="es-CL">
                <a:solidFill>
                  <a:srgbClr val="BD260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es-CL">
                <a:solidFill>
                  <a:srgbClr val="999988"/>
                </a:solidFill>
                <a:latin typeface="Consolas"/>
                <a:ea typeface="Consolas"/>
                <a:cs typeface="Consolas"/>
                <a:sym typeface="Consolas"/>
              </a:rPr>
              <a:t>&lt;!-- se mostrará el div sólo si a es mayor que b --&gt;</a:t>
            </a:r>
            <a:r>
              <a:rPr lang="es-CL">
                <a:solidFill>
                  <a:srgbClr val="BD260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@if (</a:t>
            </a:r>
            <a:r>
              <a:rPr lang="es-CL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str == 'si'</a:t>
            </a:r>
            <a:r>
              <a:rPr lang="es-CL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){ &lt;div&gt;&lt;/div&gt; } </a:t>
            </a:r>
            <a:r>
              <a:rPr i="1" lang="es-CL">
                <a:solidFill>
                  <a:srgbClr val="999988"/>
                </a:solidFill>
                <a:latin typeface="Consolas"/>
                <a:ea typeface="Consolas"/>
                <a:cs typeface="Consolas"/>
                <a:sym typeface="Consolas"/>
              </a:rPr>
              <a:t>&lt;!-- se mostrará si str es la cadena "si" --&gt;</a:t>
            </a:r>
            <a:r>
              <a:rPr lang="es-CL">
                <a:solidFill>
                  <a:srgbClr val="BD260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@if (</a:t>
            </a:r>
            <a:r>
              <a:rPr lang="es-CL">
                <a:solidFill>
                  <a:srgbClr val="DD1144"/>
                </a:solidFill>
                <a:latin typeface="Consolas"/>
                <a:ea typeface="Consolas"/>
                <a:cs typeface="Consolas"/>
                <a:sym typeface="Consolas"/>
              </a:rPr>
              <a:t>myFunc()</a:t>
            </a:r>
            <a:r>
              <a:rPr lang="es-CL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){ &lt;div&gt;&lt;/div&gt; } </a:t>
            </a:r>
            <a:r>
              <a:rPr i="1" lang="es-CL">
                <a:solidFill>
                  <a:srgbClr val="999988"/>
                </a:solidFill>
                <a:latin typeface="Consolas"/>
                <a:ea typeface="Consolas"/>
                <a:cs typeface="Consolas"/>
                <a:sym typeface="Consolas"/>
              </a:rPr>
              <a:t>&lt;!-- se mostrará si myFunc devuelve true --&gt;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96a4d9ba4e_0_5"/>
          <p:cNvSpPr/>
          <p:nvPr/>
        </p:nvSpPr>
        <p:spPr>
          <a:xfrm>
            <a:off x="838200" y="4672586"/>
            <a:ext cx="159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Ejemplos: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3" name="Google Shape;173;g396a4d9ba4e_0_5" title="Captura de pantalla 2026-03-29 a la(s) 21.28.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9650" y="3528900"/>
            <a:ext cx="4774346" cy="862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4" name="Google Shape;174;g396a4d9ba4e_0_5"/>
          <p:cNvSpPr/>
          <p:nvPr/>
        </p:nvSpPr>
        <p:spPr>
          <a:xfrm>
            <a:off x="5101670" y="3572263"/>
            <a:ext cx="1562700" cy="628800"/>
          </a:xfrm>
          <a:prstGeom prst="wedgeRectCallout">
            <a:avLst>
              <a:gd fmla="val -91181" name="adj1"/>
              <a:gd fmla="val 25087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Mostrará el párrafo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g396a4d9ba4e_0_5" title="Captura de pantalla 2026-03-29 a la(s) 21.34.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9650" y="2273613"/>
            <a:ext cx="2539450" cy="115539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https://cdn-images-1.medium.com/max/2000/1*SahqKuoFBajeZLD1N79-bg.jpeg" id="176" name="Google Shape;176;g396a4d9ba4e_0_5"/>
          <p:cNvPicPr preferRelativeResize="0"/>
          <p:nvPr/>
        </p:nvPicPr>
        <p:blipFill rotWithShape="1">
          <a:blip r:embed="rId6">
            <a:alphaModFix/>
          </a:blip>
          <a:srcRect b="34984" l="26193" r="53844" t="32315"/>
          <a:stretch/>
        </p:blipFill>
        <p:spPr>
          <a:xfrm>
            <a:off x="2218775" y="2298650"/>
            <a:ext cx="992785" cy="36929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96a4d9ba4e_0_5"/>
          <p:cNvSpPr/>
          <p:nvPr/>
        </p:nvSpPr>
        <p:spPr>
          <a:xfrm>
            <a:off x="4287779" y="1857137"/>
            <a:ext cx="4224900" cy="628800"/>
          </a:xfrm>
          <a:prstGeom prst="wedgeRectCallout">
            <a:avLst>
              <a:gd fmla="val -74116" name="adj1"/>
              <a:gd fmla="val 52547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posible utilizar operadores lógicos para evaluar la condición booleana, tales como &amp;&amp; y ||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 txBox="1"/>
          <p:nvPr/>
        </p:nvSpPr>
        <p:spPr>
          <a:xfrm>
            <a:off x="1144600" y="185750"/>
            <a:ext cx="7588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5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Directivas Estructurales: </a:t>
            </a:r>
            <a:r>
              <a:rPr b="1" lang="es-CL" sz="25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*ngFor </a:t>
            </a:r>
            <a:r>
              <a:rPr b="1" lang="es-CL" sz="2500">
                <a:solidFill>
                  <a:srgbClr val="0070C0"/>
                </a:solidFill>
              </a:rPr>
              <a:t>(Tradicional)</a:t>
            </a:r>
            <a:endParaRPr b="1" sz="250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84" name="Google Shape;184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5" name="Google Shape;185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838200" y="1212850"/>
            <a:ext cx="7894638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generar iteraciones de elementos HTML. 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Posee partes </a:t>
            </a:r>
            <a:r>
              <a:rPr i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obligatorias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y </a:t>
            </a:r>
            <a:r>
              <a:rPr i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opcionales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https://cdn-images-1.medium.com/max/1750/1*UtSriZ3DmzpUBw0DGoYiVQ.jpeg" id="187" name="Google Shape;187;p6"/>
          <p:cNvPicPr preferRelativeResize="0"/>
          <p:nvPr/>
        </p:nvPicPr>
        <p:blipFill rotWithShape="1">
          <a:blip r:embed="rId4">
            <a:alphaModFix/>
          </a:blip>
          <a:srcRect b="11705" l="7343" r="7347" t="19906"/>
          <a:stretch/>
        </p:blipFill>
        <p:spPr>
          <a:xfrm>
            <a:off x="1144588" y="2205020"/>
            <a:ext cx="6609759" cy="265309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"/>
          <p:cNvSpPr/>
          <p:nvPr/>
        </p:nvSpPr>
        <p:spPr>
          <a:xfrm>
            <a:off x="725663" y="4973187"/>
            <a:ext cx="42792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Las partes obligatorias:</a:t>
            </a:r>
            <a:endParaRPr b="1" sz="6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Declaración de la variable que contiene el valor de la iteración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Utilización de la palabra </a:t>
            </a:r>
            <a:r>
              <a:rPr lang="es-CL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 a iterar.</a:t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1323798" y="2312643"/>
            <a:ext cx="4900500" cy="3693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 miArray = [</a:t>
            </a:r>
            <a:r>
              <a:rPr lang="es-CL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‘</a:t>
            </a: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uno</a:t>
            </a:r>
            <a:r>
              <a:rPr lang="es-CL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’</a:t>
            </a: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CL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‘</a:t>
            </a: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dos</a:t>
            </a:r>
            <a:r>
              <a:rPr lang="es-CL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’</a:t>
            </a: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CL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‘</a:t>
            </a: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tres</a:t>
            </a:r>
            <a:r>
              <a:rPr lang="es-CL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’</a:t>
            </a: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5153823" y="4969796"/>
            <a:ext cx="32646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Las partes opcionales:</a:t>
            </a:r>
            <a:endParaRPr b="1" sz="6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 de la iteración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Imprimir la variable que contiene el valor de la iteración con data binding.</a:t>
            </a:r>
            <a:endParaRPr/>
          </a:p>
        </p:txBody>
      </p:sp>
      <p:cxnSp>
        <p:nvCxnSpPr>
          <p:cNvPr id="191" name="Google Shape;191;p6"/>
          <p:cNvCxnSpPr/>
          <p:nvPr/>
        </p:nvCxnSpPr>
        <p:spPr>
          <a:xfrm>
            <a:off x="5004938" y="5088823"/>
            <a:ext cx="0" cy="120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96" name="Google Shape;196;g3969d1732bc_0_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969d1732bc_0_0"/>
          <p:cNvSpPr txBox="1"/>
          <p:nvPr/>
        </p:nvSpPr>
        <p:spPr>
          <a:xfrm>
            <a:off x="1144600" y="185750"/>
            <a:ext cx="7588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5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Directivas Estructurales: </a:t>
            </a:r>
            <a:r>
              <a:rPr b="1" lang="es-CL" sz="25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@f</a:t>
            </a:r>
            <a:r>
              <a:rPr b="1" lang="es-CL" sz="25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or </a:t>
            </a:r>
            <a:r>
              <a:rPr b="1" lang="es-CL" sz="2500">
                <a:solidFill>
                  <a:srgbClr val="0070C0"/>
                </a:solidFill>
              </a:rPr>
              <a:t>(Moderno)</a:t>
            </a:r>
            <a:endParaRPr b="1" sz="250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98" name="Google Shape;198;g3969d1732bc_0_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9" name="Google Shape;199;g3969d1732bc_0_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00" name="Google Shape;200;g3969d1732bc_0_0"/>
          <p:cNvSpPr/>
          <p:nvPr/>
        </p:nvSpPr>
        <p:spPr>
          <a:xfrm>
            <a:off x="838200" y="1212850"/>
            <a:ext cx="78945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generar iteraciones de elementos HTML. 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Posee partes </a:t>
            </a:r>
            <a:r>
              <a:rPr i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obligatorias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y </a:t>
            </a:r>
            <a:r>
              <a:rPr i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opcionales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" name="Google Shape;201;g3969d1732bc_0_0"/>
          <p:cNvSpPr/>
          <p:nvPr/>
        </p:nvSpPr>
        <p:spPr>
          <a:xfrm>
            <a:off x="725625" y="4899462"/>
            <a:ext cx="42792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Las partes obligatorias:</a:t>
            </a:r>
            <a:endParaRPr b="1" sz="6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Declaración de la variable que contiene el valor de la iteración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Utilización de la palabra </a:t>
            </a:r>
            <a:r>
              <a:rPr lang="es-CL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 a iterar.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s-CL" sz="1600">
                <a:solidFill>
                  <a:schemeClr val="dk1"/>
                </a:solidFill>
              </a:rPr>
              <a:t>Utilización de la palabra track.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02" name="Google Shape;202;g3969d1732bc_0_0"/>
          <p:cNvSpPr txBox="1"/>
          <p:nvPr/>
        </p:nvSpPr>
        <p:spPr>
          <a:xfrm>
            <a:off x="1206498" y="2312668"/>
            <a:ext cx="4900500" cy="3693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 miArray = [</a:t>
            </a:r>
            <a:r>
              <a:rPr lang="es-CL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‘</a:t>
            </a: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uno</a:t>
            </a:r>
            <a:r>
              <a:rPr lang="es-CL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’</a:t>
            </a: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CL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‘</a:t>
            </a: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dos</a:t>
            </a:r>
            <a:r>
              <a:rPr lang="es-CL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’</a:t>
            </a: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CL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‘</a:t>
            </a: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tres</a:t>
            </a:r>
            <a:r>
              <a:rPr lang="es-CL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’</a:t>
            </a: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/>
          </a:p>
        </p:txBody>
      </p:sp>
      <p:sp>
        <p:nvSpPr>
          <p:cNvPr id="203" name="Google Shape;203;g3969d1732bc_0_0"/>
          <p:cNvSpPr/>
          <p:nvPr/>
        </p:nvSpPr>
        <p:spPr>
          <a:xfrm>
            <a:off x="5153775" y="4896089"/>
            <a:ext cx="32646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Las partes opcionales:</a:t>
            </a:r>
            <a:endParaRPr b="1" sz="6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Índice de la iteración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Imprimir la variable que contiene el valor de la iteración con data binding.</a:t>
            </a:r>
            <a:endParaRPr/>
          </a:p>
        </p:txBody>
      </p:sp>
      <p:cxnSp>
        <p:nvCxnSpPr>
          <p:cNvPr id="204" name="Google Shape;204;g3969d1732bc_0_0"/>
          <p:cNvCxnSpPr/>
          <p:nvPr/>
        </p:nvCxnSpPr>
        <p:spPr>
          <a:xfrm>
            <a:off x="5004813" y="5079698"/>
            <a:ext cx="0" cy="120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05" name="Google Shape;205;g3969d1732bc_0_0" title="Captura de pantalla 2026-03-29 a la(s) 21.54.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6500" y="3203841"/>
            <a:ext cx="5770850" cy="1236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969d1732bc_0_0"/>
          <p:cNvSpPr txBox="1"/>
          <p:nvPr/>
        </p:nvSpPr>
        <p:spPr>
          <a:xfrm>
            <a:off x="1779650" y="2747675"/>
            <a:ext cx="1236000" cy="56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Declaración de variable que contiene el valor de la iteración</a:t>
            </a:r>
            <a:endParaRPr sz="9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969d1732bc_0_0"/>
          <p:cNvSpPr/>
          <p:nvPr/>
        </p:nvSpPr>
        <p:spPr>
          <a:xfrm>
            <a:off x="2300900" y="3313575"/>
            <a:ext cx="193500" cy="156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969d1732bc_0_0"/>
          <p:cNvSpPr/>
          <p:nvPr/>
        </p:nvSpPr>
        <p:spPr>
          <a:xfrm>
            <a:off x="3317075" y="3313575"/>
            <a:ext cx="193500" cy="156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969d1732bc_0_0"/>
          <p:cNvSpPr txBox="1"/>
          <p:nvPr/>
        </p:nvSpPr>
        <p:spPr>
          <a:xfrm>
            <a:off x="3108575" y="2944175"/>
            <a:ext cx="934800" cy="36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rPr>
              <a:t>Variable a Iterar</a:t>
            </a:r>
            <a:endParaRPr sz="900">
              <a:solidFill>
                <a:srgbClr val="E691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969d1732bc_0_0"/>
          <p:cNvSpPr txBox="1"/>
          <p:nvPr/>
        </p:nvSpPr>
        <p:spPr>
          <a:xfrm>
            <a:off x="5455275" y="2868175"/>
            <a:ext cx="975300" cy="41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Índice</a:t>
            </a:r>
            <a:r>
              <a:rPr lang="es-CL" sz="9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 de la Interacción</a:t>
            </a:r>
            <a:endParaRPr sz="90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969d1732bc_0_0"/>
          <p:cNvSpPr/>
          <p:nvPr/>
        </p:nvSpPr>
        <p:spPr>
          <a:xfrm>
            <a:off x="5846175" y="3283675"/>
            <a:ext cx="193500" cy="156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969d1732bc_0_0"/>
          <p:cNvSpPr txBox="1"/>
          <p:nvPr/>
        </p:nvSpPr>
        <p:spPr>
          <a:xfrm>
            <a:off x="3317075" y="4135800"/>
            <a:ext cx="934800" cy="41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Valor de la Interacción</a:t>
            </a:r>
            <a:endParaRPr sz="9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969d1732bc_0_0"/>
          <p:cNvSpPr/>
          <p:nvPr/>
        </p:nvSpPr>
        <p:spPr>
          <a:xfrm rot="10800000">
            <a:off x="3645550" y="3979500"/>
            <a:ext cx="193500" cy="156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969d1732bc_0_0"/>
          <p:cNvSpPr txBox="1"/>
          <p:nvPr/>
        </p:nvSpPr>
        <p:spPr>
          <a:xfrm>
            <a:off x="4137958" y="2681975"/>
            <a:ext cx="1236000" cy="65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A64D79"/>
                </a:solidFill>
                <a:latin typeface="Calibri"/>
                <a:ea typeface="Calibri"/>
                <a:cs typeface="Calibri"/>
                <a:sym typeface="Calibri"/>
              </a:rPr>
              <a:t>Identifica elemento de firma única necesario para rendimiento</a:t>
            </a:r>
            <a:endParaRPr sz="900">
              <a:solidFill>
                <a:srgbClr val="A64D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969d1732bc_0_0"/>
          <p:cNvSpPr/>
          <p:nvPr/>
        </p:nvSpPr>
        <p:spPr>
          <a:xfrm>
            <a:off x="4742775" y="3335923"/>
            <a:ext cx="193500" cy="156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20" name="Google Shape;220;p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7"/>
          <p:cNvSpPr txBox="1"/>
          <p:nvPr/>
        </p:nvSpPr>
        <p:spPr>
          <a:xfrm>
            <a:off x="1144600" y="185750"/>
            <a:ext cx="7850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5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Directivas Estructurales: </a:t>
            </a:r>
            <a:r>
              <a:rPr b="1" lang="es-CL" sz="25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*ngSwitch </a:t>
            </a:r>
            <a:r>
              <a:rPr b="1" lang="es-CL" sz="2500">
                <a:solidFill>
                  <a:srgbClr val="0070C0"/>
                </a:solidFill>
              </a:rPr>
              <a:t>(Tradicional)</a:t>
            </a:r>
            <a:endParaRPr b="1" sz="250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22" name="Google Shape;222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3" name="Google Shape;223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627063" y="1164637"/>
            <a:ext cx="8105775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Corresponde a una serie de directivas que cooperan entre si para generar un resultado. </a:t>
            </a:r>
            <a:endParaRPr/>
          </a:p>
          <a:p>
            <a:pPr indent="-2222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Estas directivas son ngSwitch, ngSwitchCase y ngSwitchDefault. </a:t>
            </a:r>
            <a:endParaRPr/>
          </a:p>
          <a:p>
            <a:pPr indent="-2222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directiva </a:t>
            </a:r>
            <a:r>
              <a:rPr b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ngSwitch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es una directiva de atributo (para evaluar</a:t>
            </a:r>
            <a:r>
              <a:rPr lang="es-CL" sz="1800">
                <a:solidFill>
                  <a:schemeClr val="dk1"/>
                </a:solidFill>
              </a:rPr>
              <a:t>)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mientras</a:t>
            </a:r>
            <a:r>
              <a:rPr lang="es-CL" sz="1800">
                <a:solidFill>
                  <a:schemeClr val="dk1"/>
                </a:solidFill>
              </a:rPr>
              <a:t>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 las directivas </a:t>
            </a:r>
            <a:r>
              <a:rPr b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ngS</a:t>
            </a:r>
            <a:r>
              <a:rPr b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witchC</a:t>
            </a:r>
            <a:r>
              <a:rPr b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y </a:t>
            </a:r>
            <a:r>
              <a:rPr b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ngSwitchDefault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corresponden a directivas estructurales (para mostrar casos). </a:t>
            </a:r>
            <a:endParaRPr/>
          </a:p>
        </p:txBody>
      </p:sp>
      <p:pic>
        <p:nvPicPr>
          <p:cNvPr descr="https://cdn-images-1.medium.com/max/2000/1*4QG7wR6Rxq_Vowf3ImEe9g.jpeg" id="225" name="Google Shape;225;p7"/>
          <p:cNvPicPr preferRelativeResize="0"/>
          <p:nvPr/>
        </p:nvPicPr>
        <p:blipFill rotWithShape="1">
          <a:blip r:embed="rId4">
            <a:alphaModFix/>
          </a:blip>
          <a:srcRect b="9723" l="5828" r="5526" t="7805"/>
          <a:stretch/>
        </p:blipFill>
        <p:spPr>
          <a:xfrm>
            <a:off x="627063" y="3226740"/>
            <a:ext cx="8105775" cy="26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30" name="Google Shape;230;g3969d1732bc_0_26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969d1732bc_0_26"/>
          <p:cNvSpPr txBox="1"/>
          <p:nvPr/>
        </p:nvSpPr>
        <p:spPr>
          <a:xfrm>
            <a:off x="1144600" y="185750"/>
            <a:ext cx="7850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5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Directivas Estructurales: </a:t>
            </a:r>
            <a:r>
              <a:rPr b="1" lang="es-CL" sz="25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@s</a:t>
            </a:r>
            <a:r>
              <a:rPr b="1" lang="es-CL" sz="25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witch </a:t>
            </a:r>
            <a:r>
              <a:rPr b="1" lang="es-CL" sz="2500">
                <a:solidFill>
                  <a:srgbClr val="0070C0"/>
                </a:solidFill>
              </a:rPr>
              <a:t>(Moderno)</a:t>
            </a:r>
            <a:endParaRPr b="1" sz="250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32" name="Google Shape;232;g3969d1732bc_0_26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3" name="Google Shape;233;g3969d1732bc_0_26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34" name="Google Shape;234;g3969d1732bc_0_26"/>
          <p:cNvSpPr/>
          <p:nvPr/>
        </p:nvSpPr>
        <p:spPr>
          <a:xfrm>
            <a:off x="627063" y="1164637"/>
            <a:ext cx="8105700" cy="20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Corresponde a una serie de directivas que cooperan entre si para generar un resultado. </a:t>
            </a:r>
            <a:endParaRPr/>
          </a:p>
          <a:p>
            <a:pPr indent="-2222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Estas directivas son </a:t>
            </a:r>
            <a:r>
              <a:rPr lang="es-CL" sz="1800">
                <a:solidFill>
                  <a:schemeClr val="dk1"/>
                </a:solidFill>
              </a:rPr>
              <a:t>@s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witch, </a:t>
            </a:r>
            <a:r>
              <a:rPr lang="es-CL" sz="1800">
                <a:solidFill>
                  <a:schemeClr val="dk1"/>
                </a:solidFill>
              </a:rPr>
              <a:t>@c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ase y </a:t>
            </a:r>
            <a:r>
              <a:rPr lang="es-CL" sz="1800">
                <a:solidFill>
                  <a:schemeClr val="dk1"/>
                </a:solidFill>
              </a:rPr>
              <a:t>@d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efault. </a:t>
            </a:r>
            <a:endParaRPr/>
          </a:p>
          <a:p>
            <a:pPr indent="-2222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directiva </a:t>
            </a:r>
            <a:r>
              <a:rPr b="1" lang="es-CL" sz="1800">
                <a:solidFill>
                  <a:schemeClr val="dk1"/>
                </a:solidFill>
              </a:rPr>
              <a:t>@s</a:t>
            </a:r>
            <a:r>
              <a:rPr b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witch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es una directiva de atributo (para evaluar), mientras que las directivas </a:t>
            </a:r>
            <a:r>
              <a:rPr b="1" lang="es-CL" sz="1800">
                <a:solidFill>
                  <a:schemeClr val="dk1"/>
                </a:solidFill>
              </a:rPr>
              <a:t>@c</a:t>
            </a:r>
            <a:r>
              <a:rPr b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y </a:t>
            </a:r>
            <a:r>
              <a:rPr b="1" lang="es-CL" sz="1800">
                <a:solidFill>
                  <a:schemeClr val="dk1"/>
                </a:solidFill>
              </a:rPr>
              <a:t>@d</a:t>
            </a:r>
            <a:r>
              <a:rPr b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efault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corresponden a directivas estructurales (para mostrar c</a:t>
            </a:r>
            <a:r>
              <a:rPr lang="es-CL" sz="1800">
                <a:solidFill>
                  <a:schemeClr val="dk1"/>
                </a:solidFill>
              </a:rPr>
              <a:t>asos)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pic>
        <p:nvPicPr>
          <p:cNvPr id="235" name="Google Shape;235;g3969d1732bc_0_26" title="Captura de pantalla 2026-03-29 a la(s) 22.14.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7600" y="3618642"/>
            <a:ext cx="4408805" cy="2685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6" name="Google Shape;236;g3969d1732bc_0_26"/>
          <p:cNvSpPr txBox="1"/>
          <p:nvPr/>
        </p:nvSpPr>
        <p:spPr>
          <a:xfrm>
            <a:off x="3264950" y="3232817"/>
            <a:ext cx="1120800" cy="31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rPr>
              <a:t>Valor de la variable</a:t>
            </a:r>
            <a:endParaRPr sz="900">
              <a:solidFill>
                <a:srgbClr val="E691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969d1732bc_0_26"/>
          <p:cNvSpPr/>
          <p:nvPr/>
        </p:nvSpPr>
        <p:spPr>
          <a:xfrm>
            <a:off x="3689375" y="3545417"/>
            <a:ext cx="193500" cy="156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969d1732bc_0_26"/>
          <p:cNvSpPr/>
          <p:nvPr/>
        </p:nvSpPr>
        <p:spPr>
          <a:xfrm rot="-6939037">
            <a:off x="2367747" y="4092598"/>
            <a:ext cx="193355" cy="15632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969d1732bc_0_26"/>
          <p:cNvSpPr/>
          <p:nvPr/>
        </p:nvSpPr>
        <p:spPr>
          <a:xfrm rot="-3425949">
            <a:off x="2367727" y="4528274"/>
            <a:ext cx="193304" cy="15635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969d1732bc_0_26"/>
          <p:cNvSpPr/>
          <p:nvPr/>
        </p:nvSpPr>
        <p:spPr>
          <a:xfrm rot="-5565354">
            <a:off x="2367706" y="5347582"/>
            <a:ext cx="193424" cy="15646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969d1732bc_0_26"/>
          <p:cNvSpPr txBox="1"/>
          <p:nvPr/>
        </p:nvSpPr>
        <p:spPr>
          <a:xfrm>
            <a:off x="751950" y="5256467"/>
            <a:ext cx="1615800" cy="3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Caso por defecto para el valor</a:t>
            </a:r>
            <a:endParaRPr sz="9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969d1732bc_0_26"/>
          <p:cNvSpPr txBox="1"/>
          <p:nvPr/>
        </p:nvSpPr>
        <p:spPr>
          <a:xfrm>
            <a:off x="817725" y="4237342"/>
            <a:ext cx="1563900" cy="31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Casos posibles para el valor</a:t>
            </a:r>
            <a:endParaRPr sz="9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47" name="Google Shape;247;p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8"/>
          <p:cNvSpPr txBox="1"/>
          <p:nvPr/>
        </p:nvSpPr>
        <p:spPr>
          <a:xfrm>
            <a:off x="1144588" y="185738"/>
            <a:ext cx="58667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Directivas de Atributos - ngClass</a:t>
            </a:r>
            <a:endParaRPr b="1" sz="280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49" name="Google Shape;249;p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0" name="Google Shape;250;p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627062" y="1225836"/>
            <a:ext cx="8228867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ngClass</a:t>
            </a:r>
            <a:r>
              <a:rPr lang="es-CL" sz="1800">
                <a:solidFill>
                  <a:srgbClr val="F4645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asignar clases CSS a elementos HTML de forma dinámica.</a:t>
            </a:r>
            <a:endParaRPr/>
          </a:p>
          <a:p>
            <a:pPr indent="-2095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parecida a la directiva </a:t>
            </a:r>
            <a:r>
              <a:rPr lang="es-CL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*ngIf/@if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 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3395" y="3006752"/>
            <a:ext cx="2133400" cy="107976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8"/>
          <p:cNvSpPr txBox="1"/>
          <p:nvPr/>
        </p:nvSpPr>
        <p:spPr>
          <a:xfrm>
            <a:off x="701288" y="2698975"/>
            <a:ext cx="160653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4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app.ts</a:t>
            </a:r>
            <a:endParaRPr i="1" sz="14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4572000" y="2698975"/>
            <a:ext cx="17363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4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app.css</a:t>
            </a:r>
            <a:endParaRPr/>
          </a:p>
        </p:txBody>
      </p:sp>
      <p:sp>
        <p:nvSpPr>
          <p:cNvPr id="255" name="Google Shape;255;p8"/>
          <p:cNvSpPr txBox="1"/>
          <p:nvPr/>
        </p:nvSpPr>
        <p:spPr>
          <a:xfrm>
            <a:off x="701288" y="4208995"/>
            <a:ext cx="18053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4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app.html</a:t>
            </a:r>
            <a:endParaRPr/>
          </a:p>
        </p:txBody>
      </p:sp>
      <p:pic>
        <p:nvPicPr>
          <p:cNvPr id="256" name="Google Shape;25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1499" y="3016309"/>
            <a:ext cx="26289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8"/>
          <p:cNvSpPr/>
          <p:nvPr/>
        </p:nvSpPr>
        <p:spPr>
          <a:xfrm>
            <a:off x="970384" y="3685592"/>
            <a:ext cx="1241891" cy="65314"/>
          </a:xfrm>
          <a:custGeom>
            <a:rect b="b" l="l" r="r" t="t"/>
            <a:pathLst>
              <a:path extrusionOk="0" h="65314" w="1241891">
                <a:moveTo>
                  <a:pt x="0" y="0"/>
                </a:moveTo>
                <a:cubicBezTo>
                  <a:pt x="80416" y="32166"/>
                  <a:pt x="13670" y="7905"/>
                  <a:pt x="83975" y="27992"/>
                </a:cubicBezTo>
                <a:cubicBezTo>
                  <a:pt x="93432" y="30694"/>
                  <a:pt x="102246" y="35826"/>
                  <a:pt x="111967" y="37322"/>
                </a:cubicBezTo>
                <a:cubicBezTo>
                  <a:pt x="142861" y="42075"/>
                  <a:pt x="174171" y="43543"/>
                  <a:pt x="205273" y="46653"/>
                </a:cubicBezTo>
                <a:cubicBezTo>
                  <a:pt x="294984" y="69081"/>
                  <a:pt x="188553" y="46653"/>
                  <a:pt x="363894" y="46653"/>
                </a:cubicBezTo>
                <a:cubicBezTo>
                  <a:pt x="441711" y="46653"/>
                  <a:pt x="519385" y="53392"/>
                  <a:pt x="597159" y="55984"/>
                </a:cubicBezTo>
                <a:lnTo>
                  <a:pt x="923730" y="65314"/>
                </a:lnTo>
                <a:cubicBezTo>
                  <a:pt x="998375" y="62204"/>
                  <a:pt x="1073281" y="62957"/>
                  <a:pt x="1147665" y="55984"/>
                </a:cubicBezTo>
                <a:cubicBezTo>
                  <a:pt x="1173201" y="53590"/>
                  <a:pt x="1222310" y="37322"/>
                  <a:pt x="1222310" y="37322"/>
                </a:cubicBezTo>
                <a:cubicBezTo>
                  <a:pt x="1243411" y="5670"/>
                  <a:pt x="1248901" y="17259"/>
                  <a:pt x="1231640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1499" y="4571309"/>
            <a:ext cx="685800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8"/>
          <p:cNvSpPr/>
          <p:nvPr/>
        </p:nvSpPr>
        <p:spPr>
          <a:xfrm>
            <a:off x="2507690" y="5797947"/>
            <a:ext cx="5160891" cy="532348"/>
          </a:xfrm>
          <a:prstGeom prst="wedgeRectCallout">
            <a:avLst>
              <a:gd fmla="val -26408" name="adj1"/>
              <a:gd fmla="val -91393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Para todos los ejemplos, se agrega la clase fondo-rojo siempre y cuando el valor sea verdadero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1492897" y="3750906"/>
            <a:ext cx="3037709" cy="1323438"/>
          </a:xfrm>
          <a:custGeom>
            <a:rect b="b" l="l" r="r" t="t"/>
            <a:pathLst>
              <a:path extrusionOk="0" h="1250302" w="2220686">
                <a:moveTo>
                  <a:pt x="0" y="0"/>
                </a:moveTo>
                <a:cubicBezTo>
                  <a:pt x="12441" y="15551"/>
                  <a:pt x="25373" y="30721"/>
                  <a:pt x="37322" y="46653"/>
                </a:cubicBezTo>
                <a:cubicBezTo>
                  <a:pt x="49120" y="62383"/>
                  <a:pt x="70736" y="100619"/>
                  <a:pt x="83975" y="111967"/>
                </a:cubicBezTo>
                <a:cubicBezTo>
                  <a:pt x="94536" y="121019"/>
                  <a:pt x="109979" y="122544"/>
                  <a:pt x="121298" y="130629"/>
                </a:cubicBezTo>
                <a:cubicBezTo>
                  <a:pt x="132036" y="138299"/>
                  <a:pt x="138311" y="151301"/>
                  <a:pt x="149290" y="158621"/>
                </a:cubicBezTo>
                <a:cubicBezTo>
                  <a:pt x="183472" y="181409"/>
                  <a:pt x="215430" y="189053"/>
                  <a:pt x="251926" y="205274"/>
                </a:cubicBezTo>
                <a:cubicBezTo>
                  <a:pt x="264637" y="210923"/>
                  <a:pt x="276053" y="219537"/>
                  <a:pt x="289249" y="223935"/>
                </a:cubicBezTo>
                <a:cubicBezTo>
                  <a:pt x="304294" y="228950"/>
                  <a:pt x="320449" y="229699"/>
                  <a:pt x="335902" y="233265"/>
                </a:cubicBezTo>
                <a:cubicBezTo>
                  <a:pt x="418212" y="252260"/>
                  <a:pt x="390171" y="249070"/>
                  <a:pt x="457200" y="261257"/>
                </a:cubicBezTo>
                <a:cubicBezTo>
                  <a:pt x="520763" y="272814"/>
                  <a:pt x="591072" y="281800"/>
                  <a:pt x="653143" y="289249"/>
                </a:cubicBezTo>
                <a:cubicBezTo>
                  <a:pt x="684177" y="292973"/>
                  <a:pt x="715406" y="294928"/>
                  <a:pt x="746449" y="298580"/>
                </a:cubicBezTo>
                <a:cubicBezTo>
                  <a:pt x="916312" y="318564"/>
                  <a:pt x="664769" y="299743"/>
                  <a:pt x="979714" y="317241"/>
                </a:cubicBezTo>
                <a:lnTo>
                  <a:pt x="1035698" y="326572"/>
                </a:lnTo>
                <a:cubicBezTo>
                  <a:pt x="1079196" y="333097"/>
                  <a:pt x="1123345" y="335889"/>
                  <a:pt x="1166326" y="345233"/>
                </a:cubicBezTo>
                <a:cubicBezTo>
                  <a:pt x="1195159" y="351501"/>
                  <a:pt x="1221677" y="366069"/>
                  <a:pt x="1250302" y="373225"/>
                </a:cubicBezTo>
                <a:cubicBezTo>
                  <a:pt x="1375854" y="404613"/>
                  <a:pt x="1394478" y="405817"/>
                  <a:pt x="1492898" y="419878"/>
                </a:cubicBezTo>
                <a:cubicBezTo>
                  <a:pt x="1709304" y="492014"/>
                  <a:pt x="1437926" y="405412"/>
                  <a:pt x="1670180" y="466531"/>
                </a:cubicBezTo>
                <a:cubicBezTo>
                  <a:pt x="1857440" y="515810"/>
                  <a:pt x="1685295" y="473367"/>
                  <a:pt x="1791478" y="513184"/>
                </a:cubicBezTo>
                <a:cubicBezTo>
                  <a:pt x="1803485" y="517687"/>
                  <a:pt x="1816359" y="519404"/>
                  <a:pt x="1828800" y="522514"/>
                </a:cubicBezTo>
                <a:cubicBezTo>
                  <a:pt x="1838131" y="528735"/>
                  <a:pt x="1846485" y="536758"/>
                  <a:pt x="1856792" y="541176"/>
                </a:cubicBezTo>
                <a:cubicBezTo>
                  <a:pt x="1868579" y="546227"/>
                  <a:pt x="1881949" y="546451"/>
                  <a:pt x="1894114" y="550506"/>
                </a:cubicBezTo>
                <a:cubicBezTo>
                  <a:pt x="1910003" y="555802"/>
                  <a:pt x="1925216" y="562947"/>
                  <a:pt x="1940767" y="569167"/>
                </a:cubicBezTo>
                <a:cubicBezTo>
                  <a:pt x="1953208" y="581608"/>
                  <a:pt x="1963773" y="596263"/>
                  <a:pt x="1978090" y="606490"/>
                </a:cubicBezTo>
                <a:cubicBezTo>
                  <a:pt x="1986093" y="612207"/>
                  <a:pt x="1997898" y="610365"/>
                  <a:pt x="2006082" y="615821"/>
                </a:cubicBezTo>
                <a:cubicBezTo>
                  <a:pt x="2036745" y="636263"/>
                  <a:pt x="2031222" y="645988"/>
                  <a:pt x="2052735" y="671804"/>
                </a:cubicBezTo>
                <a:cubicBezTo>
                  <a:pt x="2061182" y="681941"/>
                  <a:pt x="2070589" y="691349"/>
                  <a:pt x="2080726" y="699796"/>
                </a:cubicBezTo>
                <a:cubicBezTo>
                  <a:pt x="2089341" y="706975"/>
                  <a:pt x="2100204" y="711159"/>
                  <a:pt x="2108718" y="718457"/>
                </a:cubicBezTo>
                <a:cubicBezTo>
                  <a:pt x="2122077" y="729907"/>
                  <a:pt x="2146041" y="755780"/>
                  <a:pt x="2146041" y="755780"/>
                </a:cubicBezTo>
                <a:cubicBezTo>
                  <a:pt x="2149151" y="768221"/>
                  <a:pt x="2150320" y="781315"/>
                  <a:pt x="2155371" y="793102"/>
                </a:cubicBezTo>
                <a:cubicBezTo>
                  <a:pt x="2159789" y="803409"/>
                  <a:pt x="2168090" y="811584"/>
                  <a:pt x="2174033" y="821094"/>
                </a:cubicBezTo>
                <a:cubicBezTo>
                  <a:pt x="2203318" y="867950"/>
                  <a:pt x="2198410" y="860519"/>
                  <a:pt x="2220686" y="905070"/>
                </a:cubicBezTo>
                <a:cubicBezTo>
                  <a:pt x="2220419" y="909080"/>
                  <a:pt x="2219976" y="1040464"/>
                  <a:pt x="2202024" y="1082351"/>
                </a:cubicBezTo>
                <a:cubicBezTo>
                  <a:pt x="2197607" y="1092658"/>
                  <a:pt x="2189583" y="1101012"/>
                  <a:pt x="2183363" y="1110343"/>
                </a:cubicBezTo>
                <a:cubicBezTo>
                  <a:pt x="2155850" y="1192882"/>
                  <a:pt x="2164702" y="1146656"/>
                  <a:pt x="2164702" y="1250302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65" name="Google Shape;265;p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9"/>
          <p:cNvSpPr txBox="1"/>
          <p:nvPr/>
        </p:nvSpPr>
        <p:spPr>
          <a:xfrm>
            <a:off x="1144588" y="185738"/>
            <a:ext cx="586519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Directivas de Atributos  - ngStyle</a:t>
            </a:r>
            <a:endParaRPr b="1" sz="280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67" name="Google Shape;267;p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8" name="Google Shape;268;p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610866" y="1275894"/>
            <a:ext cx="8121971" cy="6463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Una forma de establecer estilos es usar la </a:t>
            </a:r>
            <a:r>
              <a:rPr lang="es-CL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directiva</a:t>
            </a:r>
            <a:r>
              <a:rPr b="0" i="0" lang="es-CL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ngStyle</a:t>
            </a:r>
            <a:r>
              <a:rPr b="0" i="0" lang="es-CL" sz="1800" u="none" cap="none" strike="noStrike">
                <a:solidFill>
                  <a:srgbClr val="F4645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CL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y asignarle un  </a:t>
            </a:r>
            <a:r>
              <a:rPr b="0" lang="es-CL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objeto literal</a:t>
            </a:r>
            <a:r>
              <a:rPr lang="es-CL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610866" y="2684112"/>
            <a:ext cx="7194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ngStyle</a:t>
            </a:r>
            <a:r>
              <a:rPr b="0" i="0" lang="es-CL" sz="1800" u="none" cap="none" strike="noStrike">
                <a:solidFill>
                  <a:srgbClr val="F4645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CL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 vuelve mucho más útil cuando el valor es </a:t>
            </a:r>
            <a:r>
              <a:rPr b="0" lang="es-CL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dinámico</a:t>
            </a:r>
            <a:r>
              <a:rPr b="0" i="0" lang="es-CL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 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271" name="Google Shape;2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1155" y="4841957"/>
            <a:ext cx="2676525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8108" y="3619088"/>
            <a:ext cx="703897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9"/>
          <p:cNvSpPr txBox="1"/>
          <p:nvPr/>
        </p:nvSpPr>
        <p:spPr>
          <a:xfrm>
            <a:off x="1138108" y="4487607"/>
            <a:ext cx="160653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4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app.ts</a:t>
            </a:r>
            <a:endParaRPr i="1" sz="14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9"/>
          <p:cNvSpPr txBox="1"/>
          <p:nvPr/>
        </p:nvSpPr>
        <p:spPr>
          <a:xfrm>
            <a:off x="1138108" y="3296310"/>
            <a:ext cx="18053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4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app.html</a:t>
            </a:r>
            <a:endParaRPr/>
          </a:p>
        </p:txBody>
      </p:sp>
      <p:pic>
        <p:nvPicPr>
          <p:cNvPr id="275" name="Google Shape;27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8108" y="2062617"/>
            <a:ext cx="5648325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80" name="Google Shape;280;p1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0"/>
          <p:cNvSpPr txBox="1"/>
          <p:nvPr/>
        </p:nvSpPr>
        <p:spPr>
          <a:xfrm>
            <a:off x="1144588" y="185738"/>
            <a:ext cx="71395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– Continuación Empresa ACME</a:t>
            </a:r>
            <a:endParaRPr/>
          </a:p>
        </p:txBody>
      </p:sp>
      <p:cxnSp>
        <p:nvCxnSpPr>
          <p:cNvPr id="282" name="Google Shape;282;p10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3" name="Google Shape;283;p10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id="284" name="Google Shape;28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7577" y="2154353"/>
            <a:ext cx="5968852" cy="29375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5" name="Google Shape;285;p10"/>
          <p:cNvSpPr/>
          <p:nvPr/>
        </p:nvSpPr>
        <p:spPr>
          <a:xfrm>
            <a:off x="627063" y="1164637"/>
            <a:ext cx="82288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Procederemos a mostrar datos sobre la tabla. Para ello definiremos un arreglo de datos de productos.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90" name="Google Shape;290;p1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1"/>
          <p:cNvSpPr txBox="1"/>
          <p:nvPr/>
        </p:nvSpPr>
        <p:spPr>
          <a:xfrm>
            <a:off x="1144588" y="185738"/>
            <a:ext cx="72555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– Definición de Datos de Prueba</a:t>
            </a:r>
            <a:endParaRPr/>
          </a:p>
        </p:txBody>
      </p:sp>
      <p:cxnSp>
        <p:nvCxnSpPr>
          <p:cNvPr id="292" name="Google Shape;292;p11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3" name="Google Shape;293;p11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627063" y="1164637"/>
            <a:ext cx="82288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Crearemos una interface llamada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IProduct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dentro del archivo </a:t>
            </a:r>
            <a:r>
              <a:rPr i="1"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product.ts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la carpeta app para definir la estructura de un producto:</a:t>
            </a:r>
            <a:endParaRPr/>
          </a:p>
        </p:txBody>
      </p:sp>
      <p:pic>
        <p:nvPicPr>
          <p:cNvPr id="295" name="Google Shape;29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7111" y="2578907"/>
            <a:ext cx="3086100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1"/>
          <p:cNvSpPr/>
          <p:nvPr/>
        </p:nvSpPr>
        <p:spPr>
          <a:xfrm>
            <a:off x="727111" y="2205536"/>
            <a:ext cx="126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8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product.ts 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11" title="Captura de pantalla 2026-03-29 a la(s) 22.26.2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3711" y="2494805"/>
            <a:ext cx="3336399" cy="226844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8" name="Google Shape;298;p11"/>
          <p:cNvSpPr/>
          <p:nvPr/>
        </p:nvSpPr>
        <p:spPr>
          <a:xfrm>
            <a:off x="4908040" y="4558958"/>
            <a:ext cx="337200" cy="20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03" name="Google Shape;303;p1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2"/>
          <p:cNvSpPr txBox="1"/>
          <p:nvPr/>
        </p:nvSpPr>
        <p:spPr>
          <a:xfrm>
            <a:off x="1144588" y="185738"/>
            <a:ext cx="75729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– Definición de Datos de Prueba…</a:t>
            </a:r>
            <a:endParaRPr/>
          </a:p>
        </p:txBody>
      </p:sp>
      <p:cxnSp>
        <p:nvCxnSpPr>
          <p:cNvPr id="305" name="Google Shape;305;p1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6" name="Google Shape;306;p1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627063" y="1191852"/>
            <a:ext cx="809043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un arreglo de tipo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IProduct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dentro del componente principal de nuestro proyecto:</a:t>
            </a:r>
            <a:endParaRPr/>
          </a:p>
        </p:txBody>
      </p:sp>
      <p:cxnSp>
        <p:nvCxnSpPr>
          <p:cNvPr id="308" name="Google Shape;308;p12"/>
          <p:cNvCxnSpPr/>
          <p:nvPr/>
        </p:nvCxnSpPr>
        <p:spPr>
          <a:xfrm>
            <a:off x="1497750" y="5901254"/>
            <a:ext cx="612000" cy="0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309" name="Google Shape;309;p12"/>
          <p:cNvSpPr/>
          <p:nvPr/>
        </p:nvSpPr>
        <p:spPr>
          <a:xfrm>
            <a:off x="1173530" y="1949348"/>
            <a:ext cx="16562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4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app.ts </a:t>
            </a:r>
            <a:endParaRPr sz="14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2"/>
          <p:cNvSpPr txBox="1"/>
          <p:nvPr/>
        </p:nvSpPr>
        <p:spPr>
          <a:xfrm>
            <a:off x="6415100" y="3440850"/>
            <a:ext cx="1890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Invente sus propios datos,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puede crear 6 productos</a:t>
            </a:r>
            <a:endParaRPr/>
          </a:p>
        </p:txBody>
      </p:sp>
      <p:pic>
        <p:nvPicPr>
          <p:cNvPr id="311" name="Google Shape;311;p12" title="Captura de pantalla 2026-03-29 a la(s) 23.29.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6500" y="2271712"/>
            <a:ext cx="5122629" cy="353888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2" name="Google Shape;312;p12"/>
          <p:cNvSpPr/>
          <p:nvPr/>
        </p:nvSpPr>
        <p:spPr>
          <a:xfrm>
            <a:off x="1714500" y="3606125"/>
            <a:ext cx="501300" cy="18390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17" name="Google Shape;317;p1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3"/>
          <p:cNvSpPr txBox="1"/>
          <p:nvPr/>
        </p:nvSpPr>
        <p:spPr>
          <a:xfrm>
            <a:off x="1144588" y="185738"/>
            <a:ext cx="75729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– Definición de Datos de Prueba…</a:t>
            </a:r>
            <a:endParaRPr/>
          </a:p>
        </p:txBody>
      </p:sp>
      <p:cxnSp>
        <p:nvCxnSpPr>
          <p:cNvPr id="319" name="Google Shape;319;p1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0" name="Google Shape;320;p1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657910" y="1103438"/>
            <a:ext cx="82288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Definir 5 productos diferentes. Puede buscar imágenes en </a:t>
            </a:r>
            <a:r>
              <a:rPr i="1" lang="es-CL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https://pixabay.com/es/images/search/</a:t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123" y="1937219"/>
            <a:ext cx="6123183" cy="438373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14" title="Captura de pantalla 2026-03-29 a la(s) 23.48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125" y="1492300"/>
            <a:ext cx="6515444" cy="217456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sultado de imagen para angular logos" id="328" name="Google Shape;328;p14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4"/>
          <p:cNvSpPr txBox="1"/>
          <p:nvPr/>
        </p:nvSpPr>
        <p:spPr>
          <a:xfrm>
            <a:off x="1144588" y="185738"/>
            <a:ext cx="707437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– Mostrar los datos con *ngFor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p1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1" name="Google Shape;331;p1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32" name="Google Shape;332;p14"/>
          <p:cNvSpPr/>
          <p:nvPr/>
        </p:nvSpPr>
        <p:spPr>
          <a:xfrm>
            <a:off x="598462" y="1042239"/>
            <a:ext cx="81222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ejemplo, si queremos crear una fila </a:t>
            </a:r>
            <a:r>
              <a:rPr lang="es-CL" sz="1800">
                <a:solidFill>
                  <a:schemeClr val="dk1"/>
                </a:solidFill>
              </a:rPr>
              <a:t>(tradicional)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cada producto: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627063" y="3823052"/>
            <a:ext cx="829006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Iterar mediante </a:t>
            </a: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*ngFor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llenando la fila de cada producto con varias celdas: la imagen, el nombre, el código, la fecha de venta, el precio y la puntuación.</a:t>
            </a:r>
            <a:endParaRPr/>
          </a:p>
        </p:txBody>
      </p:sp>
      <p:sp>
        <p:nvSpPr>
          <p:cNvPr id="334" name="Google Shape;334;p14"/>
          <p:cNvSpPr/>
          <p:nvPr/>
        </p:nvSpPr>
        <p:spPr>
          <a:xfrm>
            <a:off x="4370646" y="2936685"/>
            <a:ext cx="1562840" cy="601578"/>
          </a:xfrm>
          <a:prstGeom prst="wedgeRectCallout">
            <a:avLst>
              <a:gd fmla="val -118479" name="adj1"/>
              <a:gd fmla="val -29913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Usar interpolación {{…}}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1534448" y="1675442"/>
            <a:ext cx="2509200" cy="17190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6098909" y="2763091"/>
            <a:ext cx="1897169" cy="601578"/>
          </a:xfrm>
          <a:prstGeom prst="wedgeRectCallout">
            <a:avLst>
              <a:gd fmla="val -159101" name="adj1"/>
              <a:gd fmla="val -148307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Usar la misma variable imagen por defecto para todos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5933486" y="1549908"/>
            <a:ext cx="2758200" cy="810000"/>
          </a:xfrm>
          <a:prstGeom prst="wedgeRectCallout">
            <a:avLst>
              <a:gd fmla="val -109903" name="adj1"/>
              <a:gd fmla="val -21814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Iterar sobre la variable products que es un arreglo de objetos, definida en la clase del componente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14" title="Captura de pantalla 2026-03-29 a la(s) 23.52.3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2838" y="4550358"/>
            <a:ext cx="5598321" cy="176314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15" title="Captura de pantalla 2026-03-29 a la(s) 23.49.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125" y="1502926"/>
            <a:ext cx="6029293" cy="229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44" name="Google Shape;344;p15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5"/>
          <p:cNvSpPr txBox="1"/>
          <p:nvPr/>
        </p:nvSpPr>
        <p:spPr>
          <a:xfrm>
            <a:off x="1144588" y="185738"/>
            <a:ext cx="674575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– Mostrar los datos con @for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1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7" name="Google Shape;347;p1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48" name="Google Shape;348;p15"/>
          <p:cNvSpPr/>
          <p:nvPr/>
        </p:nvSpPr>
        <p:spPr>
          <a:xfrm>
            <a:off x="598462" y="1042239"/>
            <a:ext cx="81222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ejemplo, si queremos crear una fila (moderno) para cada producto: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627063" y="3865915"/>
            <a:ext cx="8290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Iterar mediante </a:t>
            </a: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@for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llenando la fila de cada producto con varias celdas: la imagen, el nombre, el código, la fecha de venta, el precio y la puntuación.</a:t>
            </a:r>
            <a:endParaRPr/>
          </a:p>
        </p:txBody>
      </p:sp>
      <p:sp>
        <p:nvSpPr>
          <p:cNvPr id="350" name="Google Shape;350;p15"/>
          <p:cNvSpPr/>
          <p:nvPr/>
        </p:nvSpPr>
        <p:spPr>
          <a:xfrm>
            <a:off x="4370646" y="2908110"/>
            <a:ext cx="1562700" cy="601500"/>
          </a:xfrm>
          <a:prstGeom prst="wedgeRectCallout">
            <a:avLst>
              <a:gd fmla="val -128536" name="adj1"/>
              <a:gd fmla="val -27536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Usar interpolación {{…}}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5933486" y="1479445"/>
            <a:ext cx="2758200" cy="810000"/>
          </a:xfrm>
          <a:prstGeom prst="wedgeRectCallout">
            <a:avLst>
              <a:gd fmla="val -114901" name="adj1"/>
              <a:gd fmla="val -19213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Iterar sobre la variable products que es un arreglo de objetos, definida en la clase del componente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1118472" y="1640555"/>
            <a:ext cx="3576000" cy="20070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6166625" y="2741151"/>
            <a:ext cx="1897200" cy="646200"/>
          </a:xfrm>
          <a:prstGeom prst="wedgeRectCallout">
            <a:avLst>
              <a:gd fmla="val -170952" name="adj1"/>
              <a:gd fmla="val -116013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Usar la misma variable imagen por defecto para todos</a:t>
            </a:r>
            <a:endParaRPr>
              <a:solidFill>
                <a:schemeClr val="dk1"/>
              </a:solidFill>
              <a:latin typeface="Content"/>
              <a:ea typeface="Content"/>
              <a:cs typeface="Content"/>
              <a:sym typeface="Content"/>
            </a:endParaRPr>
          </a:p>
        </p:txBody>
      </p:sp>
      <p:pic>
        <p:nvPicPr>
          <p:cNvPr id="354" name="Google Shape;354;p15" title="Captura de pantalla 2026-03-29 a la(s) 23.52.3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0675" y="4664514"/>
            <a:ext cx="5462641" cy="172041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59" name="Google Shape;359;p1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6"/>
          <p:cNvSpPr txBox="1"/>
          <p:nvPr/>
        </p:nvSpPr>
        <p:spPr>
          <a:xfrm>
            <a:off x="1144588" y="185738"/>
            <a:ext cx="69343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– Ocultar Lista Vacía con *ngIf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1" name="Google Shape;361;p1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2" name="Google Shape;362;p1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63" name="Google Shape;363;p16"/>
          <p:cNvSpPr/>
          <p:nvPr/>
        </p:nvSpPr>
        <p:spPr>
          <a:xfrm>
            <a:off x="720792" y="1127089"/>
            <a:ext cx="82409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Podemos expresar que queremos mostrar la lista de productos (de forma tradicional), sólo si la variable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products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está definida y hay algo en ella.</a:t>
            </a:r>
            <a:endParaRPr/>
          </a:p>
        </p:txBody>
      </p:sp>
      <p:pic>
        <p:nvPicPr>
          <p:cNvPr id="364" name="Google Shape;36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105" y="4376758"/>
            <a:ext cx="7466546" cy="156140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5" name="Google Shape;365;p16"/>
          <p:cNvSpPr/>
          <p:nvPr/>
        </p:nvSpPr>
        <p:spPr>
          <a:xfrm>
            <a:off x="1789761" y="5357393"/>
            <a:ext cx="367194" cy="17830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6" name="Google Shape;36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50851" y="2015863"/>
            <a:ext cx="5286375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6"/>
          <p:cNvSpPr/>
          <p:nvPr/>
        </p:nvSpPr>
        <p:spPr>
          <a:xfrm>
            <a:off x="3298451" y="2000201"/>
            <a:ext cx="3288461" cy="201315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722952" y="3844486"/>
            <a:ext cx="8009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Sino existen productos, entonces la tabla no se observa:</a:t>
            </a:r>
            <a:endParaRPr/>
          </a:p>
        </p:txBody>
      </p:sp>
      <p:sp>
        <p:nvSpPr>
          <p:cNvPr id="369" name="Google Shape;369;p16"/>
          <p:cNvSpPr/>
          <p:nvPr/>
        </p:nvSpPr>
        <p:spPr>
          <a:xfrm>
            <a:off x="3009160" y="2800682"/>
            <a:ext cx="1562840" cy="601578"/>
          </a:xfrm>
          <a:prstGeom prst="wedgeRectCallout">
            <a:avLst>
              <a:gd fmla="val 26297" name="adj1"/>
              <a:gd fmla="val -145143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Si la variable es válida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5551183" y="2786077"/>
            <a:ext cx="2019567" cy="601578"/>
          </a:xfrm>
          <a:prstGeom prst="wedgeRectCallout">
            <a:avLst>
              <a:gd fmla="val -33406" name="adj1"/>
              <a:gd fmla="val -142041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Si la variable tiene por lo menos 1 elemento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75" name="Google Shape;375;p1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7"/>
          <p:cNvSpPr txBox="1"/>
          <p:nvPr/>
        </p:nvSpPr>
        <p:spPr>
          <a:xfrm>
            <a:off x="1144588" y="185738"/>
            <a:ext cx="670510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– Ocultar Lista Vacía con @if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7" name="Google Shape;377;p1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8" name="Google Shape;378;p1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79" name="Google Shape;379;p17"/>
          <p:cNvSpPr/>
          <p:nvPr/>
        </p:nvSpPr>
        <p:spPr>
          <a:xfrm>
            <a:off x="720792" y="1127089"/>
            <a:ext cx="82409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Podemos expresar que queremos mostrar la lista de productos (de forma moderna), sólo si la variable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products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está definida y hay algo en ella.</a:t>
            </a:r>
            <a:endParaRPr/>
          </a:p>
        </p:txBody>
      </p:sp>
      <p:pic>
        <p:nvPicPr>
          <p:cNvPr descr="Texto, Escala de tiempo&#10;&#10;Descripción generada automáticamente" id="380" name="Google Shape;380;p17"/>
          <p:cNvPicPr preferRelativeResize="0"/>
          <p:nvPr/>
        </p:nvPicPr>
        <p:blipFill rotWithShape="1">
          <a:blip r:embed="rId4">
            <a:alphaModFix/>
          </a:blip>
          <a:srcRect b="87755" l="0" r="0" t="0"/>
          <a:stretch/>
        </p:blipFill>
        <p:spPr>
          <a:xfrm>
            <a:off x="1729674" y="2531170"/>
            <a:ext cx="4953691" cy="468923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7"/>
          <p:cNvSpPr/>
          <p:nvPr/>
        </p:nvSpPr>
        <p:spPr>
          <a:xfrm>
            <a:off x="1940443" y="2562396"/>
            <a:ext cx="3288461" cy="201315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886186" y="4502007"/>
            <a:ext cx="801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Si no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existen productos, entonces la tabla no se observa:</a:t>
            </a:r>
            <a:endParaRPr/>
          </a:p>
        </p:txBody>
      </p:sp>
      <p:sp>
        <p:nvSpPr>
          <p:cNvPr id="383" name="Google Shape;383;p17"/>
          <p:cNvSpPr/>
          <p:nvPr/>
        </p:nvSpPr>
        <p:spPr>
          <a:xfrm>
            <a:off x="1442581" y="1859296"/>
            <a:ext cx="1818709" cy="369332"/>
          </a:xfrm>
          <a:prstGeom prst="wedgeRectCallout">
            <a:avLst>
              <a:gd fmla="val 19632" name="adj1"/>
              <a:gd fmla="val 119263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Si la variable es válida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3431997" y="1837826"/>
            <a:ext cx="3649162" cy="369332"/>
          </a:xfrm>
          <a:prstGeom prst="wedgeRectCallout">
            <a:avLst>
              <a:gd fmla="val -25224" name="adj1"/>
              <a:gd fmla="val 130805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Si la variable tiene por lo menos 1 elemento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xto&#10;&#10;Descripción generada automáticamente" id="385" name="Google Shape;385;p17"/>
          <p:cNvPicPr preferRelativeResize="0"/>
          <p:nvPr/>
        </p:nvPicPr>
        <p:blipFill rotWithShape="1">
          <a:blip r:embed="rId5">
            <a:alphaModFix/>
          </a:blip>
          <a:srcRect b="0" l="0" r="0" t="68598"/>
          <a:stretch/>
        </p:blipFill>
        <p:spPr>
          <a:xfrm>
            <a:off x="1761730" y="3239354"/>
            <a:ext cx="6258798" cy="11277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6" name="Google Shape;386;p17"/>
          <p:cNvCxnSpPr/>
          <p:nvPr/>
        </p:nvCxnSpPr>
        <p:spPr>
          <a:xfrm>
            <a:off x="2001642" y="3143160"/>
            <a:ext cx="795587" cy="0"/>
          </a:xfrm>
          <a:prstGeom prst="straightConnector1">
            <a:avLst/>
          </a:prstGeom>
          <a:noFill/>
          <a:ln cap="flat" cmpd="sng" w="12700">
            <a:solidFill>
              <a:srgbClr val="0C0C0C"/>
            </a:solidFill>
            <a:prstDash val="lgDash"/>
            <a:miter lim="800000"/>
            <a:headEnd len="sm" w="sm" type="none"/>
            <a:tailEnd len="sm" w="sm" type="none"/>
          </a:ln>
        </p:spPr>
      </p:cxnSp>
      <p:sp>
        <p:nvSpPr>
          <p:cNvPr id="387" name="Google Shape;387;p17"/>
          <p:cNvSpPr/>
          <p:nvPr/>
        </p:nvSpPr>
        <p:spPr>
          <a:xfrm>
            <a:off x="1787767" y="3475506"/>
            <a:ext cx="3288461" cy="201315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1787767" y="3938696"/>
            <a:ext cx="3288461" cy="201315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faz de usuario gráfica, Texto, Aplicación, Correo electrónico&#10;&#10;Descripción generada automáticamente" id="389" name="Google Shape;38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13592" y="4940725"/>
            <a:ext cx="3967115" cy="1527183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94" name="Google Shape;394;p1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8"/>
          <p:cNvSpPr txBox="1"/>
          <p:nvPr/>
        </p:nvSpPr>
        <p:spPr>
          <a:xfrm>
            <a:off x="1144588" y="185738"/>
            <a:ext cx="48776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– Ver el Resultado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" name="Google Shape;396;p1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7" name="Google Shape;397;p1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98" name="Google Shape;398;p18"/>
          <p:cNvSpPr/>
          <p:nvPr/>
        </p:nvSpPr>
        <p:spPr>
          <a:xfrm>
            <a:off x="720792" y="1127089"/>
            <a:ext cx="82409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Veamos el resultado hasta el momento.</a:t>
            </a:r>
            <a:endParaRPr/>
          </a:p>
        </p:txBody>
      </p:sp>
      <p:pic>
        <p:nvPicPr>
          <p:cNvPr id="399" name="Google Shape;399;p18" title="Captura de pantalla 2026-03-30 a la(s) 00.04.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5413" y="1563096"/>
            <a:ext cx="6993183" cy="473610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04" name="Google Shape;404;p1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9"/>
          <p:cNvSpPr txBox="1"/>
          <p:nvPr/>
        </p:nvSpPr>
        <p:spPr>
          <a:xfrm>
            <a:off x="1144588" y="185738"/>
            <a:ext cx="71368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– Crear Directiva Personalizada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6" name="Google Shape;406;p1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7" name="Google Shape;407;p1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08" name="Google Shape;408;p19"/>
          <p:cNvSpPr/>
          <p:nvPr/>
        </p:nvSpPr>
        <p:spPr>
          <a:xfrm>
            <a:off x="598462" y="1183207"/>
            <a:ext cx="812227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Crearemos una nueva directiva llamada </a:t>
            </a:r>
            <a:r>
              <a:rPr lang="es-CL" sz="1800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&lt;product-list&gt;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cual nos permitirá encapsular el código de la lista.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9"/>
          <p:cNvSpPr/>
          <p:nvPr/>
        </p:nvSpPr>
        <p:spPr>
          <a:xfrm>
            <a:off x="1267254" y="1899025"/>
            <a:ext cx="74655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Crearemos un nuevo componente, llamado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ProductList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0" name="Google Shape;410;p19"/>
          <p:cNvSpPr/>
          <p:nvPr/>
        </p:nvSpPr>
        <p:spPr>
          <a:xfrm>
            <a:off x="1267254" y="2337844"/>
            <a:ext cx="746558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dependerá del componente que lo usa inmediatamente, es decir,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11" name="Google Shape;41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6438" y="3279040"/>
            <a:ext cx="5857179" cy="2842716"/>
          </a:xfrm>
          <a:prstGeom prst="rect">
            <a:avLst/>
          </a:prstGeom>
          <a:noFill/>
          <a:ln cap="flat" cmpd="sng" w="38100">
            <a:solidFill>
              <a:srgbClr val="00D03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2" name="Google Shape;412;p19"/>
          <p:cNvSpPr/>
          <p:nvPr/>
        </p:nvSpPr>
        <p:spPr>
          <a:xfrm>
            <a:off x="2307637" y="3996420"/>
            <a:ext cx="5630308" cy="2125336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9"/>
          <p:cNvSpPr txBox="1"/>
          <p:nvPr/>
        </p:nvSpPr>
        <p:spPr>
          <a:xfrm>
            <a:off x="7475122" y="2900550"/>
            <a:ext cx="62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00D032"/>
                </a:solidFill>
              </a:rPr>
              <a:t>App</a:t>
            </a:r>
            <a:endParaRPr sz="1400">
              <a:solidFill>
                <a:srgbClr val="00D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9"/>
          <p:cNvSpPr/>
          <p:nvPr/>
        </p:nvSpPr>
        <p:spPr>
          <a:xfrm>
            <a:off x="5987761" y="3705860"/>
            <a:ext cx="20056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ProductListComponent</a:t>
            </a:r>
            <a:endParaRPr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9"/>
          <p:cNvSpPr/>
          <p:nvPr/>
        </p:nvSpPr>
        <p:spPr>
          <a:xfrm>
            <a:off x="613353" y="4667004"/>
            <a:ext cx="13740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&lt;product-list&gt;</a:t>
            </a:r>
            <a:endParaRPr sz="12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9"/>
          <p:cNvSpPr/>
          <p:nvPr/>
        </p:nvSpPr>
        <p:spPr>
          <a:xfrm>
            <a:off x="586255" y="3956358"/>
            <a:ext cx="1468776" cy="1835774"/>
          </a:xfrm>
          <a:prstGeom prst="foldedCorner">
            <a:avLst>
              <a:gd fmla="val 16667" name="adj"/>
            </a:avLst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9"/>
          <p:cNvSpPr txBox="1"/>
          <p:nvPr/>
        </p:nvSpPr>
        <p:spPr>
          <a:xfrm>
            <a:off x="480561" y="3665627"/>
            <a:ext cx="15744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app.html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22" name="Google Shape;422;p2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0"/>
          <p:cNvSpPr txBox="1"/>
          <p:nvPr/>
        </p:nvSpPr>
        <p:spPr>
          <a:xfrm>
            <a:off x="1144588" y="185738"/>
            <a:ext cx="745428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– Crear Directiva Personalizada…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4" name="Google Shape;424;p20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5" name="Google Shape;425;p20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26" name="Google Shape;426;p20"/>
          <p:cNvSpPr/>
          <p:nvPr/>
        </p:nvSpPr>
        <p:spPr>
          <a:xfrm>
            <a:off x="598462" y="1183207"/>
            <a:ext cx="81222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tipo de componentes, uno dentro de otro (nested), son muy comunes.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0"/>
          <p:cNvSpPr/>
          <p:nvPr/>
        </p:nvSpPr>
        <p:spPr>
          <a:xfrm>
            <a:off x="598457" y="1705450"/>
            <a:ext cx="8000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con Angular CLI, desde la línea de comandos, el componente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ProductList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8" name="Google Shape;428;p20"/>
          <p:cNvSpPr/>
          <p:nvPr/>
        </p:nvSpPr>
        <p:spPr>
          <a:xfrm>
            <a:off x="3028350" y="2437363"/>
            <a:ext cx="30873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00" lIns="81200" spcFirstLastPara="1" rIns="81200" wrap="square" tIns="40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21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ng g c product/product-list</a:t>
            </a:r>
            <a:endParaRPr sz="1421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29" name="Google Shape;429;p20" title="Captura de pantalla 2026-03-30 a la(s) 00.12.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675" y="3128527"/>
            <a:ext cx="7960632" cy="258487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0" name="Google Shape;430;p20"/>
          <p:cNvSpPr/>
          <p:nvPr/>
        </p:nvSpPr>
        <p:spPr>
          <a:xfrm>
            <a:off x="730275" y="3475462"/>
            <a:ext cx="1541400" cy="923400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35" name="Google Shape;435;p2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1"/>
          <p:cNvSpPr txBox="1"/>
          <p:nvPr/>
        </p:nvSpPr>
        <p:spPr>
          <a:xfrm>
            <a:off x="1144588" y="185738"/>
            <a:ext cx="745428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– Crear Directiva Personalizada…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" name="Google Shape;437;p21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8" name="Google Shape;438;p21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39" name="Google Shape;439;p21"/>
          <p:cNvSpPr/>
          <p:nvPr/>
        </p:nvSpPr>
        <p:spPr>
          <a:xfrm>
            <a:off x="598462" y="1183207"/>
            <a:ext cx="825746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Ahora movemos todo el código HTML que dibuja la lista dentro del template de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ProductList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0" name="Google Shape;440;p21"/>
          <p:cNvSpPr/>
          <p:nvPr/>
        </p:nvSpPr>
        <p:spPr>
          <a:xfrm>
            <a:off x="2354735" y="5196612"/>
            <a:ext cx="171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app.html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1"/>
          <p:cNvSpPr/>
          <p:nvPr/>
        </p:nvSpPr>
        <p:spPr>
          <a:xfrm>
            <a:off x="627063" y="4493513"/>
            <a:ext cx="8122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Incluimos el nuevo componente dentro del padre, simplemente invocando su selector (esta es la directiva personalizada)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42" name="Google Shape;442;p21"/>
          <p:cNvCxnSpPr/>
          <p:nvPr/>
        </p:nvCxnSpPr>
        <p:spPr>
          <a:xfrm>
            <a:off x="1770594" y="4382333"/>
            <a:ext cx="612000" cy="0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443" name="Google Shape;443;p21"/>
          <p:cNvCxnSpPr/>
          <p:nvPr/>
        </p:nvCxnSpPr>
        <p:spPr>
          <a:xfrm>
            <a:off x="2454749" y="6285096"/>
            <a:ext cx="612000" cy="0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444" name="Google Shape;444;p21"/>
          <p:cNvCxnSpPr/>
          <p:nvPr/>
        </p:nvCxnSpPr>
        <p:spPr>
          <a:xfrm>
            <a:off x="2454749" y="5591994"/>
            <a:ext cx="612000" cy="0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445" name="Google Shape;445;p21"/>
          <p:cNvSpPr/>
          <p:nvPr/>
        </p:nvSpPr>
        <p:spPr>
          <a:xfrm>
            <a:off x="1296080" y="1818125"/>
            <a:ext cx="247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product-list.html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p21" title="Captura de pantalla 2026-03-30 a la(s) 00.26.23.png"/>
          <p:cNvPicPr preferRelativeResize="0"/>
          <p:nvPr/>
        </p:nvPicPr>
        <p:blipFill rotWithShape="1">
          <a:blip r:embed="rId4">
            <a:alphaModFix/>
          </a:blip>
          <a:srcRect b="66031" l="0" r="17641" t="0"/>
          <a:stretch/>
        </p:blipFill>
        <p:spPr>
          <a:xfrm>
            <a:off x="1390200" y="2095113"/>
            <a:ext cx="6363577" cy="218989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7" name="Google Shape;447;p21" title="Captura de pantalla 2026-03-30 a la(s) 00.28.40.png"/>
          <p:cNvPicPr preferRelativeResize="0"/>
          <p:nvPr/>
        </p:nvPicPr>
        <p:blipFill rotWithShape="1">
          <a:blip r:embed="rId5">
            <a:alphaModFix/>
          </a:blip>
          <a:srcRect b="0" l="0" r="0" t="75515"/>
          <a:stretch/>
        </p:blipFill>
        <p:spPr>
          <a:xfrm>
            <a:off x="2454750" y="5710487"/>
            <a:ext cx="4234474" cy="45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52" name="Google Shape;452;p2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2"/>
          <p:cNvSpPr txBox="1"/>
          <p:nvPr/>
        </p:nvSpPr>
        <p:spPr>
          <a:xfrm>
            <a:off x="1144588" y="185738"/>
            <a:ext cx="769473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Pasar Parámetros de un Componente a Otro</a:t>
            </a:r>
            <a:endParaRPr/>
          </a:p>
        </p:txBody>
      </p:sp>
      <p:cxnSp>
        <p:nvCxnSpPr>
          <p:cNvPr id="454" name="Google Shape;454;p2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5" name="Google Shape;455;p2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descr="https://lh4.googleusercontent.com/LXGJ6wz16oMcj7gLEIDlmPCUX0yPXUoPacqLy2ILELbctpjz7XOU4qeQkC75_kPAZ_uuhe8FXLfe53gbPkXRAMXyRqkbv3zMWMduV9S2_cvvZaOtEUBN0NVsQuG5NU-0XM7bmM1Y" id="456" name="Google Shape;456;p22"/>
          <p:cNvPicPr preferRelativeResize="0"/>
          <p:nvPr/>
        </p:nvPicPr>
        <p:blipFill rotWithShape="1">
          <a:blip r:embed="rId4">
            <a:alphaModFix/>
          </a:blip>
          <a:srcRect b="9290" l="24317" r="24786" t="17422"/>
          <a:stretch/>
        </p:blipFill>
        <p:spPr>
          <a:xfrm>
            <a:off x="5571516" y="2936591"/>
            <a:ext cx="3284414" cy="2690589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2"/>
          <p:cNvSpPr/>
          <p:nvPr/>
        </p:nvSpPr>
        <p:spPr>
          <a:xfrm>
            <a:off x="598462" y="1183207"/>
            <a:ext cx="825746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pasar parámetros desde el componente padre al componente hijo de forma tradicional se utiliza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@Input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8" name="Google Shape;458;p22"/>
          <p:cNvSpPr/>
          <p:nvPr/>
        </p:nvSpPr>
        <p:spPr>
          <a:xfrm>
            <a:off x="5773375" y="3785808"/>
            <a:ext cx="648000" cy="212063"/>
          </a:xfrm>
          <a:prstGeom prst="rect">
            <a:avLst/>
          </a:prstGeom>
          <a:solidFill>
            <a:srgbClr val="9ED4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2"/>
          <p:cNvSpPr/>
          <p:nvPr/>
        </p:nvSpPr>
        <p:spPr>
          <a:xfrm>
            <a:off x="7937945" y="3785808"/>
            <a:ext cx="734388" cy="212063"/>
          </a:xfrm>
          <a:prstGeom prst="rect">
            <a:avLst/>
          </a:prstGeom>
          <a:solidFill>
            <a:srgbClr val="9ED4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2"/>
          <p:cNvSpPr/>
          <p:nvPr/>
        </p:nvSpPr>
        <p:spPr>
          <a:xfrm>
            <a:off x="838861" y="1989220"/>
            <a:ext cx="171393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app.html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2"/>
          <p:cNvSpPr/>
          <p:nvPr/>
        </p:nvSpPr>
        <p:spPr>
          <a:xfrm>
            <a:off x="860373" y="2755811"/>
            <a:ext cx="230864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product-list.ts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2"/>
          <p:cNvSpPr txBox="1"/>
          <p:nvPr/>
        </p:nvSpPr>
        <p:spPr>
          <a:xfrm>
            <a:off x="5734781" y="3472006"/>
            <a:ext cx="958917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&lt;app-producto-list&gt;</a:t>
            </a:r>
            <a:endParaRPr/>
          </a:p>
        </p:txBody>
      </p:sp>
      <p:sp>
        <p:nvSpPr>
          <p:cNvPr id="463" name="Google Shape;463;p22"/>
          <p:cNvSpPr txBox="1"/>
          <p:nvPr/>
        </p:nvSpPr>
        <p:spPr>
          <a:xfrm>
            <a:off x="7754348" y="3490199"/>
            <a:ext cx="984565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&lt;/app-producto-list&gt;</a:t>
            </a:r>
            <a:endParaRPr/>
          </a:p>
        </p:txBody>
      </p:sp>
      <p:pic>
        <p:nvPicPr>
          <p:cNvPr id="464" name="Google Shape;464;p22" title="Captura de pantalla 2026-03-30 a la(s) 00.54.5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7300" y="2226450"/>
            <a:ext cx="5249838" cy="462375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</p:pic>
      <p:sp>
        <p:nvSpPr>
          <p:cNvPr id="465" name="Google Shape;465;p22"/>
          <p:cNvSpPr/>
          <p:nvPr/>
        </p:nvSpPr>
        <p:spPr>
          <a:xfrm>
            <a:off x="2914794" y="2415235"/>
            <a:ext cx="1657200" cy="21390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2"/>
          <p:cNvSpPr/>
          <p:nvPr/>
        </p:nvSpPr>
        <p:spPr>
          <a:xfrm>
            <a:off x="4323749" y="1859317"/>
            <a:ext cx="2212800" cy="462300"/>
          </a:xfrm>
          <a:prstGeom prst="wedgeRectCallout">
            <a:avLst>
              <a:gd fmla="val -73283" name="adj1"/>
              <a:gd fmla="val 64946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El parámetro corresponde al arreglo de datos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7" name="Google Shape;467;p22" title="Captura de pantalla 2026-03-30 a la(s) 00.57.1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7300" y="3016439"/>
            <a:ext cx="4656062" cy="2530887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2"/>
          <p:cNvSpPr/>
          <p:nvPr/>
        </p:nvSpPr>
        <p:spPr>
          <a:xfrm>
            <a:off x="3061703" y="3053964"/>
            <a:ext cx="428400" cy="18000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2"/>
          <p:cNvSpPr/>
          <p:nvPr/>
        </p:nvSpPr>
        <p:spPr>
          <a:xfrm>
            <a:off x="1532474" y="5130525"/>
            <a:ext cx="1293300" cy="22260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g396a4d9ba4e_0_82" title="Captura de pantalla 2026-03-30 a la(s) 00.58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300" y="3011475"/>
            <a:ext cx="4830109" cy="2343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475" name="Google Shape;475;g396a4d9ba4e_0_82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g396a4d9ba4e_0_82"/>
          <p:cNvSpPr txBox="1"/>
          <p:nvPr/>
        </p:nvSpPr>
        <p:spPr>
          <a:xfrm>
            <a:off x="1144588" y="185738"/>
            <a:ext cx="769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Pasar Parámetros de un Componente a Otro</a:t>
            </a:r>
            <a:endParaRPr/>
          </a:p>
        </p:txBody>
      </p:sp>
      <p:cxnSp>
        <p:nvCxnSpPr>
          <p:cNvPr id="477" name="Google Shape;477;g396a4d9ba4e_0_82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8" name="Google Shape;478;g396a4d9ba4e_0_82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79" name="Google Shape;479;g396a4d9ba4e_0_82"/>
          <p:cNvSpPr/>
          <p:nvPr/>
        </p:nvSpPr>
        <p:spPr>
          <a:xfrm>
            <a:off x="598462" y="1183207"/>
            <a:ext cx="8257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pasar parámetros desde el componente padre al componente hijo de forma </a:t>
            </a:r>
            <a:r>
              <a:rPr lang="es-CL" sz="1800">
                <a:solidFill>
                  <a:schemeClr val="dk1"/>
                </a:solidFill>
              </a:rPr>
              <a:t>moderna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utiliza la señal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nput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0" name="Google Shape;480;g396a4d9ba4e_0_82"/>
          <p:cNvSpPr/>
          <p:nvPr/>
        </p:nvSpPr>
        <p:spPr>
          <a:xfrm>
            <a:off x="838861" y="1989220"/>
            <a:ext cx="171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app.html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96a4d9ba4e_0_82"/>
          <p:cNvSpPr/>
          <p:nvPr/>
        </p:nvSpPr>
        <p:spPr>
          <a:xfrm>
            <a:off x="860373" y="2755811"/>
            <a:ext cx="2308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product-list.ts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2" name="Google Shape;482;g396a4d9ba4e_0_82" title="Captura de pantalla 2026-03-30 a la(s) 00.54.5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7300" y="2226450"/>
            <a:ext cx="5249838" cy="462375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</p:pic>
      <p:sp>
        <p:nvSpPr>
          <p:cNvPr id="483" name="Google Shape;483;g396a4d9ba4e_0_82"/>
          <p:cNvSpPr/>
          <p:nvPr/>
        </p:nvSpPr>
        <p:spPr>
          <a:xfrm>
            <a:off x="2914794" y="2415235"/>
            <a:ext cx="1657200" cy="21390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396a4d9ba4e_0_82"/>
          <p:cNvSpPr/>
          <p:nvPr/>
        </p:nvSpPr>
        <p:spPr>
          <a:xfrm>
            <a:off x="4323749" y="1859317"/>
            <a:ext cx="2212800" cy="462300"/>
          </a:xfrm>
          <a:prstGeom prst="wedgeRectCallout">
            <a:avLst>
              <a:gd fmla="val -73283" name="adj1"/>
              <a:gd fmla="val 64946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El parámetro corresponde al arreglo de datos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g396a4d9ba4e_0_82"/>
          <p:cNvSpPr/>
          <p:nvPr/>
        </p:nvSpPr>
        <p:spPr>
          <a:xfrm>
            <a:off x="2914803" y="3032689"/>
            <a:ext cx="428400" cy="18000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396a4d9ba4e_0_82"/>
          <p:cNvSpPr/>
          <p:nvPr/>
        </p:nvSpPr>
        <p:spPr>
          <a:xfrm>
            <a:off x="1439325" y="4929650"/>
            <a:ext cx="4132200" cy="22260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lh4.googleusercontent.com/LXGJ6wz16oMcj7gLEIDlmPCUX0yPXUoPacqLy2ILELbctpjz7XOU4qeQkC75_kPAZ_uuhe8FXLfe53gbPkXRAMXyRqkbv3zMWMduV9S2_cvvZaOtEUBN0NVsQuG5NU-0XM7bmM1Y" id="487" name="Google Shape;487;g396a4d9ba4e_0_82"/>
          <p:cNvPicPr preferRelativeResize="0"/>
          <p:nvPr/>
        </p:nvPicPr>
        <p:blipFill rotWithShape="1">
          <a:blip r:embed="rId6">
            <a:alphaModFix/>
          </a:blip>
          <a:srcRect b="9293" l="24318" r="24786" t="17420"/>
          <a:stretch/>
        </p:blipFill>
        <p:spPr>
          <a:xfrm>
            <a:off x="5571516" y="2936591"/>
            <a:ext cx="3284413" cy="2690589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g396a4d9ba4e_0_82"/>
          <p:cNvSpPr/>
          <p:nvPr/>
        </p:nvSpPr>
        <p:spPr>
          <a:xfrm>
            <a:off x="5773375" y="3785808"/>
            <a:ext cx="648000" cy="212100"/>
          </a:xfrm>
          <a:prstGeom prst="rect">
            <a:avLst/>
          </a:prstGeom>
          <a:solidFill>
            <a:srgbClr val="9ED4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396a4d9ba4e_0_82"/>
          <p:cNvSpPr/>
          <p:nvPr/>
        </p:nvSpPr>
        <p:spPr>
          <a:xfrm>
            <a:off x="7937945" y="3785808"/>
            <a:ext cx="734400" cy="212100"/>
          </a:xfrm>
          <a:prstGeom prst="rect">
            <a:avLst/>
          </a:prstGeom>
          <a:solidFill>
            <a:srgbClr val="9ED4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g396a4d9ba4e_0_82"/>
          <p:cNvSpPr txBox="1"/>
          <p:nvPr/>
        </p:nvSpPr>
        <p:spPr>
          <a:xfrm>
            <a:off x="5734781" y="3472006"/>
            <a:ext cx="958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&lt;app-producto-list&gt;</a:t>
            </a:r>
            <a:endParaRPr/>
          </a:p>
        </p:txBody>
      </p:sp>
      <p:sp>
        <p:nvSpPr>
          <p:cNvPr id="491" name="Google Shape;491;g396a4d9ba4e_0_82"/>
          <p:cNvSpPr txBox="1"/>
          <p:nvPr/>
        </p:nvSpPr>
        <p:spPr>
          <a:xfrm>
            <a:off x="7754348" y="3490199"/>
            <a:ext cx="98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&lt;/app-producto-list&gt;</a:t>
            </a:r>
            <a:endParaRPr/>
          </a:p>
        </p:txBody>
      </p:sp>
      <p:sp>
        <p:nvSpPr>
          <p:cNvPr id="492" name="Google Shape;492;g396a4d9ba4e_0_82"/>
          <p:cNvSpPr/>
          <p:nvPr/>
        </p:nvSpPr>
        <p:spPr>
          <a:xfrm>
            <a:off x="2093400" y="5536450"/>
            <a:ext cx="1249800" cy="398400"/>
          </a:xfrm>
          <a:prstGeom prst="wedgeRectCallout">
            <a:avLst>
              <a:gd fmla="val 26297" name="adj1"/>
              <a:gd fmla="val -145143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Tipo de dato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96a4d9ba4e_0_82"/>
          <p:cNvSpPr/>
          <p:nvPr/>
        </p:nvSpPr>
        <p:spPr>
          <a:xfrm>
            <a:off x="3759225" y="4335400"/>
            <a:ext cx="1249800" cy="398400"/>
          </a:xfrm>
          <a:prstGeom prst="wedgeRectCallout">
            <a:avLst>
              <a:gd fmla="val -42551" name="adj1"/>
              <a:gd fmla="val 105020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Valor inicial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396a4d9ba4e_0_82"/>
          <p:cNvSpPr/>
          <p:nvPr/>
        </p:nvSpPr>
        <p:spPr>
          <a:xfrm>
            <a:off x="3947100" y="5536438"/>
            <a:ext cx="1249800" cy="398400"/>
          </a:xfrm>
          <a:prstGeom prst="wedgeRectCallout">
            <a:avLst>
              <a:gd fmla="val 26297" name="adj1"/>
              <a:gd fmla="val -145143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Nombre en HTML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396a4d9ba4e_0_82"/>
          <p:cNvSpPr/>
          <p:nvPr/>
        </p:nvSpPr>
        <p:spPr>
          <a:xfrm>
            <a:off x="937300" y="4335400"/>
            <a:ext cx="1249800" cy="398400"/>
          </a:xfrm>
          <a:prstGeom prst="wedgeRectCallout">
            <a:avLst>
              <a:gd fmla="val 21501" name="adj1"/>
              <a:gd fmla="val 115644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Nombre en el componente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g396a4d9ba4e_0_109" title="Captura de pantalla 2026-03-30 a la(s) 01.08.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6950" y="2303645"/>
            <a:ext cx="6550099" cy="3966405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</p:pic>
      <p:pic>
        <p:nvPicPr>
          <p:cNvPr descr="Resultado de imagen para angular logos" id="501" name="Google Shape;501;g396a4d9ba4e_0_109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g396a4d9ba4e_0_109"/>
          <p:cNvSpPr txBox="1"/>
          <p:nvPr/>
        </p:nvSpPr>
        <p:spPr>
          <a:xfrm>
            <a:off x="1144588" y="185738"/>
            <a:ext cx="769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Pasar Parámetros de un Componente a Otro</a:t>
            </a:r>
            <a:endParaRPr/>
          </a:p>
        </p:txBody>
      </p:sp>
      <p:cxnSp>
        <p:nvCxnSpPr>
          <p:cNvPr id="503" name="Google Shape;503;g396a4d9ba4e_0_109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4" name="Google Shape;504;g396a4d9ba4e_0_109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505" name="Google Shape;505;g396a4d9ba4e_0_109"/>
          <p:cNvSpPr/>
          <p:nvPr/>
        </p:nvSpPr>
        <p:spPr>
          <a:xfrm>
            <a:off x="598462" y="1183207"/>
            <a:ext cx="8257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Esto ahora es un signal, por lo tanto el acceso a la información de la señal ahora debe ser como función.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6" name="Google Shape;506;g396a4d9ba4e_0_109"/>
          <p:cNvSpPr/>
          <p:nvPr/>
        </p:nvSpPr>
        <p:spPr>
          <a:xfrm>
            <a:off x="1244044" y="2026745"/>
            <a:ext cx="171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product-list</a:t>
            </a: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.html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g396a4d9ba4e_0_109"/>
          <p:cNvSpPr/>
          <p:nvPr/>
        </p:nvSpPr>
        <p:spPr>
          <a:xfrm>
            <a:off x="2552754" y="3970975"/>
            <a:ext cx="2760000" cy="21390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g396a4d9ba4e_0_109"/>
          <p:cNvSpPr txBox="1"/>
          <p:nvPr/>
        </p:nvSpPr>
        <p:spPr>
          <a:xfrm>
            <a:off x="6244100" y="1566350"/>
            <a:ext cx="2488800" cy="8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Desafio</a:t>
            </a:r>
            <a:r>
              <a:rPr lang="es-CL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 Como usar @Output o output.</a:t>
            </a:r>
            <a:endParaRPr sz="2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513" name="Google Shape;513;g396a4d9ba4e_0_135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g396a4d9ba4e_0_135"/>
          <p:cNvSpPr txBox="1"/>
          <p:nvPr/>
        </p:nvSpPr>
        <p:spPr>
          <a:xfrm>
            <a:off x="1144588" y="185738"/>
            <a:ext cx="769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Hoy aprendimos</a:t>
            </a:r>
            <a:endParaRPr/>
          </a:p>
        </p:txBody>
      </p:sp>
      <p:cxnSp>
        <p:nvCxnSpPr>
          <p:cNvPr id="515" name="Google Shape;515;g396a4d9ba4e_0_135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6" name="Google Shape;516;g396a4d9ba4e_0_135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517" name="Google Shape;517;g396a4d9ba4e_0_135"/>
          <p:cNvSpPr/>
          <p:nvPr/>
        </p:nvSpPr>
        <p:spPr>
          <a:xfrm>
            <a:off x="598450" y="1183210"/>
            <a:ext cx="82575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Qué</a:t>
            </a:r>
            <a:r>
              <a:rPr lang="es-CL" sz="1800">
                <a:solidFill>
                  <a:schemeClr val="dk1"/>
                </a:solidFill>
              </a:rPr>
              <a:t> son las Directivas.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Tipos de Directivas.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Controlar el HTML.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Crear Directiva Personalizada.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Evolución de Angular (@if, @for, @switch, input).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</a:rPr>
              <a:t>Angular hoy = más simple y más claro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