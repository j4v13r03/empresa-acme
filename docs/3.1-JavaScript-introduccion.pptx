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9144000"/>
  <p:notesSz cx="7086600" cy="8526450"/>
  <p:embeddedFontLst>
    <p:embeddedFont>
      <p:font typeface="Constantia"/>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jVJQi8vK+yhN0qr8ffN/VRL8jL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9E61CA-AB93-4F39-80C6-9D002EFDE998}">
  <a:tblStyle styleId="{9D9E61CA-AB93-4F39-80C6-9D002EFDE9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E30BA75-7A84-473B-B3B6-DAF9EAA9C7E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Constantia-bold.fntdata"/><Relationship Id="rId21" Type="http://schemas.openxmlformats.org/officeDocument/2006/relationships/slide" Target="slides/slide15.xml"/><Relationship Id="rId43" Type="http://schemas.openxmlformats.org/officeDocument/2006/relationships/font" Target="fonts/Constantia-regular.fntdata"/><Relationship Id="rId24" Type="http://schemas.openxmlformats.org/officeDocument/2006/relationships/slide" Target="slides/slide18.xml"/><Relationship Id="rId46" Type="http://schemas.openxmlformats.org/officeDocument/2006/relationships/font" Target="fonts/Constantia-boldItalic.fntdata"/><Relationship Id="rId23" Type="http://schemas.openxmlformats.org/officeDocument/2006/relationships/slide" Target="slides/slide17.xml"/><Relationship Id="rId45" Type="http://schemas.openxmlformats.org/officeDocument/2006/relationships/font" Target="fonts/Constanti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1812" cy="4286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013200" y="0"/>
            <a:ext cx="3071812" cy="4286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09612" y="4103687"/>
            <a:ext cx="5667375" cy="33575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097837"/>
            <a:ext cx="3071812" cy="4286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013200" y="8097837"/>
            <a:ext cx="3071812" cy="4286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709612" y="4103687"/>
            <a:ext cx="5667375" cy="33575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nvSpPr>
        <p:spPr>
          <a:xfrm>
            <a:off x="4013200" y="8097837"/>
            <a:ext cx="3071812" cy="4286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Clr>
                <a:schemeClr val="dk1"/>
              </a:buClr>
              <a:buSzPts val="1100"/>
              <a:buFont typeface="Arial"/>
              <a:buNone/>
            </a:pPr>
            <a:r>
              <a:rPr lang="en-US" sz="1000">
                <a:solidFill>
                  <a:schemeClr val="dk1"/>
                </a:solidFill>
              </a:rPr>
              <a:t>¿Qué pasa si queremos que la página </a:t>
            </a:r>
            <a:r>
              <a:rPr b="1" lang="en-US" sz="1000">
                <a:solidFill>
                  <a:schemeClr val="dk1"/>
                </a:solidFill>
              </a:rPr>
              <a:t>reaccione a lo que hace el usuario</a:t>
            </a:r>
            <a:r>
              <a:rPr lang="en-US" sz="1000">
                <a:solidFill>
                  <a:schemeClr val="dk1"/>
                </a:solidFill>
              </a:rPr>
              <a:t>?</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US" sz="1000">
                <a:solidFill>
                  <a:schemeClr val="dk1"/>
                </a:solidFill>
              </a:rPr>
              <a:t>que un botón haga algo</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rPr>
              <a:t>que aparezca un mensaje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rPr>
              <a:t>que un formulario valide datos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rPr>
              <a:t>que el contenido cambie sin recargar la página</a:t>
            </a:r>
            <a:endParaRPr sz="1000">
              <a:solidFill>
                <a:schemeClr val="dk1"/>
              </a:solidFill>
            </a:endParaRPr>
          </a:p>
          <a:p>
            <a:pPr indent="0" lvl="0" marL="0" rtl="0" algn="l">
              <a:spcBef>
                <a:spcPts val="1200"/>
              </a:spcBef>
              <a:spcAft>
                <a:spcPts val="0"/>
              </a:spcAft>
              <a:buNone/>
            </a:pPr>
            <a:r>
              <a:rPr lang="en-US" sz="1000">
                <a:solidFill>
                  <a:schemeClr val="dk1"/>
                </a:solidFill>
              </a:rPr>
              <a:t>Con HTML y CSS solos, eso </a:t>
            </a:r>
            <a:r>
              <a:rPr b="1" lang="en-US" sz="1000">
                <a:solidFill>
                  <a:schemeClr val="dk1"/>
                </a:solidFill>
              </a:rPr>
              <a:t>no es posible</a:t>
            </a:r>
            <a:r>
              <a:rPr lang="en-US" sz="1000">
                <a:solidFill>
                  <a:schemeClr val="dk1"/>
                </a:solidFill>
              </a:rPr>
              <a: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US" sz="1000">
                <a:solidFill>
                  <a:schemeClr val="dk1"/>
                </a:solidFill>
              </a:rPr>
              <a:t>¿Qué cosas hacen ustedes hoy en una página web que no serían posibles sin JavaScript?</a:t>
            </a:r>
            <a:endParaRPr sz="1000">
              <a:solidFill>
                <a:schemeClr val="dk1"/>
              </a:solidFill>
            </a:endParaRPr>
          </a:p>
        </p:txBody>
      </p:sp>
      <p:sp>
        <p:nvSpPr>
          <p:cNvPr id="99" name="Google Shape;99;p2: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6094b1242_0_74:notes"/>
          <p:cNvSpPr txBox="1"/>
          <p:nvPr>
            <p:ph idx="1" type="body"/>
          </p:nvPr>
        </p:nvSpPr>
        <p:spPr>
          <a:xfrm>
            <a:off x="709612" y="4103687"/>
            <a:ext cx="5667300" cy="3357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000">
              <a:solidFill>
                <a:schemeClr val="dk1"/>
              </a:solidFill>
            </a:endParaRPr>
          </a:p>
        </p:txBody>
      </p:sp>
      <p:sp>
        <p:nvSpPr>
          <p:cNvPr id="111" name="Google Shape;111;g396094b1242_0_74:notes"/>
          <p:cNvSpPr/>
          <p:nvPr>
            <p:ph idx="2" type="sldImg"/>
          </p:nvPr>
        </p:nvSpPr>
        <p:spPr>
          <a:xfrm>
            <a:off x="1624012" y="1065212"/>
            <a:ext cx="3838500" cy="2878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6094b1242_0_30:notes"/>
          <p:cNvSpPr txBox="1"/>
          <p:nvPr>
            <p:ph idx="1" type="body"/>
          </p:nvPr>
        </p:nvSpPr>
        <p:spPr>
          <a:xfrm>
            <a:off x="709612" y="4103687"/>
            <a:ext cx="5667300" cy="3357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Javascript = Java mezclado con otra cosa</a:t>
            </a:r>
            <a:endParaRPr/>
          </a:p>
        </p:txBody>
      </p:sp>
      <p:sp>
        <p:nvSpPr>
          <p:cNvPr id="120" name="Google Shape;120;g396094b1242_0_30:notes"/>
          <p:cNvSpPr/>
          <p:nvPr>
            <p:ph idx="2" type="sldImg"/>
          </p:nvPr>
        </p:nvSpPr>
        <p:spPr>
          <a:xfrm>
            <a:off x="1624012" y="1065212"/>
            <a:ext cx="3838500" cy="2878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3: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4: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6: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7: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9: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6094b1242_0_2:notes"/>
          <p:cNvSpPr txBox="1"/>
          <p:nvPr>
            <p:ph idx="1" type="body"/>
          </p:nvPr>
        </p:nvSpPr>
        <p:spPr>
          <a:xfrm>
            <a:off x="709612" y="4103687"/>
            <a:ext cx="5667300" cy="3357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96094b1242_0_2:notes"/>
          <p:cNvSpPr/>
          <p:nvPr>
            <p:ph idx="2" type="sldImg"/>
          </p:nvPr>
        </p:nvSpPr>
        <p:spPr>
          <a:xfrm>
            <a:off x="1624012" y="1065212"/>
            <a:ext cx="3838500" cy="2878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0: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1: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2: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2: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3: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3: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4: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6: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7: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7: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8: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8: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9: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0: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0: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1: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1: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2: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2: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3: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3: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4: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24: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6094b1242_0_86:notes"/>
          <p:cNvSpPr txBox="1"/>
          <p:nvPr>
            <p:ph idx="1" type="body"/>
          </p:nvPr>
        </p:nvSpPr>
        <p:spPr>
          <a:xfrm>
            <a:off x="709612" y="4103687"/>
            <a:ext cx="5667300" cy="3357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g396094b1242_0_86:notes"/>
          <p:cNvSpPr/>
          <p:nvPr>
            <p:ph idx="2" type="sldImg"/>
          </p:nvPr>
        </p:nvSpPr>
        <p:spPr>
          <a:xfrm>
            <a:off x="1624012" y="1065212"/>
            <a:ext cx="3838500" cy="2878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5: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6: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6: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7: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7: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8: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8: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9: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29: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0: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30: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1: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31: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2:notes"/>
          <p:cNvSpPr txBox="1"/>
          <p:nvPr>
            <p:ph idx="1" type="body"/>
          </p:nvPr>
        </p:nvSpPr>
        <p:spPr>
          <a:xfrm>
            <a:off x="709612" y="4103687"/>
            <a:ext cx="5667375" cy="33575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32:notes"/>
          <p:cNvSpPr/>
          <p:nvPr>
            <p:ph idx="2" type="sldImg"/>
          </p:nvPr>
        </p:nvSpPr>
        <p:spPr>
          <a:xfrm>
            <a:off x="1624012" y="1065212"/>
            <a:ext cx="3838575" cy="28781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4"/>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21" name="Shape 21"/>
        <p:cNvGrpSpPr/>
        <p:nvPr/>
      </p:nvGrpSpPr>
      <p:grpSpPr>
        <a:xfrm>
          <a:off x="0" y="0"/>
          <a:ext cx="0" cy="0"/>
          <a:chOff x="0" y="0"/>
          <a:chExt cx="0" cy="0"/>
        </a:xfrm>
      </p:grpSpPr>
      <p:sp>
        <p:nvSpPr>
          <p:cNvPr id="22" name="Google Shape;22;p3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6" name="Shape 26"/>
        <p:cNvGrpSpPr/>
        <p:nvPr/>
      </p:nvGrpSpPr>
      <p:grpSpPr>
        <a:xfrm>
          <a:off x="0" y="0"/>
          <a:ext cx="0" cy="0"/>
          <a:chOff x="0" y="0"/>
          <a:chExt cx="0" cy="0"/>
        </a:xfrm>
      </p:grpSpPr>
      <p:sp>
        <p:nvSpPr>
          <p:cNvPr id="27" name="Google Shape;27;p3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 name="Google Shape;28;p3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3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32" name="Shape 32"/>
        <p:cNvGrpSpPr/>
        <p:nvPr/>
      </p:nvGrpSpPr>
      <p:grpSpPr>
        <a:xfrm>
          <a:off x="0" y="0"/>
          <a:ext cx="0" cy="0"/>
          <a:chOff x="0" y="0"/>
          <a:chExt cx="0" cy="0"/>
        </a:xfrm>
      </p:grpSpPr>
      <p:sp>
        <p:nvSpPr>
          <p:cNvPr id="33" name="Google Shape;33;p3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4" name="Google Shape;34;p37"/>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 name="Google Shape;35;p3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38" name="Shape 38"/>
        <p:cNvGrpSpPr/>
        <p:nvPr/>
      </p:nvGrpSpPr>
      <p:grpSpPr>
        <a:xfrm>
          <a:off x="0" y="0"/>
          <a:ext cx="0" cy="0"/>
          <a:chOff x="0" y="0"/>
          <a:chExt cx="0" cy="0"/>
        </a:xfrm>
      </p:grpSpPr>
      <p:sp>
        <p:nvSpPr>
          <p:cNvPr id="39" name="Google Shape;39;p3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38"/>
          <p:cNvSpPr/>
          <p:nvPr>
            <p:ph idx="2" type="pic"/>
          </p:nvPr>
        </p:nvSpPr>
        <p:spPr>
          <a:xfrm>
            <a:off x="3887391" y="987426"/>
            <a:ext cx="4629150" cy="4873625"/>
          </a:xfrm>
          <a:prstGeom prst="rect">
            <a:avLst/>
          </a:prstGeom>
          <a:noFill/>
          <a:ln>
            <a:noFill/>
          </a:ln>
        </p:spPr>
      </p:sp>
      <p:sp>
        <p:nvSpPr>
          <p:cNvPr id="41" name="Google Shape;41;p3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2" name="Google Shape;42;p3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45" name="Shape 45"/>
        <p:cNvGrpSpPr/>
        <p:nvPr/>
      </p:nvGrpSpPr>
      <p:grpSpPr>
        <a:xfrm>
          <a:off x="0" y="0"/>
          <a:ext cx="0" cy="0"/>
          <a:chOff x="0" y="0"/>
          <a:chExt cx="0" cy="0"/>
        </a:xfrm>
      </p:grpSpPr>
      <p:sp>
        <p:nvSpPr>
          <p:cNvPr id="46" name="Google Shape;46;p3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7" name="Google Shape;47;p3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8" name="Google Shape;48;p3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9" name="Google Shape;49;p3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2" name="Shape 52"/>
        <p:cNvGrpSpPr/>
        <p:nvPr/>
      </p:nvGrpSpPr>
      <p:grpSpPr>
        <a:xfrm>
          <a:off x="0" y="0"/>
          <a:ext cx="0" cy="0"/>
          <a:chOff x="0" y="0"/>
          <a:chExt cx="0" cy="0"/>
        </a:xfrm>
      </p:grpSpPr>
      <p:sp>
        <p:nvSpPr>
          <p:cNvPr id="53" name="Google Shape;53;p4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6" name="Shape 56"/>
        <p:cNvGrpSpPr/>
        <p:nvPr/>
      </p:nvGrpSpPr>
      <p:grpSpPr>
        <a:xfrm>
          <a:off x="0" y="0"/>
          <a:ext cx="0" cy="0"/>
          <a:chOff x="0" y="0"/>
          <a:chExt cx="0" cy="0"/>
        </a:xfrm>
      </p:grpSpPr>
      <p:sp>
        <p:nvSpPr>
          <p:cNvPr id="57" name="Google Shape;57;p4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8" name="Google Shape;58;p4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9" name="Google Shape;59;p4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0" name="Google Shape;60;p4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1" name="Google Shape;61;p4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 name="Google Shape;62;p4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5" name="Shape 65"/>
        <p:cNvGrpSpPr/>
        <p:nvPr/>
      </p:nvGrpSpPr>
      <p:grpSpPr>
        <a:xfrm>
          <a:off x="0" y="0"/>
          <a:ext cx="0" cy="0"/>
          <a:chOff x="0" y="0"/>
          <a:chExt cx="0" cy="0"/>
        </a:xfrm>
      </p:grpSpPr>
      <p:sp>
        <p:nvSpPr>
          <p:cNvPr id="66" name="Google Shape;66;p4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42"/>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42"/>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9" name="Google Shape;69;p4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72" name="Shape 72"/>
        <p:cNvGrpSpPr/>
        <p:nvPr/>
      </p:nvGrpSpPr>
      <p:grpSpPr>
        <a:xfrm>
          <a:off x="0" y="0"/>
          <a:ext cx="0" cy="0"/>
          <a:chOff x="0" y="0"/>
          <a:chExt cx="0" cy="0"/>
        </a:xfrm>
      </p:grpSpPr>
      <p:sp>
        <p:nvSpPr>
          <p:cNvPr id="73" name="Google Shape;73;p4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4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75" name="Google Shape;75;p4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78" name="Shape 78"/>
        <p:cNvGrpSpPr/>
        <p:nvPr/>
      </p:nvGrpSpPr>
      <p:grpSpPr>
        <a:xfrm>
          <a:off x="0" y="0"/>
          <a:ext cx="0" cy="0"/>
          <a:chOff x="0" y="0"/>
          <a:chExt cx="0" cy="0"/>
        </a:xfrm>
      </p:grpSpPr>
      <p:sp>
        <p:nvSpPr>
          <p:cNvPr id="79" name="Google Shape;79;p44"/>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4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4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3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5.jpg"/><Relationship Id="rId6"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3352800" y="2157412"/>
            <a:ext cx="5257800" cy="965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FFC000"/>
              </a:buClr>
              <a:buSzPts val="6600"/>
              <a:buFont typeface="Constantia"/>
              <a:buNone/>
            </a:pPr>
            <a:r>
              <a:rPr b="1" i="0" lang="en-US" sz="6600" u="none">
                <a:solidFill>
                  <a:srgbClr val="FFC000"/>
                </a:solidFill>
                <a:latin typeface="Constantia"/>
                <a:ea typeface="Constantia"/>
                <a:cs typeface="Constantia"/>
                <a:sym typeface="Constantia"/>
              </a:rPr>
              <a:t>JavaScript</a:t>
            </a:r>
            <a:endParaRPr/>
          </a:p>
        </p:txBody>
      </p:sp>
      <p:pic>
        <p:nvPicPr>
          <p:cNvPr descr="escudo_color" id="90" name="Google Shape;90;p1"/>
          <p:cNvPicPr preferRelativeResize="0"/>
          <p:nvPr/>
        </p:nvPicPr>
        <p:blipFill rotWithShape="1">
          <a:blip r:embed="rId3">
            <a:alphaModFix/>
          </a:blip>
          <a:srcRect b="0" l="0" r="2507" t="0"/>
          <a:stretch/>
        </p:blipFill>
        <p:spPr>
          <a:xfrm>
            <a:off x="304800" y="304800"/>
            <a:ext cx="1600200" cy="1019175"/>
          </a:xfrm>
          <a:prstGeom prst="rect">
            <a:avLst/>
          </a:prstGeom>
          <a:noFill/>
          <a:ln>
            <a:noFill/>
          </a:ln>
        </p:spPr>
      </p:pic>
      <p:sp>
        <p:nvSpPr>
          <p:cNvPr id="91" name="Google Shape;91;p1"/>
          <p:cNvSpPr txBox="1"/>
          <p:nvPr/>
        </p:nvSpPr>
        <p:spPr>
          <a:xfrm>
            <a:off x="3352800" y="3090862"/>
            <a:ext cx="507841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04040"/>
              </a:buClr>
              <a:buSzPts val="2800"/>
              <a:buFont typeface="Arial"/>
              <a:buNone/>
            </a:pPr>
            <a:r>
              <a:rPr b="1" i="0" lang="en-US" sz="2800" u="none" cap="none" strike="noStrike">
                <a:solidFill>
                  <a:srgbClr val="404040"/>
                </a:solidFill>
                <a:latin typeface="Arial"/>
                <a:ea typeface="Arial"/>
                <a:cs typeface="Arial"/>
                <a:sym typeface="Arial"/>
              </a:rPr>
              <a:t>Introducción</a:t>
            </a:r>
            <a:endParaRPr/>
          </a:p>
        </p:txBody>
      </p:sp>
      <p:sp>
        <p:nvSpPr>
          <p:cNvPr id="92" name="Google Shape;92;p1"/>
          <p:cNvSpPr txBox="1"/>
          <p:nvPr/>
        </p:nvSpPr>
        <p:spPr>
          <a:xfrm>
            <a:off x="3429000" y="3627437"/>
            <a:ext cx="5181600" cy="46037"/>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Resultado de imagen para javascript" id="93" name="Google Shape;93;p1"/>
          <p:cNvPicPr preferRelativeResize="0"/>
          <p:nvPr/>
        </p:nvPicPr>
        <p:blipFill rotWithShape="1">
          <a:blip r:embed="rId4">
            <a:alphaModFix/>
          </a:blip>
          <a:srcRect b="18701" l="13247" r="12173" t="0"/>
          <a:stretch/>
        </p:blipFill>
        <p:spPr>
          <a:xfrm>
            <a:off x="533400" y="2043112"/>
            <a:ext cx="2668587" cy="2908300"/>
          </a:xfrm>
          <a:prstGeom prst="rect">
            <a:avLst/>
          </a:prstGeom>
          <a:noFill/>
          <a:ln>
            <a:noFill/>
          </a:ln>
        </p:spPr>
      </p:pic>
      <p:sp>
        <p:nvSpPr>
          <p:cNvPr id="94" name="Google Shape;94;p1"/>
          <p:cNvSpPr/>
          <p:nvPr/>
        </p:nvSpPr>
        <p:spPr>
          <a:xfrm>
            <a:off x="190500" y="6477000"/>
            <a:ext cx="8724900" cy="312737"/>
          </a:xfrm>
          <a:prstGeom prst="roundRect">
            <a:avLst>
              <a:gd fmla="val 16667" name="adj"/>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95" name="Google Shape;95;p1"/>
          <p:cNvSpPr txBox="1"/>
          <p:nvPr>
            <p:ph idx="1" type="subTitle"/>
          </p:nvPr>
        </p:nvSpPr>
        <p:spPr>
          <a:xfrm>
            <a:off x="762000" y="5095875"/>
            <a:ext cx="7848600" cy="762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404040"/>
              </a:buClr>
              <a:buSzPts val="2000"/>
              <a:buFont typeface="Arial"/>
              <a:buNone/>
            </a:pPr>
            <a:r>
              <a:rPr lang="en-US" sz="2000">
                <a:solidFill>
                  <a:srgbClr val="404040"/>
                </a:solidFill>
              </a:rPr>
              <a:t>César Aguilera Sepúlveda</a:t>
            </a:r>
            <a:endParaRPr/>
          </a:p>
          <a:p>
            <a:pPr indent="0" lvl="0" marL="0" rtl="0" algn="ctr">
              <a:spcBef>
                <a:spcPts val="700"/>
              </a:spcBef>
              <a:spcAft>
                <a:spcPts val="0"/>
              </a:spcAft>
              <a:buClr>
                <a:srgbClr val="0033CC"/>
              </a:buClr>
              <a:buSzPts val="2000"/>
              <a:buNone/>
            </a:pPr>
            <a:r>
              <a:rPr i="1" lang="en-US" sz="2000">
                <a:solidFill>
                  <a:srgbClr val="0033CC"/>
                </a:solidFill>
              </a:rPr>
              <a:t>caguilsepulveda@gmail.com</a:t>
            </a:r>
            <a:endParaRPr sz="2000">
              <a:solidFill>
                <a:srgbClr val="404040"/>
              </a:solidFill>
            </a:endParaRPr>
          </a:p>
        </p:txBody>
      </p:sp>
      <p:pic>
        <p:nvPicPr>
          <p:cNvPr descr="Logotipo&#10;&#10;Descripción generada automáticamente con confianza media" id="96" name="Google Shape;96;p1"/>
          <p:cNvPicPr preferRelativeResize="0"/>
          <p:nvPr/>
        </p:nvPicPr>
        <p:blipFill rotWithShape="1">
          <a:blip r:embed="rId5">
            <a:alphaModFix/>
          </a:blip>
          <a:srcRect b="0" l="0" r="0" t="0"/>
          <a:stretch/>
        </p:blipFill>
        <p:spPr>
          <a:xfrm>
            <a:off x="6583362" y="287337"/>
            <a:ext cx="2027237" cy="118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Resultado de imagen para angular logos" id="101" name="Google Shape;101;p2"/>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cxnSp>
        <p:nvCxnSpPr>
          <p:cNvPr id="102" name="Google Shape;102;p2"/>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103" name="Google Shape;103;p2"/>
          <p:cNvSpPr txBox="1"/>
          <p:nvPr/>
        </p:nvSpPr>
        <p:spPr>
          <a:xfrm>
            <a:off x="1144587" y="185737"/>
            <a:ext cx="3405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lang="en-US" sz="2800">
                <a:solidFill>
                  <a:srgbClr val="0070C0"/>
                </a:solidFill>
              </a:rPr>
              <a:t>Contexto</a:t>
            </a:r>
            <a:endParaRPr/>
          </a:p>
        </p:txBody>
      </p:sp>
      <p:sp>
        <p:nvSpPr>
          <p:cNvPr id="104" name="Google Shape;104;p2"/>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pic>
        <p:nvPicPr>
          <p:cNvPr id="105" name="Google Shape;105;p2" title="intro.jpg"/>
          <p:cNvPicPr preferRelativeResize="0"/>
          <p:nvPr/>
        </p:nvPicPr>
        <p:blipFill>
          <a:blip r:embed="rId4">
            <a:alphaModFix/>
          </a:blip>
          <a:stretch>
            <a:fillRect/>
          </a:stretch>
        </p:blipFill>
        <p:spPr>
          <a:xfrm>
            <a:off x="1680312" y="906357"/>
            <a:ext cx="5783388" cy="5523588"/>
          </a:xfrm>
          <a:prstGeom prst="rect">
            <a:avLst/>
          </a:prstGeom>
          <a:noFill/>
          <a:ln>
            <a:noFill/>
          </a:ln>
        </p:spPr>
      </p:pic>
      <p:sp>
        <p:nvSpPr>
          <p:cNvPr id="106" name="Google Shape;106;p2"/>
          <p:cNvSpPr/>
          <p:nvPr/>
        </p:nvSpPr>
        <p:spPr>
          <a:xfrm>
            <a:off x="5443975" y="989825"/>
            <a:ext cx="2019600" cy="539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7" name="Google Shape;107;p2"/>
          <p:cNvSpPr/>
          <p:nvPr/>
        </p:nvSpPr>
        <p:spPr>
          <a:xfrm>
            <a:off x="3562200" y="1000625"/>
            <a:ext cx="2019600" cy="539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8" name="Google Shape;108;p2"/>
          <p:cNvSpPr/>
          <p:nvPr/>
        </p:nvSpPr>
        <p:spPr>
          <a:xfrm>
            <a:off x="1837425" y="1000625"/>
            <a:ext cx="2019600" cy="5394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Resultado de imagen para angular logos" id="113" name="Google Shape;113;g396094b1242_0_74"/>
          <p:cNvPicPr preferRelativeResize="0"/>
          <p:nvPr/>
        </p:nvPicPr>
        <p:blipFill rotWithShape="1">
          <a:blip r:embed="rId3">
            <a:alphaModFix/>
          </a:blip>
          <a:srcRect b="0" l="51972" r="0" t="0"/>
          <a:stretch/>
        </p:blipFill>
        <p:spPr>
          <a:xfrm>
            <a:off x="227012" y="85725"/>
            <a:ext cx="800100" cy="830262"/>
          </a:xfrm>
          <a:prstGeom prst="rect">
            <a:avLst/>
          </a:prstGeom>
          <a:noFill/>
          <a:ln>
            <a:noFill/>
          </a:ln>
        </p:spPr>
      </p:pic>
      <p:cxnSp>
        <p:nvCxnSpPr>
          <p:cNvPr id="114" name="Google Shape;114;g396094b1242_0_74"/>
          <p:cNvCxnSpPr/>
          <p:nvPr/>
        </p:nvCxnSpPr>
        <p:spPr>
          <a:xfrm>
            <a:off x="1206500" y="858837"/>
            <a:ext cx="7526400" cy="0"/>
          </a:xfrm>
          <a:prstGeom prst="straightConnector1">
            <a:avLst/>
          </a:prstGeom>
          <a:noFill/>
          <a:ln cap="flat" cmpd="sng" w="28575">
            <a:solidFill>
              <a:srgbClr val="2E75B6"/>
            </a:solidFill>
            <a:prstDash val="solid"/>
            <a:miter lim="800000"/>
            <a:headEnd len="med" w="med" type="none"/>
            <a:tailEnd len="med" w="med" type="none"/>
          </a:ln>
        </p:spPr>
      </p:cxnSp>
      <p:sp>
        <p:nvSpPr>
          <p:cNvPr id="115" name="Google Shape;115;g396094b1242_0_74"/>
          <p:cNvSpPr txBox="1"/>
          <p:nvPr/>
        </p:nvSpPr>
        <p:spPr>
          <a:xfrm>
            <a:off x="1144587" y="185737"/>
            <a:ext cx="3405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lang="en-US" sz="2800">
                <a:solidFill>
                  <a:srgbClr val="0070C0"/>
                </a:solidFill>
              </a:rPr>
              <a:t>Contexto</a:t>
            </a:r>
            <a:endParaRPr/>
          </a:p>
        </p:txBody>
      </p:sp>
      <p:sp>
        <p:nvSpPr>
          <p:cNvPr id="116" name="Google Shape;116;g396094b1242_0_74"/>
          <p:cNvSpPr txBox="1"/>
          <p:nvPr/>
        </p:nvSpPr>
        <p:spPr>
          <a:xfrm>
            <a:off x="0" y="6537325"/>
            <a:ext cx="9144000" cy="312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graphicFrame>
        <p:nvGraphicFramePr>
          <p:cNvPr id="117" name="Google Shape;117;g396094b1242_0_74"/>
          <p:cNvGraphicFramePr/>
          <p:nvPr/>
        </p:nvGraphicFramePr>
        <p:xfrm>
          <a:off x="952500" y="2301300"/>
          <a:ext cx="3000000" cy="3000000"/>
        </p:xfrm>
        <a:graphic>
          <a:graphicData uri="http://schemas.openxmlformats.org/drawingml/2006/table">
            <a:tbl>
              <a:tblPr>
                <a:noFill/>
                <a:tableStyleId>{9D9E61CA-AB93-4F39-80C6-9D002EFDE998}</a:tableStyleId>
              </a:tblPr>
              <a:tblGrid>
                <a:gridCol w="3619500"/>
                <a:gridCol w="3619500"/>
              </a:tblGrid>
              <a:tr h="381000">
                <a:tc>
                  <a:txBody>
                    <a:bodyPr/>
                    <a:lstStyle/>
                    <a:p>
                      <a:pPr indent="0" lvl="0" marL="0" rtl="0" algn="l">
                        <a:spcBef>
                          <a:spcPts val="0"/>
                        </a:spcBef>
                        <a:spcAft>
                          <a:spcPts val="0"/>
                        </a:spcAft>
                        <a:buNone/>
                      </a:pPr>
                      <a:r>
                        <a:rPr b="1" lang="en-US" sz="2500"/>
                        <a:t>Tecnolog</a:t>
                      </a:r>
                      <a:r>
                        <a:rPr b="1" lang="en-US" sz="2500"/>
                        <a:t>ía</a:t>
                      </a:r>
                      <a:endParaRPr b="1" sz="2500"/>
                    </a:p>
                  </a:txBody>
                  <a:tcPr marT="91425" marB="91425" marR="91425" marL="91425">
                    <a:solidFill>
                      <a:schemeClr val="lt2"/>
                    </a:solidFill>
                  </a:tcPr>
                </a:tc>
                <a:tc>
                  <a:txBody>
                    <a:bodyPr/>
                    <a:lstStyle/>
                    <a:p>
                      <a:pPr indent="0" lvl="0" marL="0" rtl="0" algn="l">
                        <a:spcBef>
                          <a:spcPts val="0"/>
                        </a:spcBef>
                        <a:spcAft>
                          <a:spcPts val="0"/>
                        </a:spcAft>
                        <a:buNone/>
                      </a:pPr>
                      <a:r>
                        <a:rPr b="1" lang="en-US" sz="2500"/>
                        <a:t>Rol</a:t>
                      </a:r>
                      <a:endParaRPr b="1" sz="2500"/>
                    </a:p>
                  </a:txBody>
                  <a:tcPr marT="91425" marB="91425" marR="91425" marL="91425">
                    <a:solidFill>
                      <a:schemeClr val="lt2"/>
                    </a:solidFill>
                  </a:tcPr>
                </a:tc>
              </a:tr>
              <a:tr h="381000">
                <a:tc>
                  <a:txBody>
                    <a:bodyPr/>
                    <a:lstStyle/>
                    <a:p>
                      <a:pPr indent="0" lvl="0" marL="0" rtl="0" algn="l">
                        <a:spcBef>
                          <a:spcPts val="0"/>
                        </a:spcBef>
                        <a:spcAft>
                          <a:spcPts val="0"/>
                        </a:spcAft>
                        <a:buNone/>
                      </a:pPr>
                      <a:r>
                        <a:rPr lang="en-US" sz="2500"/>
                        <a:t>HTML/HTML5</a:t>
                      </a:r>
                      <a:endParaRPr sz="2500"/>
                    </a:p>
                  </a:txBody>
                  <a:tcPr marT="91425" marB="91425" marR="91425" marL="91425"/>
                </a:tc>
                <a:tc>
                  <a:txBody>
                    <a:bodyPr/>
                    <a:lstStyle/>
                    <a:p>
                      <a:pPr indent="0" lvl="0" marL="0" rtl="0" algn="l">
                        <a:spcBef>
                          <a:spcPts val="0"/>
                        </a:spcBef>
                        <a:spcAft>
                          <a:spcPts val="0"/>
                        </a:spcAft>
                        <a:buNone/>
                      </a:pPr>
                      <a:r>
                        <a:rPr lang="en-US" sz="2500"/>
                        <a:t>Estructura</a:t>
                      </a:r>
                      <a:endParaRPr sz="2500"/>
                    </a:p>
                  </a:txBody>
                  <a:tcPr marT="91425" marB="91425" marR="91425" marL="91425"/>
                </a:tc>
              </a:tr>
              <a:tr h="381000">
                <a:tc>
                  <a:txBody>
                    <a:bodyPr/>
                    <a:lstStyle/>
                    <a:p>
                      <a:pPr indent="0" lvl="0" marL="0" rtl="0" algn="l">
                        <a:spcBef>
                          <a:spcPts val="0"/>
                        </a:spcBef>
                        <a:spcAft>
                          <a:spcPts val="0"/>
                        </a:spcAft>
                        <a:buNone/>
                      </a:pPr>
                      <a:r>
                        <a:rPr lang="en-US" sz="2500"/>
                        <a:t>CSS</a:t>
                      </a:r>
                      <a:endParaRPr sz="2500"/>
                    </a:p>
                  </a:txBody>
                  <a:tcPr marT="91425" marB="91425" marR="91425" marL="91425"/>
                </a:tc>
                <a:tc>
                  <a:txBody>
                    <a:bodyPr/>
                    <a:lstStyle/>
                    <a:p>
                      <a:pPr indent="0" lvl="0" marL="0" rtl="0" algn="l">
                        <a:spcBef>
                          <a:spcPts val="0"/>
                        </a:spcBef>
                        <a:spcAft>
                          <a:spcPts val="0"/>
                        </a:spcAft>
                        <a:buNone/>
                      </a:pPr>
                      <a:r>
                        <a:rPr lang="en-US" sz="2500"/>
                        <a:t>Apariencia</a:t>
                      </a:r>
                      <a:endParaRPr sz="2500"/>
                    </a:p>
                  </a:txBody>
                  <a:tcPr marT="91425" marB="91425" marR="91425" marL="91425"/>
                </a:tc>
              </a:tr>
              <a:tr h="381000">
                <a:tc>
                  <a:txBody>
                    <a:bodyPr/>
                    <a:lstStyle/>
                    <a:p>
                      <a:pPr indent="0" lvl="0" marL="0" rtl="0" algn="l">
                        <a:spcBef>
                          <a:spcPts val="0"/>
                        </a:spcBef>
                        <a:spcAft>
                          <a:spcPts val="0"/>
                        </a:spcAft>
                        <a:buNone/>
                      </a:pPr>
                      <a:r>
                        <a:rPr lang="en-US" sz="2500"/>
                        <a:t>Javascript</a:t>
                      </a:r>
                      <a:endParaRPr sz="2500"/>
                    </a:p>
                  </a:txBody>
                  <a:tcPr marT="91425" marB="91425" marR="91425" marL="91425"/>
                </a:tc>
                <a:tc>
                  <a:txBody>
                    <a:bodyPr/>
                    <a:lstStyle/>
                    <a:p>
                      <a:pPr indent="0" lvl="0" marL="0" rtl="0" algn="l">
                        <a:spcBef>
                          <a:spcPts val="0"/>
                        </a:spcBef>
                        <a:spcAft>
                          <a:spcPts val="0"/>
                        </a:spcAft>
                        <a:buNone/>
                      </a:pPr>
                      <a:r>
                        <a:rPr lang="en-US" sz="2500"/>
                        <a:t>Comportamiento</a:t>
                      </a:r>
                      <a:endParaRPr sz="25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Resultado de imagen para angular logos" id="122" name="Google Shape;122;g396094b1242_0_30"/>
          <p:cNvPicPr preferRelativeResize="0"/>
          <p:nvPr/>
        </p:nvPicPr>
        <p:blipFill rotWithShape="1">
          <a:blip r:embed="rId3">
            <a:alphaModFix/>
          </a:blip>
          <a:srcRect b="0" l="51972" r="0" t="0"/>
          <a:stretch/>
        </p:blipFill>
        <p:spPr>
          <a:xfrm>
            <a:off x="227012" y="85725"/>
            <a:ext cx="800100" cy="830262"/>
          </a:xfrm>
          <a:prstGeom prst="rect">
            <a:avLst/>
          </a:prstGeom>
          <a:noFill/>
          <a:ln>
            <a:noFill/>
          </a:ln>
        </p:spPr>
      </p:pic>
      <p:sp>
        <p:nvSpPr>
          <p:cNvPr id="123" name="Google Shape;123;g396094b1242_0_30"/>
          <p:cNvSpPr txBox="1"/>
          <p:nvPr/>
        </p:nvSpPr>
        <p:spPr>
          <a:xfrm>
            <a:off x="1144587" y="185737"/>
            <a:ext cx="3405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JavaScript vs Java</a:t>
            </a:r>
            <a:endParaRPr/>
          </a:p>
        </p:txBody>
      </p:sp>
      <p:cxnSp>
        <p:nvCxnSpPr>
          <p:cNvPr id="124" name="Google Shape;124;g396094b1242_0_30"/>
          <p:cNvCxnSpPr/>
          <p:nvPr/>
        </p:nvCxnSpPr>
        <p:spPr>
          <a:xfrm>
            <a:off x="1206500" y="858837"/>
            <a:ext cx="7526400" cy="0"/>
          </a:xfrm>
          <a:prstGeom prst="straightConnector1">
            <a:avLst/>
          </a:prstGeom>
          <a:noFill/>
          <a:ln cap="flat" cmpd="sng" w="28575">
            <a:solidFill>
              <a:srgbClr val="2E75B6"/>
            </a:solidFill>
            <a:prstDash val="solid"/>
            <a:miter lim="800000"/>
            <a:headEnd len="med" w="med" type="none"/>
            <a:tailEnd len="med" w="med" type="none"/>
          </a:ln>
        </p:spPr>
      </p:cxnSp>
      <p:sp>
        <p:nvSpPr>
          <p:cNvPr id="125" name="Google Shape;125;g396094b1242_0_30"/>
          <p:cNvSpPr txBox="1"/>
          <p:nvPr/>
        </p:nvSpPr>
        <p:spPr>
          <a:xfrm>
            <a:off x="533400" y="1287462"/>
            <a:ext cx="81993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es interpretado, no compilado</a:t>
            </a:r>
            <a:endParaRPr/>
          </a:p>
        </p:txBody>
      </p:sp>
      <p:sp>
        <p:nvSpPr>
          <p:cNvPr id="126" name="Google Shape;126;g396094b1242_0_30"/>
          <p:cNvSpPr txBox="1"/>
          <p:nvPr/>
        </p:nvSpPr>
        <p:spPr>
          <a:xfrm>
            <a:off x="0" y="6537325"/>
            <a:ext cx="9144000" cy="312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127" name="Google Shape;127;g396094b1242_0_30"/>
          <p:cNvSpPr txBox="1"/>
          <p:nvPr/>
        </p:nvSpPr>
        <p:spPr>
          <a:xfrm>
            <a:off x="7570787" y="0"/>
            <a:ext cx="1282800" cy="598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pic>
        <p:nvPicPr>
          <p:cNvPr id="128" name="Google Shape;128;g396094b1242_0_30"/>
          <p:cNvPicPr preferRelativeResize="0"/>
          <p:nvPr/>
        </p:nvPicPr>
        <p:blipFill rotWithShape="1">
          <a:blip r:embed="rId4">
            <a:alphaModFix/>
          </a:blip>
          <a:srcRect b="55058" l="52788" r="0" t="-385"/>
          <a:stretch/>
        </p:blipFill>
        <p:spPr>
          <a:xfrm>
            <a:off x="2220912" y="4778375"/>
            <a:ext cx="4003675" cy="1338262"/>
          </a:xfrm>
          <a:prstGeom prst="rect">
            <a:avLst/>
          </a:prstGeom>
          <a:noFill/>
          <a:ln>
            <a:noFill/>
          </a:ln>
        </p:spPr>
      </p:pic>
      <p:sp>
        <p:nvSpPr>
          <p:cNvPr id="129" name="Google Shape;129;g396094b1242_0_30"/>
          <p:cNvSpPr txBox="1"/>
          <p:nvPr/>
        </p:nvSpPr>
        <p:spPr>
          <a:xfrm>
            <a:off x="533400" y="1797050"/>
            <a:ext cx="81993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posee una sintaxis y reglas más relajadas</a:t>
            </a:r>
            <a:endParaRPr/>
          </a:p>
        </p:txBody>
      </p:sp>
      <p:sp>
        <p:nvSpPr>
          <p:cNvPr id="130" name="Google Shape;130;g396094b1242_0_30"/>
          <p:cNvSpPr txBox="1"/>
          <p:nvPr/>
        </p:nvSpPr>
        <p:spPr>
          <a:xfrm>
            <a:off x="901700" y="2306637"/>
            <a:ext cx="53229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Pocos y “escondidos” tipos de datos</a:t>
            </a:r>
            <a:endParaRPr/>
          </a:p>
        </p:txBody>
      </p:sp>
      <p:sp>
        <p:nvSpPr>
          <p:cNvPr id="131" name="Google Shape;131;g396094b1242_0_30"/>
          <p:cNvSpPr txBox="1"/>
          <p:nvPr/>
        </p:nvSpPr>
        <p:spPr>
          <a:xfrm>
            <a:off x="901700" y="2733675"/>
            <a:ext cx="53229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Javascript es tipado y dinámico</a:t>
            </a:r>
            <a:endParaRPr/>
          </a:p>
        </p:txBody>
      </p:sp>
      <p:sp>
        <p:nvSpPr>
          <p:cNvPr id="132" name="Google Shape;132;g396094b1242_0_30"/>
          <p:cNvSpPr txBox="1"/>
          <p:nvPr/>
        </p:nvSpPr>
        <p:spPr>
          <a:xfrm>
            <a:off x="838200" y="3114675"/>
            <a:ext cx="4572000" cy="369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Errores silenciosos (pocas excepciones)</a:t>
            </a:r>
            <a:endParaRPr/>
          </a:p>
        </p:txBody>
      </p:sp>
      <p:sp>
        <p:nvSpPr>
          <p:cNvPr id="133" name="Google Shape;133;g396094b1242_0_30"/>
          <p:cNvSpPr txBox="1"/>
          <p:nvPr/>
        </p:nvSpPr>
        <p:spPr>
          <a:xfrm>
            <a:off x="533400" y="3641725"/>
            <a:ext cx="81993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se basa en el desarrollo mediante funciones más que en clases</a:t>
            </a:r>
            <a:endParaRPr/>
          </a:p>
        </p:txBody>
      </p:sp>
      <p:sp>
        <p:nvSpPr>
          <p:cNvPr id="134" name="Google Shape;134;g396094b1242_0_30"/>
          <p:cNvSpPr txBox="1"/>
          <p:nvPr/>
        </p:nvSpPr>
        <p:spPr>
          <a:xfrm>
            <a:off x="538162" y="4073525"/>
            <a:ext cx="8199300" cy="5541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es incluido dentro de páginas web y se integra con contenido HTML/CSS.</a:t>
            </a:r>
            <a:endParaRPr/>
          </a:p>
        </p:txBody>
      </p:sp>
      <p:pic>
        <p:nvPicPr>
          <p:cNvPr descr="Resultado de imagen para logo java" id="135" name="Google Shape;135;g396094b1242_0_30"/>
          <p:cNvPicPr preferRelativeResize="0"/>
          <p:nvPr/>
        </p:nvPicPr>
        <p:blipFill rotWithShape="1">
          <a:blip r:embed="rId5">
            <a:alphaModFix/>
          </a:blip>
          <a:srcRect b="0" l="17874" r="24283" t="0"/>
          <a:stretch/>
        </p:blipFill>
        <p:spPr>
          <a:xfrm>
            <a:off x="2062162" y="4797425"/>
            <a:ext cx="919162" cy="1349375"/>
          </a:xfrm>
          <a:prstGeom prst="rect">
            <a:avLst/>
          </a:prstGeom>
          <a:noFill/>
          <a:ln>
            <a:noFill/>
          </a:ln>
        </p:spPr>
      </p:pic>
      <p:pic>
        <p:nvPicPr>
          <p:cNvPr descr="Resultado de imagen para icon marihuana" id="136" name="Google Shape;136;g396094b1242_0_30"/>
          <p:cNvPicPr preferRelativeResize="0"/>
          <p:nvPr/>
        </p:nvPicPr>
        <p:blipFill rotWithShape="1">
          <a:blip r:embed="rId6">
            <a:alphaModFix/>
          </a:blip>
          <a:srcRect b="8054" l="0" r="0" t="0"/>
          <a:stretch/>
        </p:blipFill>
        <p:spPr>
          <a:xfrm>
            <a:off x="3409950" y="4865687"/>
            <a:ext cx="1274763" cy="1266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Resultado de imagen para angular logos" id="141" name="Google Shape;141;p3"/>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142" name="Google Shape;142;p3"/>
          <p:cNvSpPr txBox="1"/>
          <p:nvPr/>
        </p:nvSpPr>
        <p:spPr>
          <a:xfrm>
            <a:off x="1144587" y="185737"/>
            <a:ext cx="50196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¿Dónde colocar los scripts?</a:t>
            </a:r>
            <a:endParaRPr/>
          </a:p>
        </p:txBody>
      </p:sp>
      <p:cxnSp>
        <p:nvCxnSpPr>
          <p:cNvPr id="143" name="Google Shape;143;p3"/>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144" name="Google Shape;144;p3"/>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145" name="Google Shape;145;p3"/>
          <p:cNvSpPr txBox="1"/>
          <p:nvPr/>
        </p:nvSpPr>
        <p:spPr>
          <a:xfrm>
            <a:off x="533400" y="1147762"/>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código JavaScript se puede ubicar en el HEAD o en el BODY de una página web:</a:t>
            </a:r>
            <a:endParaRPr/>
          </a:p>
        </p:txBody>
      </p:sp>
      <p:sp>
        <p:nvSpPr>
          <p:cNvPr id="146" name="Google Shape;146;p3"/>
          <p:cNvSpPr txBox="1"/>
          <p:nvPr/>
        </p:nvSpPr>
        <p:spPr>
          <a:xfrm>
            <a:off x="1141412" y="1898650"/>
            <a:ext cx="7408862"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En el HEAD se ejecuta antes de que la página sea desplegada</a:t>
            </a:r>
            <a:endParaRPr/>
          </a:p>
        </p:txBody>
      </p:sp>
      <p:sp>
        <p:nvSpPr>
          <p:cNvPr id="147" name="Google Shape;147;p3"/>
          <p:cNvSpPr txBox="1"/>
          <p:nvPr/>
        </p:nvSpPr>
        <p:spPr>
          <a:xfrm>
            <a:off x="1150937" y="2443162"/>
            <a:ext cx="7410450"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En el BODY se ejecuta cuando la página es desplegada</a:t>
            </a:r>
            <a:endParaRPr/>
          </a:p>
        </p:txBody>
      </p:sp>
      <p:sp>
        <p:nvSpPr>
          <p:cNvPr id="148" name="Google Shape;148;p3"/>
          <p:cNvSpPr txBox="1"/>
          <p:nvPr/>
        </p:nvSpPr>
        <p:spPr>
          <a:xfrm>
            <a:off x="627062" y="3152775"/>
            <a:ext cx="7408862" cy="55245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HEAD es el lugar correcto para definir funciones o variables que serán utilizadas posteriormente por los scripts en el BODY.</a:t>
            </a:r>
            <a:endParaRPr/>
          </a:p>
        </p:txBody>
      </p:sp>
      <p:sp>
        <p:nvSpPr>
          <p:cNvPr id="149" name="Google Shape;149;p3"/>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Resultado de imagen para angular logos" id="154" name="Google Shape;154;p4"/>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155" name="Google Shape;155;p4"/>
          <p:cNvSpPr txBox="1"/>
          <p:nvPr/>
        </p:nvSpPr>
        <p:spPr>
          <a:xfrm>
            <a:off x="1144587" y="185737"/>
            <a:ext cx="63182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¿Cómo ejecutar código JavaScript?</a:t>
            </a:r>
            <a:endParaRPr/>
          </a:p>
        </p:txBody>
      </p:sp>
      <p:cxnSp>
        <p:nvCxnSpPr>
          <p:cNvPr id="156" name="Google Shape;156;p4"/>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157" name="Google Shape;157;p4"/>
          <p:cNvSpPr txBox="1"/>
          <p:nvPr/>
        </p:nvSpPr>
        <p:spPr>
          <a:xfrm>
            <a:off x="838200" y="1935162"/>
            <a:ext cx="7894637" cy="276225"/>
          </a:xfrm>
          <a:prstGeom prst="rect">
            <a:avLst/>
          </a:prstGeom>
          <a:no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chemeClr val="dk1"/>
              </a:buClr>
              <a:buSzPts val="1800"/>
              <a:buFont typeface="Calibri"/>
              <a:buAutoNum type="alphaLcParenR"/>
            </a:pPr>
            <a:r>
              <a:rPr b="0" i="0" lang="en-US" sz="1800" u="none">
                <a:solidFill>
                  <a:schemeClr val="dk1"/>
                </a:solidFill>
                <a:latin typeface="Arial"/>
                <a:ea typeface="Arial"/>
                <a:cs typeface="Arial"/>
                <a:sym typeface="Arial"/>
              </a:rPr>
              <a:t>Incrustar código directamente en la página web</a:t>
            </a:r>
            <a:endParaRPr/>
          </a:p>
        </p:txBody>
      </p:sp>
      <p:sp>
        <p:nvSpPr>
          <p:cNvPr id="158" name="Google Shape;158;p4"/>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159" name="Google Shape;159;p4"/>
          <p:cNvSpPr txBox="1"/>
          <p:nvPr/>
        </p:nvSpPr>
        <p:spPr>
          <a:xfrm>
            <a:off x="838200" y="5305425"/>
            <a:ext cx="7894637" cy="276225"/>
          </a:xfrm>
          <a:prstGeom prst="rect">
            <a:avLst/>
          </a:prstGeom>
          <a:no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chemeClr val="dk1"/>
              </a:buClr>
              <a:buSzPts val="1800"/>
              <a:buFont typeface="Calibri"/>
              <a:buAutoNum type="alphaLcParenR" startAt="2"/>
            </a:pPr>
            <a:r>
              <a:rPr b="0" i="0" lang="en-US" sz="1800" u="none">
                <a:solidFill>
                  <a:schemeClr val="dk1"/>
                </a:solidFill>
                <a:latin typeface="Arial"/>
                <a:ea typeface="Arial"/>
                <a:cs typeface="Arial"/>
                <a:sym typeface="Arial"/>
              </a:rPr>
              <a:t>Enlazar un archivo Javascript externo</a:t>
            </a:r>
            <a:endParaRPr/>
          </a:p>
        </p:txBody>
      </p:sp>
      <p:sp>
        <p:nvSpPr>
          <p:cNvPr id="160" name="Google Shape;160;p4"/>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código JavaScript se puede ejecutar por los navegadores web.</a:t>
            </a:r>
            <a:endParaRPr/>
          </a:p>
        </p:txBody>
      </p:sp>
      <p:sp>
        <p:nvSpPr>
          <p:cNvPr id="161" name="Google Shape;161;p4"/>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pic>
        <p:nvPicPr>
          <p:cNvPr id="162" name="Google Shape;162;p4"/>
          <p:cNvPicPr preferRelativeResize="0"/>
          <p:nvPr/>
        </p:nvPicPr>
        <p:blipFill rotWithShape="1">
          <a:blip r:embed="rId4">
            <a:alphaModFix/>
          </a:blip>
          <a:srcRect b="0" l="0" r="0" t="0"/>
          <a:stretch/>
        </p:blipFill>
        <p:spPr>
          <a:xfrm>
            <a:off x="1144587" y="2379662"/>
            <a:ext cx="5264150" cy="2711450"/>
          </a:xfrm>
          <a:prstGeom prst="rect">
            <a:avLst/>
          </a:prstGeom>
          <a:noFill/>
          <a:ln>
            <a:noFill/>
          </a:ln>
        </p:spPr>
      </p:pic>
      <p:pic>
        <p:nvPicPr>
          <p:cNvPr id="163" name="Google Shape;163;p4"/>
          <p:cNvPicPr preferRelativeResize="0"/>
          <p:nvPr/>
        </p:nvPicPr>
        <p:blipFill rotWithShape="1">
          <a:blip r:embed="rId5">
            <a:alphaModFix/>
          </a:blip>
          <a:srcRect b="0" l="0" r="0" t="0"/>
          <a:stretch/>
        </p:blipFill>
        <p:spPr>
          <a:xfrm>
            <a:off x="1206500" y="5719762"/>
            <a:ext cx="3457575" cy="219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Resultado de imagen para angular logos" id="168" name="Google Shape;168;p5"/>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169" name="Google Shape;169;p5"/>
          <p:cNvSpPr txBox="1"/>
          <p:nvPr/>
        </p:nvSpPr>
        <p:spPr>
          <a:xfrm>
            <a:off x="1144587" y="185737"/>
            <a:ext cx="46386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Interacción con el usuario</a:t>
            </a:r>
            <a:endParaRPr/>
          </a:p>
        </p:txBody>
      </p:sp>
      <p:cxnSp>
        <p:nvCxnSpPr>
          <p:cNvPr id="170" name="Google Shape;170;p5"/>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171" name="Google Shape;171;p5"/>
          <p:cNvSpPr txBox="1"/>
          <p:nvPr/>
        </p:nvSpPr>
        <p:spPr>
          <a:xfrm>
            <a:off x="533400" y="1271587"/>
            <a:ext cx="81994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console.log(mensaje)</a:t>
            </a:r>
            <a:endParaRPr/>
          </a:p>
        </p:txBody>
      </p:sp>
      <p:sp>
        <p:nvSpPr>
          <p:cNvPr id="172" name="Google Shape;172;p5"/>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173" name="Google Shape;173;p5"/>
          <p:cNvSpPr txBox="1"/>
          <p:nvPr/>
        </p:nvSpPr>
        <p:spPr>
          <a:xfrm>
            <a:off x="720725" y="1654175"/>
            <a:ext cx="4830762" cy="110807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Muestra un mensaje en la vista de la consola. </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174" name="Google Shape;174;p5"/>
          <p:cNvSpPr txBox="1"/>
          <p:nvPr/>
        </p:nvSpPr>
        <p:spPr>
          <a:xfrm>
            <a:off x="962025" y="2846387"/>
            <a:ext cx="33655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console</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log</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"Hola Mundo!"</a:t>
            </a:r>
            <a:r>
              <a:rPr b="0" i="0" lang="en-US" sz="1600" u="none">
                <a:solidFill>
                  <a:srgbClr val="BF9000"/>
                </a:solidFill>
                <a:latin typeface="Consolas"/>
                <a:ea typeface="Consolas"/>
                <a:cs typeface="Consolas"/>
                <a:sym typeface="Consolas"/>
              </a:rPr>
              <a:t>);</a:t>
            </a:r>
            <a:endParaRPr/>
          </a:p>
        </p:txBody>
      </p:sp>
      <p:sp>
        <p:nvSpPr>
          <p:cNvPr id="175" name="Google Shape;175;p5"/>
          <p:cNvSpPr txBox="1"/>
          <p:nvPr/>
        </p:nvSpPr>
        <p:spPr>
          <a:xfrm>
            <a:off x="720725" y="3973512"/>
            <a:ext cx="3362325" cy="110807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Escribe un texto directamente sobre el documento HTML. </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176" name="Google Shape;176;p5"/>
          <p:cNvSpPr txBox="1"/>
          <p:nvPr/>
        </p:nvSpPr>
        <p:spPr>
          <a:xfrm>
            <a:off x="655637" y="5170487"/>
            <a:ext cx="4651375"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document</a:t>
            </a:r>
            <a:r>
              <a:rPr b="0" i="0" lang="en-US" sz="1600" u="none">
                <a:solidFill>
                  <a:srgbClr val="0070C0"/>
                </a:solidFill>
                <a:latin typeface="Consolas"/>
                <a:ea typeface="Consolas"/>
                <a:cs typeface="Consolas"/>
                <a:sym typeface="Consolas"/>
              </a:rPr>
              <a:t>.write</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"Hola Mundo!"</a:t>
            </a:r>
            <a:r>
              <a:rPr b="0" i="0" lang="en-US" sz="1600" u="none">
                <a:solidFill>
                  <a:srgbClr val="BF9000"/>
                </a:solidFill>
                <a:latin typeface="Consolas"/>
                <a:ea typeface="Consolas"/>
                <a:cs typeface="Consolas"/>
                <a:sym typeface="Consolas"/>
              </a:rPr>
              <a:t>);</a:t>
            </a:r>
            <a:endParaRPr/>
          </a:p>
        </p:txBody>
      </p:sp>
      <p:sp>
        <p:nvSpPr>
          <p:cNvPr id="177" name="Google Shape;177;p5"/>
          <p:cNvSpPr txBox="1"/>
          <p:nvPr/>
        </p:nvSpPr>
        <p:spPr>
          <a:xfrm>
            <a:off x="533400" y="3579812"/>
            <a:ext cx="81994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document.write(mensaje)</a:t>
            </a:r>
            <a:endParaRPr/>
          </a:p>
        </p:txBody>
      </p:sp>
      <p:pic>
        <p:nvPicPr>
          <p:cNvPr id="178" name="Google Shape;178;p5"/>
          <p:cNvPicPr preferRelativeResize="0"/>
          <p:nvPr/>
        </p:nvPicPr>
        <p:blipFill rotWithShape="1">
          <a:blip r:embed="rId4">
            <a:alphaModFix/>
          </a:blip>
          <a:srcRect b="0" l="0" r="0" t="0"/>
          <a:stretch/>
        </p:blipFill>
        <p:spPr>
          <a:xfrm>
            <a:off x="4268787" y="3633787"/>
            <a:ext cx="4552950" cy="2193925"/>
          </a:xfrm>
          <a:prstGeom prst="rect">
            <a:avLst/>
          </a:prstGeom>
          <a:noFill/>
          <a:ln cap="flat" cmpd="sng" w="9525">
            <a:solidFill>
              <a:schemeClr val="dk1"/>
            </a:solidFill>
            <a:prstDash val="solid"/>
            <a:miter lim="800000"/>
            <a:headEnd len="sm" w="sm" type="none"/>
            <a:tailEnd len="sm" w="sm" type="none"/>
          </a:ln>
        </p:spPr>
      </p:pic>
      <p:pic>
        <p:nvPicPr>
          <p:cNvPr id="179" name="Google Shape;179;p5"/>
          <p:cNvPicPr preferRelativeResize="0"/>
          <p:nvPr/>
        </p:nvPicPr>
        <p:blipFill rotWithShape="1">
          <a:blip r:embed="rId5">
            <a:alphaModFix/>
          </a:blip>
          <a:srcRect b="0" l="48678" r="793" t="5952"/>
          <a:stretch/>
        </p:blipFill>
        <p:spPr>
          <a:xfrm>
            <a:off x="5307012" y="1419225"/>
            <a:ext cx="3425825" cy="1746250"/>
          </a:xfrm>
          <a:prstGeom prst="rect">
            <a:avLst/>
          </a:prstGeom>
          <a:noFill/>
          <a:ln cap="flat" cmpd="sng" w="9525">
            <a:solidFill>
              <a:schemeClr val="dk1"/>
            </a:solidFill>
            <a:prstDash val="solid"/>
            <a:miter lim="800000"/>
            <a:headEnd len="sm" w="sm" type="none"/>
            <a:tailEnd len="sm" w="sm" type="none"/>
          </a:ln>
        </p:spPr>
      </p:pic>
      <p:sp>
        <p:nvSpPr>
          <p:cNvPr id="180" name="Google Shape;180;p5"/>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50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Resultado de imagen para angular logos" id="185" name="Google Shape;185;p6"/>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186" name="Google Shape;186;p6"/>
          <p:cNvSpPr txBox="1"/>
          <p:nvPr/>
        </p:nvSpPr>
        <p:spPr>
          <a:xfrm>
            <a:off x="1144587" y="185737"/>
            <a:ext cx="499903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Interacción con el usuario…</a:t>
            </a:r>
            <a:endParaRPr/>
          </a:p>
        </p:txBody>
      </p:sp>
      <p:cxnSp>
        <p:nvCxnSpPr>
          <p:cNvPr id="187" name="Google Shape;187;p6"/>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188" name="Google Shape;188;p6"/>
          <p:cNvSpPr txBox="1"/>
          <p:nvPr/>
        </p:nvSpPr>
        <p:spPr>
          <a:xfrm>
            <a:off x="533400" y="1271587"/>
            <a:ext cx="81994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alert(mensaje)</a:t>
            </a:r>
            <a:endParaRPr/>
          </a:p>
        </p:txBody>
      </p:sp>
      <p:sp>
        <p:nvSpPr>
          <p:cNvPr id="189" name="Google Shape;189;p6"/>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190" name="Google Shape;190;p6"/>
          <p:cNvSpPr txBox="1"/>
          <p:nvPr/>
        </p:nvSpPr>
        <p:spPr>
          <a:xfrm>
            <a:off x="720725" y="1712912"/>
            <a:ext cx="4830762"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Muestra una ventana emergente con un mensaje de alerta. Ejemplo:</a:t>
            </a:r>
            <a:endParaRPr/>
          </a:p>
        </p:txBody>
      </p:sp>
      <p:sp>
        <p:nvSpPr>
          <p:cNvPr id="191" name="Google Shape;191;p6"/>
          <p:cNvSpPr txBox="1"/>
          <p:nvPr/>
        </p:nvSpPr>
        <p:spPr>
          <a:xfrm>
            <a:off x="962025" y="2298700"/>
            <a:ext cx="4160837" cy="585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myDate</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new </a:t>
            </a:r>
            <a:r>
              <a:rPr b="0" i="0" lang="en-US" sz="1600" u="none">
                <a:solidFill>
                  <a:srgbClr val="FF9900"/>
                </a:solidFill>
                <a:latin typeface="Consolas"/>
                <a:ea typeface="Consolas"/>
                <a:cs typeface="Consolas"/>
                <a:sym typeface="Consolas"/>
              </a:rPr>
              <a:t>Date</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alert</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myDate</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toLocaleDateString</a:t>
            </a:r>
            <a:r>
              <a:rPr b="0" i="0" lang="en-US" sz="1600" u="none">
                <a:solidFill>
                  <a:srgbClr val="BF9000"/>
                </a:solidFill>
                <a:latin typeface="Consolas"/>
                <a:ea typeface="Consolas"/>
                <a:cs typeface="Consolas"/>
                <a:sym typeface="Consolas"/>
              </a:rPr>
              <a:t>());</a:t>
            </a:r>
            <a:endParaRPr/>
          </a:p>
        </p:txBody>
      </p:sp>
      <p:sp>
        <p:nvSpPr>
          <p:cNvPr id="192" name="Google Shape;192;p6"/>
          <p:cNvSpPr txBox="1"/>
          <p:nvPr/>
        </p:nvSpPr>
        <p:spPr>
          <a:xfrm>
            <a:off x="720725" y="3419475"/>
            <a:ext cx="4830762"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Muestra una ventana que permite al usuario tomar una descisión. Ejemplo:</a:t>
            </a:r>
            <a:endParaRPr/>
          </a:p>
        </p:txBody>
      </p:sp>
      <p:sp>
        <p:nvSpPr>
          <p:cNvPr id="193" name="Google Shape;193;p6"/>
          <p:cNvSpPr txBox="1"/>
          <p:nvPr/>
        </p:nvSpPr>
        <p:spPr>
          <a:xfrm>
            <a:off x="962025" y="4143375"/>
            <a:ext cx="4649787" cy="18764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txt</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r</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confirm</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"Presiona un botón!"</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if </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r</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true</a:t>
            </a:r>
            <a:r>
              <a:rPr b="0" i="0" lang="en-US" sz="16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//Presionaste Aceptar!</a:t>
            </a:r>
            <a:endParaRPr/>
          </a:p>
          <a:p>
            <a:pPr indent="0" lvl="0" marL="0" marR="0" rtl="0" algn="l">
              <a:lnSpc>
                <a:spcPct val="100000"/>
              </a:lnSpc>
              <a:spcBef>
                <a:spcPts val="0"/>
              </a:spcBef>
              <a:spcAft>
                <a:spcPts val="0"/>
              </a:spcAft>
              <a:buClr>
                <a:srgbClr val="BF9000"/>
              </a:buClr>
              <a:buSzPts val="1600"/>
              <a:buFont typeface="Consolas"/>
              <a:buNone/>
            </a:pP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else </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//Presionaste Cancelar!</a:t>
            </a:r>
            <a:endParaRPr/>
          </a:p>
          <a:p>
            <a:pPr indent="0" lvl="0" marL="0" marR="0" rtl="0" algn="l">
              <a:lnSpc>
                <a:spcPct val="100000"/>
              </a:lnSpc>
              <a:spcBef>
                <a:spcPts val="0"/>
              </a:spcBef>
              <a:spcAft>
                <a:spcPts val="0"/>
              </a:spcAft>
              <a:buClr>
                <a:srgbClr val="BF9000"/>
              </a:buClr>
              <a:buSzPts val="1600"/>
              <a:buFont typeface="Consolas"/>
              <a:buNone/>
            </a:pPr>
            <a:r>
              <a:rPr b="0" i="0" lang="en-US" sz="1600" u="none">
                <a:solidFill>
                  <a:srgbClr val="BF9000"/>
                </a:solidFill>
                <a:latin typeface="Consolas"/>
                <a:ea typeface="Consolas"/>
                <a:cs typeface="Consolas"/>
                <a:sym typeface="Consolas"/>
              </a:rPr>
              <a:t>}</a:t>
            </a:r>
            <a:endParaRPr/>
          </a:p>
        </p:txBody>
      </p:sp>
      <p:sp>
        <p:nvSpPr>
          <p:cNvPr id="194" name="Google Shape;194;p6"/>
          <p:cNvSpPr txBox="1"/>
          <p:nvPr/>
        </p:nvSpPr>
        <p:spPr>
          <a:xfrm>
            <a:off x="533400" y="2998787"/>
            <a:ext cx="81994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confirm(mensaje)</a:t>
            </a:r>
            <a:endParaRPr/>
          </a:p>
        </p:txBody>
      </p:sp>
      <p:pic>
        <p:nvPicPr>
          <p:cNvPr id="195" name="Google Shape;195;p6"/>
          <p:cNvPicPr preferRelativeResize="0"/>
          <p:nvPr/>
        </p:nvPicPr>
        <p:blipFill rotWithShape="1">
          <a:blip r:embed="rId4">
            <a:alphaModFix/>
          </a:blip>
          <a:srcRect b="0" l="0" r="0" t="0"/>
          <a:stretch/>
        </p:blipFill>
        <p:spPr>
          <a:xfrm>
            <a:off x="5245100" y="1731963"/>
            <a:ext cx="3667125" cy="1257300"/>
          </a:xfrm>
          <a:prstGeom prst="rect">
            <a:avLst/>
          </a:prstGeom>
          <a:no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pic>
      <p:pic>
        <p:nvPicPr>
          <p:cNvPr id="196" name="Google Shape;196;p6"/>
          <p:cNvPicPr preferRelativeResize="0"/>
          <p:nvPr/>
        </p:nvPicPr>
        <p:blipFill rotWithShape="1">
          <a:blip r:embed="rId5">
            <a:alphaModFix/>
          </a:blip>
          <a:srcRect b="0" l="0" r="0" t="0"/>
          <a:stretch/>
        </p:blipFill>
        <p:spPr>
          <a:xfrm>
            <a:off x="5178425" y="4878388"/>
            <a:ext cx="3667125" cy="1285875"/>
          </a:xfrm>
          <a:prstGeom prst="rect">
            <a:avLst/>
          </a:prstGeom>
          <a:no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pic>
      <p:sp>
        <p:nvSpPr>
          <p:cNvPr id="197" name="Google Shape;197;p6"/>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gtEl>
                                        <p:attrNameLst>
                                          <p:attrName>style.visibility</p:attrName>
                                        </p:attrNameLst>
                                      </p:cBhvr>
                                      <p:to>
                                        <p:strVal val="visible"/>
                                      </p:to>
                                    </p:set>
                                    <p:anim calcmode="lin" valueType="num">
                                      <p:cBhvr additive="base">
                                        <p:cTn dur="500"/>
                                        <p:tgtEl>
                                          <p:spTgt spid="1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4"/>
                                        </p:tgtEl>
                                        <p:attrNameLst>
                                          <p:attrName>style.visibility</p:attrName>
                                        </p:attrNameLst>
                                      </p:cBhvr>
                                      <p:to>
                                        <p:strVal val="visible"/>
                                      </p:to>
                                    </p:set>
                                    <p:anim calcmode="lin" valueType="num">
                                      <p:cBhvr additive="base">
                                        <p:cTn dur="500"/>
                                        <p:tgtEl>
                                          <p:spTgt spid="1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Resultado de imagen para angular logos" id="202" name="Google Shape;202;p7"/>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03" name="Google Shape;203;p7"/>
          <p:cNvSpPr txBox="1"/>
          <p:nvPr/>
        </p:nvSpPr>
        <p:spPr>
          <a:xfrm>
            <a:off x="1144587" y="185737"/>
            <a:ext cx="499903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Interacción con el usuario…</a:t>
            </a:r>
            <a:endParaRPr/>
          </a:p>
        </p:txBody>
      </p:sp>
      <p:cxnSp>
        <p:nvCxnSpPr>
          <p:cNvPr id="204" name="Google Shape;204;p7"/>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05" name="Google Shape;205;p7"/>
          <p:cNvSpPr txBox="1"/>
          <p:nvPr/>
        </p:nvSpPr>
        <p:spPr>
          <a:xfrm>
            <a:off x="533400" y="1271587"/>
            <a:ext cx="81993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lang="en-US" sz="2000">
                <a:solidFill>
                  <a:schemeClr val="dk1"/>
                </a:solidFill>
                <a:latin typeface="Consolas"/>
                <a:ea typeface="Consolas"/>
                <a:cs typeface="Consolas"/>
                <a:sym typeface="Consolas"/>
              </a:rPr>
              <a:t>prompt</a:t>
            </a:r>
            <a:r>
              <a:rPr b="1" i="0" lang="en-US" sz="2000" u="none">
                <a:solidFill>
                  <a:schemeClr val="dk1"/>
                </a:solidFill>
                <a:latin typeface="Consolas"/>
                <a:ea typeface="Consolas"/>
                <a:cs typeface="Consolas"/>
                <a:sym typeface="Consolas"/>
              </a:rPr>
              <a:t>(mensaje, mensaje_por_defecto)</a:t>
            </a:r>
            <a:endParaRPr/>
          </a:p>
        </p:txBody>
      </p:sp>
      <p:sp>
        <p:nvSpPr>
          <p:cNvPr id="206" name="Google Shape;206;p7"/>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07" name="Google Shape;207;p7"/>
          <p:cNvSpPr txBox="1"/>
          <p:nvPr/>
        </p:nvSpPr>
        <p:spPr>
          <a:xfrm>
            <a:off x="720725" y="1712912"/>
            <a:ext cx="4830762"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Muestra una ventana emergente con un cuadro de ingreso de texto. Ejemplo:</a:t>
            </a:r>
            <a:endParaRPr/>
          </a:p>
        </p:txBody>
      </p:sp>
      <p:sp>
        <p:nvSpPr>
          <p:cNvPr id="208" name="Google Shape;208;p7"/>
          <p:cNvSpPr txBox="1"/>
          <p:nvPr/>
        </p:nvSpPr>
        <p:spPr>
          <a:xfrm>
            <a:off x="1054100" y="2409825"/>
            <a:ext cx="5875337" cy="1169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nombre</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prompt</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"Ingresa tu nombre"</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rgbClr val="C00000"/>
                </a:solidFill>
                <a:latin typeface="Consolas"/>
                <a:ea typeface="Consolas"/>
                <a:cs typeface="Consolas"/>
                <a:sym typeface="Consolas"/>
              </a:rPr>
              <a:t>"Barry Allen"</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33CC"/>
              </a:solidFill>
              <a:latin typeface="Consolas"/>
              <a:ea typeface="Consolas"/>
              <a:cs typeface="Consolas"/>
              <a:sym typeface="Consolas"/>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if </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nombre</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null</a:t>
            </a:r>
            <a:r>
              <a:rPr b="0" i="0" lang="en-US" sz="14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alert</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"Hola "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nombre</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rgbClr val="C00000"/>
                </a:solidFill>
                <a:latin typeface="Consolas"/>
                <a:ea typeface="Consolas"/>
                <a:cs typeface="Consolas"/>
                <a:sym typeface="Consolas"/>
              </a:rPr>
              <a:t>"!"</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a:t>
            </a:r>
            <a:endParaRPr/>
          </a:p>
        </p:txBody>
      </p:sp>
      <p:pic>
        <p:nvPicPr>
          <p:cNvPr id="209" name="Google Shape;209;p7"/>
          <p:cNvPicPr preferRelativeResize="0"/>
          <p:nvPr/>
        </p:nvPicPr>
        <p:blipFill rotWithShape="1">
          <a:blip r:embed="rId4">
            <a:alphaModFix/>
          </a:blip>
          <a:srcRect b="0" l="0" r="0" t="0"/>
          <a:stretch/>
        </p:blipFill>
        <p:spPr>
          <a:xfrm>
            <a:off x="1703388" y="3840163"/>
            <a:ext cx="5219700" cy="2009775"/>
          </a:xfrm>
          <a:prstGeom prst="rect">
            <a:avLst/>
          </a:prstGeom>
          <a:no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pic>
      <p:sp>
        <p:nvSpPr>
          <p:cNvPr id="210" name="Google Shape;210;p7"/>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descr="Resultado de imagen para angular logos" id="215" name="Google Shape;215;p8"/>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16" name="Google Shape;216;p8"/>
          <p:cNvSpPr txBox="1"/>
          <p:nvPr/>
        </p:nvSpPr>
        <p:spPr>
          <a:xfrm>
            <a:off x="1144587" y="185737"/>
            <a:ext cx="479901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Operadores y Comentarios</a:t>
            </a:r>
            <a:endParaRPr/>
          </a:p>
        </p:txBody>
      </p:sp>
      <p:cxnSp>
        <p:nvCxnSpPr>
          <p:cNvPr id="217" name="Google Shape;217;p8"/>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18" name="Google Shape;218;p8"/>
          <p:cNvSpPr txBox="1"/>
          <p:nvPr/>
        </p:nvSpPr>
        <p:spPr>
          <a:xfrm>
            <a:off x="1027112" y="1776412"/>
            <a:ext cx="6543675" cy="1570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Aritméticos  (+, -, *, /, %)</a:t>
            </a:r>
            <a:endParaRPr/>
          </a:p>
          <a:p>
            <a:pPr indent="-222250" lvl="0" marL="285750"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Asignaciones  (=, +=, -=, *=, /=, %=, ++, --)</a:t>
            </a:r>
            <a:endParaRPr/>
          </a:p>
          <a:p>
            <a:pPr indent="-222250" lvl="0" marL="285750"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Lógica  (&amp;&amp;, ||, !)</a:t>
            </a:r>
            <a:endParaRPr/>
          </a:p>
          <a:p>
            <a:pPr indent="-222250" lvl="0" marL="285750"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Comparación  (&lt;, &gt;, &lt;=, &gt;=, ==, ===, !==)</a:t>
            </a:r>
            <a:endParaRPr/>
          </a:p>
        </p:txBody>
      </p:sp>
      <p:sp>
        <p:nvSpPr>
          <p:cNvPr id="219" name="Google Shape;219;p8"/>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20" name="Google Shape;220;p8"/>
          <p:cNvSpPr txBox="1"/>
          <p:nvPr/>
        </p:nvSpPr>
        <p:spPr>
          <a:xfrm>
            <a:off x="777875" y="134461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posee muchos de los operadores utilizados en C/Java:</a:t>
            </a:r>
            <a:endParaRPr/>
          </a:p>
        </p:txBody>
      </p:sp>
      <p:sp>
        <p:nvSpPr>
          <p:cNvPr id="221" name="Google Shape;221;p8"/>
          <p:cNvSpPr txBox="1"/>
          <p:nvPr/>
        </p:nvSpPr>
        <p:spPr>
          <a:xfrm>
            <a:off x="777875" y="5570537"/>
            <a:ext cx="8199437"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Los comentarios en JavaScript son los mismos de Java: //  /* */</a:t>
            </a:r>
            <a:endParaRPr/>
          </a:p>
        </p:txBody>
      </p:sp>
      <p:sp>
        <p:nvSpPr>
          <p:cNvPr id="222" name="Google Shape;222;p8"/>
          <p:cNvSpPr txBox="1"/>
          <p:nvPr/>
        </p:nvSpPr>
        <p:spPr>
          <a:xfrm>
            <a:off x="962025" y="4683125"/>
            <a:ext cx="6450012" cy="3698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Nota: + también se utiliza para concatenación</a:t>
            </a:r>
            <a:endParaRPr/>
          </a:p>
        </p:txBody>
      </p:sp>
      <p:sp>
        <p:nvSpPr>
          <p:cNvPr id="223" name="Google Shape;223;p8"/>
          <p:cNvSpPr txBox="1"/>
          <p:nvPr/>
        </p:nvSpPr>
        <p:spPr>
          <a:xfrm>
            <a:off x="1511300" y="3448050"/>
            <a:ext cx="6451600" cy="6461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Los operadores === y !== son test estrictos de igualdad, chequean los tipos y los valores</a:t>
            </a:r>
            <a:endParaRPr/>
          </a:p>
        </p:txBody>
      </p:sp>
      <p:sp>
        <p:nvSpPr>
          <p:cNvPr id="224" name="Google Shape;224;p8"/>
          <p:cNvSpPr txBox="1"/>
          <p:nvPr/>
        </p:nvSpPr>
        <p:spPr>
          <a:xfrm>
            <a:off x="1511300" y="4094162"/>
            <a:ext cx="6451600" cy="368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Los operadores == y != solo chequean valores, no tipos</a:t>
            </a:r>
            <a:endParaRPr/>
          </a:p>
        </p:txBody>
      </p:sp>
      <p:sp>
        <p:nvSpPr>
          <p:cNvPr id="225" name="Google Shape;225;p8"/>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Resultado de imagen para angular logos" id="230" name="Google Shape;230;p9"/>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31" name="Google Shape;231;p9"/>
          <p:cNvSpPr txBox="1"/>
          <p:nvPr/>
        </p:nvSpPr>
        <p:spPr>
          <a:xfrm>
            <a:off x="1144587" y="185737"/>
            <a:ext cx="31146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Variables y Tipos</a:t>
            </a:r>
            <a:endParaRPr/>
          </a:p>
        </p:txBody>
      </p:sp>
      <p:cxnSp>
        <p:nvCxnSpPr>
          <p:cNvPr id="232" name="Google Shape;232;p9"/>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33" name="Google Shape;233;p9"/>
          <p:cNvSpPr txBox="1"/>
          <p:nvPr/>
        </p:nvSpPr>
        <p:spPr>
          <a:xfrm>
            <a:off x="533400" y="1214437"/>
            <a:ext cx="8199300" cy="13854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Una variable es un espacio en memoria donde guardamos un valor para usarlo después. </a:t>
            </a:r>
            <a:endParaRPr sz="1800">
              <a:solidFill>
                <a:schemeClr val="dk1"/>
              </a:solidFill>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Variable = caja con etiqueta</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285750" lvl="0" marL="285750" marR="0" rtl="0" algn="l">
              <a:lnSpc>
                <a:spcPct val="100000"/>
              </a:lnSpc>
              <a:spcBef>
                <a:spcPts val="0"/>
              </a:spcBef>
              <a:spcAft>
                <a:spcPts val="0"/>
              </a:spcAft>
              <a:buClr>
                <a:schemeClr val="dk1"/>
              </a:buClr>
              <a:buSzPts val="1800"/>
              <a:buChar char="•"/>
            </a:pPr>
            <a:r>
              <a:rPr lang="en-US" sz="1800">
                <a:solidFill>
                  <a:schemeClr val="dk1"/>
                </a:solidFill>
              </a:rPr>
              <a:t>En JavaScript existen tres formas de declarar variables.</a:t>
            </a:r>
            <a:endParaRPr sz="1800">
              <a:solidFill>
                <a:schemeClr val="dk1"/>
              </a:solidFill>
            </a:endParaRPr>
          </a:p>
        </p:txBody>
      </p:sp>
      <p:sp>
        <p:nvSpPr>
          <p:cNvPr id="234" name="Google Shape;234;p9"/>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35" name="Google Shape;235;p9"/>
          <p:cNvSpPr txBox="1"/>
          <p:nvPr/>
        </p:nvSpPr>
        <p:spPr>
          <a:xfrm>
            <a:off x="2524125" y="3429000"/>
            <a:ext cx="593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    </a:t>
            </a:r>
            <a:endParaRPr/>
          </a:p>
        </p:txBody>
      </p:sp>
      <p:sp>
        <p:nvSpPr>
          <p:cNvPr id="236" name="Google Shape;236;p9"/>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graphicFrame>
        <p:nvGraphicFramePr>
          <p:cNvPr id="237" name="Google Shape;237;p9"/>
          <p:cNvGraphicFramePr/>
          <p:nvPr/>
        </p:nvGraphicFramePr>
        <p:xfrm>
          <a:off x="952500" y="2938575"/>
          <a:ext cx="3000000" cy="3000000"/>
        </p:xfrm>
        <a:graphic>
          <a:graphicData uri="http://schemas.openxmlformats.org/drawingml/2006/table">
            <a:tbl>
              <a:tblPr>
                <a:noFill/>
                <a:tableStyleId>{9D9E61CA-AB93-4F39-80C6-9D002EFDE998}</a:tableStyleId>
              </a:tblPr>
              <a:tblGrid>
                <a:gridCol w="3619500"/>
                <a:gridCol w="3619500"/>
              </a:tblGrid>
              <a:tr h="381000">
                <a:tc>
                  <a:txBody>
                    <a:bodyPr/>
                    <a:lstStyle/>
                    <a:p>
                      <a:pPr indent="0" lvl="0" marL="0" rtl="0" algn="l">
                        <a:spcBef>
                          <a:spcPts val="0"/>
                        </a:spcBef>
                        <a:spcAft>
                          <a:spcPts val="0"/>
                        </a:spcAft>
                        <a:buNone/>
                      </a:pPr>
                      <a:r>
                        <a:rPr b="1" lang="en-US"/>
                        <a:t>Forma</a:t>
                      </a:r>
                      <a:endParaRPr b="1"/>
                    </a:p>
                  </a:txBody>
                  <a:tcPr marT="91425" marB="91425" marR="91425" marL="91425">
                    <a:solidFill>
                      <a:schemeClr val="lt2"/>
                    </a:solidFill>
                  </a:tcPr>
                </a:tc>
                <a:tc>
                  <a:txBody>
                    <a:bodyPr/>
                    <a:lstStyle/>
                    <a:p>
                      <a:pPr indent="0" lvl="0" marL="0" rtl="0" algn="l">
                        <a:spcBef>
                          <a:spcPts val="0"/>
                        </a:spcBef>
                        <a:spcAft>
                          <a:spcPts val="0"/>
                        </a:spcAft>
                        <a:buNone/>
                      </a:pPr>
                      <a:r>
                        <a:rPr b="1" lang="en-US"/>
                        <a:t>Descripci</a:t>
                      </a:r>
                      <a:r>
                        <a:rPr b="1" lang="en-US"/>
                        <a:t>ón</a:t>
                      </a:r>
                      <a:endParaRPr b="1"/>
                    </a:p>
                  </a:txBody>
                  <a:tcPr marT="91425" marB="91425" marR="91425" marL="91425">
                    <a:solidFill>
                      <a:schemeClr val="lt2"/>
                    </a:solidFill>
                  </a:tcPr>
                </a:tc>
              </a:tr>
              <a:tr h="381000">
                <a:tc>
                  <a:txBody>
                    <a:bodyPr/>
                    <a:lstStyle/>
                    <a:p>
                      <a:pPr indent="0" lvl="0" marL="0" rtl="0" algn="l">
                        <a:spcBef>
                          <a:spcPts val="0"/>
                        </a:spcBef>
                        <a:spcAft>
                          <a:spcPts val="0"/>
                        </a:spcAft>
                        <a:buNone/>
                      </a:pPr>
                      <a:r>
                        <a:rPr lang="en-US"/>
                        <a:t>var (alcance global o de funci</a:t>
                      </a:r>
                      <a:r>
                        <a:rPr lang="en-US"/>
                        <a:t>ón)</a:t>
                      </a:r>
                      <a:endParaRPr/>
                    </a:p>
                  </a:txBody>
                  <a:tcPr marT="91425" marB="91425" marR="91425" marL="91425"/>
                </a:tc>
                <a:tc>
                  <a:txBody>
                    <a:bodyPr/>
                    <a:lstStyle/>
                    <a:p>
                      <a:pPr indent="0" lvl="0" marL="0" marR="0" rtl="0" algn="l">
                        <a:lnSpc>
                          <a:spcPct val="100000"/>
                        </a:lnSpc>
                        <a:spcBef>
                          <a:spcPts val="0"/>
                        </a:spcBef>
                        <a:spcAft>
                          <a:spcPts val="0"/>
                        </a:spcAft>
                        <a:buNone/>
                      </a:pPr>
                      <a:r>
                        <a:rPr lang="en-US">
                          <a:solidFill>
                            <a:schemeClr val="dk1"/>
                          </a:solidFill>
                        </a:rPr>
                        <a:t>Forma antigua y generalizada de declarar variables.</a:t>
                      </a:r>
                      <a:endParaRPr>
                        <a:solidFill>
                          <a:schemeClr val="dk1"/>
                        </a:solidFill>
                      </a:endParaRPr>
                    </a:p>
                    <a:p>
                      <a:pPr indent="0" lvl="0" marL="0" rtl="0" algn="l">
                        <a:spcBef>
                          <a:spcPts val="0"/>
                        </a:spcBef>
                        <a:spcAft>
                          <a:spcPts val="0"/>
                        </a:spcAft>
                        <a:buClr>
                          <a:srgbClr val="0070C0"/>
                        </a:buClr>
                        <a:buSzPts val="1800"/>
                        <a:buFont typeface="Consolas"/>
                        <a:buNone/>
                      </a:pPr>
                      <a:r>
                        <a:rPr lang="en-US">
                          <a:solidFill>
                            <a:srgbClr val="0070C0"/>
                          </a:solidFill>
                          <a:latin typeface="Consolas"/>
                          <a:ea typeface="Consolas"/>
                          <a:cs typeface="Consolas"/>
                          <a:sym typeface="Consolas"/>
                        </a:rPr>
                        <a:t>var </a:t>
                      </a:r>
                      <a:r>
                        <a:rPr lang="en-US">
                          <a:solidFill>
                            <a:schemeClr val="dk1"/>
                          </a:solidFill>
                          <a:latin typeface="Consolas"/>
                          <a:ea typeface="Consolas"/>
                          <a:cs typeface="Consolas"/>
                          <a:sym typeface="Consolas"/>
                        </a:rPr>
                        <a:t>n</a:t>
                      </a:r>
                      <a:r>
                        <a:rPr lang="en-US">
                          <a:solidFill>
                            <a:srgbClr val="BF9000"/>
                          </a:solidFill>
                          <a:latin typeface="Consolas"/>
                          <a:ea typeface="Consolas"/>
                          <a:cs typeface="Consolas"/>
                          <a:sym typeface="Consolas"/>
                        </a:rPr>
                        <a:t>=</a:t>
                      </a:r>
                      <a:r>
                        <a:rPr lang="en-US">
                          <a:solidFill>
                            <a:srgbClr val="0070C0"/>
                          </a:solidFill>
                          <a:latin typeface="Consolas"/>
                          <a:ea typeface="Consolas"/>
                          <a:cs typeface="Consolas"/>
                          <a:sym typeface="Consolas"/>
                        </a:rPr>
                        <a:t> </a:t>
                      </a:r>
                      <a:r>
                        <a:rPr lang="en-US">
                          <a:solidFill>
                            <a:srgbClr val="C00000"/>
                          </a:solidFill>
                          <a:latin typeface="Consolas"/>
                          <a:ea typeface="Consolas"/>
                          <a:cs typeface="Consolas"/>
                          <a:sym typeface="Consolas"/>
                        </a:rPr>
                        <a:t>200</a:t>
                      </a:r>
                      <a:r>
                        <a:rPr lang="en-US">
                          <a:solidFill>
                            <a:srgbClr val="BF9000"/>
                          </a:solidFill>
                          <a:latin typeface="Consolas"/>
                          <a:ea typeface="Consolas"/>
                          <a:cs typeface="Consolas"/>
                          <a:sym typeface="Consolas"/>
                        </a:rPr>
                        <a:t>;</a:t>
                      </a:r>
                      <a:endParaRPr>
                        <a:solidFill>
                          <a:schemeClr val="dk1"/>
                        </a:solidFill>
                      </a:endParaRPr>
                    </a:p>
                  </a:txBody>
                  <a:tcPr marT="91425" marB="91425" marR="91425" marL="91425" anchor="ctr"/>
                </a:tc>
              </a:tr>
              <a:tr h="381000">
                <a:tc>
                  <a:txBody>
                    <a:bodyPr/>
                    <a:lstStyle/>
                    <a:p>
                      <a:pPr indent="0" lvl="0" marL="0" rtl="0" algn="l">
                        <a:spcBef>
                          <a:spcPts val="0"/>
                        </a:spcBef>
                        <a:spcAft>
                          <a:spcPts val="0"/>
                        </a:spcAft>
                        <a:buNone/>
                      </a:pPr>
                      <a:r>
                        <a:rPr lang="en-US"/>
                        <a:t>const (alcance de blo</a:t>
                      </a:r>
                      <a:r>
                        <a:rPr lang="en-US"/>
                        <a:t>que y requiere un valor inicial al momento de la declaración)</a:t>
                      </a:r>
                      <a:endParaRPr/>
                    </a:p>
                  </a:txBody>
                  <a:tcPr marT="91425" marB="91425" marR="91425" marL="91425"/>
                </a:tc>
                <a:tc>
                  <a:txBody>
                    <a:bodyPr/>
                    <a:lstStyle/>
                    <a:p>
                      <a:pPr indent="0" lvl="0" marL="0" marR="0" rtl="0" algn="l">
                        <a:lnSpc>
                          <a:spcPct val="100000"/>
                        </a:lnSpc>
                        <a:spcBef>
                          <a:spcPts val="0"/>
                        </a:spcBef>
                        <a:spcAft>
                          <a:spcPts val="0"/>
                        </a:spcAft>
                        <a:buNone/>
                      </a:pPr>
                      <a:r>
                        <a:rPr lang="en-US">
                          <a:solidFill>
                            <a:schemeClr val="dk1"/>
                          </a:solidFill>
                        </a:rPr>
                        <a:t>Se usa cuando el valor no debería cambiar (Caja sellada).</a:t>
                      </a:r>
                      <a:endParaRPr>
                        <a:solidFill>
                          <a:schemeClr val="dk1"/>
                        </a:solidFill>
                      </a:endParaRPr>
                    </a:p>
                    <a:p>
                      <a:pPr indent="0" lvl="0" marL="0" rtl="0" algn="l">
                        <a:spcBef>
                          <a:spcPts val="0"/>
                        </a:spcBef>
                        <a:spcAft>
                          <a:spcPts val="0"/>
                        </a:spcAft>
                        <a:buClr>
                          <a:srgbClr val="0070C0"/>
                        </a:buClr>
                        <a:buSzPts val="1800"/>
                        <a:buFont typeface="Consolas"/>
                        <a:buNone/>
                      </a:pPr>
                      <a:r>
                        <a:rPr lang="en-US">
                          <a:solidFill>
                            <a:srgbClr val="0070C0"/>
                          </a:solidFill>
                          <a:latin typeface="Consolas"/>
                          <a:ea typeface="Consolas"/>
                          <a:cs typeface="Consolas"/>
                          <a:sym typeface="Consolas"/>
                        </a:rPr>
                        <a:t>const</a:t>
                      </a:r>
                      <a:r>
                        <a:rPr lang="en-US">
                          <a:solidFill>
                            <a:srgbClr val="0070C0"/>
                          </a:solidFill>
                          <a:latin typeface="Consolas"/>
                          <a:ea typeface="Consolas"/>
                          <a:cs typeface="Consolas"/>
                          <a:sym typeface="Consolas"/>
                        </a:rPr>
                        <a:t> </a:t>
                      </a:r>
                      <a:r>
                        <a:rPr lang="en-US">
                          <a:solidFill>
                            <a:schemeClr val="dk1"/>
                          </a:solidFill>
                          <a:latin typeface="Consolas"/>
                          <a:ea typeface="Consolas"/>
                          <a:cs typeface="Consolas"/>
                          <a:sym typeface="Consolas"/>
                        </a:rPr>
                        <a:t>PI </a:t>
                      </a:r>
                      <a:r>
                        <a:rPr lang="en-US">
                          <a:solidFill>
                            <a:srgbClr val="BF9000"/>
                          </a:solidFill>
                          <a:latin typeface="Consolas"/>
                          <a:ea typeface="Consolas"/>
                          <a:cs typeface="Consolas"/>
                          <a:sym typeface="Consolas"/>
                        </a:rPr>
                        <a:t>=</a:t>
                      </a:r>
                      <a:r>
                        <a:rPr lang="en-US">
                          <a:solidFill>
                            <a:srgbClr val="0070C0"/>
                          </a:solidFill>
                          <a:latin typeface="Consolas"/>
                          <a:ea typeface="Consolas"/>
                          <a:cs typeface="Consolas"/>
                          <a:sym typeface="Consolas"/>
                        </a:rPr>
                        <a:t> </a:t>
                      </a:r>
                      <a:r>
                        <a:rPr lang="en-US">
                          <a:solidFill>
                            <a:srgbClr val="C00000"/>
                          </a:solidFill>
                          <a:latin typeface="Consolas"/>
                          <a:ea typeface="Consolas"/>
                          <a:cs typeface="Consolas"/>
                          <a:sym typeface="Consolas"/>
                        </a:rPr>
                        <a:t>3.1416</a:t>
                      </a:r>
                      <a:r>
                        <a:rPr lang="en-US">
                          <a:solidFill>
                            <a:srgbClr val="BF9000"/>
                          </a:solidFill>
                          <a:latin typeface="Consolas"/>
                          <a:ea typeface="Consolas"/>
                          <a:cs typeface="Consolas"/>
                          <a:sym typeface="Consolas"/>
                        </a:rPr>
                        <a:t>;</a:t>
                      </a:r>
                      <a:endParaRPr>
                        <a:solidFill>
                          <a:schemeClr val="dk1"/>
                        </a:solidFill>
                      </a:endParaRPr>
                    </a:p>
                  </a:txBody>
                  <a:tcPr marT="91425" marB="91425" marR="91425" marL="91425" anchor="ctr"/>
                </a:tc>
              </a:tr>
              <a:tr h="381000">
                <a:tc>
                  <a:txBody>
                    <a:bodyPr/>
                    <a:lstStyle/>
                    <a:p>
                      <a:pPr indent="0" lvl="0" marL="0" rtl="0" algn="l">
                        <a:spcBef>
                          <a:spcPts val="0"/>
                        </a:spcBef>
                        <a:spcAft>
                          <a:spcPts val="0"/>
                        </a:spcAft>
                        <a:buNone/>
                      </a:pPr>
                      <a:r>
                        <a:rPr lang="en-US"/>
                        <a:t>let (alcance de bloque)</a:t>
                      </a:r>
                      <a:endParaRPr/>
                    </a:p>
                  </a:txBody>
                  <a:tcPr marT="91425" marB="91425" marR="91425" marL="91425"/>
                </a:tc>
                <a:tc>
                  <a:txBody>
                    <a:bodyPr/>
                    <a:lstStyle/>
                    <a:p>
                      <a:pPr indent="0" lvl="0" marL="0" marR="0" rtl="0" algn="l">
                        <a:lnSpc>
                          <a:spcPct val="100000"/>
                        </a:lnSpc>
                        <a:spcBef>
                          <a:spcPts val="0"/>
                        </a:spcBef>
                        <a:spcAft>
                          <a:spcPts val="0"/>
                        </a:spcAft>
                        <a:buNone/>
                      </a:pPr>
                      <a:r>
                        <a:rPr lang="en-US">
                          <a:solidFill>
                            <a:schemeClr val="dk1"/>
                          </a:solidFill>
                        </a:rPr>
                        <a:t>Se usa cuando el valor puede cambiar (Caja donde podemos cambiar lo que hay dentro)</a:t>
                      </a:r>
                      <a:endParaRPr>
                        <a:solidFill>
                          <a:schemeClr val="dk1"/>
                        </a:solidFill>
                      </a:endParaRPr>
                    </a:p>
                    <a:p>
                      <a:pPr indent="0" lvl="0" marL="0" rtl="0" algn="l">
                        <a:spcBef>
                          <a:spcPts val="0"/>
                        </a:spcBef>
                        <a:spcAft>
                          <a:spcPts val="0"/>
                        </a:spcAft>
                        <a:buNone/>
                      </a:pPr>
                      <a:r>
                        <a:rPr lang="en-US">
                          <a:solidFill>
                            <a:srgbClr val="0070C0"/>
                          </a:solidFill>
                          <a:latin typeface="Consolas"/>
                          <a:ea typeface="Consolas"/>
                          <a:cs typeface="Consolas"/>
                          <a:sym typeface="Consolas"/>
                        </a:rPr>
                        <a:t>let</a:t>
                      </a:r>
                      <a:r>
                        <a:rPr lang="en-US">
                          <a:solidFill>
                            <a:srgbClr val="0070C0"/>
                          </a:solidFill>
                          <a:latin typeface="Consolas"/>
                          <a:ea typeface="Consolas"/>
                          <a:cs typeface="Consolas"/>
                          <a:sym typeface="Consolas"/>
                        </a:rPr>
                        <a:t> </a:t>
                      </a:r>
                      <a:r>
                        <a:rPr lang="en-US">
                          <a:solidFill>
                            <a:schemeClr val="dk1"/>
                          </a:solidFill>
                          <a:latin typeface="Consolas"/>
                          <a:ea typeface="Consolas"/>
                          <a:cs typeface="Consolas"/>
                          <a:sym typeface="Consolas"/>
                        </a:rPr>
                        <a:t>puntaje </a:t>
                      </a:r>
                      <a:r>
                        <a:rPr lang="en-US">
                          <a:solidFill>
                            <a:srgbClr val="BF9000"/>
                          </a:solidFill>
                          <a:latin typeface="Consolas"/>
                          <a:ea typeface="Consolas"/>
                          <a:cs typeface="Consolas"/>
                          <a:sym typeface="Consolas"/>
                        </a:rPr>
                        <a:t>=</a:t>
                      </a:r>
                      <a:r>
                        <a:rPr lang="en-US">
                          <a:solidFill>
                            <a:srgbClr val="0070C0"/>
                          </a:solidFill>
                          <a:latin typeface="Consolas"/>
                          <a:ea typeface="Consolas"/>
                          <a:cs typeface="Consolas"/>
                          <a:sym typeface="Consolas"/>
                        </a:rPr>
                        <a:t> </a:t>
                      </a:r>
                      <a:r>
                        <a:rPr lang="en-US">
                          <a:solidFill>
                            <a:srgbClr val="C00000"/>
                          </a:solidFill>
                          <a:latin typeface="Consolas"/>
                          <a:ea typeface="Consolas"/>
                          <a:cs typeface="Consolas"/>
                          <a:sym typeface="Consolas"/>
                        </a:rPr>
                        <a:t>10</a:t>
                      </a:r>
                      <a:r>
                        <a:rPr lang="en-US">
                          <a:solidFill>
                            <a:srgbClr val="BF9000"/>
                          </a:solidFill>
                          <a:latin typeface="Consolas"/>
                          <a:ea typeface="Consolas"/>
                          <a:cs typeface="Consolas"/>
                          <a:sym typeface="Consolas"/>
                        </a:rPr>
                        <a:t>;</a:t>
                      </a:r>
                      <a:endParaRPr>
                        <a:solidFill>
                          <a:schemeClr val="dk1"/>
                        </a:solidFill>
                      </a:endParaRPr>
                    </a:p>
                    <a:p>
                      <a:pPr indent="0" lvl="0" marL="0" marR="0" rtl="0" algn="l">
                        <a:lnSpc>
                          <a:spcPct val="100000"/>
                        </a:lnSpc>
                        <a:spcBef>
                          <a:spcPts val="0"/>
                        </a:spcBef>
                        <a:spcAft>
                          <a:spcPts val="0"/>
                        </a:spcAft>
                        <a:buNone/>
                      </a:pPr>
                      <a:r>
                        <a:rPr lang="en-US">
                          <a:solidFill>
                            <a:schemeClr val="dk1"/>
                          </a:solidFill>
                          <a:latin typeface="Consolas"/>
                          <a:ea typeface="Consolas"/>
                          <a:cs typeface="Consolas"/>
                          <a:sym typeface="Consolas"/>
                        </a:rPr>
                        <a:t>puntaje</a:t>
                      </a:r>
                      <a:r>
                        <a:rPr lang="en-US">
                          <a:solidFill>
                            <a:schemeClr val="dk1"/>
                          </a:solidFill>
                        </a:rPr>
                        <a:t> = </a:t>
                      </a:r>
                      <a:r>
                        <a:rPr lang="en-US">
                          <a:solidFill>
                            <a:srgbClr val="C00000"/>
                          </a:solidFill>
                          <a:latin typeface="Consolas"/>
                          <a:ea typeface="Consolas"/>
                          <a:cs typeface="Consolas"/>
                          <a:sym typeface="Consolas"/>
                        </a:rPr>
                        <a:t>2</a:t>
                      </a:r>
                      <a:r>
                        <a:rPr lang="en-US">
                          <a:solidFill>
                            <a:srgbClr val="C00000"/>
                          </a:solidFill>
                          <a:latin typeface="Consolas"/>
                          <a:ea typeface="Consolas"/>
                          <a:cs typeface="Consolas"/>
                          <a:sym typeface="Consolas"/>
                        </a:rPr>
                        <a:t>0</a:t>
                      </a:r>
                      <a:r>
                        <a:rPr lang="en-US">
                          <a:solidFill>
                            <a:schemeClr val="dk1"/>
                          </a:solidFill>
                        </a:rPr>
                        <a:t>;</a:t>
                      </a:r>
                      <a:endParaRPr>
                        <a:solidFill>
                          <a:schemeClr val="dk1"/>
                        </a:solidFill>
                      </a:endParaRPr>
                    </a:p>
                  </a:txBody>
                  <a:tcPr marT="91425" marB="91425" marR="91425" marL="91425"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Resultado de imagen para angular logos" id="242" name="Google Shape;242;g396094b1242_0_2"/>
          <p:cNvPicPr preferRelativeResize="0"/>
          <p:nvPr/>
        </p:nvPicPr>
        <p:blipFill rotWithShape="1">
          <a:blip r:embed="rId3">
            <a:alphaModFix/>
          </a:blip>
          <a:srcRect b="0" l="51972" r="0" t="0"/>
          <a:stretch/>
        </p:blipFill>
        <p:spPr>
          <a:xfrm>
            <a:off x="227012" y="85725"/>
            <a:ext cx="800100" cy="830262"/>
          </a:xfrm>
          <a:prstGeom prst="rect">
            <a:avLst/>
          </a:prstGeom>
          <a:noFill/>
          <a:ln>
            <a:noFill/>
          </a:ln>
        </p:spPr>
      </p:pic>
      <p:sp>
        <p:nvSpPr>
          <p:cNvPr id="243" name="Google Shape;243;g396094b1242_0_2"/>
          <p:cNvSpPr txBox="1"/>
          <p:nvPr/>
        </p:nvSpPr>
        <p:spPr>
          <a:xfrm>
            <a:off x="1144587" y="185737"/>
            <a:ext cx="31146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Variables y Tipos</a:t>
            </a:r>
            <a:endParaRPr/>
          </a:p>
        </p:txBody>
      </p:sp>
      <p:cxnSp>
        <p:nvCxnSpPr>
          <p:cNvPr id="244" name="Google Shape;244;g396094b1242_0_2"/>
          <p:cNvCxnSpPr/>
          <p:nvPr/>
        </p:nvCxnSpPr>
        <p:spPr>
          <a:xfrm>
            <a:off x="1206500" y="858837"/>
            <a:ext cx="7526400" cy="0"/>
          </a:xfrm>
          <a:prstGeom prst="straightConnector1">
            <a:avLst/>
          </a:prstGeom>
          <a:noFill/>
          <a:ln cap="flat" cmpd="sng" w="28575">
            <a:solidFill>
              <a:srgbClr val="2E75B6"/>
            </a:solidFill>
            <a:prstDash val="solid"/>
            <a:miter lim="800000"/>
            <a:headEnd len="med" w="med" type="none"/>
            <a:tailEnd len="med" w="med" type="none"/>
          </a:ln>
        </p:spPr>
      </p:cxnSp>
      <p:sp>
        <p:nvSpPr>
          <p:cNvPr id="245" name="Google Shape;245;g396094b1242_0_2"/>
          <p:cNvSpPr txBox="1"/>
          <p:nvPr/>
        </p:nvSpPr>
        <p:spPr>
          <a:xfrm>
            <a:off x="533400" y="1214437"/>
            <a:ext cx="8199300" cy="20934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Las variables son declaradas utilizando la palabra reservada “</a:t>
            </a:r>
            <a:r>
              <a:rPr b="0" i="0" lang="en-US" sz="1800" u="none">
                <a:solidFill>
                  <a:srgbClr val="0070C0"/>
                </a:solidFill>
                <a:latin typeface="Arial"/>
                <a:ea typeface="Arial"/>
                <a:cs typeface="Arial"/>
                <a:sym typeface="Arial"/>
              </a:rPr>
              <a:t>var</a:t>
            </a:r>
            <a:r>
              <a:rPr b="0" i="0" lang="en-US" sz="1800" u="none">
                <a:solidFill>
                  <a:schemeClr val="dk1"/>
                </a:solidFill>
                <a:latin typeface="Arial"/>
                <a:ea typeface="Arial"/>
                <a:cs typeface="Arial"/>
                <a:sym typeface="Arial"/>
              </a:rPr>
              <a:t>”, </a:t>
            </a:r>
            <a:r>
              <a:rPr lang="en-US" sz="1800">
                <a:solidFill>
                  <a:schemeClr val="dk1"/>
                </a:solidFill>
              </a:rPr>
              <a:t>“</a:t>
            </a:r>
            <a:r>
              <a:rPr lang="en-US" sz="1800">
                <a:solidFill>
                  <a:srgbClr val="0070C0"/>
                </a:solidFill>
              </a:rPr>
              <a:t>let</a:t>
            </a:r>
            <a:r>
              <a:rPr lang="en-US" sz="1800">
                <a:solidFill>
                  <a:schemeClr val="dk1"/>
                </a:solidFill>
              </a:rPr>
              <a:t>” o “</a:t>
            </a:r>
            <a:r>
              <a:rPr lang="en-US" sz="1800">
                <a:solidFill>
                  <a:srgbClr val="0070C0"/>
                </a:solidFill>
              </a:rPr>
              <a:t>const</a:t>
            </a:r>
            <a:r>
              <a:rPr lang="en-US" sz="1800">
                <a:solidFill>
                  <a:schemeClr val="dk1"/>
                </a:solidFill>
              </a:rPr>
              <a:t>”.</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Los tipos no son especificados explícitamente, aún así JavaScript maneja ciertos tipos de datos:</a:t>
            </a:r>
            <a:endParaRPr/>
          </a:p>
          <a:p>
            <a:pPr indent="-222250" lvl="0" marL="285750" marR="0" rtl="0" algn="l">
              <a:lnSpc>
                <a:spcPct val="100000"/>
              </a:lnSpc>
              <a:spcBef>
                <a:spcPts val="0"/>
              </a:spcBef>
              <a:spcAft>
                <a:spcPts val="0"/>
              </a:spcAft>
              <a:buClr>
                <a:schemeClr val="dk1"/>
              </a:buClr>
              <a:buSzPts val="1000"/>
              <a:buFont typeface="Arial"/>
              <a:buNone/>
            </a:pPr>
            <a:r>
              <a:t/>
            </a:r>
            <a:endParaRPr b="0" i="0" sz="1000" u="non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rgbClr val="0070C0"/>
              </a:buClr>
              <a:buSzPts val="1800"/>
              <a:buFont typeface="Arial"/>
              <a:buChar char="•"/>
            </a:pPr>
            <a:r>
              <a:rPr b="0" i="0" lang="en-US" sz="1800" u="none" cap="none" strike="noStrike">
                <a:solidFill>
                  <a:srgbClr val="0070C0"/>
                </a:solidFill>
                <a:latin typeface="Arial"/>
                <a:ea typeface="Arial"/>
                <a:cs typeface="Arial"/>
                <a:sym typeface="Arial"/>
              </a:rPr>
              <a:t>Number</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Boolean</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String</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Array</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Object</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Function</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Null</a:t>
            </a:r>
            <a:r>
              <a:rPr b="0" i="0" lang="en-US" sz="1800" u="none" cap="none" strike="noStrike">
                <a:solidFill>
                  <a:schemeClr val="dk1"/>
                </a:solidFill>
                <a:latin typeface="Arial"/>
                <a:ea typeface="Arial"/>
                <a:cs typeface="Arial"/>
                <a:sym typeface="Arial"/>
              </a:rPr>
              <a:t>, </a:t>
            </a:r>
            <a:r>
              <a:rPr b="0" i="0" lang="en-US" sz="1800" u="none" cap="none" strike="noStrike">
                <a:solidFill>
                  <a:srgbClr val="0070C0"/>
                </a:solidFill>
                <a:latin typeface="Arial"/>
                <a:ea typeface="Arial"/>
                <a:cs typeface="Arial"/>
                <a:sym typeface="Arial"/>
              </a:rPr>
              <a:t>Undefined</a:t>
            </a:r>
            <a:endParaRPr b="0" i="0" sz="1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Se puede saber el tipo de una variable utilizando </a:t>
            </a:r>
            <a:r>
              <a:rPr b="0" i="0" lang="en-US" sz="1800" u="none" cap="none" strike="noStrike">
                <a:solidFill>
                  <a:srgbClr val="0070C0"/>
                </a:solidFill>
                <a:latin typeface="Arial"/>
                <a:ea typeface="Arial"/>
                <a:cs typeface="Arial"/>
                <a:sym typeface="Arial"/>
              </a:rPr>
              <a:t>type</a:t>
            </a:r>
            <a:r>
              <a:rPr lang="en-US" sz="1800">
                <a:solidFill>
                  <a:srgbClr val="0070C0"/>
                </a:solidFill>
              </a:rPr>
              <a:t>of</a:t>
            </a:r>
            <a:endParaRPr/>
          </a:p>
        </p:txBody>
      </p:sp>
      <p:sp>
        <p:nvSpPr>
          <p:cNvPr id="246" name="Google Shape;246;g396094b1242_0_2"/>
          <p:cNvSpPr txBox="1"/>
          <p:nvPr/>
        </p:nvSpPr>
        <p:spPr>
          <a:xfrm>
            <a:off x="7570787" y="0"/>
            <a:ext cx="1282800" cy="598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47" name="Google Shape;247;g396094b1242_0_2"/>
          <p:cNvSpPr txBox="1"/>
          <p:nvPr/>
        </p:nvSpPr>
        <p:spPr>
          <a:xfrm>
            <a:off x="2524125" y="3429000"/>
            <a:ext cx="5935800" cy="2493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s1</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‘Hola’</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s2</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"Chao"</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pi</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3.14</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n</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200</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flag</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false</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//o true</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date</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new </a:t>
            </a:r>
            <a:r>
              <a:rPr b="0" i="0" lang="en-US" sz="1800" u="none">
                <a:solidFill>
                  <a:srgbClr val="FF9900"/>
                </a:solidFill>
                <a:latin typeface="Consolas"/>
                <a:ea typeface="Consolas"/>
                <a:cs typeface="Consolas"/>
                <a:sym typeface="Consolas"/>
              </a:rPr>
              <a:t>Date</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//fecha de hoy</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saludo</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function </a:t>
            </a:r>
            <a:r>
              <a:rPr b="0" i="0" lang="en-US" sz="1800" u="none">
                <a:solidFill>
                  <a:schemeClr val="dk1"/>
                </a:solidFill>
                <a:latin typeface="Consolas"/>
                <a:ea typeface="Consolas"/>
                <a:cs typeface="Consolas"/>
                <a:sym typeface="Consolas"/>
              </a:rPr>
              <a:t>hola</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                        alert</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"Buenos días!"</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                     }      </a:t>
            </a:r>
            <a:endParaRPr/>
          </a:p>
        </p:txBody>
      </p:sp>
      <p:sp>
        <p:nvSpPr>
          <p:cNvPr id="248" name="Google Shape;248;g396094b1242_0_2"/>
          <p:cNvSpPr/>
          <p:nvPr/>
        </p:nvSpPr>
        <p:spPr>
          <a:xfrm>
            <a:off x="2144712" y="4076700"/>
            <a:ext cx="338100" cy="453900"/>
          </a:xfrm>
          <a:prstGeom prst="leftBrace">
            <a:avLst>
              <a:gd fmla="val 1341" name="adj1"/>
              <a:gd fmla="val 50000" name="adj2"/>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9" name="Google Shape;249;g396094b1242_0_2"/>
          <p:cNvSpPr/>
          <p:nvPr/>
        </p:nvSpPr>
        <p:spPr>
          <a:xfrm>
            <a:off x="2144712" y="3460750"/>
            <a:ext cx="338100" cy="539700"/>
          </a:xfrm>
          <a:prstGeom prst="leftBrace">
            <a:avLst>
              <a:gd fmla="val 1128" name="adj1"/>
              <a:gd fmla="val 50000" name="adj2"/>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 name="Google Shape;250;g396094b1242_0_2"/>
          <p:cNvSpPr txBox="1"/>
          <p:nvPr/>
        </p:nvSpPr>
        <p:spPr>
          <a:xfrm>
            <a:off x="1292225" y="3494087"/>
            <a:ext cx="787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String</a:t>
            </a:r>
            <a:endParaRPr/>
          </a:p>
        </p:txBody>
      </p:sp>
      <p:sp>
        <p:nvSpPr>
          <p:cNvPr id="251" name="Google Shape;251;g396094b1242_0_2"/>
          <p:cNvSpPr txBox="1"/>
          <p:nvPr/>
        </p:nvSpPr>
        <p:spPr>
          <a:xfrm>
            <a:off x="1084262" y="4076700"/>
            <a:ext cx="100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Number</a:t>
            </a:r>
            <a:endParaRPr/>
          </a:p>
        </p:txBody>
      </p:sp>
      <p:sp>
        <p:nvSpPr>
          <p:cNvPr id="252" name="Google Shape;252;g396094b1242_0_2"/>
          <p:cNvSpPr txBox="1"/>
          <p:nvPr/>
        </p:nvSpPr>
        <p:spPr>
          <a:xfrm>
            <a:off x="1368425" y="4497387"/>
            <a:ext cx="1030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Boolean</a:t>
            </a:r>
            <a:endParaRPr/>
          </a:p>
        </p:txBody>
      </p:sp>
      <p:sp>
        <p:nvSpPr>
          <p:cNvPr id="253" name="Google Shape;253;g396094b1242_0_2"/>
          <p:cNvSpPr txBox="1"/>
          <p:nvPr/>
        </p:nvSpPr>
        <p:spPr>
          <a:xfrm>
            <a:off x="1368425" y="4776787"/>
            <a:ext cx="85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Object</a:t>
            </a:r>
            <a:endParaRPr/>
          </a:p>
        </p:txBody>
      </p:sp>
      <p:sp>
        <p:nvSpPr>
          <p:cNvPr id="254" name="Google Shape;254;g396094b1242_0_2"/>
          <p:cNvSpPr txBox="1"/>
          <p:nvPr/>
        </p:nvSpPr>
        <p:spPr>
          <a:xfrm>
            <a:off x="1347787" y="5019675"/>
            <a:ext cx="107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Function</a:t>
            </a:r>
            <a:endParaRPr/>
          </a:p>
        </p:txBody>
      </p:sp>
      <p:sp>
        <p:nvSpPr>
          <p:cNvPr id="255" name="Google Shape;255;g396094b1242_0_2"/>
          <p:cNvSpPr txBox="1"/>
          <p:nvPr/>
        </p:nvSpPr>
        <p:spPr>
          <a:xfrm>
            <a:off x="0" y="6537325"/>
            <a:ext cx="9144000" cy="312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Resultado de imagen para angular logos" id="260" name="Google Shape;260;p10"/>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61" name="Google Shape;261;p10"/>
          <p:cNvSpPr txBox="1"/>
          <p:nvPr/>
        </p:nvSpPr>
        <p:spPr>
          <a:xfrm>
            <a:off x="1144587" y="185737"/>
            <a:ext cx="23939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Number</a:t>
            </a:r>
            <a:endParaRPr/>
          </a:p>
        </p:txBody>
      </p:sp>
      <p:cxnSp>
        <p:nvCxnSpPr>
          <p:cNvPr id="262" name="Google Shape;262;p10"/>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63" name="Google Shape;263;p10"/>
          <p:cNvSpPr txBox="1"/>
          <p:nvPr/>
        </p:nvSpPr>
        <p:spPr>
          <a:xfrm>
            <a:off x="654050" y="1354137"/>
            <a:ext cx="8199437" cy="19383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Números enteros y reales son del mismo tipo (no existe int ni double)</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Operadores: +   -   *   /   %   ++   --   =   +=   -=   *=   /=   %=</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Precedencia de los operadores es similar a Java</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Muchos operadores convierten los tipos:  “2” * 3   es  6</a:t>
            </a:r>
            <a:endParaRPr/>
          </a:p>
        </p:txBody>
      </p:sp>
      <p:sp>
        <p:nvSpPr>
          <p:cNvPr id="264" name="Google Shape;264;p10"/>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65" name="Google Shape;265;p10"/>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Resultado de imagen para angular logos" id="270" name="Google Shape;270;p11"/>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71" name="Google Shape;271;p11"/>
          <p:cNvSpPr txBox="1"/>
          <p:nvPr/>
        </p:nvSpPr>
        <p:spPr>
          <a:xfrm>
            <a:off x="1144587" y="185737"/>
            <a:ext cx="20732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String</a:t>
            </a:r>
            <a:endParaRPr/>
          </a:p>
        </p:txBody>
      </p:sp>
      <p:cxnSp>
        <p:nvCxnSpPr>
          <p:cNvPr id="272" name="Google Shape;272;p11"/>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73" name="Google Shape;273;p11"/>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largo de un string se puede obtener mediante la propiedad </a:t>
            </a:r>
            <a:r>
              <a:rPr b="0" i="0" lang="en-US" sz="1800" u="none">
                <a:solidFill>
                  <a:srgbClr val="0070C0"/>
                </a:solidFill>
                <a:latin typeface="Arial"/>
                <a:ea typeface="Arial"/>
                <a:cs typeface="Arial"/>
                <a:sym typeface="Arial"/>
              </a:rPr>
              <a:t>length</a:t>
            </a:r>
            <a:endParaRPr/>
          </a:p>
        </p:txBody>
      </p:sp>
      <p:sp>
        <p:nvSpPr>
          <p:cNvPr id="274" name="Google Shape;274;p11"/>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75" name="Google Shape;275;p11"/>
          <p:cNvSpPr txBox="1"/>
          <p:nvPr/>
        </p:nvSpPr>
        <p:spPr>
          <a:xfrm>
            <a:off x="533400" y="1773237"/>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Métodos: </a:t>
            </a:r>
            <a:r>
              <a:rPr b="0" i="0" lang="en-US" sz="1800" u="none">
                <a:solidFill>
                  <a:srgbClr val="0070C0"/>
                </a:solidFill>
                <a:latin typeface="Arial"/>
                <a:ea typeface="Arial"/>
                <a:cs typeface="Arial"/>
                <a:sym typeface="Arial"/>
              </a:rPr>
              <a:t>charAt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charCodeAt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fromCharCode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indexOf</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lastIndexOf</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replace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split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substring</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toLowerCase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toUpperCase</a:t>
            </a:r>
            <a:endParaRPr/>
          </a:p>
        </p:txBody>
      </p:sp>
      <p:sp>
        <p:nvSpPr>
          <p:cNvPr id="276" name="Google Shape;276;p11"/>
          <p:cNvSpPr txBox="1"/>
          <p:nvPr/>
        </p:nvSpPr>
        <p:spPr>
          <a:xfrm>
            <a:off x="533400" y="2571750"/>
            <a:ext cx="8320087"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operador de concatenación es +. Ejemplo:  1 + 1 es 2    pero  “1” + 1 es “11”</a:t>
            </a:r>
            <a:endParaRPr/>
          </a:p>
        </p:txBody>
      </p:sp>
      <p:sp>
        <p:nvSpPr>
          <p:cNvPr id="277" name="Google Shape;277;p11"/>
          <p:cNvSpPr txBox="1"/>
          <p:nvPr/>
        </p:nvSpPr>
        <p:spPr>
          <a:xfrm>
            <a:off x="1196975" y="2908300"/>
            <a:ext cx="5937250" cy="7381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s</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"Barry Allen"</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nombre</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s</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substring</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0</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s</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indexOf</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len</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s</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length</a:t>
            </a:r>
            <a:r>
              <a:rPr b="0" i="0" lang="en-US" sz="1600" u="none">
                <a:solidFill>
                  <a:srgbClr val="BF9000"/>
                </a:solidFill>
                <a:latin typeface="Consolas"/>
                <a:ea typeface="Consolas"/>
                <a:cs typeface="Consolas"/>
                <a:sym typeface="Consolas"/>
              </a:rPr>
              <a:t>;</a:t>
            </a:r>
            <a:endParaRPr/>
          </a:p>
        </p:txBody>
      </p:sp>
      <p:sp>
        <p:nvSpPr>
          <p:cNvPr id="278" name="Google Shape;278;p11"/>
          <p:cNvSpPr txBox="1"/>
          <p:nvPr/>
        </p:nvSpPr>
        <p:spPr>
          <a:xfrm>
            <a:off x="533400" y="3795712"/>
            <a:ext cx="8320087"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Las secuencias de escape son las mismas de Java:</a:t>
            </a:r>
            <a:endParaRPr/>
          </a:p>
        </p:txBody>
      </p:sp>
      <p:pic>
        <p:nvPicPr>
          <p:cNvPr id="279" name="Google Shape;279;p11"/>
          <p:cNvPicPr preferRelativeResize="0"/>
          <p:nvPr/>
        </p:nvPicPr>
        <p:blipFill rotWithShape="1">
          <a:blip r:embed="rId4">
            <a:alphaModFix/>
          </a:blip>
          <a:srcRect b="0" l="0" r="0" t="0"/>
          <a:stretch/>
        </p:blipFill>
        <p:spPr>
          <a:xfrm>
            <a:off x="6227762" y="3768725"/>
            <a:ext cx="2247900" cy="333375"/>
          </a:xfrm>
          <a:prstGeom prst="rect">
            <a:avLst/>
          </a:prstGeom>
          <a:noFill/>
          <a:ln>
            <a:noFill/>
          </a:ln>
        </p:spPr>
      </p:pic>
      <p:sp>
        <p:nvSpPr>
          <p:cNvPr id="280" name="Google Shape;280;p11"/>
          <p:cNvSpPr txBox="1"/>
          <p:nvPr/>
        </p:nvSpPr>
        <p:spPr>
          <a:xfrm>
            <a:off x="533400" y="4270375"/>
            <a:ext cx="832008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Funciones de conversión:</a:t>
            </a:r>
            <a:endParaRPr/>
          </a:p>
        </p:txBody>
      </p:sp>
      <p:sp>
        <p:nvSpPr>
          <p:cNvPr id="281" name="Google Shape;281;p11"/>
          <p:cNvSpPr txBox="1"/>
          <p:nvPr/>
        </p:nvSpPr>
        <p:spPr>
          <a:xfrm>
            <a:off x="1196975" y="4602162"/>
            <a:ext cx="5937250" cy="123031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count</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10</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s1</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count</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"10"</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s2</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count</a:t>
            </a:r>
            <a:r>
              <a:rPr b="0" i="0" lang="en-US" sz="1600" u="none">
                <a:solidFill>
                  <a:srgbClr val="0070C0"/>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perritos"</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//"10 perritos"</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n1</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parseInt</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"42 es la respuesta"</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//42</a:t>
            </a:r>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n2</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parseFloat</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"seis punto cinco"</a:t>
            </a:r>
            <a:r>
              <a:rPr b="0" i="0" lang="en-US" sz="1600" u="none">
                <a:solidFill>
                  <a:srgbClr val="BF9000"/>
                </a:solidFill>
                <a:latin typeface="Consolas"/>
                <a:ea typeface="Consolas"/>
                <a:cs typeface="Consolas"/>
                <a:sym typeface="Consolas"/>
              </a:rPr>
              <a:t>);</a:t>
            </a:r>
            <a:r>
              <a:rPr b="0" i="0" lang="en-US" sz="1600" u="none">
                <a:solidFill>
                  <a:srgbClr val="0070C0"/>
                </a:solidFill>
                <a:latin typeface="Consolas"/>
                <a:ea typeface="Consolas"/>
                <a:cs typeface="Consolas"/>
                <a:sym typeface="Consolas"/>
              </a:rPr>
              <a:t> </a:t>
            </a:r>
            <a:r>
              <a:rPr b="0" i="0" lang="en-US" sz="1600" u="none">
                <a:solidFill>
                  <a:srgbClr val="008000"/>
                </a:solidFill>
                <a:latin typeface="Consolas"/>
                <a:ea typeface="Consolas"/>
                <a:cs typeface="Consolas"/>
                <a:sym typeface="Consolas"/>
              </a:rPr>
              <a:t>//NAN</a:t>
            </a:r>
            <a:endParaRPr/>
          </a:p>
        </p:txBody>
      </p:sp>
      <p:sp>
        <p:nvSpPr>
          <p:cNvPr id="282" name="Google Shape;282;p11"/>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Resultado de imagen para angular logos" id="287" name="Google Shape;287;p12"/>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88" name="Google Shape;288;p12"/>
          <p:cNvSpPr txBox="1"/>
          <p:nvPr/>
        </p:nvSpPr>
        <p:spPr>
          <a:xfrm>
            <a:off x="1144587" y="185737"/>
            <a:ext cx="24320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String…</a:t>
            </a:r>
            <a:endParaRPr/>
          </a:p>
        </p:txBody>
      </p:sp>
      <p:cxnSp>
        <p:nvCxnSpPr>
          <p:cNvPr id="289" name="Google Shape;289;p12"/>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290" name="Google Shape;290;p12"/>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Para accesar los caracteres de un string, usar </a:t>
            </a:r>
            <a:r>
              <a:rPr b="0" i="0" lang="en-US" sz="1800" u="none">
                <a:solidFill>
                  <a:srgbClr val="0070C0"/>
                </a:solidFill>
                <a:latin typeface="Arial"/>
                <a:ea typeface="Arial"/>
                <a:cs typeface="Arial"/>
                <a:sym typeface="Arial"/>
              </a:rPr>
              <a:t>[index] </a:t>
            </a:r>
            <a:r>
              <a:rPr b="0" i="0" lang="en-US" sz="1800" u="none">
                <a:solidFill>
                  <a:schemeClr val="dk1"/>
                </a:solidFill>
                <a:latin typeface="Arial"/>
                <a:ea typeface="Arial"/>
                <a:cs typeface="Arial"/>
                <a:sym typeface="Arial"/>
              </a:rPr>
              <a:t>o </a:t>
            </a:r>
            <a:r>
              <a:rPr b="0" i="0" lang="en-US" sz="1800" u="none">
                <a:solidFill>
                  <a:srgbClr val="0070C0"/>
                </a:solidFill>
                <a:latin typeface="Arial"/>
                <a:ea typeface="Arial"/>
                <a:cs typeface="Arial"/>
                <a:sym typeface="Arial"/>
              </a:rPr>
              <a:t>charAt</a:t>
            </a:r>
            <a:r>
              <a:rPr b="0" i="0" lang="en-US" sz="1800" u="none">
                <a:solidFill>
                  <a:schemeClr val="dk1"/>
                </a:solidFill>
                <a:latin typeface="Arial"/>
                <a:ea typeface="Arial"/>
                <a:cs typeface="Arial"/>
                <a:sym typeface="Arial"/>
              </a:rPr>
              <a:t>:</a:t>
            </a:r>
            <a:endParaRPr/>
          </a:p>
        </p:txBody>
      </p:sp>
      <p:sp>
        <p:nvSpPr>
          <p:cNvPr id="291" name="Google Shape;291;p12"/>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292" name="Google Shape;292;p12"/>
          <p:cNvSpPr txBox="1"/>
          <p:nvPr/>
        </p:nvSpPr>
        <p:spPr>
          <a:xfrm>
            <a:off x="1027112" y="1711325"/>
            <a:ext cx="5935662" cy="83185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primeraLetra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primeraLetra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charAt</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ultimaLetra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charAt</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s</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length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1</a:t>
            </a:r>
            <a:r>
              <a:rPr b="0" i="0" lang="en-US" sz="1800" u="none">
                <a:solidFill>
                  <a:srgbClr val="BF9000"/>
                </a:solidFill>
                <a:latin typeface="Consolas"/>
                <a:ea typeface="Consolas"/>
                <a:cs typeface="Consolas"/>
                <a:sym typeface="Consolas"/>
              </a:rPr>
              <a:t>);</a:t>
            </a:r>
            <a:endParaRPr/>
          </a:p>
        </p:txBody>
      </p:sp>
      <p:sp>
        <p:nvSpPr>
          <p:cNvPr id="293" name="Google Shape;293;p12"/>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descr="Resultado de imagen para angular logos" id="298" name="Google Shape;298;p13"/>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299" name="Google Shape;299;p13"/>
          <p:cNvSpPr txBox="1"/>
          <p:nvPr/>
        </p:nvSpPr>
        <p:spPr>
          <a:xfrm>
            <a:off x="1144587" y="185737"/>
            <a:ext cx="215423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Object</a:t>
            </a:r>
            <a:endParaRPr/>
          </a:p>
        </p:txBody>
      </p:sp>
      <p:cxnSp>
        <p:nvCxnSpPr>
          <p:cNvPr id="300" name="Google Shape;300;p13"/>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01" name="Google Shape;301;p13"/>
          <p:cNvSpPr txBox="1"/>
          <p:nvPr/>
        </p:nvSpPr>
        <p:spPr>
          <a:xfrm>
            <a:off x="550862" y="1274762"/>
            <a:ext cx="8199437" cy="83026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rgbClr val="0070C0"/>
              </a:buClr>
              <a:buSzPts val="1800"/>
              <a:buFont typeface="Arial"/>
              <a:buChar char="•"/>
            </a:pPr>
            <a:r>
              <a:rPr b="0" i="0" lang="en-US" sz="1800" u="none">
                <a:solidFill>
                  <a:srgbClr val="0070C0"/>
                </a:solidFill>
                <a:latin typeface="Arial"/>
                <a:ea typeface="Arial"/>
                <a:cs typeface="Arial"/>
                <a:sym typeface="Arial"/>
              </a:rPr>
              <a:t>Object</a:t>
            </a:r>
            <a:r>
              <a:rPr b="0" i="0" lang="en-US" sz="1800" u="none">
                <a:solidFill>
                  <a:schemeClr val="dk1"/>
                </a:solidFill>
                <a:latin typeface="Arial"/>
                <a:ea typeface="Arial"/>
                <a:cs typeface="Arial"/>
                <a:sym typeface="Arial"/>
              </a:rPr>
              <a:t> permite definir objetos con propiedades y funciones asociadas.</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 puede definir un objeto literal de la siguiente manera:</a:t>
            </a:r>
            <a:endParaRPr/>
          </a:p>
        </p:txBody>
      </p:sp>
      <p:sp>
        <p:nvSpPr>
          <p:cNvPr id="302" name="Google Shape;302;p13"/>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03" name="Google Shape;303;p13"/>
          <p:cNvSpPr txBox="1"/>
          <p:nvPr/>
        </p:nvSpPr>
        <p:spPr>
          <a:xfrm>
            <a:off x="533400" y="3321050"/>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304" name="Google Shape;304;p13"/>
          <p:cNvSpPr txBox="1"/>
          <p:nvPr/>
        </p:nvSpPr>
        <p:spPr>
          <a:xfrm>
            <a:off x="1066800" y="2243137"/>
            <a:ext cx="775176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person</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firstName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"John"</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lastName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"Doe"</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age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50</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eyeColor</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"blue"</a:t>
            </a:r>
            <a:r>
              <a:rPr b="0" i="0" lang="en-US" sz="1400" u="none">
                <a:solidFill>
                  <a:srgbClr val="BF9000"/>
                </a:solidFill>
                <a:latin typeface="Consolas"/>
                <a:ea typeface="Consolas"/>
                <a:cs typeface="Consolas"/>
                <a:sym typeface="Consolas"/>
              </a:rPr>
              <a:t>};</a:t>
            </a:r>
            <a:endParaRPr/>
          </a:p>
        </p:txBody>
      </p:sp>
      <p:sp>
        <p:nvSpPr>
          <p:cNvPr id="305" name="Google Shape;305;p13"/>
          <p:cNvSpPr txBox="1"/>
          <p:nvPr/>
        </p:nvSpPr>
        <p:spPr>
          <a:xfrm>
            <a:off x="557212" y="2722562"/>
            <a:ext cx="8199437"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 palabra </a:t>
            </a:r>
            <a:r>
              <a:rPr b="0" i="0" lang="en-US" sz="1800" u="none">
                <a:solidFill>
                  <a:srgbClr val="0070C0"/>
                </a:solidFill>
                <a:latin typeface="Arial"/>
                <a:ea typeface="Arial"/>
                <a:cs typeface="Arial"/>
                <a:sym typeface="Arial"/>
              </a:rPr>
              <a:t>new</a:t>
            </a:r>
            <a:r>
              <a:rPr b="0" i="0" lang="en-US" sz="1800" u="none">
                <a:solidFill>
                  <a:schemeClr val="dk1"/>
                </a:solidFill>
                <a:latin typeface="Arial"/>
                <a:ea typeface="Arial"/>
                <a:cs typeface="Arial"/>
                <a:sym typeface="Arial"/>
              </a:rPr>
              <a:t> permite construir una nueva instancia de un objeto.</a:t>
            </a:r>
            <a:endParaRPr/>
          </a:p>
        </p:txBody>
      </p:sp>
      <p:sp>
        <p:nvSpPr>
          <p:cNvPr id="306" name="Google Shape;306;p13"/>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307" name="Google Shape;307;p13"/>
          <p:cNvSpPr txBox="1"/>
          <p:nvPr/>
        </p:nvSpPr>
        <p:spPr>
          <a:xfrm>
            <a:off x="998537" y="3783012"/>
            <a:ext cx="7551600" cy="1723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var </a:t>
            </a:r>
            <a:r>
              <a:rPr b="0" i="0" lang="en-US" sz="1600" u="none">
                <a:solidFill>
                  <a:schemeClr val="dk1"/>
                </a:solidFill>
                <a:latin typeface="Consolas"/>
                <a:ea typeface="Consolas"/>
                <a:cs typeface="Consolas"/>
                <a:sym typeface="Consolas"/>
              </a:rPr>
              <a:t>obj</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new </a:t>
            </a:r>
            <a:r>
              <a:rPr b="0" i="0" lang="en-US" sz="1600" u="none">
                <a:solidFill>
                  <a:srgbClr val="FF9900"/>
                </a:solidFill>
                <a:latin typeface="Consolas"/>
                <a:ea typeface="Consolas"/>
                <a:cs typeface="Consolas"/>
                <a:sym typeface="Consolas"/>
              </a:rPr>
              <a:t>Object</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obj</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nombre</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"mundo"</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obj</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edad</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25</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obj</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saluda</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function</a:t>
            </a:r>
            <a:r>
              <a:rPr b="0" i="0" lang="en-US" sz="1600" u="none">
                <a:solidFill>
                  <a:srgbClr val="BF9000"/>
                </a:solidFill>
                <a:latin typeface="Consolas"/>
                <a:ea typeface="Consolas"/>
                <a:cs typeface="Consolas"/>
                <a:sym typeface="Consolas"/>
              </a:rPr>
              <a:t>() {</a:t>
            </a:r>
            <a:r>
              <a:rPr b="0" i="0" lang="en-US" sz="1600" u="none">
                <a:solidFill>
                  <a:srgbClr val="0033CC"/>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alert</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"hola " </a:t>
            </a:r>
            <a:r>
              <a:rPr b="0" i="0" lang="en-US" sz="1600" u="none">
                <a:solidFill>
                  <a:srgbClr val="BF9000"/>
                </a:solidFill>
                <a:latin typeface="Consolas"/>
                <a:ea typeface="Consolas"/>
                <a:cs typeface="Consolas"/>
                <a:sym typeface="Consolas"/>
              </a:rPr>
              <a:t>+ </a:t>
            </a:r>
            <a:r>
              <a:rPr b="0" i="0" lang="en-US" sz="1600" u="none">
                <a:solidFill>
                  <a:srgbClr val="0033CC"/>
                </a:solidFill>
                <a:latin typeface="Consolas"/>
                <a:ea typeface="Consolas"/>
                <a:cs typeface="Consolas"/>
                <a:sym typeface="Consolas"/>
              </a:rPr>
              <a:t>this</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nombre </a:t>
            </a:r>
            <a:r>
              <a:rPr b="0" i="0" lang="en-US" sz="1600" u="none">
                <a:solidFill>
                  <a:srgbClr val="BF9000"/>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 tengo "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this</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edad</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 años"</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obj</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saluda</a:t>
            </a:r>
            <a:r>
              <a:rPr b="0" i="0" lang="en-US" sz="1600" u="none">
                <a:solidFill>
                  <a:srgbClr val="BF9000"/>
                </a:solidFill>
                <a:latin typeface="Consolas"/>
                <a:ea typeface="Consolas"/>
                <a:cs typeface="Consolas"/>
                <a:sym typeface="Consolas"/>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pic>
        <p:nvPicPr>
          <p:cNvPr descr="Resultado de imagen para angular logos" id="312" name="Google Shape;312;p14"/>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13" name="Google Shape;313;p14"/>
          <p:cNvSpPr txBox="1"/>
          <p:nvPr/>
        </p:nvSpPr>
        <p:spPr>
          <a:xfrm>
            <a:off x="1144587" y="185737"/>
            <a:ext cx="18764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Math</a:t>
            </a:r>
            <a:endParaRPr/>
          </a:p>
        </p:txBody>
      </p:sp>
      <p:cxnSp>
        <p:nvCxnSpPr>
          <p:cNvPr id="314" name="Google Shape;314;p14"/>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15" name="Google Shape;315;p14"/>
          <p:cNvSpPr txBox="1"/>
          <p:nvPr/>
        </p:nvSpPr>
        <p:spPr>
          <a:xfrm>
            <a:off x="550862" y="1287462"/>
            <a:ext cx="8199300" cy="24936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 clase </a:t>
            </a:r>
            <a:r>
              <a:rPr b="0" i="0" lang="en-US" sz="1800" u="none">
                <a:solidFill>
                  <a:srgbClr val="0070C0"/>
                </a:solidFill>
                <a:latin typeface="Arial"/>
                <a:ea typeface="Arial"/>
                <a:cs typeface="Arial"/>
                <a:sym typeface="Arial"/>
              </a:rPr>
              <a:t>Math</a:t>
            </a:r>
            <a:r>
              <a:rPr b="0" i="0" lang="en-US" sz="1800" u="none">
                <a:solidFill>
                  <a:schemeClr val="dk1"/>
                </a:solidFill>
                <a:latin typeface="Arial"/>
                <a:ea typeface="Arial"/>
                <a:cs typeface="Arial"/>
                <a:sym typeface="Arial"/>
              </a:rPr>
              <a:t> encapsula muchas de las fórmulas y entidades matemáticas comúnmente usadas.</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Los métodos proveídos son: </a:t>
            </a:r>
            <a:r>
              <a:rPr b="0" i="0" lang="en-US" sz="1800" u="none">
                <a:solidFill>
                  <a:srgbClr val="0070C0"/>
                </a:solidFill>
                <a:latin typeface="Arial"/>
                <a:ea typeface="Arial"/>
                <a:cs typeface="Arial"/>
                <a:sym typeface="Arial"/>
              </a:rPr>
              <a:t>abs</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ceil</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cos</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floor</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log</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max</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min</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pow</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random</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round</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sin</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sqrt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tan</a:t>
            </a:r>
            <a:r>
              <a:rPr b="0" i="0" lang="en-US" sz="1800" u="none">
                <a:solidFill>
                  <a:schemeClr val="dk1"/>
                </a:solidFill>
                <a:latin typeface="Arial"/>
                <a:ea typeface="Arial"/>
                <a:cs typeface="Arial"/>
                <a:sym typeface="Arial"/>
              </a:rPr>
              <a:t>.</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Algunas propiedades son: </a:t>
            </a:r>
            <a:r>
              <a:rPr b="0" i="0" lang="en-US" sz="1800" u="none">
                <a:solidFill>
                  <a:srgbClr val="0070C0"/>
                </a:solidFill>
                <a:latin typeface="Arial"/>
                <a:ea typeface="Arial"/>
                <a:cs typeface="Arial"/>
                <a:sym typeface="Arial"/>
              </a:rPr>
              <a:t>LN2</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LN10</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LOG2E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LOG10E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PI</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SQRT2</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316" name="Google Shape;316;p14"/>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17" name="Google Shape;317;p14"/>
          <p:cNvSpPr txBox="1"/>
          <p:nvPr/>
        </p:nvSpPr>
        <p:spPr>
          <a:xfrm>
            <a:off x="1027112" y="3898900"/>
            <a:ext cx="7551737" cy="7381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rand1to10</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FF9900"/>
                </a:solidFill>
                <a:latin typeface="Consolas"/>
                <a:ea typeface="Consolas"/>
                <a:cs typeface="Consolas"/>
                <a:sym typeface="Consolas"/>
              </a:rPr>
              <a:t>Math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floor</a:t>
            </a:r>
            <a:r>
              <a:rPr b="0" i="0" lang="en-US" sz="1800" u="none">
                <a:solidFill>
                  <a:srgbClr val="BF9000"/>
                </a:solidFill>
                <a:latin typeface="Consolas"/>
                <a:ea typeface="Consolas"/>
                <a:cs typeface="Consolas"/>
                <a:sym typeface="Consolas"/>
              </a:rPr>
              <a:t>(</a:t>
            </a:r>
            <a:r>
              <a:rPr b="0" i="0" lang="en-US" sz="1800" u="none">
                <a:solidFill>
                  <a:srgbClr val="FF9900"/>
                </a:solidFill>
                <a:latin typeface="Consolas"/>
                <a:ea typeface="Consolas"/>
                <a:cs typeface="Consolas"/>
                <a:sym typeface="Consolas"/>
              </a:rPr>
              <a:t>Math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random</a:t>
            </a:r>
            <a:r>
              <a:rPr b="0" i="0" lang="en-US" sz="1800" u="none">
                <a:solidFill>
                  <a:srgbClr val="BF9000"/>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10</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1</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000"/>
              <a:buFont typeface="Arial"/>
              <a:buNone/>
            </a:pPr>
            <a:r>
              <a:t/>
            </a:r>
            <a:endParaRPr b="0" i="0" sz="1000" u="none">
              <a:solidFill>
                <a:srgbClr val="0033CC"/>
              </a:solidFill>
              <a:latin typeface="Consolas"/>
              <a:ea typeface="Consolas"/>
              <a:cs typeface="Consolas"/>
              <a:sym typeface="Consolas"/>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r</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FF9900"/>
                </a:solidFill>
                <a:latin typeface="Consolas"/>
                <a:ea typeface="Consolas"/>
                <a:cs typeface="Consolas"/>
                <a:sym typeface="Consolas"/>
              </a:rPr>
              <a:t>Math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floor</a:t>
            </a:r>
            <a:r>
              <a:rPr b="0" i="0" lang="en-US" sz="1800" u="none">
                <a:solidFill>
                  <a:srgbClr val="BF9000"/>
                </a:solidFill>
                <a:latin typeface="Consolas"/>
                <a:ea typeface="Consolas"/>
                <a:cs typeface="Consolas"/>
                <a:sym typeface="Consolas"/>
              </a:rPr>
              <a:t>(</a:t>
            </a:r>
            <a:r>
              <a:rPr b="0" i="0" lang="en-US" sz="1800" u="none">
                <a:solidFill>
                  <a:srgbClr val="FF9900"/>
                </a:solidFill>
                <a:latin typeface="Consolas"/>
                <a:ea typeface="Consolas"/>
                <a:cs typeface="Consolas"/>
                <a:sym typeface="Consolas"/>
              </a:rPr>
              <a:t>Math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PI</a:t>
            </a:r>
            <a:r>
              <a:rPr b="0" i="0" lang="en-US" sz="1800" u="none">
                <a:solidFill>
                  <a:srgbClr val="BF9000"/>
                </a:solidFill>
                <a:latin typeface="Consolas"/>
                <a:ea typeface="Consolas"/>
                <a:cs typeface="Consolas"/>
                <a:sym typeface="Consolas"/>
              </a:rPr>
              <a:t>);</a:t>
            </a:r>
            <a:endParaRPr/>
          </a:p>
        </p:txBody>
      </p:sp>
      <p:sp>
        <p:nvSpPr>
          <p:cNvPr id="318" name="Google Shape;318;p14"/>
          <p:cNvSpPr txBox="1"/>
          <p:nvPr/>
        </p:nvSpPr>
        <p:spPr>
          <a:xfrm>
            <a:off x="566737" y="4899025"/>
            <a:ext cx="8183562" cy="554037"/>
          </a:xfrm>
          <a:prstGeom prst="rect">
            <a:avLst/>
          </a:prstGeom>
          <a:solidFill>
            <a:srgbClr val="FFFFFF"/>
          </a:solid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Cuando no es posible operar los valores numéricos se puede obtener un </a:t>
            </a:r>
            <a:r>
              <a:rPr b="0" i="0" lang="en-US" sz="1800" u="none">
                <a:solidFill>
                  <a:srgbClr val="0070C0"/>
                </a:solidFill>
                <a:latin typeface="Arial"/>
                <a:ea typeface="Arial"/>
                <a:cs typeface="Arial"/>
                <a:sym typeface="Arial"/>
              </a:rPr>
              <a:t>NaN</a:t>
            </a: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Not a Number</a:t>
            </a:r>
            <a:r>
              <a:rPr b="0" i="0" lang="en-US" sz="1800" u="none">
                <a:solidFill>
                  <a:schemeClr val="dk1"/>
                </a:solidFill>
                <a:latin typeface="Arial"/>
                <a:ea typeface="Arial"/>
                <a:cs typeface="Arial"/>
                <a:sym typeface="Arial"/>
              </a:rPr>
              <a:t>) como resultado.  </a:t>
            </a:r>
            <a:endParaRPr/>
          </a:p>
        </p:txBody>
      </p:sp>
      <p:sp>
        <p:nvSpPr>
          <p:cNvPr id="319" name="Google Shape;319;p14"/>
          <p:cNvSpPr txBox="1"/>
          <p:nvPr/>
        </p:nvSpPr>
        <p:spPr>
          <a:xfrm>
            <a:off x="1116012" y="5600700"/>
            <a:ext cx="1900237" cy="55403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9900"/>
              </a:buClr>
              <a:buSzPts val="1800"/>
              <a:buFont typeface="Consolas"/>
              <a:buNone/>
            </a:pPr>
            <a:r>
              <a:rPr b="0" i="0" lang="en-US" sz="1800" u="none">
                <a:solidFill>
                  <a:srgbClr val="FF9900"/>
                </a:solidFill>
                <a:latin typeface="Consolas"/>
                <a:ea typeface="Consolas"/>
                <a:cs typeface="Consolas"/>
                <a:sym typeface="Consolas"/>
              </a:rPr>
              <a:t>Math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sqrt</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-1</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parseInt</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'no'</a:t>
            </a:r>
            <a:r>
              <a:rPr b="0" i="0" lang="en-US" sz="1800" u="none">
                <a:solidFill>
                  <a:srgbClr val="BF9000"/>
                </a:solidFill>
                <a:latin typeface="Consolas"/>
                <a:ea typeface="Consolas"/>
                <a:cs typeface="Consolas"/>
                <a:sym typeface="Consolas"/>
              </a:rPr>
              <a:t>);</a:t>
            </a:r>
            <a:endParaRPr/>
          </a:p>
        </p:txBody>
      </p:sp>
      <p:sp>
        <p:nvSpPr>
          <p:cNvPr id="320" name="Google Shape;320;p14"/>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descr="Resultado de imagen para angular logos" id="325" name="Google Shape;325;p15"/>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26" name="Google Shape;326;p15"/>
          <p:cNvSpPr txBox="1"/>
          <p:nvPr/>
        </p:nvSpPr>
        <p:spPr>
          <a:xfrm>
            <a:off x="1144587" y="185737"/>
            <a:ext cx="18161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Date</a:t>
            </a:r>
            <a:endParaRPr/>
          </a:p>
        </p:txBody>
      </p:sp>
      <p:cxnSp>
        <p:nvCxnSpPr>
          <p:cNvPr id="327" name="Google Shape;327;p15"/>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28" name="Google Shape;328;p15"/>
          <p:cNvSpPr txBox="1"/>
          <p:nvPr/>
        </p:nvSpPr>
        <p:spPr>
          <a:xfrm>
            <a:off x="533400" y="1268412"/>
            <a:ext cx="8199437" cy="33226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 clase Date encapsula muchas de las funciones de conversión de fecha y hora comúnmente usadas.</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Las fechas pueden ser comparadas e incrementadas.</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Algunos métodos: </a:t>
            </a:r>
            <a:r>
              <a:rPr b="0" i="0" lang="en-US" sz="1800" u="none">
                <a:solidFill>
                  <a:srgbClr val="0070C0"/>
                </a:solidFill>
                <a:latin typeface="Arial"/>
                <a:ea typeface="Arial"/>
                <a:cs typeface="Arial"/>
                <a:sym typeface="Arial"/>
              </a:rPr>
              <a:t>getDay()</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getMonth()</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getYear()</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getHours()</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getMinutes()</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getSeconds()</a:t>
            </a:r>
            <a:r>
              <a:rPr b="0" i="0" lang="en-US" sz="1800" u="none">
                <a:solidFill>
                  <a:schemeClr val="dk1"/>
                </a:solidFill>
                <a:latin typeface="Arial"/>
                <a:ea typeface="Arial"/>
                <a:cs typeface="Arial"/>
                <a:sym typeface="Arial"/>
              </a:rPr>
              <a:t>.</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método getTime() retorna el número de milisegundos desde el 1 de enero de 1970.</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329" name="Google Shape;329;p15"/>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30" name="Google Shape;330;p15"/>
          <p:cNvSpPr txBox="1"/>
          <p:nvPr/>
        </p:nvSpPr>
        <p:spPr>
          <a:xfrm>
            <a:off x="849312" y="4706937"/>
            <a:ext cx="7883525" cy="129222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d</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new </a:t>
            </a:r>
            <a:r>
              <a:rPr b="0" i="0" lang="en-US" sz="1400" u="none">
                <a:solidFill>
                  <a:srgbClr val="FF9900"/>
                </a:solidFill>
                <a:latin typeface="Consolas"/>
                <a:ea typeface="Consolas"/>
                <a:cs typeface="Consolas"/>
                <a:sym typeface="Consolas"/>
              </a:rPr>
              <a:t>Date</a:t>
            </a:r>
            <a:r>
              <a:rPr b="0" i="0" lang="en-US" sz="1400" u="none">
                <a:solidFill>
                  <a:srgbClr val="BF9000"/>
                </a:solidFill>
                <a:latin typeface="Consolas"/>
                <a:ea typeface="Consolas"/>
                <a:cs typeface="Consolas"/>
                <a:sym typeface="Consolas"/>
              </a:rPr>
              <a:t>();</a:t>
            </a:r>
            <a:br>
              <a:rPr b="0" i="0" lang="en-US" sz="1400" u="none">
                <a:solidFill>
                  <a:srgbClr val="0033CC"/>
                </a:solidFill>
                <a:latin typeface="Consolas"/>
                <a:ea typeface="Consolas"/>
                <a:cs typeface="Consolas"/>
                <a:sym typeface="Consolas"/>
              </a:rPr>
            </a:b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d</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new </a:t>
            </a:r>
            <a:r>
              <a:rPr b="0" i="0" lang="en-US" sz="1400" u="none">
                <a:solidFill>
                  <a:srgbClr val="FF9900"/>
                </a:solidFill>
                <a:latin typeface="Consolas"/>
                <a:ea typeface="Consolas"/>
                <a:cs typeface="Consolas"/>
                <a:sym typeface="Consolas"/>
              </a:rPr>
              <a:t>Date</a:t>
            </a:r>
            <a:r>
              <a:rPr b="0" i="0" lang="en-US" sz="1400" u="none">
                <a:solidFill>
                  <a:srgbClr val="BF9000"/>
                </a:solidFill>
                <a:latin typeface="Consolas"/>
                <a:ea typeface="Consolas"/>
                <a:cs typeface="Consolas"/>
                <a:sym typeface="Consolas"/>
              </a:rPr>
              <a:t>(</a:t>
            </a:r>
            <a:r>
              <a:rPr b="0" i="1" lang="en-US" sz="1400" u="none">
                <a:solidFill>
                  <a:schemeClr val="dk1"/>
                </a:solidFill>
                <a:latin typeface="Consolas"/>
                <a:ea typeface="Consolas"/>
                <a:cs typeface="Consolas"/>
                <a:sym typeface="Consolas"/>
              </a:rPr>
              <a:t>milliseconds</a:t>
            </a:r>
            <a:r>
              <a:rPr b="0" i="0" lang="en-US" sz="1400" u="none">
                <a:solidFill>
                  <a:srgbClr val="BF9000"/>
                </a:solidFill>
                <a:latin typeface="Consolas"/>
                <a:ea typeface="Consolas"/>
                <a:cs typeface="Consolas"/>
                <a:sym typeface="Consolas"/>
              </a:rPr>
              <a:t>);</a:t>
            </a:r>
            <a:br>
              <a:rPr b="0" i="0" lang="en-US" sz="1400" u="none">
                <a:solidFill>
                  <a:srgbClr val="0033CC"/>
                </a:solidFill>
                <a:latin typeface="Consolas"/>
                <a:ea typeface="Consolas"/>
                <a:cs typeface="Consolas"/>
                <a:sym typeface="Consolas"/>
              </a:rPr>
            </a:b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d</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new </a:t>
            </a:r>
            <a:r>
              <a:rPr b="0" i="0" lang="en-US" sz="1400" u="none">
                <a:solidFill>
                  <a:srgbClr val="FF9900"/>
                </a:solidFill>
                <a:latin typeface="Consolas"/>
                <a:ea typeface="Consolas"/>
                <a:cs typeface="Consolas"/>
                <a:sym typeface="Consolas"/>
              </a:rPr>
              <a:t>Date</a:t>
            </a:r>
            <a:r>
              <a:rPr b="0" i="0" lang="en-US" sz="1400" u="none">
                <a:solidFill>
                  <a:srgbClr val="BF9000"/>
                </a:solidFill>
                <a:latin typeface="Consolas"/>
                <a:ea typeface="Consolas"/>
                <a:cs typeface="Consolas"/>
                <a:sym typeface="Consolas"/>
              </a:rPr>
              <a:t>(</a:t>
            </a:r>
            <a:r>
              <a:rPr b="0" i="1" lang="en-US" sz="1400" u="none">
                <a:solidFill>
                  <a:schemeClr val="dk1"/>
                </a:solidFill>
                <a:latin typeface="Consolas"/>
                <a:ea typeface="Consolas"/>
                <a:cs typeface="Consolas"/>
                <a:sym typeface="Consolas"/>
              </a:rPr>
              <a:t>dateString</a:t>
            </a:r>
            <a:r>
              <a:rPr b="0" i="0" lang="en-US" sz="1400" u="none">
                <a:solidFill>
                  <a:srgbClr val="BF9000"/>
                </a:solidFill>
                <a:latin typeface="Consolas"/>
                <a:ea typeface="Consolas"/>
                <a:cs typeface="Consolas"/>
                <a:sym typeface="Consolas"/>
              </a:rPr>
              <a:t>);</a:t>
            </a:r>
            <a:br>
              <a:rPr b="0" i="0" lang="en-US" sz="1400" u="none">
                <a:solidFill>
                  <a:srgbClr val="0033CC"/>
                </a:solidFill>
                <a:latin typeface="Consolas"/>
                <a:ea typeface="Consolas"/>
                <a:cs typeface="Consolas"/>
                <a:sym typeface="Consolas"/>
              </a:rPr>
            </a:b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d</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new </a:t>
            </a:r>
            <a:r>
              <a:rPr b="0" i="0" lang="en-US" sz="1400" u="none">
                <a:solidFill>
                  <a:srgbClr val="FF9900"/>
                </a:solidFill>
                <a:latin typeface="Consolas"/>
                <a:ea typeface="Consolas"/>
                <a:cs typeface="Consolas"/>
                <a:sym typeface="Consolas"/>
              </a:rPr>
              <a:t>Date</a:t>
            </a:r>
            <a:r>
              <a:rPr b="0" i="0" lang="en-US" sz="1400" u="none">
                <a:solidFill>
                  <a:srgbClr val="BF9000"/>
                </a:solidFill>
                <a:latin typeface="Consolas"/>
                <a:ea typeface="Consolas"/>
                <a:cs typeface="Consolas"/>
                <a:sym typeface="Consolas"/>
              </a:rPr>
              <a:t>(</a:t>
            </a:r>
            <a:r>
              <a:rPr b="0" i="1" lang="en-US" sz="1400" u="none">
                <a:solidFill>
                  <a:schemeClr val="dk1"/>
                </a:solidFill>
                <a:latin typeface="Consolas"/>
                <a:ea typeface="Consolas"/>
                <a:cs typeface="Consolas"/>
                <a:sym typeface="Consolas"/>
              </a:rPr>
              <a:t>year</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month</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day</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hours</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minutes</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seconds</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1" lang="en-US" sz="1400" u="none">
                <a:solidFill>
                  <a:schemeClr val="dk1"/>
                </a:solidFill>
                <a:latin typeface="Consolas"/>
                <a:ea typeface="Consolas"/>
                <a:cs typeface="Consolas"/>
                <a:sym typeface="Consolas"/>
              </a:rPr>
              <a:t>milliseconds</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a:solidFill>
                <a:srgbClr val="0033CC"/>
              </a:solidFill>
              <a:latin typeface="Consolas"/>
              <a:ea typeface="Consolas"/>
              <a:cs typeface="Consolas"/>
              <a:sym typeface="Consolas"/>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console.log</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d</a:t>
            </a:r>
            <a:r>
              <a:rPr b="0" i="0" lang="en-US" sz="1400" u="none">
                <a:solidFill>
                  <a:srgbClr val="0033CC"/>
                </a:solidFill>
                <a:latin typeface="Consolas"/>
                <a:ea typeface="Consolas"/>
                <a:cs typeface="Consolas"/>
                <a:sym typeface="Consolas"/>
              </a:rPr>
              <a:t>.getTime</a:t>
            </a:r>
            <a:r>
              <a:rPr b="0" i="0" lang="en-US" sz="1400" u="none">
                <a:solidFill>
                  <a:srgbClr val="BF9000"/>
                </a:solidFill>
                <a:latin typeface="Consolas"/>
                <a:ea typeface="Consolas"/>
                <a:cs typeface="Consolas"/>
                <a:sym typeface="Consolas"/>
              </a:rPr>
              <a:t>());</a:t>
            </a:r>
            <a:endParaRPr/>
          </a:p>
        </p:txBody>
      </p:sp>
      <p:sp>
        <p:nvSpPr>
          <p:cNvPr id="331" name="Google Shape;331;p15"/>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Resultado de imagen para angular logos" id="336" name="Google Shape;336;p16"/>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37" name="Google Shape;337;p16"/>
          <p:cNvSpPr txBox="1"/>
          <p:nvPr/>
        </p:nvSpPr>
        <p:spPr>
          <a:xfrm>
            <a:off x="1144587" y="185737"/>
            <a:ext cx="24542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Boolean</a:t>
            </a:r>
            <a:endParaRPr/>
          </a:p>
        </p:txBody>
      </p:sp>
      <p:cxnSp>
        <p:nvCxnSpPr>
          <p:cNvPr id="338" name="Google Shape;338;p16"/>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39" name="Google Shape;339;p16"/>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Cualquier valor puede ser usado como Boolean</a:t>
            </a:r>
            <a:endParaRPr/>
          </a:p>
        </p:txBody>
      </p:sp>
      <p:sp>
        <p:nvSpPr>
          <p:cNvPr id="340" name="Google Shape;340;p16"/>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41" name="Google Shape;341;p16"/>
          <p:cNvSpPr txBox="1"/>
          <p:nvPr/>
        </p:nvSpPr>
        <p:spPr>
          <a:xfrm>
            <a:off x="869950" y="16938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Valores falso: 0, 0.0, NaN, “”, null, undefined</a:t>
            </a:r>
            <a:endParaRPr/>
          </a:p>
        </p:txBody>
      </p:sp>
      <p:sp>
        <p:nvSpPr>
          <p:cNvPr id="342" name="Google Shape;342;p16"/>
          <p:cNvSpPr txBox="1"/>
          <p:nvPr/>
        </p:nvSpPr>
        <p:spPr>
          <a:xfrm>
            <a:off x="869950" y="2089150"/>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Valores verdadero: cualquiera distinto de los valores falso</a:t>
            </a:r>
            <a:endParaRPr/>
          </a:p>
        </p:txBody>
      </p:sp>
      <p:sp>
        <p:nvSpPr>
          <p:cNvPr id="343" name="Google Shape;343;p16"/>
          <p:cNvSpPr txBox="1"/>
          <p:nvPr/>
        </p:nvSpPr>
        <p:spPr>
          <a:xfrm>
            <a:off x="533400" y="256381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Convertir un valor a booleano explícitamente:</a:t>
            </a:r>
            <a:endParaRPr/>
          </a:p>
        </p:txBody>
      </p:sp>
      <p:sp>
        <p:nvSpPr>
          <p:cNvPr id="344" name="Google Shape;344;p16"/>
          <p:cNvSpPr txBox="1"/>
          <p:nvPr/>
        </p:nvSpPr>
        <p:spPr>
          <a:xfrm>
            <a:off x="869950" y="2940050"/>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var</a:t>
            </a:r>
            <a:r>
              <a:rPr b="0" i="0" lang="en-US" sz="1800" u="none">
                <a:solidFill>
                  <a:schemeClr val="dk1"/>
                </a:solidFill>
                <a:latin typeface="Consolas"/>
                <a:ea typeface="Consolas"/>
                <a:cs typeface="Consolas"/>
                <a:sym typeface="Consolas"/>
              </a:rPr>
              <a:t> boolValue</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 </a:t>
            </a:r>
            <a:r>
              <a:rPr b="0" i="0" lang="en-US" sz="1800" u="none">
                <a:solidFill>
                  <a:srgbClr val="FF9900"/>
                </a:solidFill>
                <a:latin typeface="Consolas"/>
                <a:ea typeface="Consolas"/>
                <a:cs typeface="Consolas"/>
                <a:sym typeface="Consolas"/>
              </a:rPr>
              <a:t>Boolean</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otro valor</a:t>
            </a:r>
            <a:r>
              <a:rPr b="0" i="0" lang="en-US" sz="1800" u="none">
                <a:solidFill>
                  <a:srgbClr val="BF9000"/>
                </a:solidFill>
                <a:latin typeface="Consolas"/>
                <a:ea typeface="Consolas"/>
                <a:cs typeface="Consolas"/>
                <a:sym typeface="Consolas"/>
              </a:rPr>
              <a:t>);</a:t>
            </a:r>
            <a:endParaRPr/>
          </a:p>
        </p:txBody>
      </p:sp>
      <p:sp>
        <p:nvSpPr>
          <p:cNvPr id="345" name="Google Shape;345;p16"/>
          <p:cNvSpPr txBox="1"/>
          <p:nvPr/>
        </p:nvSpPr>
        <p:spPr>
          <a:xfrm>
            <a:off x="869950" y="3336925"/>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var</a:t>
            </a:r>
            <a:r>
              <a:rPr b="0" i="0" lang="en-US" sz="1800" u="none">
                <a:solidFill>
                  <a:schemeClr val="dk1"/>
                </a:solidFill>
                <a:latin typeface="Consolas"/>
                <a:ea typeface="Consolas"/>
                <a:cs typeface="Consolas"/>
                <a:sym typeface="Consolas"/>
              </a:rPr>
              <a:t> boolValue</a:t>
            </a:r>
            <a:r>
              <a:rPr b="0" i="0" lang="en-US" sz="1800" u="none">
                <a:solidFill>
                  <a:srgbClr val="BF900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otro valor</a:t>
            </a:r>
            <a:r>
              <a:rPr b="0" i="0" lang="en-US" sz="1800" u="none">
                <a:solidFill>
                  <a:srgbClr val="BF9000"/>
                </a:solidFill>
                <a:latin typeface="Consolas"/>
                <a:ea typeface="Consolas"/>
                <a:cs typeface="Consolas"/>
                <a:sym typeface="Consolas"/>
              </a:rPr>
              <a:t>);</a:t>
            </a:r>
            <a:endParaRPr/>
          </a:p>
        </p:txBody>
      </p:sp>
      <p:sp>
        <p:nvSpPr>
          <p:cNvPr id="346" name="Google Shape;346;p16"/>
          <p:cNvSpPr txBox="1"/>
          <p:nvPr/>
        </p:nvSpPr>
        <p:spPr>
          <a:xfrm>
            <a:off x="1027112" y="4337050"/>
            <a:ext cx="5686425" cy="11080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a:t>
            </a:r>
            <a:r>
              <a:rPr b="0" i="0" lang="en-US" sz="1800" u="none">
                <a:solidFill>
                  <a:schemeClr val="dk1"/>
                </a:solidFill>
                <a:latin typeface="Consolas"/>
                <a:ea typeface="Consolas"/>
                <a:cs typeface="Consolas"/>
                <a:sym typeface="Consolas"/>
              </a:rPr>
              <a:t> iLikeJS </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true</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ieIsGood</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IE6</a:t>
            </a:r>
            <a:r>
              <a:rPr b="0" i="0" lang="en-US" sz="1800" u="none">
                <a:solidFill>
                  <a:srgbClr val="A52A2A"/>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&gt;</a:t>
            </a:r>
            <a:r>
              <a:rPr b="0" i="0" lang="en-US" sz="1800" u="none">
                <a:solidFill>
                  <a:srgbClr val="0070C0"/>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//false</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if</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web dev is great</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 { </a:t>
            </a:r>
            <a:r>
              <a:rPr b="0" i="0" lang="en-US" sz="1800" u="none">
                <a:solidFill>
                  <a:srgbClr val="008000"/>
                </a:solidFill>
                <a:latin typeface="Consolas"/>
                <a:ea typeface="Consolas"/>
                <a:cs typeface="Consolas"/>
                <a:sym typeface="Consolas"/>
              </a:rPr>
              <a:t>/*true*/ </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if</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 { </a:t>
            </a:r>
            <a:r>
              <a:rPr b="0" i="0" lang="en-US" sz="1800" u="none">
                <a:solidFill>
                  <a:srgbClr val="008000"/>
                </a:solidFill>
                <a:latin typeface="Consolas"/>
                <a:ea typeface="Consolas"/>
                <a:cs typeface="Consolas"/>
                <a:sym typeface="Consolas"/>
              </a:rPr>
              <a:t>/*false*/ </a:t>
            </a:r>
            <a:r>
              <a:rPr b="0" i="0" lang="en-US" sz="1800" u="none">
                <a:solidFill>
                  <a:srgbClr val="BF9000"/>
                </a:solidFill>
                <a:latin typeface="Consolas"/>
                <a:ea typeface="Consolas"/>
                <a:cs typeface="Consolas"/>
                <a:sym typeface="Consolas"/>
              </a:rPr>
              <a:t>}</a:t>
            </a:r>
            <a:endParaRPr/>
          </a:p>
        </p:txBody>
      </p:sp>
      <p:sp>
        <p:nvSpPr>
          <p:cNvPr id="347" name="Google Shape;347;p16"/>
          <p:cNvSpPr txBox="1"/>
          <p:nvPr/>
        </p:nvSpPr>
        <p:spPr>
          <a:xfrm>
            <a:off x="533400" y="4010025"/>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Ejemplos:</a:t>
            </a:r>
            <a:endParaRPr/>
          </a:p>
        </p:txBody>
      </p:sp>
      <p:sp>
        <p:nvSpPr>
          <p:cNvPr id="348" name="Google Shape;348;p16"/>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Resultado de imagen para angular logos" id="353" name="Google Shape;353;p17"/>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54" name="Google Shape;354;p17"/>
          <p:cNvSpPr txBox="1"/>
          <p:nvPr/>
        </p:nvSpPr>
        <p:spPr>
          <a:xfrm>
            <a:off x="1144587" y="185737"/>
            <a:ext cx="19621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Array</a:t>
            </a:r>
            <a:endParaRPr/>
          </a:p>
        </p:txBody>
      </p:sp>
      <p:cxnSp>
        <p:nvCxnSpPr>
          <p:cNvPr id="355" name="Google Shape;355;p17"/>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56" name="Google Shape;356;p17"/>
          <p:cNvSpPr txBox="1"/>
          <p:nvPr/>
        </p:nvSpPr>
        <p:spPr>
          <a:xfrm>
            <a:off x="533400" y="1316037"/>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tipo Array se puede utilizar como distintas estructuras de datos: lista, cola, pila.</a:t>
            </a:r>
            <a:endParaRPr/>
          </a:p>
        </p:txBody>
      </p:sp>
      <p:sp>
        <p:nvSpPr>
          <p:cNvPr id="357" name="Google Shape;357;p17"/>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58" name="Google Shape;358;p17"/>
          <p:cNvSpPr txBox="1"/>
          <p:nvPr/>
        </p:nvSpPr>
        <p:spPr>
          <a:xfrm>
            <a:off x="533400" y="2079625"/>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Métodos: </a:t>
            </a:r>
            <a:r>
              <a:rPr b="0" i="0" lang="en-US" sz="1800" u="none">
                <a:solidFill>
                  <a:srgbClr val="0070C0"/>
                </a:solidFill>
                <a:latin typeface="Arial"/>
                <a:ea typeface="Arial"/>
                <a:cs typeface="Arial"/>
                <a:sym typeface="Arial"/>
              </a:rPr>
              <a:t>concat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join</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pop</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push</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reverse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shift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slice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sort</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splice</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toString</a:t>
            </a:r>
            <a:r>
              <a:rPr b="0" i="0" lang="en-US" sz="1800" u="none">
                <a:solidFill>
                  <a:schemeClr val="dk1"/>
                </a:solidFill>
                <a:latin typeface="Arial"/>
                <a:ea typeface="Arial"/>
                <a:cs typeface="Arial"/>
                <a:sym typeface="Arial"/>
              </a:rPr>
              <a:t>, </a:t>
            </a:r>
            <a:r>
              <a:rPr b="0" i="0" lang="en-US" sz="1800" u="none">
                <a:solidFill>
                  <a:srgbClr val="0070C0"/>
                </a:solidFill>
                <a:latin typeface="Arial"/>
                <a:ea typeface="Arial"/>
                <a:cs typeface="Arial"/>
                <a:sym typeface="Arial"/>
              </a:rPr>
              <a:t>unshift</a:t>
            </a:r>
            <a:r>
              <a:rPr b="0" i="0" lang="en-US" sz="1800" u="none">
                <a:solidFill>
                  <a:schemeClr val="dk1"/>
                </a:solidFill>
                <a:latin typeface="Arial"/>
                <a:ea typeface="Arial"/>
                <a:cs typeface="Arial"/>
                <a:sym typeface="Arial"/>
              </a:rPr>
              <a:t>.</a:t>
            </a:r>
            <a:endParaRPr/>
          </a:p>
        </p:txBody>
      </p:sp>
      <p:sp>
        <p:nvSpPr>
          <p:cNvPr id="359" name="Google Shape;359;p17"/>
          <p:cNvSpPr txBox="1"/>
          <p:nvPr/>
        </p:nvSpPr>
        <p:spPr>
          <a:xfrm>
            <a:off x="1163637" y="3575050"/>
            <a:ext cx="7832700" cy="138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a</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 [</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Stef</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Jason</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//Stef, Jason</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push</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Brian</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//Stef, Jason, Brian</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unshift</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Kelly</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//Kelly, Stef, Jason, Brian</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pop</a:t>
            </a:r>
            <a:r>
              <a:rPr b="0" i="0" lang="en-US" sz="1800" u="none">
                <a:solidFill>
                  <a:srgbClr val="BF9000"/>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//Kelly, Stef, Jason</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shift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//Stef, </a:t>
            </a:r>
            <a:r>
              <a:rPr lang="en-US" sz="1800">
                <a:solidFill>
                  <a:srgbClr val="008000"/>
                </a:solidFill>
                <a:latin typeface="Consolas"/>
                <a:ea typeface="Consolas"/>
                <a:cs typeface="Consolas"/>
                <a:sym typeface="Consolas"/>
              </a:rPr>
              <a:t>Jason</a:t>
            </a:r>
            <a:endParaRPr/>
          </a:p>
        </p:txBody>
      </p:sp>
      <p:sp>
        <p:nvSpPr>
          <p:cNvPr id="360" name="Google Shape;360;p17"/>
          <p:cNvSpPr txBox="1"/>
          <p:nvPr/>
        </p:nvSpPr>
        <p:spPr>
          <a:xfrm>
            <a:off x="533400" y="2994025"/>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361" name="Google Shape;361;p17"/>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descr="Resultado de imagen para angular logos" id="366" name="Google Shape;366;p18"/>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67" name="Google Shape;367;p18"/>
          <p:cNvSpPr txBox="1"/>
          <p:nvPr/>
        </p:nvSpPr>
        <p:spPr>
          <a:xfrm>
            <a:off x="1144587" y="185737"/>
            <a:ext cx="23209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Tipo Array…</a:t>
            </a:r>
            <a:endParaRPr/>
          </a:p>
        </p:txBody>
      </p:sp>
      <p:cxnSp>
        <p:nvCxnSpPr>
          <p:cNvPr id="368" name="Google Shape;368;p18"/>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69" name="Google Shape;369;p18"/>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Para dividir un string usamos split y para unirlo usamos join</a:t>
            </a:r>
            <a:endParaRPr/>
          </a:p>
        </p:txBody>
      </p:sp>
      <p:sp>
        <p:nvSpPr>
          <p:cNvPr id="370" name="Google Shape;370;p18"/>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71" name="Google Shape;371;p18"/>
          <p:cNvSpPr txBox="1"/>
          <p:nvPr/>
        </p:nvSpPr>
        <p:spPr>
          <a:xfrm>
            <a:off x="533400" y="1862137"/>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372" name="Google Shape;372;p18"/>
          <p:cNvSpPr txBox="1"/>
          <p:nvPr/>
        </p:nvSpPr>
        <p:spPr>
          <a:xfrm>
            <a:off x="993775" y="2295525"/>
            <a:ext cx="7834312" cy="11080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s</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C00000"/>
                </a:solidFill>
                <a:latin typeface="Consolas"/>
                <a:ea typeface="Consolas"/>
                <a:cs typeface="Consolas"/>
                <a:sym typeface="Consolas"/>
              </a:rPr>
              <a:t>"the quick brown fox"</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a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split</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//["the", "quick", "brown", "fox"]</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reverse</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//["fox", "brown", "quick", "the"]</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s</a:t>
            </a:r>
            <a:r>
              <a:rPr b="0" i="0" lang="en-US" sz="1800" u="none">
                <a:solidFill>
                  <a:srgbClr val="0033CC"/>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join</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//"fox!brown!quick!the"</a:t>
            </a:r>
            <a:endParaRPr/>
          </a:p>
        </p:txBody>
      </p:sp>
      <p:sp>
        <p:nvSpPr>
          <p:cNvPr id="373" name="Google Shape;373;p18"/>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Resultado de imagen para angular logos" id="378" name="Google Shape;378;p19"/>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79" name="Google Shape;379;p19"/>
          <p:cNvSpPr txBox="1"/>
          <p:nvPr/>
        </p:nvSpPr>
        <p:spPr>
          <a:xfrm>
            <a:off x="1144587" y="185737"/>
            <a:ext cx="198278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Funciones</a:t>
            </a:r>
            <a:endParaRPr/>
          </a:p>
        </p:txBody>
      </p:sp>
      <p:cxnSp>
        <p:nvCxnSpPr>
          <p:cNvPr id="380" name="Google Shape;380;p19"/>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81" name="Google Shape;381;p19"/>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Declaración de una típica función </a:t>
            </a:r>
            <a:endParaRPr/>
          </a:p>
        </p:txBody>
      </p:sp>
      <p:sp>
        <p:nvSpPr>
          <p:cNvPr id="382" name="Google Shape;382;p19"/>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83" name="Google Shape;383;p19"/>
          <p:cNvSpPr txBox="1"/>
          <p:nvPr/>
        </p:nvSpPr>
        <p:spPr>
          <a:xfrm>
            <a:off x="841375" y="1649412"/>
            <a:ext cx="6423025"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function</a:t>
            </a:r>
            <a:r>
              <a:rPr b="0" i="0" lang="en-US" sz="1800" u="none">
                <a:solidFill>
                  <a:srgbClr val="000000"/>
                </a:solidFill>
                <a:latin typeface="Consolas"/>
                <a:ea typeface="Consolas"/>
                <a:cs typeface="Consolas"/>
                <a:sym typeface="Consolas"/>
              </a:rPr>
              <a:t> myFunction</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 Declarar la función</a:t>
            </a:r>
            <a:br>
              <a:rPr b="0" i="0" lang="en-US" sz="1800" u="none">
                <a:solidFill>
                  <a:srgbClr val="008000"/>
                </a:solidFill>
                <a:latin typeface="Consolas"/>
                <a:ea typeface="Consolas"/>
                <a:cs typeface="Consolas"/>
                <a:sym typeface="Consolas"/>
              </a:rPr>
            </a:br>
            <a:r>
              <a:rPr b="0" i="0" lang="en-US" sz="1800" u="none">
                <a:solidFill>
                  <a:srgbClr val="000000"/>
                </a:solidFill>
                <a:latin typeface="Consolas"/>
                <a:ea typeface="Consolas"/>
                <a:cs typeface="Consolas"/>
                <a:sym typeface="Consolas"/>
              </a:rPr>
              <a:t>  console</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log(</a:t>
            </a:r>
            <a:r>
              <a:rPr b="0" i="0" lang="en-US" sz="1800" u="none">
                <a:solidFill>
                  <a:srgbClr val="A52A2A"/>
                </a:solidFill>
                <a:latin typeface="Consolas"/>
                <a:ea typeface="Consolas"/>
                <a:cs typeface="Consolas"/>
                <a:sym typeface="Consolas"/>
              </a:rPr>
              <a:t>"Hello World!")</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br>
              <a:rPr b="0" i="0" lang="en-US" sz="1800" u="none">
                <a:solidFill>
                  <a:schemeClr val="dk1"/>
                </a:solidFill>
                <a:latin typeface="Arial"/>
                <a:ea typeface="Arial"/>
                <a:cs typeface="Arial"/>
                <a:sym typeface="Arial"/>
              </a:rPr>
            </a:br>
            <a:r>
              <a:rPr b="0" i="0" lang="en-US" sz="1800" u="none">
                <a:solidFill>
                  <a:srgbClr val="000000"/>
                </a:solidFill>
                <a:latin typeface="Consolas"/>
                <a:ea typeface="Consolas"/>
                <a:cs typeface="Consolas"/>
                <a:sym typeface="Consolas"/>
              </a:rPr>
              <a:t>myFunction</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008000"/>
                </a:solidFill>
                <a:latin typeface="Consolas"/>
                <a:ea typeface="Consolas"/>
                <a:cs typeface="Consolas"/>
                <a:sym typeface="Consolas"/>
              </a:rPr>
              <a:t>//Llamada a la función </a:t>
            </a:r>
            <a:endParaRPr/>
          </a:p>
        </p:txBody>
      </p:sp>
      <p:sp>
        <p:nvSpPr>
          <p:cNvPr id="384" name="Google Shape;384;p19"/>
          <p:cNvSpPr txBox="1"/>
          <p:nvPr/>
        </p:nvSpPr>
        <p:spPr>
          <a:xfrm>
            <a:off x="533400" y="3671887"/>
            <a:ext cx="7466012" cy="3698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444444"/>
              </a:buClr>
              <a:buSzPts val="1800"/>
              <a:buFont typeface="Arial"/>
              <a:buChar char="•"/>
            </a:pPr>
            <a:r>
              <a:rPr b="0" i="0" lang="en-US" sz="1800" u="none">
                <a:solidFill>
                  <a:srgbClr val="444444"/>
                </a:solidFill>
                <a:latin typeface="Arial"/>
                <a:ea typeface="Arial"/>
                <a:cs typeface="Arial"/>
                <a:sym typeface="Arial"/>
              </a:rPr>
              <a:t>Una función puede ser anónima, es decir, no tener un nombre</a:t>
            </a:r>
            <a:endParaRPr/>
          </a:p>
        </p:txBody>
      </p:sp>
      <p:sp>
        <p:nvSpPr>
          <p:cNvPr id="385" name="Google Shape;385;p19"/>
          <p:cNvSpPr txBox="1"/>
          <p:nvPr/>
        </p:nvSpPr>
        <p:spPr>
          <a:xfrm>
            <a:off x="857250" y="4029075"/>
            <a:ext cx="4679950" cy="1890712"/>
          </a:xfrm>
          <a:prstGeom prst="rect">
            <a:avLst/>
          </a:prstGeom>
          <a:solidFill>
            <a:schemeClr val="lt1"/>
          </a:solidFill>
          <a:ln>
            <a:noFill/>
          </a:ln>
        </p:spPr>
        <p:txBody>
          <a:bodyPr anchorCtr="0" anchor="ctr" bIns="158700" lIns="91425" spcFirstLastPara="1" rIns="91425" wrap="square" tIns="15870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cuadrado</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function</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numero</a:t>
            </a:r>
            <a:r>
              <a:rPr b="0" i="0" lang="en-US" sz="1800" u="none">
                <a:solidFill>
                  <a:srgbClr val="BF9000"/>
                </a:solidFill>
                <a:latin typeface="Consolas"/>
                <a:ea typeface="Consolas"/>
                <a:cs typeface="Consolas"/>
                <a:sym typeface="Consolas"/>
              </a:rPr>
              <a:t>) { </a:t>
            </a:r>
            <a:endParaRPr/>
          </a:p>
          <a:p>
            <a:pPr indent="0" lvl="0" marL="0" marR="0" rtl="0" algn="l">
              <a:lnSpc>
                <a:spcPct val="100000"/>
              </a:lnSpc>
              <a:spcBef>
                <a:spcPts val="0"/>
              </a:spcBef>
              <a:spcAft>
                <a:spcPts val="0"/>
              </a:spcAft>
              <a:buClr>
                <a:srgbClr val="0070C0"/>
              </a:buClr>
              <a:buSzPts val="1800"/>
              <a:buFont typeface="Consolas"/>
              <a:buNone/>
            </a:pPr>
            <a:r>
              <a:rPr b="0" i="0" lang="en-US" sz="1800" u="none">
                <a:solidFill>
                  <a:srgbClr val="0070C0"/>
                </a:solidFill>
                <a:latin typeface="Consolas"/>
                <a:ea typeface="Consolas"/>
                <a:cs typeface="Consolas"/>
                <a:sym typeface="Consolas"/>
              </a:rPr>
              <a:t>   </a:t>
            </a:r>
            <a:r>
              <a:rPr b="0" i="0" lang="en-US" sz="1800" u="none">
                <a:solidFill>
                  <a:srgbClr val="0033CC"/>
                </a:solidFill>
                <a:latin typeface="Consolas"/>
                <a:ea typeface="Consolas"/>
                <a:cs typeface="Consolas"/>
                <a:sym typeface="Consolas"/>
              </a:rPr>
              <a:t>return</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numero</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numero</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100"/>
              <a:buFont typeface="Arial"/>
              <a:buNone/>
            </a:pPr>
            <a:r>
              <a:t/>
            </a:r>
            <a:endParaRPr b="0" i="0" sz="1100" u="none">
              <a:solidFill>
                <a:srgbClr val="0070C0"/>
              </a:solidFill>
              <a:latin typeface="Consolas"/>
              <a:ea typeface="Consolas"/>
              <a:cs typeface="Consolas"/>
              <a:sym typeface="Consolas"/>
            </a:endParaRPr>
          </a:p>
          <a:p>
            <a:pPr indent="0" lvl="0" marL="0" marR="0" rtl="0" algn="l">
              <a:lnSpc>
                <a:spcPct val="100000"/>
              </a:lnSpc>
              <a:spcBef>
                <a:spcPts val="0"/>
              </a:spcBef>
              <a:spcAft>
                <a:spcPts val="0"/>
              </a:spcAft>
              <a:buClr>
                <a:srgbClr val="008000"/>
              </a:buClr>
              <a:buSzPts val="1800"/>
              <a:buFont typeface="Consolas"/>
              <a:buNone/>
            </a:pPr>
            <a:r>
              <a:rPr b="0" i="0" lang="en-US" sz="1800" u="none">
                <a:solidFill>
                  <a:srgbClr val="008000"/>
                </a:solidFill>
                <a:latin typeface="Consolas"/>
                <a:ea typeface="Consolas"/>
                <a:cs typeface="Consolas"/>
                <a:sym typeface="Consolas"/>
              </a:rPr>
              <a:t>//Llamada a la función </a:t>
            </a:r>
            <a:endParaRPr/>
          </a:p>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resultado</a:t>
            </a:r>
            <a:r>
              <a:rPr b="0" i="0" lang="en-US" sz="1800" u="none">
                <a:solidFill>
                  <a:srgbClr val="0070C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cuadrado</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4</a:t>
            </a:r>
            <a:r>
              <a:rPr b="0" i="0" lang="en-US" sz="1800" u="none">
                <a:solidFill>
                  <a:srgbClr val="BF9000"/>
                </a:solidFill>
                <a:latin typeface="Consolas"/>
                <a:ea typeface="Consolas"/>
                <a:cs typeface="Consolas"/>
                <a:sym typeface="Consolas"/>
              </a:rPr>
              <a:t>);</a:t>
            </a:r>
            <a:r>
              <a:rPr b="0" i="0" lang="en-US" sz="1800" u="none">
                <a:solidFill>
                  <a:srgbClr val="0070C0"/>
                </a:solidFill>
                <a:latin typeface="Consolas"/>
                <a:ea typeface="Consolas"/>
                <a:cs typeface="Consolas"/>
                <a:sym typeface="Consolas"/>
              </a:rPr>
              <a:t> </a:t>
            </a:r>
            <a:endParaRPr/>
          </a:p>
        </p:txBody>
      </p:sp>
      <p:sp>
        <p:nvSpPr>
          <p:cNvPr id="386" name="Google Shape;386;p19"/>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pic>
        <p:nvPicPr>
          <p:cNvPr descr="Resultado de imagen para angular logos" id="391" name="Google Shape;391;p20"/>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392" name="Google Shape;392;p20"/>
          <p:cNvSpPr txBox="1"/>
          <p:nvPr/>
        </p:nvSpPr>
        <p:spPr>
          <a:xfrm>
            <a:off x="1144587" y="185737"/>
            <a:ext cx="34226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Valores Especiales</a:t>
            </a:r>
            <a:endParaRPr/>
          </a:p>
        </p:txBody>
      </p:sp>
      <p:cxnSp>
        <p:nvCxnSpPr>
          <p:cNvPr id="393" name="Google Shape;393;p20"/>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394" name="Google Shape;394;p20"/>
          <p:cNvSpPr txBox="1"/>
          <p:nvPr/>
        </p:nvSpPr>
        <p:spPr>
          <a:xfrm>
            <a:off x="533400" y="1362075"/>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Una variable de tipo undefined es aquella que no ha sido declarada, o no existe.</a:t>
            </a:r>
            <a:endParaRPr/>
          </a:p>
        </p:txBody>
      </p:sp>
      <p:sp>
        <p:nvSpPr>
          <p:cNvPr id="395" name="Google Shape;395;p20"/>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396" name="Google Shape;396;p20"/>
          <p:cNvSpPr txBox="1"/>
          <p:nvPr/>
        </p:nvSpPr>
        <p:spPr>
          <a:xfrm>
            <a:off x="547687" y="4160837"/>
            <a:ext cx="8199437"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Una variable de tipo null es aquella que existe pero que se limpió o asignó un valor null.</a:t>
            </a:r>
            <a:endParaRPr/>
          </a:p>
        </p:txBody>
      </p:sp>
      <p:sp>
        <p:nvSpPr>
          <p:cNvPr id="397" name="Google Shape;397;p20"/>
          <p:cNvSpPr txBox="1"/>
          <p:nvPr/>
        </p:nvSpPr>
        <p:spPr>
          <a:xfrm>
            <a:off x="1182687" y="2030412"/>
            <a:ext cx="4572000" cy="1846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8000"/>
              </a:buClr>
              <a:buSzPts val="1600"/>
              <a:buFont typeface="Consolas"/>
              <a:buNone/>
            </a:pPr>
            <a:r>
              <a:rPr b="0" i="0" lang="en-US" sz="1600" u="none">
                <a:solidFill>
                  <a:srgbClr val="008000"/>
                </a:solidFill>
                <a:latin typeface="Consolas"/>
                <a:ea typeface="Consolas"/>
                <a:cs typeface="Consolas"/>
                <a:sym typeface="Consolas"/>
              </a:rPr>
              <a:t> //var x = 1;</a:t>
            </a:r>
            <a:endParaRPr/>
          </a:p>
          <a:p>
            <a:pPr indent="0" lvl="0" marL="0" marR="0" rtl="0" algn="l">
              <a:lnSpc>
                <a:spcPct val="100000"/>
              </a:lnSpc>
              <a:spcBef>
                <a:spcPts val="0"/>
              </a:spcBef>
              <a:spcAft>
                <a:spcPts val="0"/>
              </a:spcAft>
              <a:buClr>
                <a:schemeClr val="dk1"/>
              </a:buClr>
              <a:buSzPts val="1600"/>
              <a:buFont typeface="Arial"/>
              <a:buNone/>
            </a:pPr>
            <a:r>
              <a:t/>
            </a:r>
            <a:endParaRPr b="0" i="0" sz="1600" u="none">
              <a:solidFill>
                <a:srgbClr val="0070C0"/>
              </a:solidFill>
              <a:latin typeface="Consolas"/>
              <a:ea typeface="Consolas"/>
              <a:cs typeface="Consolas"/>
              <a:sym typeface="Consolas"/>
            </a:endParaRPr>
          </a:p>
          <a:p>
            <a:pPr indent="0" lvl="0" marL="0" marR="0" rtl="0" algn="l">
              <a:lnSpc>
                <a:spcPct val="100000"/>
              </a:lnSpc>
              <a:spcBef>
                <a:spcPts val="0"/>
              </a:spcBef>
              <a:spcAft>
                <a:spcPts val="0"/>
              </a:spcAft>
              <a:buClr>
                <a:srgbClr val="0070C0"/>
              </a:buClr>
              <a:buSzPts val="1600"/>
              <a:buFont typeface="Consolas"/>
              <a:buNone/>
            </a:pPr>
            <a:r>
              <a:rPr b="0" i="0" lang="en-US" sz="1600" u="none">
                <a:solidFill>
                  <a:srgbClr val="0070C0"/>
                </a:solidFill>
                <a:latin typeface="Consolas"/>
                <a:ea typeface="Consolas"/>
                <a:cs typeface="Consolas"/>
                <a:sym typeface="Consolas"/>
              </a:rPr>
              <a:t>  </a:t>
            </a:r>
            <a:r>
              <a:rPr b="0" i="0" lang="en-US" sz="1600" u="none">
                <a:solidFill>
                  <a:srgbClr val="0033CC"/>
                </a:solidFill>
                <a:latin typeface="Consolas"/>
                <a:ea typeface="Consolas"/>
                <a:cs typeface="Consolas"/>
                <a:sym typeface="Consolas"/>
              </a:rPr>
              <a:t>if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typeof </a:t>
            </a:r>
            <a:r>
              <a:rPr b="0" i="0" lang="en-US" sz="1600" u="none">
                <a:solidFill>
                  <a:schemeClr val="dk1"/>
                </a:solidFill>
                <a:latin typeface="Consolas"/>
                <a:ea typeface="Consolas"/>
                <a:cs typeface="Consolas"/>
                <a:sym typeface="Consolas"/>
              </a:rPr>
              <a:t>x</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"undefined"</a:t>
            </a:r>
            <a:r>
              <a:rPr b="0" i="0" lang="en-US" sz="16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console</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log</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"x is undefined"</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else </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console</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log</a:t>
            </a:r>
            <a:r>
              <a:rPr b="0" i="0" lang="en-US" sz="1600" u="none">
                <a:solidFill>
                  <a:srgbClr val="BF9000"/>
                </a:solidFill>
                <a:latin typeface="Consolas"/>
                <a:ea typeface="Consolas"/>
                <a:cs typeface="Consolas"/>
                <a:sym typeface="Consolas"/>
              </a:rPr>
              <a:t>(</a:t>
            </a:r>
            <a:r>
              <a:rPr b="0" i="0" lang="en-US" sz="1600" u="none">
                <a:solidFill>
                  <a:srgbClr val="C00000"/>
                </a:solidFill>
                <a:latin typeface="Consolas"/>
                <a:ea typeface="Consolas"/>
                <a:cs typeface="Consolas"/>
                <a:sym typeface="Consolas"/>
              </a:rPr>
              <a:t>"x is defined"</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 }</a:t>
            </a:r>
            <a:endParaRPr/>
          </a:p>
        </p:txBody>
      </p:sp>
      <p:graphicFrame>
        <p:nvGraphicFramePr>
          <p:cNvPr id="398" name="Google Shape;398;p20"/>
          <p:cNvGraphicFramePr/>
          <p:nvPr/>
        </p:nvGraphicFramePr>
        <p:xfrm>
          <a:off x="838200" y="4903787"/>
          <a:ext cx="3000000" cy="3000000"/>
        </p:xfrm>
        <a:graphic>
          <a:graphicData uri="http://schemas.openxmlformats.org/drawingml/2006/table">
            <a:tbl>
              <a:tblPr>
                <a:noFill/>
                <a:tableStyleId>{AE30BA75-7A84-473B-B3B6-DAF9EAA9C7E0}</a:tableStyleId>
              </a:tblPr>
              <a:tblGrid>
                <a:gridCol w="4346575"/>
              </a:tblGrid>
              <a:tr h="974725">
                <a:tc>
                  <a:txBody>
                    <a:bodyPr/>
                    <a:lstStyle/>
                    <a:p>
                      <a:pPr indent="0" lvl="0" marL="0" marR="0" rtl="0" algn="l">
                        <a:lnSpc>
                          <a:spcPct val="100000"/>
                        </a:lnSpc>
                        <a:spcBef>
                          <a:spcPts val="0"/>
                        </a:spcBef>
                        <a:spcAft>
                          <a:spcPts val="0"/>
                        </a:spcAft>
                        <a:buClr>
                          <a:srgbClr val="0033CC"/>
                        </a:buClr>
                        <a:buSzPts val="1600"/>
                        <a:buFont typeface="Consolas"/>
                        <a:buNone/>
                      </a:pPr>
                      <a:r>
                        <a:rPr b="0" i="0" lang="en-US" sz="1600" u="none" cap="none" strike="noStrike">
                          <a:solidFill>
                            <a:srgbClr val="0033CC"/>
                          </a:solidFill>
                          <a:latin typeface="Consolas"/>
                          <a:ea typeface="Consolas"/>
                          <a:cs typeface="Consolas"/>
                          <a:sym typeface="Consolas"/>
                        </a:rPr>
                        <a:t>var </a:t>
                      </a:r>
                      <a:r>
                        <a:rPr b="0" i="0" lang="en-US" sz="1600" u="none" cap="none" strike="noStrike">
                          <a:solidFill>
                            <a:schemeClr val="dk1"/>
                          </a:solidFill>
                          <a:latin typeface="Consolas"/>
                          <a:ea typeface="Consolas"/>
                          <a:cs typeface="Consolas"/>
                          <a:sym typeface="Consolas"/>
                        </a:rPr>
                        <a:t>variable</a:t>
                      </a:r>
                      <a:r>
                        <a:rPr b="0" i="0" lang="en-US" sz="1600" u="none" cap="none" strike="noStrike">
                          <a:solidFill>
                            <a:srgbClr val="0033CC"/>
                          </a:solidFill>
                          <a:latin typeface="Consolas"/>
                          <a:ea typeface="Consolas"/>
                          <a:cs typeface="Consolas"/>
                          <a:sym typeface="Consolas"/>
                        </a:rPr>
                        <a:t> </a:t>
                      </a:r>
                      <a:r>
                        <a:rPr b="0" i="0" lang="en-US" sz="1600" u="none" cap="none" strike="noStrike">
                          <a:solidFill>
                            <a:srgbClr val="BF9000"/>
                          </a:solidFill>
                          <a:latin typeface="Consolas"/>
                          <a:ea typeface="Consolas"/>
                          <a:cs typeface="Consolas"/>
                          <a:sym typeface="Consolas"/>
                        </a:rPr>
                        <a:t>=</a:t>
                      </a:r>
                      <a:r>
                        <a:rPr b="0" i="0" lang="en-US" sz="1600" u="none" cap="none" strike="noStrike">
                          <a:solidFill>
                            <a:srgbClr val="0033CC"/>
                          </a:solidFill>
                          <a:latin typeface="Consolas"/>
                          <a:ea typeface="Consolas"/>
                          <a:cs typeface="Consolas"/>
                          <a:sym typeface="Consolas"/>
                        </a:rPr>
                        <a:t> null</a:t>
                      </a:r>
                      <a:r>
                        <a:rPr b="0" i="0" lang="en-US" sz="1600" u="none" cap="none" strike="noStrik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cap="none" strike="noStrike">
                          <a:solidFill>
                            <a:srgbClr val="0033CC"/>
                          </a:solidFill>
                          <a:latin typeface="Consolas"/>
                          <a:ea typeface="Consolas"/>
                          <a:cs typeface="Consolas"/>
                          <a:sym typeface="Consolas"/>
                        </a:rPr>
                        <a:t>if </a:t>
                      </a:r>
                      <a:r>
                        <a:rPr b="0" i="0" lang="en-US" sz="1600" u="none" cap="none" strike="noStrike">
                          <a:solidFill>
                            <a:srgbClr val="BF9000"/>
                          </a:solidFill>
                          <a:latin typeface="Consolas"/>
                          <a:ea typeface="Consolas"/>
                          <a:cs typeface="Consolas"/>
                          <a:sym typeface="Consolas"/>
                        </a:rPr>
                        <a:t>(</a:t>
                      </a:r>
                      <a:r>
                        <a:rPr b="0" i="0" lang="en-US" sz="1600" u="none" cap="none" strike="noStrike">
                          <a:solidFill>
                            <a:srgbClr val="0033CC"/>
                          </a:solidFill>
                          <a:latin typeface="Consolas"/>
                          <a:ea typeface="Consolas"/>
                          <a:cs typeface="Consolas"/>
                          <a:sym typeface="Consolas"/>
                        </a:rPr>
                        <a:t>typeof </a:t>
                      </a:r>
                      <a:r>
                        <a:rPr b="0" i="0" lang="en-US" sz="1600" u="none" cap="none" strike="noStrike">
                          <a:solidFill>
                            <a:schemeClr val="dk1"/>
                          </a:solidFill>
                          <a:latin typeface="Consolas"/>
                          <a:ea typeface="Consolas"/>
                          <a:cs typeface="Consolas"/>
                          <a:sym typeface="Consolas"/>
                        </a:rPr>
                        <a:t>variable</a:t>
                      </a:r>
                      <a:r>
                        <a:rPr b="0" i="0" lang="en-US" sz="1600" u="none" cap="none" strike="noStrike">
                          <a:solidFill>
                            <a:srgbClr val="0033CC"/>
                          </a:solidFill>
                          <a:latin typeface="Consolas"/>
                          <a:ea typeface="Consolas"/>
                          <a:cs typeface="Consolas"/>
                          <a:sym typeface="Consolas"/>
                        </a:rPr>
                        <a:t> </a:t>
                      </a:r>
                      <a:r>
                        <a:rPr b="0" i="0" lang="en-US" sz="1600" u="none" cap="none" strike="noStrike">
                          <a:solidFill>
                            <a:srgbClr val="BF9000"/>
                          </a:solidFill>
                          <a:latin typeface="Consolas"/>
                          <a:ea typeface="Consolas"/>
                          <a:cs typeface="Consolas"/>
                          <a:sym typeface="Consolas"/>
                        </a:rPr>
                        <a:t>===</a:t>
                      </a:r>
                      <a:r>
                        <a:rPr b="0" i="0" lang="en-US" sz="1600" u="none" cap="none" strike="noStrike">
                          <a:solidFill>
                            <a:srgbClr val="0033CC"/>
                          </a:solidFill>
                          <a:latin typeface="Consolas"/>
                          <a:ea typeface="Consolas"/>
                          <a:cs typeface="Consolas"/>
                          <a:sym typeface="Consolas"/>
                        </a:rPr>
                        <a:t> </a:t>
                      </a:r>
                      <a:r>
                        <a:rPr b="0" i="0" lang="en-US" sz="1600" u="none" cap="none" strike="noStrike">
                          <a:solidFill>
                            <a:srgbClr val="C00000"/>
                          </a:solidFill>
                          <a:latin typeface="Consolas"/>
                          <a:ea typeface="Consolas"/>
                          <a:cs typeface="Consolas"/>
                          <a:sym typeface="Consolas"/>
                        </a:rPr>
                        <a:t>"object"</a:t>
                      </a:r>
                      <a:r>
                        <a:rPr b="0" i="0" lang="en-US" sz="1600" u="none" cap="none" strike="noStrik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33CC"/>
                        </a:buClr>
                        <a:buSzPts val="1600"/>
                        <a:buFont typeface="Consolas"/>
                        <a:buNone/>
                      </a:pPr>
                      <a:r>
                        <a:rPr b="0" i="0" lang="en-US" sz="1600" u="none" cap="none" strike="noStrike">
                          <a:solidFill>
                            <a:srgbClr val="0033CC"/>
                          </a:solidFill>
                          <a:latin typeface="Consolas"/>
                          <a:ea typeface="Consolas"/>
                          <a:cs typeface="Consolas"/>
                          <a:sym typeface="Consolas"/>
                        </a:rPr>
                        <a:t>    </a:t>
                      </a:r>
                      <a:r>
                        <a:rPr b="0" i="0" lang="en-US" sz="1600" u="none" cap="none" strike="noStrike">
                          <a:solidFill>
                            <a:schemeClr val="dk1"/>
                          </a:solidFill>
                          <a:latin typeface="Consolas"/>
                          <a:ea typeface="Consolas"/>
                          <a:cs typeface="Consolas"/>
                          <a:sym typeface="Consolas"/>
                        </a:rPr>
                        <a:t>console</a:t>
                      </a:r>
                      <a:r>
                        <a:rPr b="0" i="0" lang="en-US" sz="1600" u="none" cap="none" strike="noStrike">
                          <a:solidFill>
                            <a:srgbClr val="BF9000"/>
                          </a:solidFill>
                          <a:latin typeface="Consolas"/>
                          <a:ea typeface="Consolas"/>
                          <a:cs typeface="Consolas"/>
                          <a:sym typeface="Consolas"/>
                        </a:rPr>
                        <a:t>.</a:t>
                      </a:r>
                      <a:r>
                        <a:rPr b="0" i="0" lang="en-US" sz="1600" u="none" cap="none" strike="noStrike">
                          <a:solidFill>
                            <a:srgbClr val="0033CC"/>
                          </a:solidFill>
                          <a:latin typeface="Consolas"/>
                          <a:ea typeface="Consolas"/>
                          <a:cs typeface="Consolas"/>
                          <a:sym typeface="Consolas"/>
                        </a:rPr>
                        <a:t>log</a:t>
                      </a:r>
                      <a:r>
                        <a:rPr b="0" i="0" lang="en-US" sz="1600" u="none" cap="none" strike="noStrike">
                          <a:solidFill>
                            <a:srgbClr val="BF9000"/>
                          </a:solidFill>
                          <a:latin typeface="Consolas"/>
                          <a:ea typeface="Consolas"/>
                          <a:cs typeface="Consolas"/>
                          <a:sym typeface="Consolas"/>
                        </a:rPr>
                        <a:t>(</a:t>
                      </a:r>
                      <a:r>
                        <a:rPr b="0" i="0" lang="en-US" sz="1600" u="none" cap="none" strike="noStrike">
                          <a:solidFill>
                            <a:srgbClr val="C00000"/>
                          </a:solidFill>
                          <a:latin typeface="Consolas"/>
                          <a:ea typeface="Consolas"/>
                          <a:cs typeface="Consolas"/>
                          <a:sym typeface="Consolas"/>
                        </a:rPr>
                        <a:t>'ok'</a:t>
                      </a:r>
                      <a:r>
                        <a:rPr b="0" i="0" lang="en-US" sz="1600" u="none" cap="none" strike="noStrik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600"/>
                        <a:buFont typeface="Consolas"/>
                        <a:buNone/>
                      </a:pPr>
                      <a:r>
                        <a:rPr b="0" i="0" lang="en-US" sz="1600" u="none" cap="none" strike="noStrike">
                          <a:solidFill>
                            <a:srgbClr val="0033CC"/>
                          </a:solidFill>
                          <a:latin typeface="Consolas"/>
                          <a:ea typeface="Consolas"/>
                          <a:cs typeface="Consolas"/>
                          <a:sym typeface="Consolas"/>
                        </a:rPr>
                        <a:t>}</a:t>
                      </a:r>
                      <a:endParaRPr/>
                    </a:p>
                  </a:txBody>
                  <a:tcPr marT="0" marB="0" marR="0" marL="0" anchor="ctr"/>
                </a:tc>
              </a:tr>
            </a:tbl>
          </a:graphicData>
        </a:graphic>
      </p:graphicFrame>
      <p:sp>
        <p:nvSpPr>
          <p:cNvPr id="399" name="Google Shape;399;p20"/>
          <p:cNvSpPr txBox="1"/>
          <p:nvPr/>
        </p:nvSpPr>
        <p:spPr>
          <a:xfrm>
            <a:off x="5407025" y="2532062"/>
            <a:ext cx="3073400" cy="1141412"/>
          </a:xfrm>
          <a:prstGeom prst="rect">
            <a:avLst/>
          </a:prstGeom>
          <a:noFill/>
          <a:ln>
            <a:noFill/>
          </a:ln>
        </p:spPr>
        <p:txBody>
          <a:bodyPr anchorCtr="0" anchor="ctr" bIns="63475" lIns="0" spcFirstLastPara="1" rIns="0" wrap="square" tIns="0">
            <a:spAutoFit/>
          </a:bodyPr>
          <a:lstStyle/>
          <a:p>
            <a:pPr indent="0" lvl="0" marL="0" marR="0" rtl="0" algn="l">
              <a:lnSpc>
                <a:spcPct val="100000"/>
              </a:lnSpc>
              <a:spcBef>
                <a:spcPts val="0"/>
              </a:spcBef>
              <a:spcAft>
                <a:spcPts val="0"/>
              </a:spcAft>
              <a:buClr>
                <a:srgbClr val="FF0000"/>
              </a:buClr>
              <a:buSzPts val="1400"/>
              <a:buFont typeface="Arial"/>
              <a:buNone/>
            </a:pPr>
            <a:r>
              <a:rPr b="0" i="0" lang="en-US" sz="1400" u="none">
                <a:solidFill>
                  <a:srgbClr val="FF0000"/>
                </a:solidFill>
                <a:latin typeface="Arial"/>
                <a:ea typeface="Arial"/>
                <a:cs typeface="Arial"/>
                <a:sym typeface="Arial"/>
              </a:rPr>
              <a:t>Si utilizamos typeof sobre un elemento con valor null nos dirá que es un objeto, lo cual puede desconcertarnos, ya que en la práctica no podemos tratarlo como al resto de objetos. </a:t>
            </a:r>
            <a:endParaRPr/>
          </a:p>
        </p:txBody>
      </p:sp>
      <p:sp>
        <p:nvSpPr>
          <p:cNvPr id="400" name="Google Shape;400;p20"/>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descr="Resultado de imagen para angular logos" id="405" name="Google Shape;405;p21"/>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06" name="Google Shape;406;p21"/>
          <p:cNvSpPr txBox="1"/>
          <p:nvPr/>
        </p:nvSpPr>
        <p:spPr>
          <a:xfrm>
            <a:off x="1144587" y="185737"/>
            <a:ext cx="36004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Sentencia – if / else </a:t>
            </a:r>
            <a:endParaRPr/>
          </a:p>
        </p:txBody>
      </p:sp>
      <p:cxnSp>
        <p:nvCxnSpPr>
          <p:cNvPr id="407" name="Google Shape;407;p21"/>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08" name="Google Shape;408;p21"/>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Similar a la estructura condicional de Java</a:t>
            </a:r>
            <a:endParaRPr/>
          </a:p>
        </p:txBody>
      </p:sp>
      <p:sp>
        <p:nvSpPr>
          <p:cNvPr id="409" name="Google Shape;409;p21"/>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10" name="Google Shape;410;p21"/>
          <p:cNvSpPr txBox="1"/>
          <p:nvPr/>
        </p:nvSpPr>
        <p:spPr>
          <a:xfrm>
            <a:off x="838200" y="1741487"/>
            <a:ext cx="4572000" cy="2308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600"/>
              <a:buFont typeface="Consolas"/>
              <a:buNone/>
            </a:pPr>
            <a:r>
              <a:rPr b="0" i="0" lang="en-US" sz="1600" u="none">
                <a:solidFill>
                  <a:srgbClr val="0000CD"/>
                </a:solidFill>
                <a:latin typeface="Consolas"/>
                <a:ea typeface="Consolas"/>
                <a:cs typeface="Consolas"/>
                <a:sym typeface="Consolas"/>
              </a:rPr>
              <a:t>var</a:t>
            </a:r>
            <a:r>
              <a:rPr b="0" i="0" lang="en-US" sz="1600" u="none">
                <a:solidFill>
                  <a:srgbClr val="000000"/>
                </a:solidFill>
                <a:latin typeface="Consolas"/>
                <a:ea typeface="Consolas"/>
                <a:cs typeface="Consolas"/>
                <a:sym typeface="Consolas"/>
              </a:rPr>
              <a:t> time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0000CD"/>
                </a:solidFill>
                <a:latin typeface="Consolas"/>
                <a:ea typeface="Consolas"/>
                <a:cs typeface="Consolas"/>
                <a:sym typeface="Consolas"/>
              </a:rPr>
              <a:t>new</a:t>
            </a:r>
            <a:r>
              <a:rPr b="0" i="0" lang="en-US" sz="1600" u="none">
                <a:solidFill>
                  <a:srgbClr val="000000"/>
                </a:solidFill>
                <a:latin typeface="Consolas"/>
                <a:ea typeface="Consolas"/>
                <a:cs typeface="Consolas"/>
                <a:sym typeface="Consolas"/>
              </a:rPr>
              <a:t> </a:t>
            </a:r>
            <a:r>
              <a:rPr b="0" i="0" lang="en-US" sz="1600" u="none">
                <a:solidFill>
                  <a:srgbClr val="FF9900"/>
                </a:solidFill>
                <a:latin typeface="Consolas"/>
                <a:ea typeface="Consolas"/>
                <a:cs typeface="Consolas"/>
                <a:sym typeface="Consolas"/>
              </a:rPr>
              <a:t>Date</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getHours</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0000"/>
              </a:buClr>
              <a:buSzPts val="1600"/>
              <a:buFont typeface="Consolas"/>
              <a:buNone/>
            </a:pPr>
            <a:r>
              <a:rPr b="0" i="0" lang="en-US" sz="1600" u="none">
                <a:solidFill>
                  <a:srgbClr val="000000"/>
                </a:solidFill>
                <a:latin typeface="Consolas"/>
                <a:ea typeface="Consolas"/>
                <a:cs typeface="Consolas"/>
                <a:sym typeface="Consolas"/>
              </a:rPr>
              <a:t> </a:t>
            </a:r>
            <a:br>
              <a:rPr b="0" i="0" lang="en-US" sz="1600" u="none">
                <a:solidFill>
                  <a:schemeClr val="dk1"/>
                </a:solidFill>
                <a:latin typeface="Arial"/>
                <a:ea typeface="Arial"/>
                <a:cs typeface="Arial"/>
                <a:sym typeface="Arial"/>
              </a:rPr>
            </a:br>
            <a:r>
              <a:rPr b="0" i="0" lang="en-US" sz="1600" u="none">
                <a:solidFill>
                  <a:srgbClr val="0000CD"/>
                </a:solidFill>
                <a:latin typeface="Consolas"/>
                <a:ea typeface="Consolas"/>
                <a:cs typeface="Consolas"/>
                <a:sym typeface="Consolas"/>
              </a:rPr>
              <a:t>if</a:t>
            </a:r>
            <a:r>
              <a:rPr b="0" i="0" lang="en-US" sz="1600" u="none">
                <a:solidFill>
                  <a:srgbClr val="000000"/>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time </a:t>
            </a:r>
            <a:r>
              <a:rPr b="0" i="0" lang="en-US" sz="1600" u="none">
                <a:solidFill>
                  <a:srgbClr val="BF9000"/>
                </a:solidFill>
                <a:latin typeface="Consolas"/>
                <a:ea typeface="Consolas"/>
                <a:cs typeface="Consolas"/>
                <a:sym typeface="Consolas"/>
              </a:rPr>
              <a:t>&lt;</a:t>
            </a:r>
            <a:r>
              <a:rPr b="0" i="0" lang="en-US" sz="1600" u="none">
                <a:solidFill>
                  <a:srgbClr val="000000"/>
                </a:solidFill>
                <a:latin typeface="Consolas"/>
                <a:ea typeface="Consolas"/>
                <a:cs typeface="Consolas"/>
                <a:sym typeface="Consolas"/>
              </a:rPr>
              <a:t> </a:t>
            </a:r>
            <a:r>
              <a:rPr b="0" i="0" lang="en-US" sz="1600" u="none">
                <a:solidFill>
                  <a:srgbClr val="FF0000"/>
                </a:solidFill>
                <a:latin typeface="Consolas"/>
                <a:ea typeface="Consolas"/>
                <a:cs typeface="Consolas"/>
                <a:sym typeface="Consolas"/>
              </a:rPr>
              <a:t>10</a:t>
            </a:r>
            <a:r>
              <a:rPr b="0" i="0" lang="en-US" sz="1600" u="none">
                <a:solidFill>
                  <a:srgbClr val="BF9000"/>
                </a:solidFill>
                <a:latin typeface="Consolas"/>
                <a:ea typeface="Consolas"/>
                <a:cs typeface="Consolas"/>
                <a:sym typeface="Consolas"/>
              </a:rPr>
              <a:t>) {</a:t>
            </a:r>
            <a:br>
              <a:rPr b="0" i="0" lang="en-US" sz="1600" u="none">
                <a:solidFill>
                  <a:schemeClr val="dk1"/>
                </a:solidFill>
                <a:latin typeface="Arial"/>
                <a:ea typeface="Arial"/>
                <a:cs typeface="Arial"/>
                <a:sym typeface="Arial"/>
              </a:rPr>
            </a:br>
            <a:r>
              <a:rPr b="0" i="0" lang="en-US" sz="1600" u="none">
                <a:solidFill>
                  <a:srgbClr val="000000"/>
                </a:solidFill>
                <a:latin typeface="Consolas"/>
                <a:ea typeface="Consolas"/>
                <a:cs typeface="Consolas"/>
                <a:sym typeface="Consolas"/>
              </a:rPr>
              <a:t>  greeting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A52A2A"/>
                </a:solidFill>
                <a:latin typeface="Consolas"/>
                <a:ea typeface="Consolas"/>
                <a:cs typeface="Consolas"/>
                <a:sym typeface="Consolas"/>
              </a:rPr>
              <a:t>"Good morning"</a:t>
            </a:r>
            <a:r>
              <a:rPr b="0" i="0" lang="en-US" sz="1600" u="none">
                <a:solidFill>
                  <a:srgbClr val="BF9000"/>
                </a:solidFill>
                <a:latin typeface="Consolas"/>
                <a:ea typeface="Consolas"/>
                <a:cs typeface="Consolas"/>
                <a:sym typeface="Consolas"/>
              </a:rPr>
              <a:t>;</a:t>
            </a:r>
            <a:br>
              <a:rPr b="0" i="0" lang="en-US" sz="1600" u="none">
                <a:solidFill>
                  <a:schemeClr val="dk1"/>
                </a:solidFill>
                <a:latin typeface="Arial"/>
                <a:ea typeface="Arial"/>
                <a:cs typeface="Arial"/>
                <a:sym typeface="Arial"/>
              </a:rPr>
            </a:b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0000CD"/>
                </a:solidFill>
                <a:latin typeface="Consolas"/>
                <a:ea typeface="Consolas"/>
                <a:cs typeface="Consolas"/>
                <a:sym typeface="Consolas"/>
              </a:rPr>
              <a:t>else</a:t>
            </a:r>
            <a:r>
              <a:rPr b="0" i="0" lang="en-US" sz="1600" u="none">
                <a:solidFill>
                  <a:srgbClr val="000000"/>
                </a:solidFill>
                <a:latin typeface="Consolas"/>
                <a:ea typeface="Consolas"/>
                <a:cs typeface="Consolas"/>
                <a:sym typeface="Consolas"/>
              </a:rPr>
              <a:t> </a:t>
            </a:r>
            <a:r>
              <a:rPr b="0" i="0" lang="en-US" sz="1600" u="none">
                <a:solidFill>
                  <a:srgbClr val="0000CD"/>
                </a:solidFill>
                <a:latin typeface="Consolas"/>
                <a:ea typeface="Consolas"/>
                <a:cs typeface="Consolas"/>
                <a:sym typeface="Consolas"/>
              </a:rPr>
              <a:t>if</a:t>
            </a:r>
            <a:r>
              <a:rPr b="0" i="0" lang="en-US" sz="1600" u="none">
                <a:solidFill>
                  <a:srgbClr val="000000"/>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time </a:t>
            </a:r>
            <a:r>
              <a:rPr b="0" i="0" lang="en-US" sz="1600" u="none">
                <a:solidFill>
                  <a:srgbClr val="BF9000"/>
                </a:solidFill>
                <a:latin typeface="Consolas"/>
                <a:ea typeface="Consolas"/>
                <a:cs typeface="Consolas"/>
                <a:sym typeface="Consolas"/>
              </a:rPr>
              <a:t>&lt;</a:t>
            </a:r>
            <a:r>
              <a:rPr b="0" i="0" lang="en-US" sz="1600" u="none">
                <a:solidFill>
                  <a:srgbClr val="000000"/>
                </a:solidFill>
                <a:latin typeface="Consolas"/>
                <a:ea typeface="Consolas"/>
                <a:cs typeface="Consolas"/>
                <a:sym typeface="Consolas"/>
              </a:rPr>
              <a:t> </a:t>
            </a:r>
            <a:r>
              <a:rPr b="0" i="0" lang="en-US" sz="1600" u="none">
                <a:solidFill>
                  <a:srgbClr val="FF0000"/>
                </a:solidFill>
                <a:latin typeface="Consolas"/>
                <a:ea typeface="Consolas"/>
                <a:cs typeface="Consolas"/>
                <a:sym typeface="Consolas"/>
              </a:rPr>
              <a:t>20</a:t>
            </a:r>
            <a:r>
              <a:rPr b="0" i="0" lang="en-US" sz="1600" u="none">
                <a:solidFill>
                  <a:srgbClr val="BF9000"/>
                </a:solidFill>
                <a:latin typeface="Consolas"/>
                <a:ea typeface="Consolas"/>
                <a:cs typeface="Consolas"/>
                <a:sym typeface="Consolas"/>
              </a:rPr>
              <a:t>) {</a:t>
            </a:r>
            <a:br>
              <a:rPr b="0" i="0" lang="en-US" sz="1600" u="none">
                <a:solidFill>
                  <a:schemeClr val="dk1"/>
                </a:solidFill>
                <a:latin typeface="Arial"/>
                <a:ea typeface="Arial"/>
                <a:cs typeface="Arial"/>
                <a:sym typeface="Arial"/>
              </a:rPr>
            </a:br>
            <a:r>
              <a:rPr b="0" i="0" lang="en-US" sz="1600" u="none">
                <a:solidFill>
                  <a:srgbClr val="000000"/>
                </a:solidFill>
                <a:latin typeface="Consolas"/>
                <a:ea typeface="Consolas"/>
                <a:cs typeface="Consolas"/>
                <a:sym typeface="Consolas"/>
              </a:rPr>
              <a:t>  greeting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A52A2A"/>
                </a:solidFill>
                <a:latin typeface="Consolas"/>
                <a:ea typeface="Consolas"/>
                <a:cs typeface="Consolas"/>
                <a:sym typeface="Consolas"/>
              </a:rPr>
              <a:t>"Good day"</a:t>
            </a:r>
            <a:r>
              <a:rPr b="0" i="0" lang="en-US" sz="1600" u="none">
                <a:solidFill>
                  <a:srgbClr val="BF9000"/>
                </a:solidFill>
                <a:latin typeface="Consolas"/>
                <a:ea typeface="Consolas"/>
                <a:cs typeface="Consolas"/>
                <a:sym typeface="Consolas"/>
              </a:rPr>
              <a:t>;</a:t>
            </a:r>
            <a:br>
              <a:rPr b="0" i="0" lang="en-US" sz="1600" u="none">
                <a:solidFill>
                  <a:schemeClr val="dk1"/>
                </a:solidFill>
                <a:latin typeface="Arial"/>
                <a:ea typeface="Arial"/>
                <a:cs typeface="Arial"/>
                <a:sym typeface="Arial"/>
              </a:rPr>
            </a:b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0000CD"/>
                </a:solidFill>
                <a:latin typeface="Consolas"/>
                <a:ea typeface="Consolas"/>
                <a:cs typeface="Consolas"/>
                <a:sym typeface="Consolas"/>
              </a:rPr>
              <a:t>else</a:t>
            </a:r>
            <a:r>
              <a:rPr b="0" i="0" lang="en-US" sz="1600" u="none">
                <a:solidFill>
                  <a:srgbClr val="000000"/>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br>
              <a:rPr b="0" i="0" lang="en-US" sz="1600" u="none">
                <a:solidFill>
                  <a:schemeClr val="dk1"/>
                </a:solidFill>
                <a:latin typeface="Arial"/>
                <a:ea typeface="Arial"/>
                <a:cs typeface="Arial"/>
                <a:sym typeface="Arial"/>
              </a:rPr>
            </a:br>
            <a:r>
              <a:rPr b="0" i="0" lang="en-US" sz="1600" u="none">
                <a:solidFill>
                  <a:srgbClr val="000000"/>
                </a:solidFill>
                <a:latin typeface="Consolas"/>
                <a:ea typeface="Consolas"/>
                <a:cs typeface="Consolas"/>
                <a:sym typeface="Consolas"/>
              </a:rPr>
              <a:t>  greeting </a:t>
            </a:r>
            <a:r>
              <a:rPr b="0" i="0" lang="en-US" sz="1600" u="none">
                <a:solidFill>
                  <a:srgbClr val="BF9000"/>
                </a:solidFill>
                <a:latin typeface="Consolas"/>
                <a:ea typeface="Consolas"/>
                <a:cs typeface="Consolas"/>
                <a:sym typeface="Consolas"/>
              </a:rPr>
              <a:t>=</a:t>
            </a:r>
            <a:r>
              <a:rPr b="0" i="0" lang="en-US" sz="1600" u="none">
                <a:solidFill>
                  <a:srgbClr val="000000"/>
                </a:solidFill>
                <a:latin typeface="Consolas"/>
                <a:ea typeface="Consolas"/>
                <a:cs typeface="Consolas"/>
                <a:sym typeface="Consolas"/>
              </a:rPr>
              <a:t> </a:t>
            </a:r>
            <a:r>
              <a:rPr b="0" i="0" lang="en-US" sz="1600" u="none">
                <a:solidFill>
                  <a:srgbClr val="A52A2A"/>
                </a:solidFill>
                <a:latin typeface="Consolas"/>
                <a:ea typeface="Consolas"/>
                <a:cs typeface="Consolas"/>
                <a:sym typeface="Consolas"/>
              </a:rPr>
              <a:t>"Good evening"</a:t>
            </a:r>
            <a:r>
              <a:rPr b="0" i="0" lang="en-US" sz="1600" u="none">
                <a:solidFill>
                  <a:srgbClr val="BF9000"/>
                </a:solidFill>
                <a:latin typeface="Consolas"/>
                <a:ea typeface="Consolas"/>
                <a:cs typeface="Consolas"/>
                <a:sym typeface="Consolas"/>
              </a:rPr>
              <a:t>;</a:t>
            </a:r>
            <a:br>
              <a:rPr b="0" i="0" lang="en-US" sz="1600" u="none">
                <a:solidFill>
                  <a:schemeClr val="dk1"/>
                </a:solidFill>
                <a:latin typeface="Arial"/>
                <a:ea typeface="Arial"/>
                <a:cs typeface="Arial"/>
                <a:sym typeface="Arial"/>
              </a:rPr>
            </a:br>
            <a:r>
              <a:rPr b="0" i="0" lang="en-US" sz="1600" u="none">
                <a:solidFill>
                  <a:srgbClr val="BF9000"/>
                </a:solidFill>
                <a:latin typeface="Consolas"/>
                <a:ea typeface="Consolas"/>
                <a:cs typeface="Consolas"/>
                <a:sym typeface="Consolas"/>
              </a:rPr>
              <a:t>}</a:t>
            </a:r>
            <a:endParaRPr/>
          </a:p>
        </p:txBody>
      </p:sp>
      <p:sp>
        <p:nvSpPr>
          <p:cNvPr id="411" name="Google Shape;411;p21"/>
          <p:cNvSpPr txBox="1"/>
          <p:nvPr/>
        </p:nvSpPr>
        <p:spPr>
          <a:xfrm>
            <a:off x="828675" y="4632325"/>
            <a:ext cx="6057900"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puntaje</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5</a:t>
            </a:r>
            <a:r>
              <a:rPr b="0" i="0" lang="en-US" sz="16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600"/>
              <a:buFont typeface="Consolas"/>
              <a:buNone/>
            </a:pPr>
            <a:r>
              <a:rPr b="0" i="0" lang="en-US" sz="1600" u="none">
                <a:solidFill>
                  <a:schemeClr val="dk1"/>
                </a:solidFill>
                <a:latin typeface="Consolas"/>
                <a:ea typeface="Consolas"/>
                <a:cs typeface="Consolas"/>
                <a:sym typeface="Consolas"/>
              </a:rPr>
              <a:t>s</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 (</a:t>
            </a:r>
            <a:r>
              <a:rPr b="0" i="0" lang="en-US" sz="1600" u="none">
                <a:solidFill>
                  <a:schemeClr val="dk1"/>
                </a:solidFill>
                <a:latin typeface="Consolas"/>
                <a:ea typeface="Consolas"/>
                <a:cs typeface="Consolas"/>
                <a:sym typeface="Consolas"/>
              </a:rPr>
              <a:t>puntaje</a:t>
            </a:r>
            <a:r>
              <a:rPr b="0" i="0" lang="en-US" sz="1600" u="none">
                <a:solidFill>
                  <a:srgbClr val="0033CC"/>
                </a:solidFill>
                <a:latin typeface="Consolas"/>
                <a:ea typeface="Consolas"/>
                <a:cs typeface="Consolas"/>
                <a:sym typeface="Consolas"/>
              </a:rPr>
              <a:t> </a:t>
            </a:r>
            <a:r>
              <a:rPr b="0" i="0" lang="en-US" sz="1600" u="none">
                <a:solidFill>
                  <a:srgbClr val="BF9000"/>
                </a:solidFill>
                <a:latin typeface="Consolas"/>
                <a:ea typeface="Consolas"/>
                <a:cs typeface="Consolas"/>
                <a:sym typeface="Consolas"/>
              </a:rPr>
              <a:t>&gt;=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3</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‘Correcto’</a:t>
            </a:r>
            <a:r>
              <a:rPr b="0" i="0" lang="en-US" sz="1600" u="none">
                <a:solidFill>
                  <a:srgbClr val="BF9000"/>
                </a:solidFill>
                <a:latin typeface="Consolas"/>
                <a:ea typeface="Consolas"/>
                <a:cs typeface="Consolas"/>
                <a:sym typeface="Consolas"/>
              </a:rPr>
              <a:t>:</a:t>
            </a:r>
            <a:r>
              <a:rPr b="0" i="0" lang="en-US" sz="1600" u="none">
                <a:solidFill>
                  <a:srgbClr val="0033CC"/>
                </a:solidFill>
                <a:latin typeface="Consolas"/>
                <a:ea typeface="Consolas"/>
                <a:cs typeface="Consolas"/>
                <a:sym typeface="Consolas"/>
              </a:rPr>
              <a:t> </a:t>
            </a:r>
            <a:r>
              <a:rPr b="0" i="0" lang="en-US" sz="1600" u="none">
                <a:solidFill>
                  <a:srgbClr val="C00000"/>
                </a:solidFill>
                <a:latin typeface="Consolas"/>
                <a:ea typeface="Consolas"/>
                <a:cs typeface="Consolas"/>
                <a:sym typeface="Consolas"/>
              </a:rPr>
              <a:t>‘Incorrecto’</a:t>
            </a:r>
            <a:r>
              <a:rPr b="0" i="0" lang="en-US" sz="1600" u="none">
                <a:solidFill>
                  <a:srgbClr val="BF9000"/>
                </a:solidFill>
                <a:latin typeface="Consolas"/>
                <a:ea typeface="Consolas"/>
                <a:cs typeface="Consolas"/>
                <a:sym typeface="Consolas"/>
              </a:rPr>
              <a:t>);</a:t>
            </a:r>
            <a:br>
              <a:rPr b="0" i="0" lang="en-US" sz="1600" u="none">
                <a:solidFill>
                  <a:srgbClr val="0033CC"/>
                </a:solidFill>
                <a:latin typeface="Arial"/>
                <a:ea typeface="Arial"/>
                <a:cs typeface="Arial"/>
                <a:sym typeface="Arial"/>
              </a:rPr>
            </a:br>
            <a:r>
              <a:rPr b="0" i="0" lang="en-US" sz="1600" u="none">
                <a:solidFill>
                  <a:srgbClr val="0033CC"/>
                </a:solidFill>
                <a:latin typeface="Consolas"/>
                <a:ea typeface="Consolas"/>
                <a:cs typeface="Consolas"/>
                <a:sym typeface="Consolas"/>
              </a:rPr>
              <a:t>alert</a:t>
            </a:r>
            <a:r>
              <a:rPr b="0" i="0" lang="en-US" sz="1600" u="none">
                <a:solidFill>
                  <a:srgbClr val="BF9000"/>
                </a:solidFill>
                <a:latin typeface="Consolas"/>
                <a:ea typeface="Consolas"/>
                <a:cs typeface="Consolas"/>
                <a:sym typeface="Consolas"/>
              </a:rPr>
              <a:t>(</a:t>
            </a:r>
            <a:r>
              <a:rPr b="0" i="0" lang="en-US" sz="1600" u="none">
                <a:solidFill>
                  <a:schemeClr val="dk1"/>
                </a:solidFill>
                <a:latin typeface="Consolas"/>
                <a:ea typeface="Consolas"/>
                <a:cs typeface="Consolas"/>
                <a:sym typeface="Consolas"/>
              </a:rPr>
              <a:t>s</a:t>
            </a:r>
            <a:r>
              <a:rPr b="0" i="0" lang="en-US" sz="1600" u="none">
                <a:solidFill>
                  <a:srgbClr val="BF9000"/>
                </a:solidFill>
                <a:latin typeface="Consolas"/>
                <a:ea typeface="Consolas"/>
                <a:cs typeface="Consolas"/>
                <a:sym typeface="Consolas"/>
              </a:rPr>
              <a:t>);</a:t>
            </a:r>
            <a:endParaRPr/>
          </a:p>
        </p:txBody>
      </p:sp>
      <p:sp>
        <p:nvSpPr>
          <p:cNvPr id="412" name="Google Shape;412;p21"/>
          <p:cNvSpPr txBox="1"/>
          <p:nvPr/>
        </p:nvSpPr>
        <p:spPr>
          <a:xfrm>
            <a:off x="533400" y="4254500"/>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Formato ternario:</a:t>
            </a:r>
            <a:endParaRPr/>
          </a:p>
        </p:txBody>
      </p:sp>
      <p:sp>
        <p:nvSpPr>
          <p:cNvPr id="413" name="Google Shape;413;p21"/>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descr="Resultado de imagen para angular logos" id="418" name="Google Shape;418;p22"/>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19" name="Google Shape;419;p22"/>
          <p:cNvSpPr txBox="1"/>
          <p:nvPr/>
        </p:nvSpPr>
        <p:spPr>
          <a:xfrm>
            <a:off x="1144587" y="185737"/>
            <a:ext cx="392112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Sentencia – ciclo for()</a:t>
            </a:r>
            <a:endParaRPr/>
          </a:p>
        </p:txBody>
      </p:sp>
      <p:cxnSp>
        <p:nvCxnSpPr>
          <p:cNvPr id="420" name="Google Shape;420;p22"/>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21" name="Google Shape;421;p22"/>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 sentencia for es similar a java</a:t>
            </a:r>
            <a:endParaRPr/>
          </a:p>
        </p:txBody>
      </p:sp>
      <p:sp>
        <p:nvSpPr>
          <p:cNvPr id="422" name="Google Shape;422;p22"/>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23" name="Google Shape;423;p22"/>
          <p:cNvSpPr txBox="1"/>
          <p:nvPr/>
        </p:nvSpPr>
        <p:spPr>
          <a:xfrm>
            <a:off x="1027112" y="3879850"/>
            <a:ext cx="6732587" cy="2030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var</a:t>
            </a:r>
            <a:r>
              <a:rPr b="0" i="0" lang="en-US" sz="1800" u="none">
                <a:solidFill>
                  <a:srgbClr val="000000"/>
                </a:solidFill>
                <a:latin typeface="Consolas"/>
                <a:ea typeface="Consolas"/>
                <a:cs typeface="Consolas"/>
                <a:sym typeface="Consolas"/>
              </a:rPr>
              <a:t> persona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fname</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"John"</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lname</a:t>
            </a:r>
            <a:r>
              <a:rPr b="0" i="0" lang="en-US" sz="1800" u="none">
                <a:solidFill>
                  <a:srgbClr val="BF9000"/>
                </a:solidFill>
                <a:latin typeface="Consolas"/>
                <a:ea typeface="Consolas"/>
                <a:cs typeface="Consolas"/>
                <a:sym typeface="Consolas"/>
              </a:rPr>
              <a:t>:</a:t>
            </a:r>
            <a:r>
              <a:rPr b="0" i="0" lang="en-US" sz="1800" u="none">
                <a:solidFill>
                  <a:srgbClr val="A52A2A"/>
                </a:solidFill>
                <a:latin typeface="Consolas"/>
                <a:ea typeface="Consolas"/>
                <a:cs typeface="Consolas"/>
                <a:sym typeface="Consolas"/>
              </a:rPr>
              <a:t>"Doe"</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age</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25</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br>
              <a:rPr b="0" i="0" lang="en-US" sz="1800" u="none">
                <a:solidFill>
                  <a:schemeClr val="dk1"/>
                </a:solidFill>
                <a:latin typeface="Arial"/>
                <a:ea typeface="Arial"/>
                <a:cs typeface="Arial"/>
                <a:sym typeface="Arial"/>
              </a:rPr>
            </a:b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var</a:t>
            </a:r>
            <a:r>
              <a:rPr b="0" i="0" lang="en-US" sz="1800" u="none">
                <a:solidFill>
                  <a:srgbClr val="000000"/>
                </a:solidFill>
                <a:latin typeface="Consolas"/>
                <a:ea typeface="Consolas"/>
                <a:cs typeface="Consolas"/>
                <a:sym typeface="Consolas"/>
              </a:rPr>
              <a:t> texto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A52A2A"/>
                </a:solidFill>
                <a:latin typeface="Consolas"/>
                <a:ea typeface="Consolas"/>
                <a:cs typeface="Consolas"/>
                <a:sym typeface="Consolas"/>
              </a:rPr>
              <a:t>""</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var</a:t>
            </a:r>
            <a:r>
              <a:rPr b="0" i="0" lang="en-US" sz="1800" u="none">
                <a:solidFill>
                  <a:srgbClr val="000000"/>
                </a:solidFill>
                <a:latin typeface="Consolas"/>
                <a:ea typeface="Consolas"/>
                <a:cs typeface="Consolas"/>
                <a:sym typeface="Consolas"/>
              </a:rPr>
              <a:t> x</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for</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x </a:t>
            </a:r>
            <a:r>
              <a:rPr b="0" i="0" lang="en-US" sz="1800" u="none">
                <a:solidFill>
                  <a:srgbClr val="0000CD"/>
                </a:solidFill>
                <a:latin typeface="Consolas"/>
                <a:ea typeface="Consolas"/>
                <a:cs typeface="Consolas"/>
                <a:sym typeface="Consolas"/>
              </a:rPr>
              <a:t>in</a:t>
            </a:r>
            <a:r>
              <a:rPr b="0" i="0" lang="en-US" sz="1800" u="none">
                <a:solidFill>
                  <a:srgbClr val="000000"/>
                </a:solidFill>
                <a:latin typeface="Consolas"/>
                <a:ea typeface="Consolas"/>
                <a:cs typeface="Consolas"/>
                <a:sym typeface="Consolas"/>
              </a:rPr>
              <a:t> persona</a:t>
            </a:r>
            <a:r>
              <a:rPr b="0" i="0" lang="en-US" sz="1800" u="none">
                <a:solidFill>
                  <a:srgbClr val="BF9000"/>
                </a:solidFill>
                <a:latin typeface="Consolas"/>
                <a:ea typeface="Consolas"/>
                <a:cs typeface="Consolas"/>
                <a:sym typeface="Consolas"/>
              </a:rPr>
              <a:t>) {</a:t>
            </a:r>
            <a:br>
              <a:rPr b="0" i="0" lang="en-US" sz="1800" u="none">
                <a:solidFill>
                  <a:schemeClr val="dk1"/>
                </a:solidFill>
                <a:latin typeface="Arial"/>
                <a:ea typeface="Arial"/>
                <a:cs typeface="Arial"/>
                <a:sym typeface="Arial"/>
              </a:rPr>
            </a:br>
            <a:r>
              <a:rPr b="0" i="0" lang="en-US" sz="1800" u="none">
                <a:solidFill>
                  <a:srgbClr val="000000"/>
                </a:solidFill>
                <a:latin typeface="Consolas"/>
                <a:ea typeface="Consolas"/>
                <a:cs typeface="Consolas"/>
                <a:sym typeface="Consolas"/>
              </a:rPr>
              <a:t>  texto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persona</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x</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BF9000"/>
                </a:solidFill>
                <a:latin typeface="Consolas"/>
                <a:ea typeface="Consolas"/>
                <a:cs typeface="Consolas"/>
                <a:sym typeface="Consolas"/>
              </a:rPr>
              <a:t>}</a:t>
            </a:r>
            <a:endParaRPr/>
          </a:p>
        </p:txBody>
      </p:sp>
      <p:sp>
        <p:nvSpPr>
          <p:cNvPr id="424" name="Google Shape;424;p22"/>
          <p:cNvSpPr txBox="1"/>
          <p:nvPr/>
        </p:nvSpPr>
        <p:spPr>
          <a:xfrm>
            <a:off x="1027112" y="2151062"/>
            <a:ext cx="5140325"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var </a:t>
            </a:r>
            <a:r>
              <a:rPr b="0" i="0" lang="en-US" sz="1800" u="none">
                <a:solidFill>
                  <a:schemeClr val="dk1"/>
                </a:solidFill>
                <a:latin typeface="Consolas"/>
                <a:ea typeface="Consolas"/>
                <a:cs typeface="Consolas"/>
                <a:sym typeface="Consolas"/>
              </a:rPr>
              <a:t>sum</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for (var </a:t>
            </a:r>
            <a:r>
              <a:rPr b="0" i="0" lang="en-US" sz="1800" u="none">
                <a:solidFill>
                  <a:schemeClr val="dk1"/>
                </a:solidFill>
                <a:latin typeface="Consolas"/>
                <a:ea typeface="Consolas"/>
                <a:cs typeface="Consolas"/>
                <a:sym typeface="Consolas"/>
              </a:rPr>
              <a:t>i</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r>
              <a:rPr b="0" i="0" lang="en-US" sz="1800" u="none">
                <a:solidFill>
                  <a:srgbClr val="0000CD"/>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i</a:t>
            </a:r>
            <a:r>
              <a:rPr b="0" i="0" lang="en-US" sz="1800" u="none">
                <a:solidFill>
                  <a:srgbClr val="BF9000"/>
                </a:solidFill>
                <a:latin typeface="Consolas"/>
                <a:ea typeface="Consolas"/>
                <a:cs typeface="Consolas"/>
                <a:sym typeface="Consolas"/>
              </a:rPr>
              <a:t>&lt;</a:t>
            </a:r>
            <a:r>
              <a:rPr b="0" i="0" lang="en-US" sz="1800" u="none">
                <a:solidFill>
                  <a:srgbClr val="C00000"/>
                </a:solidFill>
                <a:latin typeface="Consolas"/>
                <a:ea typeface="Consolas"/>
                <a:cs typeface="Consolas"/>
                <a:sym typeface="Consolas"/>
              </a:rPr>
              <a:t>100</a:t>
            </a:r>
            <a:r>
              <a:rPr b="0" i="0" lang="en-US" sz="1800" u="none">
                <a:solidFill>
                  <a:srgbClr val="BF9000"/>
                </a:solidFill>
                <a:latin typeface="Consolas"/>
                <a:ea typeface="Consolas"/>
                <a:cs typeface="Consolas"/>
                <a:sym typeface="Consolas"/>
              </a:rPr>
              <a:t>;</a:t>
            </a:r>
            <a:r>
              <a:rPr b="0" i="0" lang="en-US" sz="1800" u="none">
                <a:solidFill>
                  <a:srgbClr val="0000CD"/>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i</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sum</a:t>
            </a:r>
            <a:r>
              <a:rPr b="0" i="0" lang="en-US" sz="1800" u="none">
                <a:solidFill>
                  <a:srgbClr val="0000CD"/>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CD"/>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sum</a:t>
            </a:r>
            <a:r>
              <a:rPr b="0" i="0" lang="en-US" sz="1800" u="none">
                <a:solidFill>
                  <a:srgbClr val="0000CD"/>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CD"/>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i</a:t>
            </a:r>
            <a:r>
              <a:rPr b="0" i="0" lang="en-US" sz="18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a:t>
            </a:r>
            <a:endParaRPr/>
          </a:p>
        </p:txBody>
      </p:sp>
      <p:sp>
        <p:nvSpPr>
          <p:cNvPr id="425" name="Google Shape;425;p22"/>
          <p:cNvSpPr txBox="1"/>
          <p:nvPr/>
        </p:nvSpPr>
        <p:spPr>
          <a:xfrm>
            <a:off x="1027112" y="5889625"/>
            <a:ext cx="15779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8000"/>
              </a:buClr>
              <a:buSzPts val="1800"/>
              <a:buFont typeface="Consolas"/>
              <a:buNone/>
            </a:pPr>
            <a:r>
              <a:rPr b="0" i="0" lang="en-US" sz="1800" u="none">
                <a:solidFill>
                  <a:srgbClr val="008000"/>
                </a:solidFill>
                <a:latin typeface="Consolas"/>
                <a:ea typeface="Consolas"/>
                <a:cs typeface="Consolas"/>
                <a:sym typeface="Consolas"/>
              </a:rPr>
              <a:t>//JohnDoe25</a:t>
            </a:r>
            <a:endParaRPr/>
          </a:p>
        </p:txBody>
      </p:sp>
      <p:sp>
        <p:nvSpPr>
          <p:cNvPr id="426" name="Google Shape;426;p22"/>
          <p:cNvSpPr txBox="1"/>
          <p:nvPr/>
        </p:nvSpPr>
        <p:spPr>
          <a:xfrm>
            <a:off x="777875" y="18335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Formato 1: </a:t>
            </a:r>
            <a:r>
              <a:rPr b="1" i="0" lang="en-US" sz="1800" u="none">
                <a:solidFill>
                  <a:schemeClr val="dk1"/>
                </a:solidFill>
                <a:latin typeface="Consolas"/>
                <a:ea typeface="Consolas"/>
                <a:cs typeface="Consolas"/>
                <a:sym typeface="Consolas"/>
              </a:rPr>
              <a:t>for (exp1; exp2; exp3)</a:t>
            </a:r>
            <a:endParaRPr/>
          </a:p>
        </p:txBody>
      </p:sp>
      <p:sp>
        <p:nvSpPr>
          <p:cNvPr id="427" name="Google Shape;427;p22"/>
          <p:cNvSpPr txBox="1"/>
          <p:nvPr/>
        </p:nvSpPr>
        <p:spPr>
          <a:xfrm>
            <a:off x="777875" y="3519487"/>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Formato 2: </a:t>
            </a:r>
            <a:r>
              <a:rPr b="1" i="0" lang="en-US" sz="1800" u="none">
                <a:solidFill>
                  <a:schemeClr val="dk1"/>
                </a:solidFill>
                <a:latin typeface="Consolas"/>
                <a:ea typeface="Consolas"/>
                <a:cs typeface="Consolas"/>
                <a:sym typeface="Consolas"/>
              </a:rPr>
              <a:t>for (exp1 in exp2)</a:t>
            </a:r>
            <a:endParaRPr/>
          </a:p>
        </p:txBody>
      </p:sp>
      <p:sp>
        <p:nvSpPr>
          <p:cNvPr id="428" name="Google Shape;428;p22"/>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Resultado de imagen para angular logos" id="433" name="Google Shape;433;p23"/>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34" name="Google Shape;434;p23"/>
          <p:cNvSpPr txBox="1"/>
          <p:nvPr/>
        </p:nvSpPr>
        <p:spPr>
          <a:xfrm>
            <a:off x="1144587" y="185737"/>
            <a:ext cx="4279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Sentencia – ciclo for()…</a:t>
            </a:r>
            <a:endParaRPr/>
          </a:p>
        </p:txBody>
      </p:sp>
      <p:cxnSp>
        <p:nvCxnSpPr>
          <p:cNvPr id="435" name="Google Shape;435;p23"/>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36" name="Google Shape;436;p23"/>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La sentencia forEach es más reciente y muy utilizada para recorrer arreglos</a:t>
            </a:r>
            <a:endParaRPr/>
          </a:p>
        </p:txBody>
      </p:sp>
      <p:sp>
        <p:nvSpPr>
          <p:cNvPr id="437" name="Google Shape;437;p23"/>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38" name="Google Shape;438;p23"/>
          <p:cNvSpPr txBox="1"/>
          <p:nvPr/>
        </p:nvSpPr>
        <p:spPr>
          <a:xfrm>
            <a:off x="777875" y="18335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Formato 1: </a:t>
            </a:r>
            <a:r>
              <a:rPr b="1" i="0" lang="en-US" sz="1800" u="none">
                <a:solidFill>
                  <a:schemeClr val="dk1"/>
                </a:solidFill>
                <a:latin typeface="Consolas"/>
                <a:ea typeface="Consolas"/>
                <a:cs typeface="Consolas"/>
                <a:sym typeface="Consolas"/>
              </a:rPr>
              <a:t>forEach (exp1; exp2; exp3)</a:t>
            </a:r>
            <a:endParaRPr/>
          </a:p>
        </p:txBody>
      </p:sp>
      <p:sp>
        <p:nvSpPr>
          <p:cNvPr id="439" name="Google Shape;439;p23"/>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440" name="Google Shape;440;p23"/>
          <p:cNvSpPr txBox="1"/>
          <p:nvPr/>
        </p:nvSpPr>
        <p:spPr>
          <a:xfrm>
            <a:off x="1328737" y="2246312"/>
            <a:ext cx="5813425" cy="3327400"/>
          </a:xfrm>
          <a:prstGeom prst="rect">
            <a:avLst/>
          </a:prstGeom>
          <a:noFill/>
          <a:ln>
            <a:noFill/>
          </a:ln>
        </p:spPr>
        <p:txBody>
          <a:bodyPr anchorCtr="0" anchor="ctr" bIns="277725" lIns="0" spcFirstLastPara="1" rIns="0" wrap="square" tIns="0">
            <a:spAutoFit/>
          </a:bodyPr>
          <a:lstStyle/>
          <a:p>
            <a:pPr indent="0" lvl="0" marL="0" marR="0" rtl="0" algn="l">
              <a:lnSpc>
                <a:spcPct val="100000"/>
              </a:lnSpc>
              <a:spcBef>
                <a:spcPts val="0"/>
              </a:spcBef>
              <a:spcAft>
                <a:spcPts val="0"/>
              </a:spcAft>
              <a:buClr>
                <a:srgbClr val="0033CC"/>
              </a:buClr>
              <a:buSzPts val="1800"/>
              <a:buFont typeface="Consolas"/>
              <a:buNone/>
            </a:pPr>
            <a:r>
              <a:rPr b="0" i="0" lang="en-US" sz="1800" u="none">
                <a:solidFill>
                  <a:srgbClr val="0033CC"/>
                </a:solidFill>
                <a:latin typeface="Consolas"/>
                <a:ea typeface="Consolas"/>
                <a:cs typeface="Consolas"/>
                <a:sym typeface="Consolas"/>
              </a:rPr>
              <a:t>var</a:t>
            </a:r>
            <a:r>
              <a:rPr b="0" i="0" lang="en-US" sz="1800" u="none">
                <a:solidFill>
                  <a:srgbClr val="BF900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 = </a:t>
            </a:r>
            <a:r>
              <a:rPr b="0" i="0" lang="en-US" sz="1800" u="none">
                <a:solidFill>
                  <a:srgbClr val="0033CC"/>
                </a:solidFill>
                <a:latin typeface="Consolas"/>
                <a:ea typeface="Consolas"/>
                <a:cs typeface="Consolas"/>
                <a:sym typeface="Consolas"/>
              </a:rPr>
              <a:t>new</a:t>
            </a:r>
            <a:r>
              <a:rPr b="0" i="0" lang="en-US" sz="1800" u="none">
                <a:solidFill>
                  <a:srgbClr val="BF9000"/>
                </a:solidFill>
                <a:latin typeface="Consolas"/>
                <a:ea typeface="Consolas"/>
                <a:cs typeface="Consolas"/>
                <a:sym typeface="Consolas"/>
              </a:rPr>
              <a:t> Array(</a:t>
            </a:r>
            <a:r>
              <a:rPr b="0" i="0" lang="en-US" sz="1800" u="none">
                <a:solidFill>
                  <a:srgbClr val="C00000"/>
                </a:solidFill>
                <a:latin typeface="Consolas"/>
                <a:ea typeface="Consolas"/>
                <a:cs typeface="Consolas"/>
                <a:sym typeface="Consolas"/>
              </a:rPr>
              <a:t>7</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"lunes"</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1</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"martes"</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2</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"miércoles"</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3</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"jueves"</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4</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"viernes"</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5</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"sábado"</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C00000"/>
                </a:solidFill>
                <a:latin typeface="Consolas"/>
                <a:ea typeface="Consolas"/>
                <a:cs typeface="Consolas"/>
                <a:sym typeface="Consolas"/>
              </a:rPr>
              <a:t>6</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"domingo"</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1800"/>
              <a:buFont typeface="Consolas"/>
              <a:buNone/>
            </a:pPr>
            <a:r>
              <a:rPr b="0" i="0" lang="en-US" sz="1800" u="none">
                <a:solidFill>
                  <a:schemeClr val="dk1"/>
                </a:solidFill>
                <a:latin typeface="Consolas"/>
                <a:ea typeface="Consolas"/>
                <a:cs typeface="Consolas"/>
                <a:sym typeface="Consolas"/>
              </a:rPr>
              <a:t>diaSemana</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forEach</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function</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elemento</a:t>
            </a:r>
            <a:r>
              <a:rPr b="0" i="0" lang="en-US" sz="1800" u="none">
                <a:solidFill>
                  <a:srgbClr val="BF9000"/>
                </a:solidFill>
                <a:latin typeface="Consolas"/>
                <a:ea typeface="Consolas"/>
                <a:cs typeface="Consolas"/>
                <a:sym typeface="Consolas"/>
              </a:rPr>
              <a:t>) {  </a:t>
            </a:r>
            <a:endParaRPr/>
          </a:p>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   </a:t>
            </a:r>
            <a:r>
              <a:rPr b="0" i="0" lang="en-US" sz="1800" u="none">
                <a:solidFill>
                  <a:schemeClr val="dk1"/>
                </a:solidFill>
                <a:latin typeface="Consolas"/>
                <a:ea typeface="Consolas"/>
                <a:cs typeface="Consolas"/>
                <a:sym typeface="Consolas"/>
              </a:rPr>
              <a:t>document</a:t>
            </a:r>
            <a:r>
              <a:rPr b="0" i="0" lang="en-US" sz="1800" u="none">
                <a:solidFill>
                  <a:srgbClr val="BF9000"/>
                </a:solidFill>
                <a:latin typeface="Consolas"/>
                <a:ea typeface="Consolas"/>
                <a:cs typeface="Consolas"/>
                <a:sym typeface="Consolas"/>
              </a:rPr>
              <a:t>.</a:t>
            </a:r>
            <a:r>
              <a:rPr b="0" i="0" lang="en-US" sz="1800" u="none">
                <a:solidFill>
                  <a:srgbClr val="0033CC"/>
                </a:solidFill>
                <a:latin typeface="Consolas"/>
                <a:ea typeface="Consolas"/>
                <a:cs typeface="Consolas"/>
                <a:sym typeface="Consolas"/>
              </a:rPr>
              <a:t>write</a:t>
            </a:r>
            <a:r>
              <a:rPr b="0" i="0" lang="en-US" sz="1800" u="none">
                <a:solidFill>
                  <a:srgbClr val="BF9000"/>
                </a:solidFill>
                <a:latin typeface="Consolas"/>
                <a:ea typeface="Consolas"/>
                <a:cs typeface="Consolas"/>
                <a:sym typeface="Consolas"/>
              </a:rPr>
              <a:t>(</a:t>
            </a:r>
            <a:r>
              <a:rPr b="0" i="0" lang="en-US" sz="1800" u="none">
                <a:solidFill>
                  <a:schemeClr val="dk1"/>
                </a:solidFill>
                <a:latin typeface="Consolas"/>
                <a:ea typeface="Consolas"/>
                <a:cs typeface="Consolas"/>
                <a:sym typeface="Consolas"/>
              </a:rPr>
              <a:t>elemento</a:t>
            </a:r>
            <a:r>
              <a:rPr b="0" i="0" lang="en-US" sz="1800" u="none">
                <a:solidFill>
                  <a:srgbClr val="BF9000"/>
                </a:solidFill>
                <a:latin typeface="Consolas"/>
                <a:ea typeface="Consolas"/>
                <a:cs typeface="Consolas"/>
                <a:sym typeface="Consolas"/>
              </a:rPr>
              <a:t> + </a:t>
            </a:r>
            <a:r>
              <a:rPr b="0" i="0" lang="en-US" sz="1800" u="none">
                <a:solidFill>
                  <a:srgbClr val="C00000"/>
                </a:solidFill>
                <a:latin typeface="Consolas"/>
                <a:ea typeface="Consolas"/>
                <a:cs typeface="Consolas"/>
                <a:sym typeface="Consolas"/>
              </a:rPr>
              <a:t>"&lt;br&gt;"</a:t>
            </a:r>
            <a:r>
              <a:rPr b="0" i="0" lang="en-US" sz="1800" u="none">
                <a:solidFill>
                  <a:srgbClr val="BF9000"/>
                </a:solidFill>
                <a:latin typeface="Consolas"/>
                <a:ea typeface="Consolas"/>
                <a:cs typeface="Consolas"/>
                <a:sym typeface="Consolas"/>
              </a:rPr>
              <a:t>); </a:t>
            </a:r>
            <a:endParaRPr/>
          </a:p>
          <a:p>
            <a:pPr indent="0" lvl="0" marL="0" marR="0" rtl="0" algn="l">
              <a:lnSpc>
                <a:spcPct val="100000"/>
              </a:lnSpc>
              <a:spcBef>
                <a:spcPts val="0"/>
              </a:spcBef>
              <a:spcAft>
                <a:spcPts val="0"/>
              </a:spcAft>
              <a:buClr>
                <a:srgbClr val="BF9000"/>
              </a:buClr>
              <a:buSzPts val="1800"/>
              <a:buFont typeface="Consolas"/>
              <a:buNone/>
            </a:pPr>
            <a:r>
              <a:rPr b="0" i="0" lang="en-US" sz="1800" u="none">
                <a:solidFill>
                  <a:srgbClr val="BF9000"/>
                </a:solidFill>
                <a:latin typeface="Consolas"/>
                <a:ea typeface="Consolas"/>
                <a:cs typeface="Consolas"/>
                <a:sym typeface="Consolas"/>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descr="Resultado de imagen para angular logos" id="445" name="Google Shape;445;p24"/>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46" name="Google Shape;446;p24"/>
          <p:cNvSpPr txBox="1"/>
          <p:nvPr/>
        </p:nvSpPr>
        <p:spPr>
          <a:xfrm>
            <a:off x="1144587" y="185737"/>
            <a:ext cx="59340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Sentencia – ciclo while y do while</a:t>
            </a:r>
            <a:endParaRPr/>
          </a:p>
        </p:txBody>
      </p:sp>
      <p:cxnSp>
        <p:nvCxnSpPr>
          <p:cNvPr id="447" name="Google Shape;447;p24"/>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48" name="Google Shape;448;p24"/>
          <p:cNvSpPr txBox="1"/>
          <p:nvPr/>
        </p:nvSpPr>
        <p:spPr>
          <a:xfrm>
            <a:off x="533400" y="128746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Sentencia while</a:t>
            </a:r>
            <a:endParaRPr/>
          </a:p>
        </p:txBody>
      </p:sp>
      <p:sp>
        <p:nvSpPr>
          <p:cNvPr id="449" name="Google Shape;449;p24"/>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50" name="Google Shape;450;p24"/>
          <p:cNvSpPr txBox="1"/>
          <p:nvPr/>
        </p:nvSpPr>
        <p:spPr>
          <a:xfrm>
            <a:off x="900112" y="3873500"/>
            <a:ext cx="4572000"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var</a:t>
            </a:r>
            <a:r>
              <a:rPr b="0" i="0" lang="en-US" sz="1800" u="none">
                <a:solidFill>
                  <a:srgbClr val="000000"/>
                </a:solidFill>
                <a:latin typeface="Consolas"/>
                <a:ea typeface="Consolas"/>
                <a:cs typeface="Consolas"/>
                <a:sym typeface="Consolas"/>
              </a:rPr>
              <a:t> i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FF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do</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00"/>
                </a:solidFill>
                <a:latin typeface="Consolas"/>
                <a:ea typeface="Consolas"/>
                <a:cs typeface="Consolas"/>
                <a:sym typeface="Consolas"/>
              </a:rPr>
              <a:t>    i</a:t>
            </a:r>
            <a:r>
              <a:rPr b="0" i="0" lang="en-US" sz="1800" u="none">
                <a:solidFill>
                  <a:srgbClr val="BF9000"/>
                </a:solidFill>
                <a:latin typeface="Consolas"/>
                <a:ea typeface="Consolas"/>
                <a:cs typeface="Consolas"/>
                <a:sym typeface="Consolas"/>
              </a:rPr>
              <a:t>++;</a:t>
            </a:r>
            <a:br>
              <a:rPr b="0" i="0" lang="en-US" sz="1800" u="none">
                <a:solidFill>
                  <a:srgbClr val="BF9000"/>
                </a:solidFill>
                <a:latin typeface="Arial"/>
                <a:ea typeface="Arial"/>
                <a:cs typeface="Arial"/>
                <a:sym typeface="Arial"/>
              </a:rPr>
            </a:b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while</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i </a:t>
            </a:r>
            <a:r>
              <a:rPr b="0" i="0" lang="en-US" sz="1800" u="none">
                <a:solidFill>
                  <a:srgbClr val="BF9000"/>
                </a:solidFill>
                <a:latin typeface="Consolas"/>
                <a:ea typeface="Consolas"/>
                <a:cs typeface="Consolas"/>
                <a:sym typeface="Consolas"/>
              </a:rPr>
              <a:t>&lt;</a:t>
            </a:r>
            <a:r>
              <a:rPr b="0" i="0" lang="en-US" sz="1800" u="none">
                <a:solidFill>
                  <a:srgbClr val="000000"/>
                </a:solidFill>
                <a:latin typeface="Consolas"/>
                <a:ea typeface="Consolas"/>
                <a:cs typeface="Consolas"/>
                <a:sym typeface="Consolas"/>
              </a:rPr>
              <a:t> </a:t>
            </a:r>
            <a:r>
              <a:rPr b="0" i="0" lang="en-US" sz="1800" u="none">
                <a:solidFill>
                  <a:srgbClr val="FF0000"/>
                </a:solidFill>
                <a:latin typeface="Consolas"/>
                <a:ea typeface="Consolas"/>
                <a:cs typeface="Consolas"/>
                <a:sym typeface="Consolas"/>
              </a:rPr>
              <a:t>5</a:t>
            </a:r>
            <a:r>
              <a:rPr b="0" i="0" lang="en-US" sz="1800" u="none">
                <a:solidFill>
                  <a:srgbClr val="BF9000"/>
                </a:solidFill>
                <a:latin typeface="Consolas"/>
                <a:ea typeface="Consolas"/>
                <a:cs typeface="Consolas"/>
                <a:sym typeface="Consolas"/>
              </a:rPr>
              <a:t>);</a:t>
            </a:r>
            <a:endParaRPr/>
          </a:p>
        </p:txBody>
      </p:sp>
      <p:sp>
        <p:nvSpPr>
          <p:cNvPr id="451" name="Google Shape;451;p24"/>
          <p:cNvSpPr txBox="1"/>
          <p:nvPr/>
        </p:nvSpPr>
        <p:spPr>
          <a:xfrm>
            <a:off x="533400" y="3490912"/>
            <a:ext cx="8199437" cy="276225"/>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Sentencia do while</a:t>
            </a:r>
            <a:endParaRPr/>
          </a:p>
        </p:txBody>
      </p:sp>
      <p:sp>
        <p:nvSpPr>
          <p:cNvPr id="452" name="Google Shape;452;p24"/>
          <p:cNvSpPr txBox="1"/>
          <p:nvPr/>
        </p:nvSpPr>
        <p:spPr>
          <a:xfrm>
            <a:off x="900112" y="1657350"/>
            <a:ext cx="45720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800"/>
              <a:buFont typeface="Consolas"/>
              <a:buNone/>
            </a:pPr>
            <a:r>
              <a:rPr b="0" i="0" lang="en-US" sz="1800" u="none">
                <a:solidFill>
                  <a:srgbClr val="0000CD"/>
                </a:solidFill>
                <a:latin typeface="Consolas"/>
                <a:ea typeface="Consolas"/>
                <a:cs typeface="Consolas"/>
                <a:sym typeface="Consolas"/>
              </a:rPr>
              <a:t>var</a:t>
            </a:r>
            <a:r>
              <a:rPr b="0" i="0" lang="en-US" sz="1800" u="none">
                <a:solidFill>
                  <a:srgbClr val="000000"/>
                </a:solidFill>
                <a:latin typeface="Consolas"/>
                <a:ea typeface="Consolas"/>
                <a:cs typeface="Consolas"/>
                <a:sym typeface="Consolas"/>
              </a:rPr>
              <a:t> i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 </a:t>
            </a:r>
            <a:r>
              <a:rPr b="0" i="0" lang="en-US" sz="1800" u="none">
                <a:solidFill>
                  <a:srgbClr val="FF0000"/>
                </a:solidFill>
                <a:latin typeface="Consolas"/>
                <a:ea typeface="Consolas"/>
                <a:cs typeface="Consolas"/>
                <a:sym typeface="Consolas"/>
              </a:rPr>
              <a:t>0</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0000CD"/>
                </a:solidFill>
                <a:latin typeface="Consolas"/>
                <a:ea typeface="Consolas"/>
                <a:cs typeface="Consolas"/>
                <a:sym typeface="Consolas"/>
              </a:rPr>
              <a:t>while</a:t>
            </a:r>
            <a:r>
              <a:rPr b="0" i="0" lang="en-US" sz="1800" u="none">
                <a:solidFill>
                  <a:srgbClr val="000000"/>
                </a:solidFill>
                <a:latin typeface="Consolas"/>
                <a:ea typeface="Consolas"/>
                <a:cs typeface="Consolas"/>
                <a:sym typeface="Consolas"/>
              </a:rPr>
              <a:t> </a:t>
            </a:r>
            <a:r>
              <a:rPr b="0" i="0" lang="en-US" sz="1800" u="none">
                <a:solidFill>
                  <a:srgbClr val="BF9000"/>
                </a:solidFill>
                <a:latin typeface="Consolas"/>
                <a:ea typeface="Consolas"/>
                <a:cs typeface="Consolas"/>
                <a:sym typeface="Consolas"/>
              </a:rPr>
              <a:t>(</a:t>
            </a:r>
            <a:r>
              <a:rPr b="0" i="0" lang="en-US" sz="1800" u="none">
                <a:solidFill>
                  <a:srgbClr val="000000"/>
                </a:solidFill>
                <a:latin typeface="Consolas"/>
                <a:ea typeface="Consolas"/>
                <a:cs typeface="Consolas"/>
                <a:sym typeface="Consolas"/>
              </a:rPr>
              <a:t>i </a:t>
            </a:r>
            <a:r>
              <a:rPr b="0" i="0" lang="en-US" sz="1800" u="none">
                <a:solidFill>
                  <a:srgbClr val="BF9000"/>
                </a:solidFill>
                <a:latin typeface="Consolas"/>
                <a:ea typeface="Consolas"/>
                <a:cs typeface="Consolas"/>
                <a:sym typeface="Consolas"/>
              </a:rPr>
              <a:t>&lt;</a:t>
            </a:r>
            <a:r>
              <a:rPr b="0" i="0" lang="en-US" sz="1800" u="none">
                <a:solidFill>
                  <a:srgbClr val="000000"/>
                </a:solidFill>
                <a:latin typeface="Consolas"/>
                <a:ea typeface="Consolas"/>
                <a:cs typeface="Consolas"/>
                <a:sym typeface="Consolas"/>
              </a:rPr>
              <a:t> </a:t>
            </a:r>
            <a:r>
              <a:rPr b="0" i="0" lang="en-US" sz="1800" u="none">
                <a:solidFill>
                  <a:srgbClr val="FF0000"/>
                </a:solidFill>
                <a:latin typeface="Consolas"/>
                <a:ea typeface="Consolas"/>
                <a:cs typeface="Consolas"/>
                <a:sym typeface="Consolas"/>
              </a:rPr>
              <a:t>5</a:t>
            </a:r>
            <a:r>
              <a:rPr b="0" i="0" lang="en-US" sz="1800" u="none">
                <a:solidFill>
                  <a:srgbClr val="BF9000"/>
                </a:solidFill>
                <a:latin typeface="Consolas"/>
                <a:ea typeface="Consolas"/>
                <a:cs typeface="Consolas"/>
                <a:sym typeface="Consolas"/>
              </a:rPr>
              <a:t>) {</a:t>
            </a:r>
            <a:br>
              <a:rPr b="0" i="0" lang="en-US" sz="1800" u="none">
                <a:solidFill>
                  <a:schemeClr val="dk1"/>
                </a:solidFill>
                <a:latin typeface="Arial"/>
                <a:ea typeface="Arial"/>
                <a:cs typeface="Arial"/>
                <a:sym typeface="Arial"/>
              </a:rPr>
            </a:br>
            <a:r>
              <a:rPr b="0" i="0" lang="en-US" sz="1800" u="none">
                <a:solidFill>
                  <a:srgbClr val="000000"/>
                </a:solidFill>
                <a:latin typeface="Consolas"/>
                <a:ea typeface="Consolas"/>
                <a:cs typeface="Consolas"/>
                <a:sym typeface="Consolas"/>
              </a:rPr>
              <a:t>  i</a:t>
            </a:r>
            <a:r>
              <a:rPr b="0" i="0" lang="en-US" sz="1800" u="none">
                <a:solidFill>
                  <a:srgbClr val="BF9000"/>
                </a:solidFill>
                <a:latin typeface="Consolas"/>
                <a:ea typeface="Consolas"/>
                <a:cs typeface="Consolas"/>
                <a:sym typeface="Consolas"/>
              </a:rPr>
              <a:t>++;</a:t>
            </a:r>
            <a:br>
              <a:rPr b="0" i="0" lang="en-US" sz="1800" u="none">
                <a:solidFill>
                  <a:schemeClr val="dk1"/>
                </a:solidFill>
                <a:latin typeface="Arial"/>
                <a:ea typeface="Arial"/>
                <a:cs typeface="Arial"/>
                <a:sym typeface="Arial"/>
              </a:rPr>
            </a:br>
            <a:r>
              <a:rPr b="0" i="0" lang="en-US" sz="1800" u="none">
                <a:solidFill>
                  <a:srgbClr val="BF9000"/>
                </a:solidFill>
                <a:latin typeface="Consolas"/>
                <a:ea typeface="Consolas"/>
                <a:cs typeface="Consolas"/>
                <a:sym typeface="Consolas"/>
              </a:rPr>
              <a:t>}</a:t>
            </a:r>
            <a:endParaRPr/>
          </a:p>
        </p:txBody>
      </p:sp>
      <p:sp>
        <p:nvSpPr>
          <p:cNvPr id="453" name="Google Shape;453;p24"/>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descr="Resultado de imagen para angular logos" id="458" name="Google Shape;458;g396094b1242_0_86"/>
          <p:cNvPicPr preferRelativeResize="0"/>
          <p:nvPr/>
        </p:nvPicPr>
        <p:blipFill rotWithShape="1">
          <a:blip r:embed="rId3">
            <a:alphaModFix/>
          </a:blip>
          <a:srcRect b="0" l="51972" r="0" t="0"/>
          <a:stretch/>
        </p:blipFill>
        <p:spPr>
          <a:xfrm>
            <a:off x="227012" y="85725"/>
            <a:ext cx="800100" cy="830262"/>
          </a:xfrm>
          <a:prstGeom prst="rect">
            <a:avLst/>
          </a:prstGeom>
          <a:noFill/>
          <a:ln>
            <a:noFill/>
          </a:ln>
        </p:spPr>
      </p:pic>
      <p:sp>
        <p:nvSpPr>
          <p:cNvPr id="459" name="Google Shape;459;g396094b1242_0_86"/>
          <p:cNvSpPr txBox="1"/>
          <p:nvPr/>
        </p:nvSpPr>
        <p:spPr>
          <a:xfrm>
            <a:off x="1144587" y="185737"/>
            <a:ext cx="5934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lang="en-US" sz="2800">
                <a:solidFill>
                  <a:srgbClr val="0070C0"/>
                </a:solidFill>
              </a:rPr>
              <a:t>Javascript</a:t>
            </a:r>
            <a:endParaRPr/>
          </a:p>
        </p:txBody>
      </p:sp>
      <p:cxnSp>
        <p:nvCxnSpPr>
          <p:cNvPr id="460" name="Google Shape;460;g396094b1242_0_86"/>
          <p:cNvCxnSpPr/>
          <p:nvPr/>
        </p:nvCxnSpPr>
        <p:spPr>
          <a:xfrm>
            <a:off x="1206500" y="858837"/>
            <a:ext cx="7526400" cy="0"/>
          </a:xfrm>
          <a:prstGeom prst="straightConnector1">
            <a:avLst/>
          </a:prstGeom>
          <a:noFill/>
          <a:ln cap="flat" cmpd="sng" w="28575">
            <a:solidFill>
              <a:srgbClr val="2E75B6"/>
            </a:solidFill>
            <a:prstDash val="solid"/>
            <a:miter lim="800000"/>
            <a:headEnd len="med" w="med" type="none"/>
            <a:tailEnd len="med" w="med" type="none"/>
          </a:ln>
        </p:spPr>
      </p:cxnSp>
      <p:sp>
        <p:nvSpPr>
          <p:cNvPr id="461" name="Google Shape;461;g396094b1242_0_86"/>
          <p:cNvSpPr txBox="1"/>
          <p:nvPr/>
        </p:nvSpPr>
        <p:spPr>
          <a:xfrm>
            <a:off x="7570787" y="0"/>
            <a:ext cx="1282800" cy="598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62" name="Google Shape;462;g396094b1242_0_86"/>
          <p:cNvSpPr txBox="1"/>
          <p:nvPr/>
        </p:nvSpPr>
        <p:spPr>
          <a:xfrm>
            <a:off x="472350" y="3003562"/>
            <a:ext cx="8199300" cy="354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lang="en-US" sz="2300">
                <a:solidFill>
                  <a:schemeClr val="dk1"/>
                </a:solidFill>
              </a:rPr>
              <a:t>¿</a:t>
            </a:r>
            <a:r>
              <a:rPr lang="en-US" sz="2300">
                <a:solidFill>
                  <a:schemeClr val="dk1"/>
                </a:solidFill>
              </a:rPr>
              <a:t>Cómo</a:t>
            </a:r>
            <a:r>
              <a:rPr lang="en-US" sz="2300">
                <a:solidFill>
                  <a:schemeClr val="dk1"/>
                </a:solidFill>
              </a:rPr>
              <a:t> creen que Javascript encuentra un elemento HTML?</a:t>
            </a:r>
            <a:endParaRPr sz="1900"/>
          </a:p>
        </p:txBody>
      </p:sp>
      <p:sp>
        <p:nvSpPr>
          <p:cNvPr id="463" name="Google Shape;463;g396094b1242_0_86"/>
          <p:cNvSpPr txBox="1"/>
          <p:nvPr/>
        </p:nvSpPr>
        <p:spPr>
          <a:xfrm>
            <a:off x="0" y="6537325"/>
            <a:ext cx="9144000" cy="312600"/>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Resultado de imagen para angular logos" id="468" name="Google Shape;468;p25"/>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69" name="Google Shape;469;p25"/>
          <p:cNvSpPr txBox="1"/>
          <p:nvPr/>
        </p:nvSpPr>
        <p:spPr>
          <a:xfrm>
            <a:off x="1144587" y="185737"/>
            <a:ext cx="40386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Manipulación del DOM</a:t>
            </a:r>
            <a:endParaRPr/>
          </a:p>
        </p:txBody>
      </p:sp>
      <p:cxnSp>
        <p:nvCxnSpPr>
          <p:cNvPr id="470" name="Google Shape;470;p25"/>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71" name="Google Shape;471;p25"/>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72" name="Google Shape;472;p25"/>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473" name="Google Shape;473;p25"/>
          <p:cNvSpPr txBox="1"/>
          <p:nvPr/>
        </p:nvSpPr>
        <p:spPr>
          <a:xfrm>
            <a:off x="792162" y="1287462"/>
            <a:ext cx="4373562"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getElementById(Id_del_elemento)</a:t>
            </a:r>
            <a:endParaRPr/>
          </a:p>
        </p:txBody>
      </p:sp>
      <p:sp>
        <p:nvSpPr>
          <p:cNvPr id="474" name="Google Shape;474;p25"/>
          <p:cNvSpPr txBox="1"/>
          <p:nvPr/>
        </p:nvSpPr>
        <p:spPr>
          <a:xfrm>
            <a:off x="792162" y="1654175"/>
            <a:ext cx="7940675" cy="6461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Selecciona un elemento del documento por medio del valor del atributo id que se le haya asignado. </a:t>
            </a:r>
            <a:endParaRPr/>
          </a:p>
        </p:txBody>
      </p:sp>
      <p:sp>
        <p:nvSpPr>
          <p:cNvPr id="475" name="Google Shape;475;p25"/>
          <p:cNvSpPr txBox="1"/>
          <p:nvPr/>
        </p:nvSpPr>
        <p:spPr>
          <a:xfrm>
            <a:off x="809625" y="2500312"/>
            <a:ext cx="4937125"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getElementByName(Name_del_elemento)</a:t>
            </a:r>
            <a:endParaRPr/>
          </a:p>
        </p:txBody>
      </p:sp>
      <p:sp>
        <p:nvSpPr>
          <p:cNvPr id="476" name="Google Shape;476;p25"/>
          <p:cNvSpPr txBox="1"/>
          <p:nvPr/>
        </p:nvSpPr>
        <p:spPr>
          <a:xfrm>
            <a:off x="809625" y="2878137"/>
            <a:ext cx="8043862"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Selecciona todos los elementos basándose en el atributo name.</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Hoy en día el name no se utiliza tanto en favor del id.</a:t>
            </a:r>
            <a:endParaRPr/>
          </a:p>
        </p:txBody>
      </p:sp>
      <p:sp>
        <p:nvSpPr>
          <p:cNvPr id="477" name="Google Shape;477;p25"/>
          <p:cNvSpPr txBox="1"/>
          <p:nvPr/>
        </p:nvSpPr>
        <p:spPr>
          <a:xfrm>
            <a:off x="792162" y="3663950"/>
            <a:ext cx="33861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getElementByTagName(tag)</a:t>
            </a:r>
            <a:endParaRPr/>
          </a:p>
        </p:txBody>
      </p:sp>
      <p:sp>
        <p:nvSpPr>
          <p:cNvPr id="478" name="Google Shape;478;p25"/>
          <p:cNvSpPr txBox="1"/>
          <p:nvPr/>
        </p:nvSpPr>
        <p:spPr>
          <a:xfrm>
            <a:off x="792162" y="4035425"/>
            <a:ext cx="8186737" cy="6461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Selecciona una lista de nodos cuyo tag es el especificado como parámetro. </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Cada nodo tiene un índice, según el orden en el que aparecen en el html.</a:t>
            </a:r>
            <a:endParaRPr/>
          </a:p>
        </p:txBody>
      </p:sp>
      <p:sp>
        <p:nvSpPr>
          <p:cNvPr id="479" name="Google Shape;479;p25"/>
          <p:cNvSpPr txBox="1"/>
          <p:nvPr/>
        </p:nvSpPr>
        <p:spPr>
          <a:xfrm>
            <a:off x="795337" y="4856162"/>
            <a:ext cx="503078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lista</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getElementsByTagName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"li"</a:t>
            </a:r>
            <a:r>
              <a:rPr b="0" i="0" lang="en-US" sz="1400" u="none">
                <a:solidFill>
                  <a:srgbClr val="BF9000"/>
                </a:solidFill>
                <a:latin typeface="Consolas"/>
                <a:ea typeface="Consolas"/>
                <a:cs typeface="Consolas"/>
                <a:sym typeface="Consolas"/>
              </a:rPr>
              <a:t>);</a:t>
            </a:r>
            <a:endParaRPr/>
          </a:p>
        </p:txBody>
      </p:sp>
      <p:sp>
        <p:nvSpPr>
          <p:cNvPr id="480" name="Google Shape;480;p25"/>
          <p:cNvSpPr txBox="1"/>
          <p:nvPr/>
        </p:nvSpPr>
        <p:spPr>
          <a:xfrm>
            <a:off x="6207125" y="4884737"/>
            <a:ext cx="2141537" cy="1169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 </a:t>
            </a:r>
            <a:r>
              <a:rPr b="0" i="0" lang="en-US" sz="1400" u="none">
                <a:solidFill>
                  <a:srgbClr val="CC0099"/>
                </a:solidFill>
                <a:latin typeface="Consolas"/>
                <a:ea typeface="Consolas"/>
                <a:cs typeface="Consolas"/>
                <a:sym typeface="Consolas"/>
              </a:rPr>
              <a:t>id</a:t>
            </a:r>
            <a:r>
              <a:rPr b="0" i="0" lang="en-US" sz="1400" u="none">
                <a:solidFill>
                  <a:srgbClr val="0033CC"/>
                </a:solidFill>
                <a:latin typeface="Consolas"/>
                <a:ea typeface="Consolas"/>
                <a:cs typeface="Consolas"/>
                <a:sym typeface="Consolas"/>
              </a:rPr>
              <a:t>="myUL"&gt;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&lt;li&gt;</a:t>
            </a:r>
            <a:r>
              <a:rPr b="0" i="0" lang="en-US" sz="1400" u="none">
                <a:solidFill>
                  <a:srgbClr val="C00000"/>
                </a:solidFill>
                <a:latin typeface="Consolas"/>
                <a:ea typeface="Consolas"/>
                <a:cs typeface="Consolas"/>
                <a:sym typeface="Consolas"/>
              </a:rPr>
              <a:t>Manzana</a:t>
            </a:r>
            <a:r>
              <a:rPr b="0" i="0" lang="en-US" sz="1400" u="none">
                <a:solidFill>
                  <a:srgbClr val="0033CC"/>
                </a:solidFill>
                <a:latin typeface="Consolas"/>
                <a:ea typeface="Consolas"/>
                <a:cs typeface="Consolas"/>
                <a:sym typeface="Consolas"/>
              </a:rPr>
              <a:t>&lt;/li&gt;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&lt;li&gt;</a:t>
            </a:r>
            <a:r>
              <a:rPr b="0" i="0" lang="en-US" sz="1400" u="none">
                <a:solidFill>
                  <a:srgbClr val="C00000"/>
                </a:solidFill>
                <a:latin typeface="Consolas"/>
                <a:ea typeface="Consolas"/>
                <a:cs typeface="Consolas"/>
                <a:sym typeface="Consolas"/>
              </a:rPr>
              <a:t>Naranja</a:t>
            </a:r>
            <a:r>
              <a:rPr b="0" i="0" lang="en-US" sz="1400" u="none">
                <a:solidFill>
                  <a:srgbClr val="0033CC"/>
                </a:solidFill>
                <a:latin typeface="Consolas"/>
                <a:ea typeface="Consolas"/>
                <a:cs typeface="Consolas"/>
                <a:sym typeface="Consolas"/>
              </a:rPr>
              <a:t>&lt;/li&gt;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&lt;li&gt;</a:t>
            </a:r>
            <a:r>
              <a:rPr b="0" i="0" lang="en-US" sz="1400" u="none">
                <a:solidFill>
                  <a:srgbClr val="C00000"/>
                </a:solidFill>
                <a:latin typeface="Consolas"/>
                <a:ea typeface="Consolas"/>
                <a:cs typeface="Consolas"/>
                <a:sym typeface="Consolas"/>
              </a:rPr>
              <a:t>Pera</a:t>
            </a:r>
            <a:r>
              <a:rPr b="0" i="0" lang="en-US" sz="1400" u="none">
                <a:solidFill>
                  <a:srgbClr val="0033CC"/>
                </a:solidFill>
                <a:latin typeface="Consolas"/>
                <a:ea typeface="Consolas"/>
                <a:cs typeface="Consolas"/>
                <a:sym typeface="Consolas"/>
              </a:rPr>
              <a:t>&lt;/li&gt;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&lt;/ul&gt;	</a:t>
            </a:r>
            <a:endParaRPr/>
          </a:p>
        </p:txBody>
      </p:sp>
      <p:sp>
        <p:nvSpPr>
          <p:cNvPr id="481" name="Google Shape;481;p25"/>
          <p:cNvSpPr txBox="1"/>
          <p:nvPr/>
        </p:nvSpPr>
        <p:spPr>
          <a:xfrm>
            <a:off x="885825" y="5356225"/>
            <a:ext cx="4572000" cy="43021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8000"/>
              </a:buClr>
              <a:buSzPts val="1400"/>
              <a:buFont typeface="Consolas"/>
              <a:buNone/>
            </a:pPr>
            <a:r>
              <a:rPr b="0" i="0" lang="en-US" sz="1400" u="none">
                <a:solidFill>
                  <a:srgbClr val="008000"/>
                </a:solidFill>
                <a:latin typeface="Consolas"/>
                <a:ea typeface="Consolas"/>
                <a:cs typeface="Consolas"/>
                <a:sym typeface="Consolas"/>
              </a:rPr>
              <a:t>//acceder al segundo elemento &lt;li&gt; de la lista</a:t>
            </a:r>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getElementsByTagName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'li'</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1</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descr="Resultado de imagen para angular logos" id="486" name="Google Shape;486;p26"/>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487" name="Google Shape;487;p26"/>
          <p:cNvSpPr txBox="1"/>
          <p:nvPr/>
        </p:nvSpPr>
        <p:spPr>
          <a:xfrm>
            <a:off x="1144587" y="185737"/>
            <a:ext cx="43973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Manipulación del DOM…</a:t>
            </a:r>
            <a:endParaRPr/>
          </a:p>
        </p:txBody>
      </p:sp>
      <p:cxnSp>
        <p:nvCxnSpPr>
          <p:cNvPr id="488" name="Google Shape;488;p26"/>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489" name="Google Shape;489;p26"/>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490" name="Google Shape;490;p26"/>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491" name="Google Shape;491;p26"/>
          <p:cNvSpPr txBox="1"/>
          <p:nvPr/>
        </p:nvSpPr>
        <p:spPr>
          <a:xfrm>
            <a:off x="792162" y="1287462"/>
            <a:ext cx="4373562"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createElement(elemento_a_crear)</a:t>
            </a:r>
            <a:endParaRPr/>
          </a:p>
        </p:txBody>
      </p:sp>
      <p:sp>
        <p:nvSpPr>
          <p:cNvPr id="492" name="Google Shape;492;p26"/>
          <p:cNvSpPr txBox="1"/>
          <p:nvPr/>
        </p:nvSpPr>
        <p:spPr>
          <a:xfrm>
            <a:off x="792162" y="1654175"/>
            <a:ext cx="7940675" cy="3698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Crea un elemento del HTML por su tag. </a:t>
            </a:r>
            <a:endParaRPr/>
          </a:p>
        </p:txBody>
      </p:sp>
      <p:sp>
        <p:nvSpPr>
          <p:cNvPr id="493" name="Google Shape;493;p26"/>
          <p:cNvSpPr txBox="1"/>
          <p:nvPr/>
        </p:nvSpPr>
        <p:spPr>
          <a:xfrm>
            <a:off x="809625" y="2236787"/>
            <a:ext cx="2962275"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createTextNode(texto)</a:t>
            </a:r>
            <a:endParaRPr/>
          </a:p>
        </p:txBody>
      </p:sp>
      <p:sp>
        <p:nvSpPr>
          <p:cNvPr id="494" name="Google Shape;494;p26"/>
          <p:cNvSpPr txBox="1"/>
          <p:nvPr/>
        </p:nvSpPr>
        <p:spPr>
          <a:xfrm>
            <a:off x="809625" y="2662237"/>
            <a:ext cx="8043862" cy="277812"/>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Permite crear un nuevo texto.</a:t>
            </a:r>
            <a:endParaRPr/>
          </a:p>
        </p:txBody>
      </p:sp>
      <p:sp>
        <p:nvSpPr>
          <p:cNvPr id="495" name="Google Shape;495;p26"/>
          <p:cNvSpPr txBox="1"/>
          <p:nvPr/>
        </p:nvSpPr>
        <p:spPr>
          <a:xfrm>
            <a:off x="792162" y="3149600"/>
            <a:ext cx="2962275"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appendChild(elemento)</a:t>
            </a:r>
            <a:endParaRPr/>
          </a:p>
        </p:txBody>
      </p:sp>
      <p:sp>
        <p:nvSpPr>
          <p:cNvPr id="496" name="Google Shape;496;p26"/>
          <p:cNvSpPr txBox="1"/>
          <p:nvPr/>
        </p:nvSpPr>
        <p:spPr>
          <a:xfrm>
            <a:off x="808037" y="3541712"/>
            <a:ext cx="8043862" cy="554037"/>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Permite agregar un nuevo hijo a un elemento padre.</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Todos los nodos proveen este método</a:t>
            </a:r>
            <a:endParaRPr/>
          </a:p>
        </p:txBody>
      </p:sp>
      <p:sp>
        <p:nvSpPr>
          <p:cNvPr id="497" name="Google Shape;497;p26"/>
          <p:cNvSpPr txBox="1"/>
          <p:nvPr/>
        </p:nvSpPr>
        <p:spPr>
          <a:xfrm>
            <a:off x="908050" y="4254500"/>
            <a:ext cx="6418262" cy="1169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lista</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createElement</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'ul'</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 </a:t>
            </a:r>
            <a:r>
              <a:rPr b="0" i="0" lang="en-US" sz="1400" u="none">
                <a:solidFill>
                  <a:schemeClr val="dk1"/>
                </a:solidFill>
                <a:latin typeface="Consolas"/>
                <a:ea typeface="Consolas"/>
                <a:cs typeface="Consolas"/>
                <a:sym typeface="Consolas"/>
              </a:rPr>
              <a:t>item</a:t>
            </a:r>
            <a:r>
              <a:rPr b="0" i="0" lang="en-US" sz="1400" u="none">
                <a:solidFill>
                  <a:srgbClr val="0033CC"/>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createElement</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'li'</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lista</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appendChild</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item</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var texto = 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createTextNode</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'item'</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item</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appendChild</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texto</a:t>
            </a:r>
            <a:r>
              <a:rPr b="0" i="0" lang="en-US" sz="1400" u="none">
                <a:solidFill>
                  <a:srgbClr val="BF9000"/>
                </a:solidFill>
                <a:latin typeface="Consolas"/>
                <a:ea typeface="Consolas"/>
                <a:cs typeface="Consolas"/>
                <a:sym typeface="Consolas"/>
              </a:rPr>
              <a:t>); </a:t>
            </a:r>
            <a:endParaRPr/>
          </a:p>
        </p:txBody>
      </p:sp>
      <p:sp>
        <p:nvSpPr>
          <p:cNvPr id="498" name="Google Shape;498;p26"/>
          <p:cNvSpPr/>
          <p:nvPr/>
        </p:nvSpPr>
        <p:spPr>
          <a:xfrm>
            <a:off x="7326312" y="4770437"/>
            <a:ext cx="366712" cy="339725"/>
          </a:xfrm>
          <a:prstGeom prst="ellipse">
            <a:avLst/>
          </a:prstGeom>
          <a:solidFill>
            <a:schemeClr val="accent1"/>
          </a:solidFill>
          <a:ln cap="flat" cmpd="sng" w="127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9" name="Google Shape;499;p26"/>
          <p:cNvSpPr txBox="1"/>
          <p:nvPr/>
        </p:nvSpPr>
        <p:spPr>
          <a:xfrm>
            <a:off x="7323137" y="4762500"/>
            <a:ext cx="4953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onsolas"/>
              <a:buNone/>
            </a:pPr>
            <a:r>
              <a:rPr b="1" i="0" lang="en-US" sz="1400" u="none">
                <a:solidFill>
                  <a:schemeClr val="dk1"/>
                </a:solidFill>
                <a:latin typeface="Consolas"/>
                <a:ea typeface="Consolas"/>
                <a:cs typeface="Consolas"/>
                <a:sym typeface="Consolas"/>
              </a:rPr>
              <a:t>ul</a:t>
            </a:r>
            <a:endParaRPr/>
          </a:p>
        </p:txBody>
      </p:sp>
      <p:sp>
        <p:nvSpPr>
          <p:cNvPr id="500" name="Google Shape;500;p26"/>
          <p:cNvSpPr/>
          <p:nvPr/>
        </p:nvSpPr>
        <p:spPr>
          <a:xfrm>
            <a:off x="7326312" y="5341937"/>
            <a:ext cx="366712" cy="339725"/>
          </a:xfrm>
          <a:prstGeom prst="ellipse">
            <a:avLst/>
          </a:prstGeom>
          <a:solidFill>
            <a:schemeClr val="accent1"/>
          </a:solidFill>
          <a:ln cap="flat" cmpd="sng" w="127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01" name="Google Shape;501;p26"/>
          <p:cNvCxnSpPr/>
          <p:nvPr/>
        </p:nvCxnSpPr>
        <p:spPr>
          <a:xfrm>
            <a:off x="7508875" y="5110162"/>
            <a:ext cx="0" cy="231775"/>
          </a:xfrm>
          <a:prstGeom prst="straightConnector1">
            <a:avLst/>
          </a:prstGeom>
          <a:noFill/>
          <a:ln cap="flat" cmpd="sng" w="9525">
            <a:solidFill>
              <a:schemeClr val="dk1"/>
            </a:solidFill>
            <a:prstDash val="solid"/>
            <a:miter lim="800000"/>
            <a:headEnd len="med" w="med" type="none"/>
            <a:tailEnd len="med" w="med" type="none"/>
          </a:ln>
        </p:spPr>
      </p:cxnSp>
      <p:sp>
        <p:nvSpPr>
          <p:cNvPr id="502" name="Google Shape;502;p26"/>
          <p:cNvSpPr/>
          <p:nvPr/>
        </p:nvSpPr>
        <p:spPr>
          <a:xfrm>
            <a:off x="7326312" y="5900737"/>
            <a:ext cx="366712" cy="339725"/>
          </a:xfrm>
          <a:prstGeom prst="ellipse">
            <a:avLst/>
          </a:prstGeom>
          <a:solidFill>
            <a:schemeClr val="accent1"/>
          </a:solidFill>
          <a:ln cap="flat" cmpd="sng" w="127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503" name="Google Shape;503;p26"/>
          <p:cNvCxnSpPr/>
          <p:nvPr/>
        </p:nvCxnSpPr>
        <p:spPr>
          <a:xfrm>
            <a:off x="7508875" y="5681662"/>
            <a:ext cx="0" cy="219075"/>
          </a:xfrm>
          <a:prstGeom prst="straightConnector1">
            <a:avLst/>
          </a:prstGeom>
          <a:noFill/>
          <a:ln cap="flat" cmpd="sng" w="9525">
            <a:solidFill>
              <a:schemeClr val="dk1"/>
            </a:solidFill>
            <a:prstDash val="solid"/>
            <a:miter lim="800000"/>
            <a:headEnd len="med" w="med" type="none"/>
            <a:tailEnd len="med" w="med" type="none"/>
          </a:ln>
        </p:spPr>
      </p:cxnSp>
      <p:sp>
        <p:nvSpPr>
          <p:cNvPr id="504" name="Google Shape;504;p26"/>
          <p:cNvSpPr txBox="1"/>
          <p:nvPr/>
        </p:nvSpPr>
        <p:spPr>
          <a:xfrm>
            <a:off x="6561137" y="4164012"/>
            <a:ext cx="2141537" cy="738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&lt;li&gt;</a:t>
            </a:r>
            <a:r>
              <a:rPr b="0" i="0" lang="en-US" sz="1400" u="none">
                <a:solidFill>
                  <a:srgbClr val="C00000"/>
                </a:solidFill>
                <a:latin typeface="Consolas"/>
                <a:ea typeface="Consolas"/>
                <a:cs typeface="Consolas"/>
                <a:sym typeface="Consolas"/>
              </a:rPr>
              <a:t>item</a:t>
            </a:r>
            <a:r>
              <a:rPr b="0" i="0" lang="en-US" sz="1400" u="none">
                <a:solidFill>
                  <a:srgbClr val="0033CC"/>
                </a:solidFill>
                <a:latin typeface="Consolas"/>
                <a:ea typeface="Consolas"/>
                <a:cs typeface="Consolas"/>
                <a:sym typeface="Consolas"/>
              </a:rPr>
              <a:t>&lt;/li&gt;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&lt;/ul&gt;	</a:t>
            </a:r>
            <a:endParaRPr/>
          </a:p>
        </p:txBody>
      </p:sp>
      <p:sp>
        <p:nvSpPr>
          <p:cNvPr id="505" name="Google Shape;505;p26"/>
          <p:cNvSpPr txBox="1"/>
          <p:nvPr/>
        </p:nvSpPr>
        <p:spPr>
          <a:xfrm>
            <a:off x="7323137" y="5351462"/>
            <a:ext cx="495300" cy="306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onsolas"/>
              <a:buNone/>
            </a:pPr>
            <a:r>
              <a:rPr b="1" i="0" lang="en-US" sz="1400" u="none">
                <a:solidFill>
                  <a:schemeClr val="dk1"/>
                </a:solidFill>
                <a:latin typeface="Consolas"/>
                <a:ea typeface="Consolas"/>
                <a:cs typeface="Consolas"/>
                <a:sym typeface="Consolas"/>
              </a:rPr>
              <a:t>li</a:t>
            </a:r>
            <a:endParaRPr/>
          </a:p>
        </p:txBody>
      </p:sp>
      <p:sp>
        <p:nvSpPr>
          <p:cNvPr id="506" name="Google Shape;506;p26"/>
          <p:cNvSpPr txBox="1"/>
          <p:nvPr/>
        </p:nvSpPr>
        <p:spPr>
          <a:xfrm>
            <a:off x="7232650" y="5942012"/>
            <a:ext cx="676275" cy="260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Consolas"/>
              <a:buNone/>
            </a:pPr>
            <a:r>
              <a:rPr b="1" i="0" lang="en-US" sz="1100" u="none">
                <a:solidFill>
                  <a:schemeClr val="dk1"/>
                </a:solidFill>
                <a:latin typeface="Consolas"/>
                <a:ea typeface="Consolas"/>
                <a:cs typeface="Consolas"/>
                <a:sym typeface="Consolas"/>
              </a:rPr>
              <a:t>texto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Resultado de imagen para angular logos" id="511" name="Google Shape;511;p27"/>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12" name="Google Shape;512;p27"/>
          <p:cNvSpPr txBox="1"/>
          <p:nvPr/>
        </p:nvSpPr>
        <p:spPr>
          <a:xfrm>
            <a:off x="1144587" y="185737"/>
            <a:ext cx="43973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Manipulación del DOM…</a:t>
            </a:r>
            <a:endParaRPr/>
          </a:p>
        </p:txBody>
      </p:sp>
      <p:cxnSp>
        <p:nvCxnSpPr>
          <p:cNvPr id="513" name="Google Shape;513;p27"/>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14" name="Google Shape;514;p27"/>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515" name="Google Shape;515;p27"/>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16" name="Google Shape;516;p27"/>
          <p:cNvSpPr txBox="1"/>
          <p:nvPr/>
        </p:nvSpPr>
        <p:spPr>
          <a:xfrm>
            <a:off x="792162" y="1287462"/>
            <a:ext cx="2116137"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parentElement()</a:t>
            </a:r>
            <a:endParaRPr/>
          </a:p>
        </p:txBody>
      </p:sp>
      <p:sp>
        <p:nvSpPr>
          <p:cNvPr id="517" name="Google Shape;517;p27"/>
          <p:cNvSpPr txBox="1"/>
          <p:nvPr/>
        </p:nvSpPr>
        <p:spPr>
          <a:xfrm>
            <a:off x="792162" y="1654175"/>
            <a:ext cx="7940675" cy="3698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Permite acceder al padre de un elemento.</a:t>
            </a:r>
            <a:endParaRPr/>
          </a:p>
        </p:txBody>
      </p:sp>
      <p:sp>
        <p:nvSpPr>
          <p:cNvPr id="518" name="Google Shape;518;p27"/>
          <p:cNvSpPr txBox="1"/>
          <p:nvPr/>
        </p:nvSpPr>
        <p:spPr>
          <a:xfrm>
            <a:off x="823912" y="2619375"/>
            <a:ext cx="7281862" cy="522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D"/>
              </a:buClr>
              <a:buSzPts val="1400"/>
              <a:buFont typeface="Consolas"/>
              <a:buNone/>
            </a:pPr>
            <a:r>
              <a:rPr b="0" i="0" lang="en-US" sz="1400" u="none">
                <a:solidFill>
                  <a:srgbClr val="0000CD"/>
                </a:solidFill>
                <a:latin typeface="Consolas"/>
                <a:ea typeface="Consolas"/>
                <a:cs typeface="Consolas"/>
                <a:sym typeface="Consolas"/>
              </a:rPr>
              <a:t>var</a:t>
            </a:r>
            <a:r>
              <a:rPr b="0" i="0" lang="en-US" sz="1400" u="none">
                <a:solidFill>
                  <a:srgbClr val="000000"/>
                </a:solidFill>
                <a:latin typeface="Consolas"/>
                <a:ea typeface="Consolas"/>
                <a:cs typeface="Consolas"/>
                <a:sym typeface="Consolas"/>
              </a:rPr>
              <a:t> x = document.getElementById(</a:t>
            </a:r>
            <a:r>
              <a:rPr b="0" i="0" lang="en-US" sz="1400" u="none">
                <a:solidFill>
                  <a:srgbClr val="A52A2A"/>
                </a:solidFill>
                <a:latin typeface="Consolas"/>
                <a:ea typeface="Consolas"/>
                <a:cs typeface="Consolas"/>
                <a:sym typeface="Consolas"/>
              </a:rPr>
              <a:t>"myLI"</a:t>
            </a:r>
            <a:r>
              <a:rPr b="0" i="0" lang="en-US" sz="1400" u="none">
                <a:solidFill>
                  <a:srgbClr val="000000"/>
                </a:solidFill>
                <a:latin typeface="Consolas"/>
                <a:ea typeface="Consolas"/>
                <a:cs typeface="Consolas"/>
                <a:sym typeface="Consolas"/>
              </a:rPr>
              <a:t>).parentElement.nodeName;</a:t>
            </a:r>
            <a:endParaRPr/>
          </a:p>
          <a:p>
            <a:pPr indent="0" lvl="0" marL="0" marR="0" rtl="0" algn="l">
              <a:lnSpc>
                <a:spcPct val="100000"/>
              </a:lnSpc>
              <a:spcBef>
                <a:spcPts val="0"/>
              </a:spcBef>
              <a:spcAft>
                <a:spcPts val="0"/>
              </a:spcAft>
              <a:buClr>
                <a:srgbClr val="008000"/>
              </a:buClr>
              <a:buSzPts val="1400"/>
              <a:buFont typeface="Consolas"/>
              <a:buNone/>
            </a:pPr>
            <a:r>
              <a:rPr b="0" i="0" lang="en-US" sz="1400" u="none">
                <a:solidFill>
                  <a:srgbClr val="008000"/>
                </a:solidFill>
                <a:latin typeface="Consolas"/>
                <a:ea typeface="Consolas"/>
                <a:cs typeface="Consolas"/>
                <a:sym typeface="Consolas"/>
              </a:rPr>
              <a:t>//x hace referencia a &lt;ul&gt;</a:t>
            </a:r>
            <a:endParaRPr/>
          </a:p>
        </p:txBody>
      </p:sp>
      <p:sp>
        <p:nvSpPr>
          <p:cNvPr id="519" name="Google Shape;519;p27"/>
          <p:cNvSpPr txBox="1"/>
          <p:nvPr/>
        </p:nvSpPr>
        <p:spPr>
          <a:xfrm>
            <a:off x="792162" y="2173287"/>
            <a:ext cx="641667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onsolas"/>
              <a:buNone/>
            </a:pPr>
            <a:r>
              <a:rPr b="0" i="0" lang="en-US" sz="1400" u="none">
                <a:solidFill>
                  <a:srgbClr val="000000"/>
                </a:solidFill>
                <a:latin typeface="Consolas"/>
                <a:ea typeface="Consolas"/>
                <a:cs typeface="Consolas"/>
                <a:sym typeface="Consolas"/>
              </a:rPr>
              <a:t>document.body.parentElement; </a:t>
            </a:r>
            <a:r>
              <a:rPr b="0" i="0" lang="en-US" sz="1400" u="none">
                <a:solidFill>
                  <a:srgbClr val="008000"/>
                </a:solidFill>
                <a:latin typeface="Consolas"/>
                <a:ea typeface="Consolas"/>
                <a:cs typeface="Consolas"/>
                <a:sym typeface="Consolas"/>
              </a:rPr>
              <a:t>// Retorna el elemento &lt;html&gt;</a:t>
            </a:r>
            <a:endParaRPr/>
          </a:p>
        </p:txBody>
      </p:sp>
      <p:sp>
        <p:nvSpPr>
          <p:cNvPr id="520" name="Google Shape;520;p27"/>
          <p:cNvSpPr txBox="1"/>
          <p:nvPr/>
        </p:nvSpPr>
        <p:spPr>
          <a:xfrm>
            <a:off x="5543550" y="3090862"/>
            <a:ext cx="3113087" cy="738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 </a:t>
            </a:r>
            <a:r>
              <a:rPr b="0" i="0" lang="en-US" sz="1400" u="none">
                <a:solidFill>
                  <a:srgbClr val="CC0099"/>
                </a:solidFill>
                <a:latin typeface="Consolas"/>
                <a:ea typeface="Consolas"/>
                <a:cs typeface="Consolas"/>
                <a:sym typeface="Consolas"/>
              </a:rPr>
              <a:t>id</a:t>
            </a:r>
            <a:r>
              <a:rPr b="0" i="0" lang="en-US" sz="1400" u="none">
                <a:solidFill>
                  <a:srgbClr val="0033CC"/>
                </a:solidFill>
                <a:latin typeface="Consolas"/>
                <a:ea typeface="Consolas"/>
                <a:cs typeface="Consolas"/>
                <a:sym typeface="Consolas"/>
              </a:rPr>
              <a:t>="myUL"&gt;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  &lt;li </a:t>
            </a:r>
            <a:r>
              <a:rPr b="0" i="0" lang="en-US" sz="1400" u="none">
                <a:solidFill>
                  <a:srgbClr val="CC0099"/>
                </a:solidFill>
                <a:latin typeface="Consolas"/>
                <a:ea typeface="Consolas"/>
                <a:cs typeface="Consolas"/>
                <a:sym typeface="Consolas"/>
              </a:rPr>
              <a:t>id</a:t>
            </a:r>
            <a:r>
              <a:rPr b="0" i="0" lang="en-US" sz="1400" u="none">
                <a:solidFill>
                  <a:srgbClr val="0033CC"/>
                </a:solidFill>
                <a:latin typeface="Consolas"/>
                <a:ea typeface="Consolas"/>
                <a:cs typeface="Consolas"/>
                <a:sym typeface="Consolas"/>
              </a:rPr>
              <a:t>="myLI"&gt;</a:t>
            </a:r>
            <a:r>
              <a:rPr b="0" i="0" lang="en-US" sz="1400" u="none">
                <a:solidFill>
                  <a:srgbClr val="C00000"/>
                </a:solidFill>
                <a:latin typeface="Consolas"/>
                <a:ea typeface="Consolas"/>
                <a:cs typeface="Consolas"/>
                <a:sym typeface="Consolas"/>
              </a:rPr>
              <a:t>Manzana</a:t>
            </a:r>
            <a:r>
              <a:rPr b="0" i="0" lang="en-US" sz="1400" u="none">
                <a:solidFill>
                  <a:srgbClr val="0033CC"/>
                </a:solidFill>
                <a:latin typeface="Consolas"/>
                <a:ea typeface="Consolas"/>
                <a:cs typeface="Consolas"/>
                <a:sym typeface="Consolas"/>
              </a:rPr>
              <a:t>&lt;/li&gt;</a:t>
            </a:r>
            <a:endParaRPr/>
          </a:p>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&lt;/ul&gt;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descr="Resultado de imagen para angular logos" id="525" name="Google Shape;525;p28"/>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26" name="Google Shape;526;p28"/>
          <p:cNvSpPr txBox="1"/>
          <p:nvPr/>
        </p:nvSpPr>
        <p:spPr>
          <a:xfrm>
            <a:off x="1144587" y="185737"/>
            <a:ext cx="43973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Manipulación del DOM…</a:t>
            </a:r>
            <a:endParaRPr/>
          </a:p>
        </p:txBody>
      </p:sp>
      <p:cxnSp>
        <p:nvCxnSpPr>
          <p:cNvPr id="527" name="Google Shape;527;p28"/>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28" name="Google Shape;528;p28"/>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529" name="Google Shape;529;p28"/>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30" name="Google Shape;530;p28"/>
          <p:cNvSpPr txBox="1"/>
          <p:nvPr/>
        </p:nvSpPr>
        <p:spPr>
          <a:xfrm>
            <a:off x="792162" y="1287462"/>
            <a:ext cx="2257425"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innerHTML(texto)</a:t>
            </a:r>
            <a:endParaRPr/>
          </a:p>
        </p:txBody>
      </p:sp>
      <p:sp>
        <p:nvSpPr>
          <p:cNvPr id="531" name="Google Shape;531;p28"/>
          <p:cNvSpPr txBox="1"/>
          <p:nvPr/>
        </p:nvSpPr>
        <p:spPr>
          <a:xfrm>
            <a:off x="792162" y="1654175"/>
            <a:ext cx="7940675" cy="6461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Permite especificar directamente el marcado interno de un elemento.</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Reemplaza el contenido que tenía hasta el momento.</a:t>
            </a:r>
            <a:endParaRPr/>
          </a:p>
        </p:txBody>
      </p:sp>
      <p:sp>
        <p:nvSpPr>
          <p:cNvPr id="532" name="Google Shape;532;p28"/>
          <p:cNvSpPr txBox="1"/>
          <p:nvPr/>
        </p:nvSpPr>
        <p:spPr>
          <a:xfrm>
            <a:off x="1027112" y="2460625"/>
            <a:ext cx="7940675" cy="738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var</a:t>
            </a:r>
            <a:r>
              <a:rPr b="0" i="0" lang="en-US" sz="1400" u="none">
                <a:solidFill>
                  <a:srgbClr val="C00000"/>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elem_p</a:t>
            </a:r>
            <a:r>
              <a:rPr b="0" i="0" lang="en-US" sz="1400" u="none">
                <a:solidFill>
                  <a:srgbClr val="C00000"/>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 </a:t>
            </a:r>
            <a:r>
              <a:rPr b="0" i="0" lang="en-US" sz="1400" u="none">
                <a:solidFill>
                  <a:schemeClr val="dk1"/>
                </a:solidFill>
                <a:latin typeface="Consolas"/>
                <a:ea typeface="Consolas"/>
                <a:cs typeface="Consolas"/>
                <a:sym typeface="Consolas"/>
              </a:rPr>
              <a:t>document</a:t>
            </a:r>
            <a:r>
              <a:rPr b="0" i="0" lang="en-US" sz="1400" u="none">
                <a:solidFill>
                  <a:srgbClr val="C00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createElement</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'p'</a:t>
            </a:r>
            <a:r>
              <a:rPr b="0" i="0" lang="en-US" sz="1400" u="none">
                <a:solidFill>
                  <a:srgbClr val="BF9000"/>
                </a:solidFill>
                <a:latin typeface="Consolas"/>
                <a:ea typeface="Consolas"/>
                <a:cs typeface="Consolas"/>
                <a:sym typeface="Consolas"/>
              </a:rPr>
              <a:t>);</a:t>
            </a:r>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elem_p</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innerHTML</a:t>
            </a:r>
            <a:r>
              <a:rPr b="0" i="0" lang="en-US" sz="1400" u="none">
                <a:solidFill>
                  <a:srgbClr val="C00000"/>
                </a:solidFill>
                <a:latin typeface="Consolas"/>
                <a:ea typeface="Consolas"/>
                <a:cs typeface="Consolas"/>
                <a:sym typeface="Consolas"/>
              </a:rPr>
              <a:t> </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 'Éste es un párrafo con una palabra &lt;em&gt;enfatizada&lt;/em&gt; </a:t>
            </a:r>
            <a:endParaRPr/>
          </a:p>
          <a:p>
            <a:pPr indent="0" lvl="0" marL="0" marR="0" rtl="0" algn="l">
              <a:lnSpc>
                <a:spcPct val="100000"/>
              </a:lnSpc>
              <a:spcBef>
                <a:spcPts val="0"/>
              </a:spcBef>
              <a:spcAft>
                <a:spcPts val="0"/>
              </a:spcAft>
              <a:buClr>
                <a:srgbClr val="C00000"/>
              </a:buClr>
              <a:buSzPts val="1400"/>
              <a:buFont typeface="Consolas"/>
              <a:buNone/>
            </a:pPr>
            <a:r>
              <a:rPr b="0" i="0" lang="en-US" sz="1400" u="none">
                <a:solidFill>
                  <a:srgbClr val="C00000"/>
                </a:solidFill>
                <a:latin typeface="Consolas"/>
                <a:ea typeface="Consolas"/>
                <a:cs typeface="Consolas"/>
                <a:sym typeface="Consolas"/>
              </a:rPr>
              <a:t>                    y otras aún &lt;strong&gt;más enfatizadas&lt;/strong&gt;.'</a:t>
            </a:r>
            <a:r>
              <a:rPr b="0" i="0" lang="en-US" sz="1400" u="none">
                <a:solidFill>
                  <a:srgbClr val="BF9000"/>
                </a:solidFill>
                <a:latin typeface="Consolas"/>
                <a:ea typeface="Consolas"/>
                <a:cs typeface="Consolas"/>
                <a:sym typeface="Consolas"/>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9"/>
          <p:cNvSpPr txBox="1"/>
          <p:nvPr/>
        </p:nvSpPr>
        <p:spPr>
          <a:xfrm>
            <a:off x="533400" y="1354137"/>
            <a:ext cx="8199300" cy="2772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Javascript no posee función main()</a:t>
            </a:r>
            <a:endParaRPr/>
          </a:p>
        </p:txBody>
      </p:sp>
      <p:pic>
        <p:nvPicPr>
          <p:cNvPr descr="Resultado de imagen para angular logos" id="538" name="Google Shape;538;p29"/>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39" name="Google Shape;539;p29"/>
          <p:cNvSpPr txBox="1"/>
          <p:nvPr/>
        </p:nvSpPr>
        <p:spPr>
          <a:xfrm>
            <a:off x="1144587" y="185737"/>
            <a:ext cx="607536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Programación Orientada al Evento</a:t>
            </a:r>
            <a:endParaRPr/>
          </a:p>
        </p:txBody>
      </p:sp>
      <p:cxnSp>
        <p:nvCxnSpPr>
          <p:cNvPr id="540" name="Google Shape;540;p29"/>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41" name="Google Shape;541;p29"/>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pic>
        <p:nvPicPr>
          <p:cNvPr id="542" name="Google Shape;542;p29"/>
          <p:cNvPicPr preferRelativeResize="0"/>
          <p:nvPr/>
        </p:nvPicPr>
        <p:blipFill rotWithShape="1">
          <a:blip r:embed="rId4">
            <a:alphaModFix/>
          </a:blip>
          <a:srcRect b="17961" l="18284" r="5537" t="15646"/>
          <a:stretch/>
        </p:blipFill>
        <p:spPr>
          <a:xfrm>
            <a:off x="1555787" y="3662350"/>
            <a:ext cx="5813425" cy="2874963"/>
          </a:xfrm>
          <a:prstGeom prst="rect">
            <a:avLst/>
          </a:prstGeom>
          <a:noFill/>
          <a:ln>
            <a:noFill/>
          </a:ln>
        </p:spPr>
      </p:pic>
      <p:sp>
        <p:nvSpPr>
          <p:cNvPr id="543" name="Google Shape;543;p29"/>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44" name="Google Shape;544;p29"/>
          <p:cNvSpPr txBox="1"/>
          <p:nvPr/>
        </p:nvSpPr>
        <p:spPr>
          <a:xfrm>
            <a:off x="533400" y="1766710"/>
            <a:ext cx="8199300" cy="1662300"/>
          </a:xfrm>
          <a:prstGeom prst="rect">
            <a:avLst/>
          </a:prstGeom>
          <a:noFill/>
          <a:ln>
            <a:noFill/>
          </a:ln>
        </p:spPr>
        <p:txBody>
          <a:bodyPr anchorCtr="0" anchor="ctr" bIns="0" lIns="0" spcFirstLastPara="1" rIns="0" wrap="square" tIns="0">
            <a:spAutoFit/>
          </a:bodyPr>
          <a:lstStyle/>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Entonces… ¿cuándo se ejecuta el código?</a:t>
            </a:r>
            <a:endParaRPr sz="1800">
              <a:solidFill>
                <a:schemeClr val="dk1"/>
              </a:solidFill>
            </a:endParaRPr>
          </a:p>
          <a:p>
            <a:pPr indent="0" lvl="0" marL="457200" marR="0" rtl="0" algn="l">
              <a:lnSpc>
                <a:spcPct val="100000"/>
              </a:lnSpc>
              <a:spcBef>
                <a:spcPts val="0"/>
              </a:spcBef>
              <a:spcAft>
                <a:spcPts val="0"/>
              </a:spcAft>
              <a:buNone/>
            </a:pPr>
            <a:r>
              <a:t/>
            </a:r>
            <a:endParaRPr sz="1800">
              <a:solidFill>
                <a:schemeClr val="dk1"/>
              </a:solidFill>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rPr>
              <a:t>El código se ejecuta cuando ocurre algo en la página, </a:t>
            </a:r>
            <a:r>
              <a:rPr b="0" i="0" lang="en-US" sz="1800" u="none">
                <a:solidFill>
                  <a:schemeClr val="dk1"/>
                </a:solidFill>
                <a:latin typeface="Arial"/>
                <a:ea typeface="Arial"/>
                <a:cs typeface="Arial"/>
                <a:sym typeface="Arial"/>
              </a:rPr>
              <a:t>esto </a:t>
            </a:r>
            <a:r>
              <a:rPr lang="en-US" sz="1800">
                <a:solidFill>
                  <a:schemeClr val="dk1"/>
                </a:solidFill>
              </a:rPr>
              <a:t>significa</a:t>
            </a:r>
            <a:r>
              <a:rPr b="0" i="0" lang="en-US" sz="1800" u="none">
                <a:solidFill>
                  <a:schemeClr val="dk1"/>
                </a:solidFill>
                <a:latin typeface="Arial"/>
                <a:ea typeface="Arial"/>
                <a:cs typeface="Arial"/>
                <a:sym typeface="Arial"/>
              </a:rPr>
              <a:t> que responde a las acciones (que llamaremos eventos).</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El usuario genera los eventos que serán capturados por JavaScript.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descr="Resultado de imagen para angular logos" id="549" name="Google Shape;549;p30"/>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50" name="Google Shape;550;p30"/>
          <p:cNvSpPr txBox="1"/>
          <p:nvPr/>
        </p:nvSpPr>
        <p:spPr>
          <a:xfrm>
            <a:off x="1144587" y="185737"/>
            <a:ext cx="607536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Programación Orientada al Evento</a:t>
            </a:r>
            <a:endParaRPr/>
          </a:p>
        </p:txBody>
      </p:sp>
      <p:cxnSp>
        <p:nvCxnSpPr>
          <p:cNvPr id="551" name="Google Shape;551;p30"/>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52" name="Google Shape;552;p30"/>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553" name="Google Shape;553;p30"/>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54" name="Google Shape;554;p30"/>
          <p:cNvSpPr txBox="1"/>
          <p:nvPr/>
        </p:nvSpPr>
        <p:spPr>
          <a:xfrm>
            <a:off x="1122362" y="4176712"/>
            <a:ext cx="2714625" cy="30797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2000"/>
              <a:buFont typeface="Consolas"/>
              <a:buNone/>
            </a:pPr>
            <a:r>
              <a:rPr b="1" i="0" lang="en-US" sz="2000" u="none">
                <a:solidFill>
                  <a:schemeClr val="dk1"/>
                </a:solidFill>
                <a:latin typeface="Consolas"/>
                <a:ea typeface="Consolas"/>
                <a:cs typeface="Consolas"/>
                <a:sym typeface="Consolas"/>
              </a:rPr>
              <a:t>addEventListener</a:t>
            </a:r>
            <a:endParaRPr/>
          </a:p>
        </p:txBody>
      </p:sp>
      <p:sp>
        <p:nvSpPr>
          <p:cNvPr id="555" name="Google Shape;555;p30"/>
          <p:cNvSpPr txBox="1"/>
          <p:nvPr/>
        </p:nvSpPr>
        <p:spPr>
          <a:xfrm>
            <a:off x="1198562" y="4483100"/>
            <a:ext cx="7534275" cy="92233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Permite suscribir nuestro programa a la escucha de un evento en particular.</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Nuestro código se dispara automáticamente al producirse el evento.</a:t>
            </a:r>
            <a:endParaRPr/>
          </a:p>
        </p:txBody>
      </p:sp>
      <p:sp>
        <p:nvSpPr>
          <p:cNvPr id="556" name="Google Shape;556;p30"/>
          <p:cNvSpPr txBox="1"/>
          <p:nvPr/>
        </p:nvSpPr>
        <p:spPr>
          <a:xfrm>
            <a:off x="1174750" y="2613025"/>
            <a:ext cx="72549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33CC"/>
              </a:buClr>
              <a:buSzPts val="1400"/>
              <a:buFont typeface="Consolas"/>
              <a:buNone/>
            </a:pPr>
            <a:r>
              <a:rPr b="0" i="0" lang="en-US" sz="1400" u="none">
                <a:solidFill>
                  <a:srgbClr val="0033CC"/>
                </a:solidFill>
                <a:latin typeface="Consolas"/>
                <a:ea typeface="Consolas"/>
                <a:cs typeface="Consolas"/>
                <a:sym typeface="Consolas"/>
              </a:rPr>
              <a:t>&lt;</a:t>
            </a:r>
            <a:r>
              <a:rPr b="0" i="0" lang="en-US" sz="1400" u="none">
                <a:solidFill>
                  <a:srgbClr val="0033CC"/>
                </a:solidFill>
                <a:latin typeface="Consolas"/>
                <a:ea typeface="Consolas"/>
                <a:cs typeface="Consolas"/>
                <a:sym typeface="Consolas"/>
              </a:rPr>
              <a:t>a </a:t>
            </a:r>
            <a:r>
              <a:rPr b="0" i="0" lang="en-US" sz="1400" u="none">
                <a:solidFill>
                  <a:srgbClr val="CC0099"/>
                </a:solidFill>
                <a:latin typeface="Consolas"/>
                <a:ea typeface="Consolas"/>
                <a:cs typeface="Consolas"/>
                <a:sym typeface="Consolas"/>
              </a:rPr>
              <a:t>href</a:t>
            </a:r>
            <a:r>
              <a:rPr b="0" i="0" lang="en-US" sz="1400" u="none">
                <a:solidFill>
                  <a:schemeClr val="dk1"/>
                </a:solidFill>
                <a:latin typeface="Consolas"/>
                <a:ea typeface="Consolas"/>
                <a:cs typeface="Consolas"/>
                <a:sym typeface="Consolas"/>
              </a:rPr>
              <a:t>="</a:t>
            </a:r>
            <a:r>
              <a:rPr lang="en-US">
                <a:solidFill>
                  <a:schemeClr val="dk1"/>
                </a:solidFill>
                <a:latin typeface="Consolas"/>
                <a:ea typeface="Consolas"/>
                <a:cs typeface="Consolas"/>
                <a:sym typeface="Consolas"/>
              </a:rPr>
              <a:t>pagina_alternativa</a:t>
            </a:r>
            <a:r>
              <a:rPr b="0" i="0" lang="en-US" sz="1400" u="none">
                <a:solidFill>
                  <a:schemeClr val="dk1"/>
                </a:solidFill>
                <a:latin typeface="Consolas"/>
                <a:ea typeface="Consolas"/>
                <a:cs typeface="Consolas"/>
                <a:sym typeface="Consolas"/>
              </a:rPr>
              <a:t>.html" </a:t>
            </a:r>
            <a:r>
              <a:rPr b="0" i="0" lang="en-US" sz="1400" u="none">
                <a:solidFill>
                  <a:srgbClr val="CC0099"/>
                </a:solidFill>
                <a:latin typeface="Consolas"/>
                <a:ea typeface="Consolas"/>
                <a:cs typeface="Consolas"/>
                <a:sym typeface="Consolas"/>
              </a:rPr>
              <a:t>onclick</a:t>
            </a:r>
            <a:r>
              <a:rPr b="0" i="0" lang="en-US" sz="1400" u="none">
                <a:solidFill>
                  <a:schemeClr val="dk1"/>
                </a:solidFill>
                <a:latin typeface="Consolas"/>
                <a:ea typeface="Consolas"/>
                <a:cs typeface="Consolas"/>
                <a:sym typeface="Consolas"/>
              </a:rPr>
              <a:t>="</a:t>
            </a:r>
            <a:r>
              <a:rPr lang="en-US">
                <a:solidFill>
                  <a:schemeClr val="dk1"/>
                </a:solidFill>
                <a:latin typeface="Consolas"/>
                <a:ea typeface="Consolas"/>
                <a:cs typeface="Consolas"/>
                <a:sym typeface="Consolas"/>
              </a:rPr>
              <a:t>miFuncion</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 return </a:t>
            </a:r>
            <a:r>
              <a:rPr b="0" i="0" lang="en-US" sz="1400" u="none">
                <a:solidFill>
                  <a:srgbClr val="C00000"/>
                </a:solidFill>
                <a:latin typeface="Consolas"/>
                <a:ea typeface="Consolas"/>
                <a:cs typeface="Consolas"/>
                <a:sym typeface="Consolas"/>
              </a:rPr>
              <a:t>false</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&gt;</a:t>
            </a:r>
            <a:r>
              <a:rPr b="0" i="0" lang="en-US" sz="1400" u="none">
                <a:solidFill>
                  <a:schemeClr val="dk1"/>
                </a:solidFill>
                <a:latin typeface="Consolas"/>
                <a:ea typeface="Consolas"/>
                <a:cs typeface="Consolas"/>
                <a:sym typeface="Consolas"/>
              </a:rPr>
              <a:t> </a:t>
            </a:r>
            <a:r>
              <a:rPr b="0" i="0" lang="en-US" sz="1400" u="none">
                <a:solidFill>
                  <a:srgbClr val="C00000"/>
                </a:solidFill>
                <a:latin typeface="Consolas"/>
                <a:ea typeface="Consolas"/>
                <a:cs typeface="Consolas"/>
                <a:sym typeface="Consolas"/>
              </a:rPr>
              <a:t>Un vínculo </a:t>
            </a:r>
            <a:r>
              <a:rPr b="0" i="0" lang="en-US" sz="1400" u="none">
                <a:solidFill>
                  <a:srgbClr val="0033CC"/>
                </a:solidFill>
                <a:latin typeface="Consolas"/>
                <a:ea typeface="Consolas"/>
                <a:cs typeface="Consolas"/>
                <a:sym typeface="Consolas"/>
              </a:rPr>
              <a:t>&lt;/a&gt;</a:t>
            </a:r>
            <a:r>
              <a:rPr b="0" i="0" lang="en-US" sz="1400" u="none">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p:txBody>
      </p:sp>
      <p:sp>
        <p:nvSpPr>
          <p:cNvPr id="557" name="Google Shape;557;p30"/>
          <p:cNvSpPr txBox="1"/>
          <p:nvPr/>
        </p:nvSpPr>
        <p:spPr>
          <a:xfrm>
            <a:off x="715962" y="1252537"/>
            <a:ext cx="8137525" cy="6461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Si queremos escuchar los eventos producidos por el usuario y el navegador podemos hacerlo de dos maneras diferentes:</a:t>
            </a:r>
            <a:endParaRPr/>
          </a:p>
        </p:txBody>
      </p:sp>
      <p:sp>
        <p:nvSpPr>
          <p:cNvPr id="558" name="Google Shape;558;p30"/>
          <p:cNvSpPr txBox="1"/>
          <p:nvPr/>
        </p:nvSpPr>
        <p:spPr>
          <a:xfrm>
            <a:off x="693737" y="2062162"/>
            <a:ext cx="8137525" cy="3683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Calibri"/>
              <a:buAutoNum type="alphaLcParenR"/>
            </a:pPr>
            <a:r>
              <a:rPr b="0" i="0" lang="en-US" sz="1800" u="none">
                <a:solidFill>
                  <a:schemeClr val="dk1"/>
                </a:solidFill>
                <a:latin typeface="Arial"/>
                <a:ea typeface="Arial"/>
                <a:cs typeface="Arial"/>
                <a:sym typeface="Arial"/>
              </a:rPr>
              <a:t>Indicar en el código html, mediante propiedades específicas para ello:</a:t>
            </a:r>
            <a:endParaRPr/>
          </a:p>
        </p:txBody>
      </p:sp>
      <p:sp>
        <p:nvSpPr>
          <p:cNvPr id="559" name="Google Shape;559;p30"/>
          <p:cNvSpPr txBox="1"/>
          <p:nvPr/>
        </p:nvSpPr>
        <p:spPr>
          <a:xfrm>
            <a:off x="693737" y="3349625"/>
            <a:ext cx="8137525" cy="64611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Calibri"/>
              <a:buAutoNum type="alphaLcParenR" startAt="2"/>
            </a:pPr>
            <a:r>
              <a:rPr b="0" i="0" lang="en-US" sz="1800" u="none">
                <a:solidFill>
                  <a:schemeClr val="dk1"/>
                </a:solidFill>
                <a:latin typeface="Arial"/>
                <a:ea typeface="Arial"/>
                <a:cs typeface="Arial"/>
                <a:sym typeface="Arial"/>
              </a:rPr>
              <a:t>Utilizar un método en forma dinámica que permite la suscripción a un evento:</a:t>
            </a:r>
            <a:endParaRPr/>
          </a:p>
        </p:txBody>
      </p:sp>
      <p:sp>
        <p:nvSpPr>
          <p:cNvPr id="560" name="Google Shape;560;p30"/>
          <p:cNvSpPr txBox="1"/>
          <p:nvPr/>
        </p:nvSpPr>
        <p:spPr>
          <a:xfrm>
            <a:off x="1279525" y="5681662"/>
            <a:ext cx="7453200" cy="684900"/>
          </a:xfrm>
          <a:prstGeom prst="rect">
            <a:avLst/>
          </a:prstGeom>
          <a:noFill/>
          <a:ln>
            <a:noFill/>
          </a:ln>
        </p:spPr>
        <p:txBody>
          <a:bodyPr anchorCtr="0" anchor="ctr" bIns="0" lIns="0" spcFirstLastPara="1" rIns="0" wrap="square" tIns="0">
            <a:spAutoFit/>
          </a:bodyPr>
          <a:lstStyle/>
          <a:p>
            <a:pPr indent="0" lvl="0" marL="0" rtl="0" algn="l">
              <a:lnSpc>
                <a:spcPct val="143478"/>
              </a:lnSpc>
              <a:spcBef>
                <a:spcPts val="0"/>
              </a:spcBef>
              <a:spcAft>
                <a:spcPts val="0"/>
              </a:spcAft>
              <a:buClr>
                <a:schemeClr val="dk1"/>
              </a:buClr>
              <a:buSzPts val="1100"/>
              <a:buFont typeface="Arial"/>
              <a:buNone/>
            </a:pPr>
            <a:r>
              <a:rPr lang="en-US" sz="1150">
                <a:solidFill>
                  <a:srgbClr val="24292E"/>
                </a:solidFill>
                <a:highlight>
                  <a:srgbClr val="FFFFFF"/>
                </a:highlight>
                <a:latin typeface="Consolas"/>
                <a:ea typeface="Consolas"/>
                <a:cs typeface="Consolas"/>
                <a:sym typeface="Consolas"/>
              </a:rPr>
              <a:t>&lt;</a:t>
            </a:r>
            <a:r>
              <a:rPr lang="en-US" sz="1150">
                <a:solidFill>
                  <a:srgbClr val="22863A"/>
                </a:solidFill>
                <a:highlight>
                  <a:srgbClr val="FFFFFF"/>
                </a:highlight>
                <a:latin typeface="Consolas"/>
                <a:ea typeface="Consolas"/>
                <a:cs typeface="Consolas"/>
                <a:sym typeface="Consolas"/>
              </a:rPr>
              <a:t>button</a:t>
            </a:r>
            <a:r>
              <a:rPr lang="en-US" sz="1150">
                <a:solidFill>
                  <a:srgbClr val="24292E"/>
                </a:solidFill>
                <a:highlight>
                  <a:srgbClr val="FFFFFF"/>
                </a:highlight>
                <a:latin typeface="Consolas"/>
                <a:ea typeface="Consolas"/>
                <a:cs typeface="Consolas"/>
                <a:sym typeface="Consolas"/>
              </a:rPr>
              <a:t> </a:t>
            </a:r>
            <a:r>
              <a:rPr lang="en-US" sz="1150">
                <a:solidFill>
                  <a:srgbClr val="6F42C1"/>
                </a:solidFill>
                <a:highlight>
                  <a:srgbClr val="FFFFFF"/>
                </a:highlight>
                <a:latin typeface="Consolas"/>
                <a:ea typeface="Consolas"/>
                <a:cs typeface="Consolas"/>
                <a:sym typeface="Consolas"/>
              </a:rPr>
              <a:t>id</a:t>
            </a:r>
            <a:r>
              <a:rPr lang="en-US" sz="1150">
                <a:solidFill>
                  <a:srgbClr val="24292E"/>
                </a:solidFill>
                <a:highlight>
                  <a:srgbClr val="FFFFFF"/>
                </a:highlight>
                <a:latin typeface="Consolas"/>
                <a:ea typeface="Consolas"/>
                <a:cs typeface="Consolas"/>
                <a:sym typeface="Consolas"/>
              </a:rPr>
              <a:t>=</a:t>
            </a:r>
            <a:r>
              <a:rPr lang="en-US" sz="1150">
                <a:solidFill>
                  <a:srgbClr val="032F62"/>
                </a:solidFill>
                <a:highlight>
                  <a:srgbClr val="FFFFFF"/>
                </a:highlight>
                <a:latin typeface="Consolas"/>
                <a:ea typeface="Consolas"/>
                <a:cs typeface="Consolas"/>
                <a:sym typeface="Consolas"/>
              </a:rPr>
              <a:t>"enviar"</a:t>
            </a:r>
            <a:r>
              <a:rPr lang="en-US" sz="1150">
                <a:solidFill>
                  <a:srgbClr val="24292E"/>
                </a:solidFill>
                <a:highlight>
                  <a:srgbClr val="FFFFFF"/>
                </a:highlight>
                <a:latin typeface="Consolas"/>
                <a:ea typeface="Consolas"/>
                <a:cs typeface="Consolas"/>
                <a:sym typeface="Consolas"/>
              </a:rPr>
              <a:t>&gt;Haz click&lt;/</a:t>
            </a:r>
            <a:r>
              <a:rPr lang="en-US" sz="1150">
                <a:solidFill>
                  <a:srgbClr val="22863A"/>
                </a:solidFill>
                <a:highlight>
                  <a:srgbClr val="FFFFFF"/>
                </a:highlight>
                <a:latin typeface="Consolas"/>
                <a:ea typeface="Consolas"/>
                <a:cs typeface="Consolas"/>
                <a:sym typeface="Consolas"/>
              </a:rPr>
              <a:t>button</a:t>
            </a:r>
            <a:r>
              <a:rPr lang="en-US" sz="1150">
                <a:solidFill>
                  <a:srgbClr val="24292E"/>
                </a:solidFill>
                <a:highlight>
                  <a:srgbClr val="FFFFFF"/>
                </a:highlight>
                <a:latin typeface="Consolas"/>
                <a:ea typeface="Consolas"/>
                <a:cs typeface="Consolas"/>
                <a:sym typeface="Consolas"/>
              </a:rPr>
              <a:t>&gt;</a:t>
            </a:r>
            <a:endParaRPr sz="1150">
              <a:solidFill>
                <a:srgbClr val="24292E"/>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Consolas"/>
              <a:buNone/>
            </a:pPr>
            <a:r>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getElementById</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'enviar'</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addEventListener</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'click'</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validar</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false</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Resultado de imagen para angular logos" id="565" name="Google Shape;565;p31"/>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66" name="Google Shape;566;p31"/>
          <p:cNvSpPr txBox="1"/>
          <p:nvPr/>
        </p:nvSpPr>
        <p:spPr>
          <a:xfrm>
            <a:off x="1144587" y="185737"/>
            <a:ext cx="607536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Programación Orientada al Evento</a:t>
            </a:r>
            <a:endParaRPr/>
          </a:p>
        </p:txBody>
      </p:sp>
      <p:cxnSp>
        <p:nvCxnSpPr>
          <p:cNvPr id="567" name="Google Shape;567;p31"/>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68" name="Google Shape;568;p31"/>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569" name="Google Shape;569;p31"/>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70" name="Google Shape;570;p31"/>
          <p:cNvSpPr txBox="1"/>
          <p:nvPr/>
        </p:nvSpPr>
        <p:spPr>
          <a:xfrm>
            <a:off x="715962" y="1252537"/>
            <a:ext cx="8137525" cy="368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Ejemplo:</a:t>
            </a:r>
            <a:endParaRPr/>
          </a:p>
        </p:txBody>
      </p:sp>
      <p:sp>
        <p:nvSpPr>
          <p:cNvPr id="571" name="Google Shape;571;p31"/>
          <p:cNvSpPr txBox="1"/>
          <p:nvPr/>
        </p:nvSpPr>
        <p:spPr>
          <a:xfrm>
            <a:off x="1144587" y="1768475"/>
            <a:ext cx="7453312" cy="215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400"/>
              <a:buFont typeface="Consolas"/>
              <a:buNone/>
            </a:pPr>
            <a:r>
              <a:rPr b="0" i="0" lang="en-US" sz="1400" u="none">
                <a:solidFill>
                  <a:schemeClr val="dk1"/>
                </a:solidFill>
                <a:latin typeface="Consolas"/>
                <a:ea typeface="Consolas"/>
                <a:cs typeface="Consolas"/>
                <a:sym typeface="Consolas"/>
              </a:rPr>
              <a:t>document</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getElementById</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'enviar'</a:t>
            </a:r>
            <a:r>
              <a:rPr b="0" i="0" lang="en-US" sz="1400" u="none">
                <a:solidFill>
                  <a:srgbClr val="BF9000"/>
                </a:solidFill>
                <a:latin typeface="Consolas"/>
                <a:ea typeface="Consolas"/>
                <a:cs typeface="Consolas"/>
                <a:sym typeface="Consolas"/>
              </a:rPr>
              <a:t>).</a:t>
            </a:r>
            <a:r>
              <a:rPr b="0" i="0" lang="en-US" sz="1400" u="none">
                <a:solidFill>
                  <a:srgbClr val="0033CC"/>
                </a:solidFill>
                <a:latin typeface="Consolas"/>
                <a:ea typeface="Consolas"/>
                <a:cs typeface="Consolas"/>
                <a:sym typeface="Consolas"/>
              </a:rPr>
              <a:t>addEventListener</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'click'</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validar</a:t>
            </a:r>
            <a:r>
              <a:rPr b="0" i="0" lang="en-US" sz="1400" u="none">
                <a:solidFill>
                  <a:srgbClr val="BF9000"/>
                </a:solidFill>
                <a:latin typeface="Consolas"/>
                <a:ea typeface="Consolas"/>
                <a:cs typeface="Consolas"/>
                <a:sym typeface="Consolas"/>
              </a:rPr>
              <a:t>,</a:t>
            </a:r>
            <a:r>
              <a:rPr b="0" i="0" lang="en-US" sz="1400" u="none">
                <a:solidFill>
                  <a:srgbClr val="C00000"/>
                </a:solidFill>
                <a:latin typeface="Consolas"/>
                <a:ea typeface="Consolas"/>
                <a:cs typeface="Consolas"/>
                <a:sym typeface="Consolas"/>
              </a:rPr>
              <a:t>false</a:t>
            </a:r>
            <a:r>
              <a:rPr b="0" i="0" lang="en-US" sz="1400" u="none">
                <a:solidFill>
                  <a:srgbClr val="BF9000"/>
                </a:solidFill>
                <a:latin typeface="Consolas"/>
                <a:ea typeface="Consolas"/>
                <a:cs typeface="Consolas"/>
                <a:sym typeface="Consolas"/>
              </a:rPr>
              <a:t>);</a:t>
            </a:r>
            <a:r>
              <a:rPr b="0" i="0" lang="en-US" sz="1400" u="none">
                <a:solidFill>
                  <a:schemeClr val="dk1"/>
                </a:solidFill>
                <a:latin typeface="Consolas"/>
                <a:ea typeface="Consolas"/>
                <a:cs typeface="Consolas"/>
                <a:sym typeface="Consolas"/>
              </a:rPr>
              <a:t> </a:t>
            </a:r>
            <a:endParaRPr/>
          </a:p>
        </p:txBody>
      </p:sp>
      <p:pic>
        <p:nvPicPr>
          <p:cNvPr id="572" name="Google Shape;572;p31"/>
          <p:cNvPicPr preferRelativeResize="0"/>
          <p:nvPr/>
        </p:nvPicPr>
        <p:blipFill rotWithShape="1">
          <a:blip r:embed="rId4">
            <a:alphaModFix/>
          </a:blip>
          <a:srcRect b="0" l="0" r="0" t="0"/>
          <a:stretch/>
        </p:blipFill>
        <p:spPr>
          <a:xfrm>
            <a:off x="1228725" y="2933700"/>
            <a:ext cx="6632575" cy="2363787"/>
          </a:xfrm>
          <a:prstGeom prst="rect">
            <a:avLst/>
          </a:prstGeom>
          <a:noFill/>
          <a:ln>
            <a:noFill/>
          </a:ln>
        </p:spPr>
      </p:pic>
      <p:sp>
        <p:nvSpPr>
          <p:cNvPr id="573" name="Google Shape;573;p31"/>
          <p:cNvSpPr/>
          <p:nvPr/>
        </p:nvSpPr>
        <p:spPr>
          <a:xfrm>
            <a:off x="4970462" y="3062287"/>
            <a:ext cx="1009650" cy="1897062"/>
          </a:xfrm>
          <a:prstGeom prst="roundRect">
            <a:avLst>
              <a:gd fmla="val 16667" name="adj"/>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4" name="Google Shape;574;p31"/>
          <p:cNvSpPr/>
          <p:nvPr/>
        </p:nvSpPr>
        <p:spPr>
          <a:xfrm>
            <a:off x="6040437" y="2085975"/>
            <a:ext cx="1884362" cy="1343025"/>
          </a:xfrm>
          <a:custGeom>
            <a:rect b="b" l="l" r="r" t="t"/>
            <a:pathLst>
              <a:path extrusionOk="0" h="1200150" w="1743075">
                <a:moveTo>
                  <a:pt x="1743075" y="0"/>
                </a:moveTo>
                <a:cubicBezTo>
                  <a:pt x="1729608" y="33667"/>
                  <a:pt x="1726924" y="49861"/>
                  <a:pt x="1704975" y="76200"/>
                </a:cubicBezTo>
                <a:cubicBezTo>
                  <a:pt x="1696351" y="86548"/>
                  <a:pt x="1684230" y="93814"/>
                  <a:pt x="1676400" y="104775"/>
                </a:cubicBezTo>
                <a:cubicBezTo>
                  <a:pt x="1668147" y="116329"/>
                  <a:pt x="1666440" y="131967"/>
                  <a:pt x="1657350" y="142875"/>
                </a:cubicBezTo>
                <a:cubicBezTo>
                  <a:pt x="1650021" y="151669"/>
                  <a:pt x="1637331" y="154320"/>
                  <a:pt x="1628775" y="161925"/>
                </a:cubicBezTo>
                <a:cubicBezTo>
                  <a:pt x="1608639" y="179823"/>
                  <a:pt x="1592321" y="201828"/>
                  <a:pt x="1571625" y="219075"/>
                </a:cubicBezTo>
                <a:cubicBezTo>
                  <a:pt x="1554036" y="233732"/>
                  <a:pt x="1528778" y="239297"/>
                  <a:pt x="1514475" y="257175"/>
                </a:cubicBezTo>
                <a:cubicBezTo>
                  <a:pt x="1501775" y="273050"/>
                  <a:pt x="1492250" y="292100"/>
                  <a:pt x="1476375" y="304800"/>
                </a:cubicBezTo>
                <a:cubicBezTo>
                  <a:pt x="1459744" y="318105"/>
                  <a:pt x="1437488" y="322417"/>
                  <a:pt x="1419225" y="333375"/>
                </a:cubicBezTo>
                <a:cubicBezTo>
                  <a:pt x="1405612" y="341543"/>
                  <a:pt x="1394130" y="352846"/>
                  <a:pt x="1381125" y="361950"/>
                </a:cubicBezTo>
                <a:cubicBezTo>
                  <a:pt x="1362368" y="375080"/>
                  <a:pt x="1343751" y="388514"/>
                  <a:pt x="1323975" y="400050"/>
                </a:cubicBezTo>
                <a:cubicBezTo>
                  <a:pt x="1305578" y="410782"/>
                  <a:pt x="1284546" y="416811"/>
                  <a:pt x="1266825" y="428625"/>
                </a:cubicBezTo>
                <a:cubicBezTo>
                  <a:pt x="1255617" y="436097"/>
                  <a:pt x="1249614" y="449968"/>
                  <a:pt x="1238250" y="457200"/>
                </a:cubicBezTo>
                <a:cubicBezTo>
                  <a:pt x="1191401" y="487013"/>
                  <a:pt x="1175439" y="490837"/>
                  <a:pt x="1133475" y="504825"/>
                </a:cubicBezTo>
                <a:cubicBezTo>
                  <a:pt x="1123950" y="517525"/>
                  <a:pt x="1117431" y="533179"/>
                  <a:pt x="1104900" y="542925"/>
                </a:cubicBezTo>
                <a:cubicBezTo>
                  <a:pt x="1088088" y="556001"/>
                  <a:pt x="1066368" y="561157"/>
                  <a:pt x="1047750" y="571500"/>
                </a:cubicBezTo>
                <a:cubicBezTo>
                  <a:pt x="979826" y="609236"/>
                  <a:pt x="1069751" y="573691"/>
                  <a:pt x="962025" y="609600"/>
                </a:cubicBezTo>
                <a:cubicBezTo>
                  <a:pt x="860579" y="690757"/>
                  <a:pt x="956588" y="616205"/>
                  <a:pt x="885825" y="666750"/>
                </a:cubicBezTo>
                <a:cubicBezTo>
                  <a:pt x="872907" y="675977"/>
                  <a:pt x="861602" y="687615"/>
                  <a:pt x="847725" y="695325"/>
                </a:cubicBezTo>
                <a:cubicBezTo>
                  <a:pt x="832779" y="703628"/>
                  <a:pt x="815975" y="708025"/>
                  <a:pt x="800100" y="714375"/>
                </a:cubicBezTo>
                <a:cubicBezTo>
                  <a:pt x="790575" y="723900"/>
                  <a:pt x="782486" y="735120"/>
                  <a:pt x="771525" y="742950"/>
                </a:cubicBezTo>
                <a:cubicBezTo>
                  <a:pt x="725277" y="775984"/>
                  <a:pt x="746307" y="750797"/>
                  <a:pt x="704850" y="771525"/>
                </a:cubicBezTo>
                <a:cubicBezTo>
                  <a:pt x="694611" y="776645"/>
                  <a:pt x="685433" y="783706"/>
                  <a:pt x="676275" y="790575"/>
                </a:cubicBezTo>
                <a:cubicBezTo>
                  <a:pt x="660011" y="802773"/>
                  <a:pt x="645092" y="816718"/>
                  <a:pt x="628650" y="828675"/>
                </a:cubicBezTo>
                <a:cubicBezTo>
                  <a:pt x="610134" y="842141"/>
                  <a:pt x="589816" y="853038"/>
                  <a:pt x="571500" y="866775"/>
                </a:cubicBezTo>
                <a:cubicBezTo>
                  <a:pt x="525368" y="901374"/>
                  <a:pt x="548460" y="890330"/>
                  <a:pt x="504825" y="904875"/>
                </a:cubicBezTo>
                <a:cubicBezTo>
                  <a:pt x="431977" y="959511"/>
                  <a:pt x="501844" y="910661"/>
                  <a:pt x="428625" y="952500"/>
                </a:cubicBezTo>
                <a:cubicBezTo>
                  <a:pt x="418686" y="958180"/>
                  <a:pt x="410511" y="966901"/>
                  <a:pt x="400050" y="971550"/>
                </a:cubicBezTo>
                <a:cubicBezTo>
                  <a:pt x="381700" y="979705"/>
                  <a:pt x="359608" y="979461"/>
                  <a:pt x="342900" y="990600"/>
                </a:cubicBezTo>
                <a:cubicBezTo>
                  <a:pt x="273936" y="1036576"/>
                  <a:pt x="306228" y="1018461"/>
                  <a:pt x="247650" y="1047750"/>
                </a:cubicBezTo>
                <a:cubicBezTo>
                  <a:pt x="215537" y="1095920"/>
                  <a:pt x="246033" y="1062846"/>
                  <a:pt x="200025" y="1085850"/>
                </a:cubicBezTo>
                <a:cubicBezTo>
                  <a:pt x="137699" y="1117013"/>
                  <a:pt x="206072" y="1091344"/>
                  <a:pt x="142875" y="1133475"/>
                </a:cubicBezTo>
                <a:cubicBezTo>
                  <a:pt x="134521" y="1139044"/>
                  <a:pt x="123077" y="1138124"/>
                  <a:pt x="114300" y="1143000"/>
                </a:cubicBezTo>
                <a:cubicBezTo>
                  <a:pt x="94286" y="1154119"/>
                  <a:pt x="78870" y="1173860"/>
                  <a:pt x="57150" y="1181100"/>
                </a:cubicBezTo>
                <a:lnTo>
                  <a:pt x="0" y="1200150"/>
                </a:lnTo>
              </a:path>
            </a:pathLst>
          </a:custGeom>
          <a:noFill/>
          <a:ln cap="flat" cmpd="sng" w="28575">
            <a:solidFill>
              <a:srgbClr val="FF0000"/>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2"/>
          <p:cNvSpPr txBox="1"/>
          <p:nvPr/>
        </p:nvSpPr>
        <p:spPr>
          <a:xfrm>
            <a:off x="1073150" y="3624262"/>
            <a:ext cx="5008562" cy="384175"/>
          </a:xfrm>
          <a:prstGeom prst="rect">
            <a:avLst/>
          </a:prstGeom>
          <a:solidFill>
            <a:srgbClr val="EDEDED"/>
          </a:solidFill>
          <a:ln cap="flat" cmpd="sng" w="12700">
            <a:solidFill>
              <a:srgbClr val="00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0" name="Google Shape;580;p32"/>
          <p:cNvSpPr txBox="1"/>
          <p:nvPr/>
        </p:nvSpPr>
        <p:spPr>
          <a:xfrm>
            <a:off x="1073150" y="5305425"/>
            <a:ext cx="5008562" cy="669925"/>
          </a:xfrm>
          <a:prstGeom prst="rect">
            <a:avLst/>
          </a:prstGeom>
          <a:solidFill>
            <a:srgbClr val="EDEDED"/>
          </a:solidFill>
          <a:ln cap="flat" cmpd="sng" w="12700">
            <a:solidFill>
              <a:srgbClr val="00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1" name="Google Shape;581;p32"/>
          <p:cNvSpPr txBox="1"/>
          <p:nvPr/>
        </p:nvSpPr>
        <p:spPr>
          <a:xfrm>
            <a:off x="1073150" y="4652962"/>
            <a:ext cx="5008562" cy="669925"/>
          </a:xfrm>
          <a:prstGeom prst="rect">
            <a:avLst/>
          </a:prstGeom>
          <a:solidFill>
            <a:srgbClr val="EDEDED"/>
          </a:solidFill>
          <a:ln cap="flat" cmpd="sng" w="12700">
            <a:solidFill>
              <a:srgbClr val="00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Resultado de imagen para angular logos" id="582" name="Google Shape;582;p32"/>
          <p:cNvPicPr preferRelativeResize="0"/>
          <p:nvPr/>
        </p:nvPicPr>
        <p:blipFill rotWithShape="1">
          <a:blip r:embed="rId3">
            <a:alphaModFix/>
          </a:blip>
          <a:srcRect b="0" l="51971" r="0" t="0"/>
          <a:stretch/>
        </p:blipFill>
        <p:spPr>
          <a:xfrm>
            <a:off x="227012" y="85725"/>
            <a:ext cx="800100" cy="830262"/>
          </a:xfrm>
          <a:prstGeom prst="rect">
            <a:avLst/>
          </a:prstGeom>
          <a:noFill/>
          <a:ln>
            <a:noFill/>
          </a:ln>
        </p:spPr>
      </p:pic>
      <p:sp>
        <p:nvSpPr>
          <p:cNvPr id="583" name="Google Shape;583;p32"/>
          <p:cNvSpPr txBox="1"/>
          <p:nvPr/>
        </p:nvSpPr>
        <p:spPr>
          <a:xfrm>
            <a:off x="1144587" y="185737"/>
            <a:ext cx="3402012"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a:solidFill>
                  <a:srgbClr val="0070C0"/>
                </a:solidFill>
                <a:latin typeface="Arial"/>
                <a:ea typeface="Arial"/>
                <a:cs typeface="Arial"/>
                <a:sym typeface="Arial"/>
              </a:rPr>
              <a:t>Ejercicio en clases</a:t>
            </a:r>
            <a:endParaRPr/>
          </a:p>
        </p:txBody>
      </p:sp>
      <p:cxnSp>
        <p:nvCxnSpPr>
          <p:cNvPr id="584" name="Google Shape;584;p32"/>
          <p:cNvCxnSpPr/>
          <p:nvPr/>
        </p:nvCxnSpPr>
        <p:spPr>
          <a:xfrm>
            <a:off x="1206500" y="858837"/>
            <a:ext cx="7526337" cy="0"/>
          </a:xfrm>
          <a:prstGeom prst="straightConnector1">
            <a:avLst/>
          </a:prstGeom>
          <a:noFill/>
          <a:ln cap="flat" cmpd="sng" w="28575">
            <a:solidFill>
              <a:srgbClr val="2E75B6"/>
            </a:solidFill>
            <a:prstDash val="solid"/>
            <a:miter lim="800000"/>
            <a:headEnd len="med" w="med" type="none"/>
            <a:tailEnd len="med" w="med" type="none"/>
          </a:ln>
        </p:spPr>
      </p:cxnSp>
      <p:sp>
        <p:nvSpPr>
          <p:cNvPr id="585" name="Google Shape;585;p32"/>
          <p:cNvSpPr txBox="1"/>
          <p:nvPr/>
        </p:nvSpPr>
        <p:spPr>
          <a:xfrm>
            <a:off x="7570787" y="0"/>
            <a:ext cx="1282700" cy="5984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C000"/>
              </a:buClr>
              <a:buSzPts val="2000"/>
              <a:buFont typeface="Constantia"/>
              <a:buNone/>
            </a:pPr>
            <a:r>
              <a:rPr b="0" i="0" lang="en-US" sz="2000" u="none">
                <a:solidFill>
                  <a:srgbClr val="FFC000"/>
                </a:solidFill>
                <a:latin typeface="Constantia"/>
                <a:ea typeface="Constantia"/>
                <a:cs typeface="Constantia"/>
                <a:sym typeface="Constantia"/>
              </a:rPr>
              <a:t>JavaScript</a:t>
            </a:r>
            <a:endParaRPr/>
          </a:p>
        </p:txBody>
      </p:sp>
      <p:sp>
        <p:nvSpPr>
          <p:cNvPr id="586" name="Google Shape;586;p32"/>
          <p:cNvSpPr txBox="1"/>
          <p:nvPr/>
        </p:nvSpPr>
        <p:spPr>
          <a:xfrm>
            <a:off x="0" y="6537325"/>
            <a:ext cx="9144000" cy="312737"/>
          </a:xfrm>
          <a:prstGeom prst="rect">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Desarrollo FrontEnd con Angular – código 634529</a:t>
            </a:r>
            <a:endParaRPr/>
          </a:p>
        </p:txBody>
      </p:sp>
      <p:sp>
        <p:nvSpPr>
          <p:cNvPr id="587" name="Google Shape;587;p32"/>
          <p:cNvSpPr txBox="1"/>
          <p:nvPr/>
        </p:nvSpPr>
        <p:spPr>
          <a:xfrm>
            <a:off x="715962" y="1252537"/>
            <a:ext cx="8137525" cy="368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Implemente un programa en javascript, html y css que permita lo siguiente:</a:t>
            </a:r>
            <a:endParaRPr/>
          </a:p>
        </p:txBody>
      </p:sp>
      <p:sp>
        <p:nvSpPr>
          <p:cNvPr id="588" name="Google Shape;588;p32"/>
          <p:cNvSpPr txBox="1"/>
          <p:nvPr/>
        </p:nvSpPr>
        <p:spPr>
          <a:xfrm>
            <a:off x="1027112" y="1778000"/>
            <a:ext cx="22748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800"/>
              <a:buFont typeface="Arial"/>
              <a:buNone/>
            </a:pPr>
            <a:r>
              <a:rPr b="1" i="0" lang="en-US" sz="1800" u="none">
                <a:solidFill>
                  <a:srgbClr val="0033CC"/>
                </a:solidFill>
                <a:latin typeface="Arial"/>
                <a:ea typeface="Arial"/>
                <a:cs typeface="Arial"/>
                <a:sym typeface="Arial"/>
              </a:rPr>
              <a:t>Agregar Productos</a:t>
            </a:r>
            <a:endParaRPr/>
          </a:p>
        </p:txBody>
      </p:sp>
      <p:sp>
        <p:nvSpPr>
          <p:cNvPr id="589" name="Google Shape;589;p32"/>
          <p:cNvSpPr txBox="1"/>
          <p:nvPr/>
        </p:nvSpPr>
        <p:spPr>
          <a:xfrm>
            <a:off x="1073150" y="3697287"/>
            <a:ext cx="500856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1400"/>
              <a:buFont typeface="Arial"/>
              <a:buNone/>
            </a:pPr>
            <a:r>
              <a:rPr b="1" i="0" lang="en-US" sz="1400" u="none">
                <a:solidFill>
                  <a:srgbClr val="0033CC"/>
                </a:solidFill>
                <a:latin typeface="Arial"/>
                <a:ea typeface="Arial"/>
                <a:cs typeface="Arial"/>
                <a:sym typeface="Arial"/>
              </a:rPr>
              <a:t>Imagen      Nombre                       Cantidad          Precio ($)</a:t>
            </a:r>
            <a:endParaRPr/>
          </a:p>
        </p:txBody>
      </p:sp>
      <p:sp>
        <p:nvSpPr>
          <p:cNvPr id="590" name="Google Shape;590;p32"/>
          <p:cNvSpPr txBox="1"/>
          <p:nvPr/>
        </p:nvSpPr>
        <p:spPr>
          <a:xfrm>
            <a:off x="1073150" y="4005262"/>
            <a:ext cx="5008562" cy="669925"/>
          </a:xfrm>
          <a:prstGeom prst="rect">
            <a:avLst/>
          </a:prstGeom>
          <a:solidFill>
            <a:srgbClr val="EDEDED"/>
          </a:solidFill>
          <a:ln cap="flat" cmpd="sng" w="12700">
            <a:solidFill>
              <a:srgbClr val="00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91" name="Google Shape;591;p32"/>
          <p:cNvPicPr preferRelativeResize="0"/>
          <p:nvPr/>
        </p:nvPicPr>
        <p:blipFill rotWithShape="1">
          <a:blip r:embed="rId4">
            <a:alphaModFix/>
          </a:blip>
          <a:srcRect b="0" l="0" r="0" t="0"/>
          <a:stretch/>
        </p:blipFill>
        <p:spPr>
          <a:xfrm>
            <a:off x="4387850" y="1931987"/>
            <a:ext cx="830262" cy="838200"/>
          </a:xfrm>
          <a:prstGeom prst="rect">
            <a:avLst/>
          </a:prstGeom>
          <a:noFill/>
          <a:ln>
            <a:noFill/>
          </a:ln>
        </p:spPr>
      </p:pic>
      <p:pic>
        <p:nvPicPr>
          <p:cNvPr id="592" name="Google Shape;592;p32"/>
          <p:cNvPicPr preferRelativeResize="0"/>
          <p:nvPr/>
        </p:nvPicPr>
        <p:blipFill rotWithShape="1">
          <a:blip r:embed="rId5">
            <a:alphaModFix/>
          </a:blip>
          <a:srcRect b="0" l="0" r="0" t="0"/>
          <a:stretch/>
        </p:blipFill>
        <p:spPr>
          <a:xfrm>
            <a:off x="1266825" y="4070350"/>
            <a:ext cx="366712" cy="554037"/>
          </a:xfrm>
          <a:prstGeom prst="rect">
            <a:avLst/>
          </a:prstGeom>
          <a:noFill/>
          <a:ln>
            <a:noFill/>
          </a:ln>
        </p:spPr>
      </p:pic>
      <p:pic>
        <p:nvPicPr>
          <p:cNvPr id="593" name="Google Shape;593;p32"/>
          <p:cNvPicPr preferRelativeResize="0"/>
          <p:nvPr/>
        </p:nvPicPr>
        <p:blipFill rotWithShape="1">
          <a:blip r:embed="rId6">
            <a:alphaModFix/>
          </a:blip>
          <a:srcRect b="0" l="0" r="0" t="0"/>
          <a:stretch/>
        </p:blipFill>
        <p:spPr>
          <a:xfrm>
            <a:off x="996950" y="2303462"/>
            <a:ext cx="2779712" cy="1179512"/>
          </a:xfrm>
          <a:prstGeom prst="rect">
            <a:avLst/>
          </a:prstGeom>
          <a:noFill/>
          <a:ln>
            <a:noFill/>
          </a:ln>
        </p:spPr>
      </p:pic>
      <p:pic>
        <p:nvPicPr>
          <p:cNvPr id="594" name="Google Shape;594;p32"/>
          <p:cNvPicPr preferRelativeResize="0"/>
          <p:nvPr/>
        </p:nvPicPr>
        <p:blipFill rotWithShape="1">
          <a:blip r:embed="rId7">
            <a:alphaModFix/>
          </a:blip>
          <a:srcRect b="0" l="0" r="0" t="0"/>
          <a:stretch/>
        </p:blipFill>
        <p:spPr>
          <a:xfrm>
            <a:off x="4017962" y="2957512"/>
            <a:ext cx="1349375" cy="512762"/>
          </a:xfrm>
          <a:prstGeom prst="rect">
            <a:avLst/>
          </a:prstGeom>
          <a:noFill/>
          <a:ln>
            <a:noFill/>
          </a:ln>
        </p:spPr>
      </p:pic>
      <p:pic>
        <p:nvPicPr>
          <p:cNvPr id="595" name="Google Shape;595;p32"/>
          <p:cNvPicPr preferRelativeResize="0"/>
          <p:nvPr/>
        </p:nvPicPr>
        <p:blipFill rotWithShape="1">
          <a:blip r:embed="rId8">
            <a:alphaModFix/>
          </a:blip>
          <a:srcRect b="0" l="0" r="0" t="0"/>
          <a:stretch/>
        </p:blipFill>
        <p:spPr>
          <a:xfrm>
            <a:off x="1176337" y="4768850"/>
            <a:ext cx="579437" cy="392112"/>
          </a:xfrm>
          <a:prstGeom prst="rect">
            <a:avLst/>
          </a:prstGeom>
          <a:noFill/>
          <a:ln>
            <a:noFill/>
          </a:ln>
        </p:spPr>
      </p:pic>
      <p:pic>
        <p:nvPicPr>
          <p:cNvPr id="596" name="Google Shape;596;p32"/>
          <p:cNvPicPr preferRelativeResize="0"/>
          <p:nvPr/>
        </p:nvPicPr>
        <p:blipFill rotWithShape="1">
          <a:blip r:embed="rId9">
            <a:alphaModFix/>
          </a:blip>
          <a:srcRect b="0" l="0" r="0" t="0"/>
          <a:stretch/>
        </p:blipFill>
        <p:spPr>
          <a:xfrm>
            <a:off x="1266825" y="5370512"/>
            <a:ext cx="366712" cy="514350"/>
          </a:xfrm>
          <a:prstGeom prst="rect">
            <a:avLst/>
          </a:prstGeom>
          <a:noFill/>
          <a:ln>
            <a:noFill/>
          </a:ln>
        </p:spPr>
      </p:pic>
      <p:sp>
        <p:nvSpPr>
          <p:cNvPr id="597" name="Google Shape;597;p32"/>
          <p:cNvSpPr txBox="1"/>
          <p:nvPr/>
        </p:nvSpPr>
        <p:spPr>
          <a:xfrm>
            <a:off x="1976437" y="4710112"/>
            <a:ext cx="180022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Mantequilla con sal Soprole 250 gramos</a:t>
            </a:r>
            <a:endParaRPr/>
          </a:p>
        </p:txBody>
      </p:sp>
      <p:sp>
        <p:nvSpPr>
          <p:cNvPr id="598" name="Google Shape;598;p32"/>
          <p:cNvSpPr txBox="1"/>
          <p:nvPr/>
        </p:nvSpPr>
        <p:spPr>
          <a:xfrm>
            <a:off x="1976437" y="5310187"/>
            <a:ext cx="180022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Leche descremada Colun 1 litro</a:t>
            </a:r>
            <a:endParaRPr/>
          </a:p>
        </p:txBody>
      </p:sp>
      <p:sp>
        <p:nvSpPr>
          <p:cNvPr id="599" name="Google Shape;599;p32"/>
          <p:cNvSpPr txBox="1"/>
          <p:nvPr/>
        </p:nvSpPr>
        <p:spPr>
          <a:xfrm>
            <a:off x="1976437" y="4081462"/>
            <a:ext cx="180022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Harina con polvos de hornear Selecta 1 kilo.</a:t>
            </a:r>
            <a:endParaRPr/>
          </a:p>
        </p:txBody>
      </p:sp>
      <p:sp>
        <p:nvSpPr>
          <p:cNvPr id="600" name="Google Shape;600;p32"/>
          <p:cNvSpPr txBox="1"/>
          <p:nvPr/>
        </p:nvSpPr>
        <p:spPr>
          <a:xfrm>
            <a:off x="4265612" y="410210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280</a:t>
            </a:r>
            <a:endParaRPr/>
          </a:p>
        </p:txBody>
      </p:sp>
      <p:sp>
        <p:nvSpPr>
          <p:cNvPr id="601" name="Google Shape;601;p32"/>
          <p:cNvSpPr txBox="1"/>
          <p:nvPr/>
        </p:nvSpPr>
        <p:spPr>
          <a:xfrm>
            <a:off x="5367337" y="410210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2.490</a:t>
            </a:r>
            <a:endParaRPr/>
          </a:p>
        </p:txBody>
      </p:sp>
      <p:sp>
        <p:nvSpPr>
          <p:cNvPr id="602" name="Google Shape;602;p32"/>
          <p:cNvSpPr txBox="1"/>
          <p:nvPr/>
        </p:nvSpPr>
        <p:spPr>
          <a:xfrm>
            <a:off x="4265612" y="475615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500</a:t>
            </a:r>
            <a:endParaRPr/>
          </a:p>
        </p:txBody>
      </p:sp>
      <p:sp>
        <p:nvSpPr>
          <p:cNvPr id="603" name="Google Shape;603;p32"/>
          <p:cNvSpPr txBox="1"/>
          <p:nvPr/>
        </p:nvSpPr>
        <p:spPr>
          <a:xfrm>
            <a:off x="5367337" y="475615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1.680</a:t>
            </a:r>
            <a:endParaRPr/>
          </a:p>
        </p:txBody>
      </p:sp>
      <p:sp>
        <p:nvSpPr>
          <p:cNvPr id="604" name="Google Shape;604;p32"/>
          <p:cNvSpPr txBox="1"/>
          <p:nvPr/>
        </p:nvSpPr>
        <p:spPr>
          <a:xfrm>
            <a:off x="4265612" y="535305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300</a:t>
            </a:r>
            <a:endParaRPr/>
          </a:p>
        </p:txBody>
      </p:sp>
      <p:sp>
        <p:nvSpPr>
          <p:cNvPr id="605" name="Google Shape;605;p32"/>
          <p:cNvSpPr txBox="1"/>
          <p:nvPr/>
        </p:nvSpPr>
        <p:spPr>
          <a:xfrm>
            <a:off x="5367337" y="5353050"/>
            <a:ext cx="6127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a:solidFill>
                  <a:srgbClr val="000000"/>
                </a:solidFill>
                <a:latin typeface="Arial"/>
                <a:ea typeface="Arial"/>
                <a:cs typeface="Arial"/>
                <a:sym typeface="Arial"/>
              </a:rPr>
              <a:t>2.190</a:t>
            </a:r>
            <a:endParaRPr/>
          </a:p>
        </p:txBody>
      </p:sp>
      <p:sp>
        <p:nvSpPr>
          <p:cNvPr id="606" name="Google Shape;606;p32"/>
          <p:cNvSpPr txBox="1"/>
          <p:nvPr/>
        </p:nvSpPr>
        <p:spPr>
          <a:xfrm>
            <a:off x="900112" y="1778000"/>
            <a:ext cx="5446712" cy="4405312"/>
          </a:xfrm>
          <a:prstGeom prst="rect">
            <a:avLst/>
          </a:prstGeom>
          <a:noFill/>
          <a:ln cap="flat" cmpd="sng" w="127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7" name="Google Shape;607;p32"/>
          <p:cNvSpPr txBox="1"/>
          <p:nvPr/>
        </p:nvSpPr>
        <p:spPr>
          <a:xfrm>
            <a:off x="6453187" y="1714500"/>
            <a:ext cx="2262187" cy="3538537"/>
          </a:xfrm>
          <a:prstGeom prst="rect">
            <a:avLst/>
          </a:prstGeom>
          <a:noFill/>
          <a:ln>
            <a:noFill/>
          </a:ln>
        </p:spPr>
        <p:txBody>
          <a:bodyPr anchorCtr="0" anchor="t" bIns="45700" lIns="91425" spcFirstLastPara="1" rIns="91425" wrap="square" tIns="45700">
            <a:spAutoFit/>
          </a:bodyPr>
          <a:lstStyle/>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La imagen debe estar ubicada en el mismo directorio que el html</a:t>
            </a:r>
            <a:endParaRPr/>
          </a:p>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Utilice un archivo javascript externo</a:t>
            </a:r>
            <a:endParaRPr/>
          </a:p>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Utilice algunos estilos básicos</a:t>
            </a:r>
            <a:endParaRPr/>
          </a:p>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Debe respetar el los elementos de la imagen pero puede agregar más estilos de los propuestos.</a:t>
            </a:r>
            <a:endParaRPr/>
          </a:p>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Los datos los ingresa el usuario.</a:t>
            </a:r>
            <a:endParaRPr/>
          </a:p>
          <a:p>
            <a:pPr indent="-109537" lvl="0" marL="109537"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Al presionar el botón se agrega a la lista.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1601-01-01T00:00:00Z</dcterms:created>
  <dc:creator>Luis Gajardo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