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7010400" cy="9296400"/>
  <p:embeddedFontLst>
    <p:embeddedFont>
      <p:font typeface="Helvetica Neue"/>
      <p:regular r:id="rId39"/>
      <p:bold r:id="rId40"/>
      <p:italic r:id="rId41"/>
      <p:boldItalic r:id="rId42"/>
    </p:embeddedFont>
    <p:embeddedFont>
      <p:font typeface="Arial Black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jDalFRAD76M+MZ2rcPx5hYGRN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2485D3-23CC-46EE-9E45-B93D68062CE7}">
  <a:tblStyle styleId="{9A2485D3-23CC-46EE-9E45-B93D68062C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ArialBlack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3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4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4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1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3.png"/><Relationship Id="rId6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2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8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37.jpg"/><Relationship Id="rId5" Type="http://schemas.openxmlformats.org/officeDocument/2006/relationships/image" Target="../media/image11.png"/><Relationship Id="rId6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2"/>
            <a:ext cx="5567362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00"/>
              </a:buClr>
              <a:buSzPts val="4800"/>
              <a:buFont typeface="Arial Black"/>
              <a:buNone/>
            </a:pPr>
            <a:r>
              <a:rPr b="1" i="0" lang="en-US" sz="4800" u="none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TYPESCRIPT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404040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352800" y="3090862"/>
            <a:ext cx="50784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Elementos del lenguaje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429000" y="362743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0" y="1871662"/>
            <a:ext cx="46863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62" y="1951037"/>
            <a:ext cx="2705100" cy="267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3362" y="287337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7" y="185737"/>
            <a:ext cx="41481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Constantes y Variables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655637" y="1155700"/>
            <a:ext cx="78946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Constantes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Podemos definir constantes usando la palabra </a:t>
            </a:r>
            <a:r>
              <a:rPr b="0" i="0" lang="en-US" sz="1800" u="none">
                <a:solidFill>
                  <a:srgbClr val="0033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5850" y="1952625"/>
            <a:ext cx="33020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655637" y="2405062"/>
            <a:ext cx="78946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Typescript sugiere la utilización de </a:t>
            </a:r>
            <a:r>
              <a:rPr b="0" i="0" lang="en-US" sz="1800" u="none">
                <a:solidFill>
                  <a:srgbClr val="0033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</a:t>
            </a: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(nueva en ES2015) en vez de </a:t>
            </a:r>
            <a:r>
              <a:rPr b="0" i="0" lang="en-US" sz="1800" u="none">
                <a:solidFill>
                  <a:srgbClr val="0033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</a:t>
            </a:r>
            <a:endParaRPr/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0612" y="3284537"/>
            <a:ext cx="53530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144587" y="185737"/>
            <a:ext cx="65674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Primitivos: Numérico 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" name="Google Shape;118;p3"/>
          <p:cNvSpPr txBox="1"/>
          <p:nvPr/>
        </p:nvSpPr>
        <p:spPr>
          <a:xfrm>
            <a:off x="838200" y="1212850"/>
            <a:ext cx="7894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Pueden ser utilizados para representar enteros y fracciones. 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846137" y="1727200"/>
            <a:ext cx="7308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La precisión de los valores de punto flotante es de 64 bits.</a:t>
            </a:r>
            <a:endParaRPr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850900" y="2303462"/>
            <a:ext cx="7308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5">
            <a:alphaModFix/>
          </a:blip>
          <a:srcRect b="18611" l="21220" r="43975" t="43209"/>
          <a:stretch/>
        </p:blipFill>
        <p:spPr>
          <a:xfrm>
            <a:off x="1266825" y="2816225"/>
            <a:ext cx="35496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1144587" y="185737"/>
            <a:ext cx="65484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Primitivos: Boleano </a:t>
            </a:r>
            <a:endParaRPr/>
          </a:p>
        </p:txBody>
      </p:sp>
      <p:cxnSp>
        <p:nvCxnSpPr>
          <p:cNvPr id="130" name="Google Shape;130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838200" y="1212850"/>
            <a:ext cx="7894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Corresponde al tipo lógico y puede ser true o false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50900" y="1654175"/>
            <a:ext cx="7308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5">
            <a:alphaModFix/>
          </a:blip>
          <a:srcRect b="54759" l="22560" r="41969" t="30963"/>
          <a:stretch/>
        </p:blipFill>
        <p:spPr>
          <a:xfrm>
            <a:off x="1231900" y="2143125"/>
            <a:ext cx="3513137" cy="79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 rotWithShape="1">
          <a:blip r:embed="rId6">
            <a:alphaModFix/>
          </a:blip>
          <a:srcRect b="36149" l="23898" r="31260" t="55949"/>
          <a:stretch/>
        </p:blipFill>
        <p:spPr>
          <a:xfrm>
            <a:off x="1284287" y="2994025"/>
            <a:ext cx="5000625" cy="49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144587" y="185737"/>
            <a:ext cx="5843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Primitivos: Texto </a:t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838200" y="1212850"/>
            <a:ext cx="7894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tipo texto corresponde a cadenas de caracteres “string”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850900" y="1654175"/>
            <a:ext cx="7308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5">
            <a:alphaModFix/>
          </a:blip>
          <a:srcRect b="53919" l="23228" r="38621" t="31050"/>
          <a:stretch/>
        </p:blipFill>
        <p:spPr>
          <a:xfrm>
            <a:off x="1481137" y="2082800"/>
            <a:ext cx="3990975" cy="88423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1144587" y="185737"/>
            <a:ext cx="5843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Primitivos: Texto </a:t>
            </a:r>
            <a:endParaRPr/>
          </a:p>
        </p:txBody>
      </p:sp>
      <p:cxnSp>
        <p:nvCxnSpPr>
          <p:cNvPr id="155" name="Google Shape;155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771525" y="1165225"/>
            <a:ext cx="82772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Plantillas de strings literales (ES6)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plantillas de strings se escriben entre </a:t>
            </a:r>
            <a:r>
              <a:rPr b="1" i="0" lang="en-US" sz="24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`</a:t>
            </a: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(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backticks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y la sintáxis sería: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1206500" y="4141787"/>
            <a:ext cx="49561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También es posible usar multilínea: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1206500" y="4699000"/>
            <a:ext cx="2876550" cy="116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texto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`Hola,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${nombre} ${apellido}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(${edad})`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  </a:t>
            </a:r>
            <a:endParaRPr/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5">
            <a:alphaModFix/>
          </a:blip>
          <a:srcRect b="26356" l="13194" r="23576" t="53776"/>
          <a:stretch/>
        </p:blipFill>
        <p:spPr>
          <a:xfrm>
            <a:off x="1112837" y="2124075"/>
            <a:ext cx="6324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9762" y="4872037"/>
            <a:ext cx="1395412" cy="10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5">
            <a:alphaModFix/>
          </a:blip>
          <a:srcRect b="12905" l="13194" r="23576" t="81771"/>
          <a:stretch/>
        </p:blipFill>
        <p:spPr>
          <a:xfrm>
            <a:off x="1112837" y="3327400"/>
            <a:ext cx="63246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5">
            <a:alphaModFix/>
          </a:blip>
          <a:srcRect b="18319" l="13194" r="23576" t="73469"/>
          <a:stretch/>
        </p:blipFill>
        <p:spPr>
          <a:xfrm>
            <a:off x="1112837" y="2852737"/>
            <a:ext cx="6324600" cy="4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9987" y="3290887"/>
            <a:ext cx="24828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5611812" y="1898650"/>
            <a:ext cx="3189287" cy="954087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2700">
            <a:solidFill>
              <a:srgbClr val="FFE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710237" y="2074862"/>
            <a:ext cx="125412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backticks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 windows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81159" y="2384445"/>
            <a:ext cx="8477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6967537" y="2038350"/>
            <a:ext cx="173513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Presionar bloq num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1144587" y="185737"/>
            <a:ext cx="4672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datos: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Any - Void</a:t>
            </a:r>
            <a:endParaRPr/>
          </a:p>
        </p:txBody>
      </p:sp>
      <p:cxnSp>
        <p:nvCxnSpPr>
          <p:cNvPr id="176" name="Google Shape;176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7" name="Google Shape;177;p7"/>
          <p:cNvSpPr txBox="1"/>
          <p:nvPr/>
        </p:nvSpPr>
        <p:spPr>
          <a:xfrm>
            <a:off x="777875" y="1573212"/>
            <a:ext cx="7954962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Puede ser cualquier tipo de objeto de javascript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 tipo no estático</a:t>
            </a:r>
            <a:endParaRPr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/>
          <p:cNvPicPr preferRelativeResize="0"/>
          <p:nvPr/>
        </p:nvPicPr>
        <p:blipFill rotWithShape="1">
          <a:blip r:embed="rId5">
            <a:alphaModFix/>
          </a:blip>
          <a:srcRect b="54225" l="20747" r="35748" t="33209"/>
          <a:stretch/>
        </p:blipFill>
        <p:spPr>
          <a:xfrm>
            <a:off x="962025" y="2511425"/>
            <a:ext cx="4714875" cy="766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777875" y="1177925"/>
            <a:ext cx="6207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777875" y="3671887"/>
            <a:ext cx="6683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777875" y="4038600"/>
            <a:ext cx="79549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 que no se devuelve ningún dato.</a:t>
            </a:r>
            <a:endParaRPr/>
          </a:p>
        </p:txBody>
      </p:sp>
      <p:pic>
        <p:nvPicPr>
          <p:cNvPr id="183" name="Google Shape;183;p7"/>
          <p:cNvPicPr preferRelativeResize="0"/>
          <p:nvPr/>
        </p:nvPicPr>
        <p:blipFill rotWithShape="1">
          <a:blip r:embed="rId6">
            <a:alphaModFix/>
          </a:blip>
          <a:srcRect b="18586" l="20550" r="58032" t="66656"/>
          <a:stretch/>
        </p:blipFill>
        <p:spPr>
          <a:xfrm>
            <a:off x="1106487" y="4554537"/>
            <a:ext cx="2339975" cy="90646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1144587" y="185737"/>
            <a:ext cx="6665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Tipos de Datos: Null - Undefined</a:t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2" name="Google Shape;192;p8"/>
          <p:cNvSpPr txBox="1"/>
          <p:nvPr/>
        </p:nvSpPr>
        <p:spPr>
          <a:xfrm>
            <a:off x="777875" y="1225550"/>
            <a:ext cx="795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endParaRPr/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cuando un objeto o variable no </a:t>
            </a:r>
            <a:r>
              <a:rPr lang="en-US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está</a:t>
            </a: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disponible (el programador le ha asignado un valor que puede ser null).</a:t>
            </a:r>
            <a:endParaRPr/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tipo Null es un subtipo de todos los tipos primitivos. 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777875" y="3344862"/>
            <a:ext cx="795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Undefined</a:t>
            </a:r>
            <a:endParaRPr/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cuando un objeto o variable existe pero </a:t>
            </a:r>
            <a:r>
              <a:rPr lang="en-US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aún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se le ha asignado un valor. </a:t>
            </a:r>
            <a:endParaRPr/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 b="8148" l="27244" r="39961" t="63098"/>
          <a:stretch/>
        </p:blipFill>
        <p:spPr>
          <a:xfrm>
            <a:off x="1879600" y="4327525"/>
            <a:ext cx="3640137" cy="1795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 rotWithShape="1">
          <a:blip r:embed="rId6">
            <a:alphaModFix/>
          </a:blip>
          <a:srcRect b="57055" l="26574" r="44645" t="34097"/>
          <a:stretch/>
        </p:blipFill>
        <p:spPr>
          <a:xfrm>
            <a:off x="1879600" y="2484437"/>
            <a:ext cx="3381375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1144587" y="185737"/>
            <a:ext cx="6665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Primitivos: Arreglos</a:t>
            </a:r>
            <a:endParaRPr/>
          </a:p>
        </p:txBody>
      </p:sp>
      <p:cxnSp>
        <p:nvCxnSpPr>
          <p:cNvPr id="204" name="Google Shape;204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5" name="Google Shape;205;p9"/>
          <p:cNvSpPr txBox="1"/>
          <p:nvPr/>
        </p:nvSpPr>
        <p:spPr>
          <a:xfrm>
            <a:off x="782637" y="1162050"/>
            <a:ext cx="79502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Arrays asignarán el tipo ANY a sus elementos sino se les especifica uno.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812800" y="2924175"/>
            <a:ext cx="75168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esta sintaxis se puede especificar qué tipo de datos debe haber en el array</a:t>
            </a:r>
            <a:endParaRPr/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782637" y="1835150"/>
            <a:ext cx="7308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5">
            <a:alphaModFix/>
          </a:blip>
          <a:srcRect b="60185" l="24566" r="39961" t="33395"/>
          <a:stretch/>
        </p:blipFill>
        <p:spPr>
          <a:xfrm>
            <a:off x="1333500" y="2278062"/>
            <a:ext cx="3976687" cy="40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 rotWithShape="1">
          <a:blip r:embed="rId5">
            <a:alphaModFix/>
          </a:blip>
          <a:srcRect b="18147" l="20552" r="23233" t="54074"/>
          <a:stretch/>
        </p:blipFill>
        <p:spPr>
          <a:xfrm>
            <a:off x="1206500" y="3787775"/>
            <a:ext cx="5940425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 txBox="1"/>
          <p:nvPr/>
        </p:nvSpPr>
        <p:spPr>
          <a:xfrm>
            <a:off x="1144587" y="185737"/>
            <a:ext cx="69103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Tipos de Datos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Primitivos: Arreglos …</a:t>
            </a:r>
            <a:endParaRPr/>
          </a:p>
        </p:txBody>
      </p:sp>
      <p:cxnSp>
        <p:nvCxnSpPr>
          <p:cNvPr id="218" name="Google Shape;218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9" name="Google Shape;219;p10"/>
          <p:cNvSpPr txBox="1"/>
          <p:nvPr/>
        </p:nvSpPr>
        <p:spPr>
          <a:xfrm>
            <a:off x="411162" y="1162050"/>
            <a:ext cx="83216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Algunas operaciones de manipulación de arreglos son:</a:t>
            </a:r>
            <a:endParaRPr/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533400" y="1892300"/>
            <a:ext cx="36083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concat(</a:t>
            </a:r>
            <a:r>
              <a:rPr b="1" i="1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array 1, array 2, ..., array n</a:t>
            </a: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Une dos o más arrays y devuelve el resultado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52450" y="2547937"/>
            <a:ext cx="3589337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join(</a:t>
            </a:r>
            <a:r>
              <a:rPr b="1" i="1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carácter delimitador</a:t>
            </a: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Pone los elementos de un array en una cadena separándolos por un delimitador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533400" y="3367087"/>
            <a:ext cx="37322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pop()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Elimina y devuelve el último valor de un array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533400" y="3975100"/>
            <a:ext cx="3732212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push()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Añade uno o más elementos al final de un array y devuelve la nueva longitud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550862" y="4837112"/>
            <a:ext cx="37147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reverse()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Cambia el orden de los elementos de un array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530225" y="5491162"/>
            <a:ext cx="3614737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shift()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Elimina y devuelve el primer valor de un array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227" name="Google Shape;227;p10"/>
          <p:cNvCxnSpPr/>
          <p:nvPr/>
        </p:nvCxnSpPr>
        <p:spPr>
          <a:xfrm>
            <a:off x="4265612" y="1892300"/>
            <a:ext cx="0" cy="439896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8" name="Google Shape;228;p10"/>
          <p:cNvSpPr txBox="1"/>
          <p:nvPr/>
        </p:nvSpPr>
        <p:spPr>
          <a:xfrm>
            <a:off x="4510087" y="1852612"/>
            <a:ext cx="457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slice(</a:t>
            </a:r>
            <a:r>
              <a:rPr b="1" i="1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núm principio, núm fin</a:t>
            </a: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Devuelve los elementos seleccionados de un array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4532312" y="2540000"/>
            <a:ext cx="41592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sort(</a:t>
            </a:r>
            <a:r>
              <a:rPr b="1" i="1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función</a:t>
            </a: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Devuelve los elementos de un array ordenados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4532312" y="3184525"/>
            <a:ext cx="45720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splice(</a:t>
            </a:r>
            <a:r>
              <a:rPr b="1" i="1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índice, cantidad, elemento 1, ..., elemento n</a:t>
            </a: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Elimina y añade nuevos elementos a un array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4530725" y="3778250"/>
            <a:ext cx="4448175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toString()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Convierte un array en una cadena y devuelve el resultado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4541837" y="4381500"/>
            <a:ext cx="414972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unshift()</a:t>
            </a:r>
            <a:b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Añade uno o más elementos al inicio de un array y devuelve la nueva longitud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4572000" y="5230812"/>
            <a:ext cx="39782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75D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br>
              <a:rPr b="1" i="0" lang="en-US" sz="1400" u="none">
                <a:solidFill>
                  <a:srgbClr val="1690C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rgbClr val="00275D"/>
                </a:solidFill>
                <a:latin typeface="Arial"/>
                <a:ea typeface="Arial"/>
                <a:cs typeface="Arial"/>
                <a:sym typeface="Arial"/>
              </a:rPr>
              <a:t>Indica el número de caracteres de una cadena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 txBox="1"/>
          <p:nvPr/>
        </p:nvSpPr>
        <p:spPr>
          <a:xfrm>
            <a:off x="1144587" y="185737"/>
            <a:ext cx="33861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 de dato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endParaRPr/>
          </a:p>
        </p:txBody>
      </p:sp>
      <p:cxnSp>
        <p:nvCxnSpPr>
          <p:cNvPr id="241" name="Google Shape;241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2" name="Google Shape;242;p11"/>
          <p:cNvSpPr txBox="1"/>
          <p:nvPr/>
        </p:nvSpPr>
        <p:spPr>
          <a:xfrm>
            <a:off x="777875" y="1258887"/>
            <a:ext cx="7954962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crear un array donde el tipo de un número fijo de elementos se conoce de antemano. 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en base de datos, este tipo de datos, hace referencia a registros (clave , valor).</a:t>
            </a:r>
            <a:endParaRPr/>
          </a:p>
        </p:txBody>
      </p:sp>
      <p:pic>
        <p:nvPicPr>
          <p:cNvPr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 txBox="1"/>
          <p:nvPr/>
        </p:nvSpPr>
        <p:spPr>
          <a:xfrm>
            <a:off x="777875" y="2755900"/>
            <a:ext cx="79549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 definir tupla en la cual los elementos son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cadena, un número y otra cadena.</a:t>
            </a:r>
            <a:endParaRPr/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5">
            <a:alphaModFix/>
          </a:blip>
          <a:srcRect b="20295" l="21890" r="39291" t="66334"/>
          <a:stretch/>
        </p:blipFill>
        <p:spPr>
          <a:xfrm>
            <a:off x="1573212" y="3535362"/>
            <a:ext cx="4651375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/>
        </p:nvSpPr>
        <p:spPr>
          <a:xfrm>
            <a:off x="777875" y="4495800"/>
            <a:ext cx="79549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acceder al contenido se utiliza el operador [ ]</a:t>
            </a: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6">
            <a:alphaModFix/>
          </a:blip>
          <a:srcRect b="55189" l="19882" r="54016" t="35722"/>
          <a:stretch/>
        </p:blipFill>
        <p:spPr>
          <a:xfrm>
            <a:off x="1593850" y="5159375"/>
            <a:ext cx="3163887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3" name="Google Shape;253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 txBox="1"/>
          <p:nvPr/>
        </p:nvSpPr>
        <p:spPr>
          <a:xfrm>
            <a:off x="1144587" y="185737"/>
            <a:ext cx="34115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Tipo de dato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Enum</a:t>
            </a:r>
            <a:endParaRPr/>
          </a:p>
        </p:txBody>
      </p:sp>
      <p:cxnSp>
        <p:nvCxnSpPr>
          <p:cNvPr id="255" name="Google Shape;255;p1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6" name="Google Shape;256;p12"/>
          <p:cNvSpPr txBox="1"/>
          <p:nvPr/>
        </p:nvSpPr>
        <p:spPr>
          <a:xfrm>
            <a:off x="460375" y="1168400"/>
            <a:ext cx="83820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48" lvl="1" marL="379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tipos enumerables “enum” son objetos que enumeran los elementos dentro de él.</a:t>
            </a:r>
            <a:endParaRPr/>
          </a:p>
          <a:p>
            <a:pPr indent="-222248" lvl="1" marL="379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8" lvl="1" marL="379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Permiten evitar el uso de códigos que ensucien nuestro programa.</a:t>
            </a:r>
            <a:endParaRPr/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2"/>
          <p:cNvPicPr preferRelativeResize="0"/>
          <p:nvPr/>
        </p:nvPicPr>
        <p:blipFill rotWithShape="1">
          <a:blip r:embed="rId5">
            <a:alphaModFix/>
          </a:blip>
          <a:srcRect b="49325" l="19212" r="46653" t="34532"/>
          <a:stretch/>
        </p:blipFill>
        <p:spPr>
          <a:xfrm>
            <a:off x="839787" y="2316162"/>
            <a:ext cx="3811587" cy="101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2"/>
          <p:cNvPicPr preferRelativeResize="0"/>
          <p:nvPr/>
        </p:nvPicPr>
        <p:blipFill rotWithShape="1">
          <a:blip r:embed="rId5">
            <a:alphaModFix/>
          </a:blip>
          <a:srcRect b="23335" l="18544" r="39770" t="59393"/>
          <a:stretch/>
        </p:blipFill>
        <p:spPr>
          <a:xfrm>
            <a:off x="777875" y="3179762"/>
            <a:ext cx="4687887" cy="109378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 txBox="1"/>
          <p:nvPr/>
        </p:nvSpPr>
        <p:spPr>
          <a:xfrm>
            <a:off x="460375" y="4313237"/>
            <a:ext cx="8382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48" lvl="1" marL="379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podemos acceder al valor textual del enumerado mediante el operador [ ] :</a:t>
            </a:r>
            <a:endParaRPr/>
          </a:p>
        </p:txBody>
      </p:sp>
      <p:pic>
        <p:nvPicPr>
          <p:cNvPr id="261" name="Google Shape;261;p12"/>
          <p:cNvPicPr preferRelativeResize="0"/>
          <p:nvPr/>
        </p:nvPicPr>
        <p:blipFill rotWithShape="1">
          <a:blip r:embed="rId6">
            <a:alphaModFix/>
          </a:blip>
          <a:srcRect b="15719" l="19883" r="47991" t="74986"/>
          <a:stretch/>
        </p:blipFill>
        <p:spPr>
          <a:xfrm>
            <a:off x="847725" y="5211762"/>
            <a:ext cx="380365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1144587" y="185737"/>
            <a:ext cx="19827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/>
          </a:p>
        </p:txBody>
      </p:sp>
      <p:cxnSp>
        <p:nvCxnSpPr>
          <p:cNvPr id="269" name="Google Shape;269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0" name="Google Shape;270;p13"/>
          <p:cNvSpPr txBox="1"/>
          <p:nvPr/>
        </p:nvSpPr>
        <p:spPr>
          <a:xfrm>
            <a:off x="533400" y="1360487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tradicionales de javascript</a:t>
            </a:r>
            <a:endParaRPr/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533400" y="3673475"/>
            <a:ext cx="3916362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tipadas en typescript</a:t>
            </a:r>
            <a:endParaRPr/>
          </a:p>
        </p:txBody>
      </p:sp>
      <p:pic>
        <p:nvPicPr>
          <p:cNvPr id="273" name="Google Shape;273;p13"/>
          <p:cNvPicPr preferRelativeResize="0"/>
          <p:nvPr/>
        </p:nvPicPr>
        <p:blipFill rotWithShape="1">
          <a:blip r:embed="rId5">
            <a:alphaModFix/>
          </a:blip>
          <a:srcRect b="53724" l="19882" r="52008" t="23269"/>
          <a:stretch/>
        </p:blipFill>
        <p:spPr>
          <a:xfrm>
            <a:off x="947737" y="1773237"/>
            <a:ext cx="3087687" cy="142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3"/>
          <p:cNvPicPr preferRelativeResize="0"/>
          <p:nvPr/>
        </p:nvPicPr>
        <p:blipFill rotWithShape="1">
          <a:blip r:embed="rId5">
            <a:alphaModFix/>
          </a:blip>
          <a:srcRect b="17875" l="21220" r="33268" t="58970"/>
          <a:stretch/>
        </p:blipFill>
        <p:spPr>
          <a:xfrm>
            <a:off x="1027112" y="4303712"/>
            <a:ext cx="5162550" cy="147796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4"/>
          <p:cNvSpPr txBox="1"/>
          <p:nvPr/>
        </p:nvSpPr>
        <p:spPr>
          <a:xfrm>
            <a:off x="1144587" y="185737"/>
            <a:ext cx="23415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Funciones…</a:t>
            </a:r>
            <a:endParaRPr/>
          </a:p>
        </p:txBody>
      </p:sp>
      <p:cxnSp>
        <p:nvCxnSpPr>
          <p:cNvPr id="282" name="Google Shape;282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3" name="Google Shape;283;p14"/>
          <p:cNvSpPr txBox="1"/>
          <p:nvPr/>
        </p:nvSpPr>
        <p:spPr>
          <a:xfrm>
            <a:off x="533400" y="1225550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Parámetros opcionales (</a:t>
            </a:r>
            <a:r>
              <a:rPr b="1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en las funciones: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3810000" y="31940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5">
            <a:alphaModFix/>
          </a:blip>
          <a:srcRect b="46560" l="19882" r="35275" t="24647"/>
          <a:stretch/>
        </p:blipFill>
        <p:spPr>
          <a:xfrm>
            <a:off x="879475" y="1677987"/>
            <a:ext cx="480060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 txBox="1"/>
          <p:nvPr/>
        </p:nvSpPr>
        <p:spPr>
          <a:xfrm>
            <a:off x="533400" y="3779837"/>
            <a:ext cx="8267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con parámetros por defecto</a:t>
            </a:r>
            <a:endParaRPr/>
          </a:p>
        </p:txBody>
      </p:sp>
      <p:pic>
        <p:nvPicPr>
          <p:cNvPr id="288" name="Google Shape;288;p14"/>
          <p:cNvPicPr preferRelativeResize="0"/>
          <p:nvPr/>
        </p:nvPicPr>
        <p:blipFill rotWithShape="1">
          <a:blip r:embed="rId6">
            <a:alphaModFix/>
          </a:blip>
          <a:srcRect b="16084" l="17874" r="25906" t="62202"/>
          <a:stretch/>
        </p:blipFill>
        <p:spPr>
          <a:xfrm>
            <a:off x="631825" y="4264025"/>
            <a:ext cx="6450012" cy="140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3050" y="5341937"/>
            <a:ext cx="1277937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14"/>
          <p:cNvCxnSpPr/>
          <p:nvPr/>
        </p:nvCxnSpPr>
        <p:spPr>
          <a:xfrm>
            <a:off x="3348037" y="5510212"/>
            <a:ext cx="611187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91" name="Google Shape;291;p14"/>
          <p:cNvSpPr txBox="1"/>
          <p:nvPr/>
        </p:nvSpPr>
        <p:spPr>
          <a:xfrm>
            <a:off x="3533775" y="4341812"/>
            <a:ext cx="576262" cy="284162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5184775" y="4346575"/>
            <a:ext cx="466725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8" name="Google Shape;298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/>
          <p:cNvSpPr txBox="1"/>
          <p:nvPr/>
        </p:nvSpPr>
        <p:spPr>
          <a:xfrm>
            <a:off x="1144587" y="185737"/>
            <a:ext cx="23415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Funciones…</a:t>
            </a:r>
            <a:endParaRPr/>
          </a:p>
        </p:txBody>
      </p:sp>
      <p:cxnSp>
        <p:nvCxnSpPr>
          <p:cNvPr id="300" name="Google Shape;300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1" name="Google Shape;301;p15"/>
          <p:cNvSpPr txBox="1"/>
          <p:nvPr/>
        </p:nvSpPr>
        <p:spPr>
          <a:xfrm>
            <a:off x="869950" y="1592262"/>
            <a:ext cx="7862887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pasar una lista indefinida de valores y que los reciba un vector.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concepto de parámetro Rest se logra antecediendo tres puntos al nombre del parámetro</a:t>
            </a:r>
            <a:endParaRPr/>
          </a:p>
        </p:txBody>
      </p:sp>
      <p:pic>
        <p:nvPicPr>
          <p:cNvPr id="302" name="Google Shape;3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 txBox="1"/>
          <p:nvPr/>
        </p:nvSpPr>
        <p:spPr>
          <a:xfrm>
            <a:off x="533400" y="1225550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Parámetros Rest:</a:t>
            </a:r>
            <a:endParaRPr/>
          </a:p>
        </p:txBody>
      </p:sp>
      <p:pic>
        <p:nvPicPr>
          <p:cNvPr id="304" name="Google Shape;3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6825" y="4103687"/>
            <a:ext cx="935037" cy="116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5"/>
          <p:cNvPicPr preferRelativeResize="0"/>
          <p:nvPr/>
        </p:nvPicPr>
        <p:blipFill rotWithShape="1">
          <a:blip r:embed="rId6">
            <a:alphaModFix/>
          </a:blip>
          <a:srcRect b="20570" l="19882" r="36613" t="38102"/>
          <a:stretch/>
        </p:blipFill>
        <p:spPr>
          <a:xfrm>
            <a:off x="1222375" y="2647950"/>
            <a:ext cx="4903787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869950" y="5380037"/>
            <a:ext cx="7931150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Puede haber otros parámetros pero se deben declarar antes del Rest.</a:t>
            </a:r>
            <a:endParaRPr/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parámetros Rest no pueden tener valores por defecto.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2" name="Google Shape;312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1144587" y="185737"/>
            <a:ext cx="23415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Funciones…</a:t>
            </a:r>
            <a:endParaRPr/>
          </a:p>
        </p:txBody>
      </p:sp>
      <p:cxnSp>
        <p:nvCxnSpPr>
          <p:cNvPr id="314" name="Google Shape;314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5" name="Google Shape;315;p16"/>
          <p:cNvSpPr txBox="1"/>
          <p:nvPr/>
        </p:nvSpPr>
        <p:spPr>
          <a:xfrm>
            <a:off x="533400" y="1225550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anónimas</a:t>
            </a:r>
            <a:endParaRPr/>
          </a:p>
        </p:txBody>
      </p:sp>
      <p:pic>
        <p:nvPicPr>
          <p:cNvPr id="316" name="Google Shape;3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6"/>
          <p:cNvSpPr txBox="1"/>
          <p:nvPr/>
        </p:nvSpPr>
        <p:spPr>
          <a:xfrm>
            <a:off x="533400" y="3014662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flecha (</a:t>
            </a:r>
            <a:r>
              <a:rPr b="1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id="318" name="Google Shape;318;p16"/>
          <p:cNvPicPr preferRelativeResize="0"/>
          <p:nvPr/>
        </p:nvPicPr>
        <p:blipFill rotWithShape="1">
          <a:blip r:embed="rId5">
            <a:alphaModFix/>
          </a:blip>
          <a:srcRect b="60034" l="20550" r="28346" t="23823"/>
          <a:stretch/>
        </p:blipFill>
        <p:spPr>
          <a:xfrm>
            <a:off x="1000125" y="1652587"/>
            <a:ext cx="5835650" cy="103663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6"/>
          <p:cNvSpPr txBox="1"/>
          <p:nvPr/>
        </p:nvSpPr>
        <p:spPr>
          <a:xfrm>
            <a:off x="750887" y="3324225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de escritura compacta de una función</a:t>
            </a:r>
            <a:endParaRPr/>
          </a:p>
        </p:txBody>
      </p:sp>
      <p:pic>
        <p:nvPicPr>
          <p:cNvPr id="320" name="Google Shape;320;p16"/>
          <p:cNvPicPr preferRelativeResize="0"/>
          <p:nvPr/>
        </p:nvPicPr>
        <p:blipFill rotWithShape="1">
          <a:blip r:embed="rId6">
            <a:alphaModFix/>
          </a:blip>
          <a:srcRect b="30926" l="19212" r="29252" t="53314"/>
          <a:stretch/>
        </p:blipFill>
        <p:spPr>
          <a:xfrm>
            <a:off x="982662" y="3806825"/>
            <a:ext cx="5989637" cy="103028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1144587" y="185737"/>
            <a:ext cx="3841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Funciones Genéricas</a:t>
            </a:r>
            <a:endParaRPr/>
          </a:p>
        </p:txBody>
      </p:sp>
      <p:cxnSp>
        <p:nvCxnSpPr>
          <p:cNvPr id="328" name="Google Shape;328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29" name="Google Shape;3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7"/>
          <p:cNvPicPr preferRelativeResize="0"/>
          <p:nvPr/>
        </p:nvPicPr>
        <p:blipFill rotWithShape="1">
          <a:blip r:embed="rId5">
            <a:alphaModFix/>
          </a:blip>
          <a:srcRect b="0" l="0" r="0" t="37840"/>
          <a:stretch/>
        </p:blipFill>
        <p:spPr>
          <a:xfrm>
            <a:off x="5187950" y="4083050"/>
            <a:ext cx="3051175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7"/>
          <p:cNvSpPr txBox="1"/>
          <p:nvPr/>
        </p:nvSpPr>
        <p:spPr>
          <a:xfrm>
            <a:off x="3624262" y="3244850"/>
            <a:ext cx="1476375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17687" y="5492750"/>
            <a:ext cx="6157912" cy="4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 txBox="1"/>
          <p:nvPr/>
        </p:nvSpPr>
        <p:spPr>
          <a:xfrm>
            <a:off x="715962" y="1057275"/>
            <a:ext cx="80851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Sirven para aprovechar código, sin tener que duplicarlo por causa de cambios de tipo y evitando la necesidad de usar el tipo "any".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1236662" y="1825625"/>
            <a:ext cx="4673600" cy="173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return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“Ricardo Tapia”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()) 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15.456789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).  );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1268412" y="3629025"/>
            <a:ext cx="53467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15.456789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toFixed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);</a:t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6224587" y="1906587"/>
            <a:ext cx="2449512" cy="1309687"/>
          </a:xfrm>
          <a:prstGeom prst="wedgeRectCallout">
            <a:avLst>
              <a:gd fmla="val -8334" name="adj1"/>
              <a:gd fmla="val 50038" name="adj2"/>
            </a:avLst>
          </a:prstGeom>
          <a:solidFill>
            <a:srgbClr val="FF6699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Typescript no es capaz de determinar el tipo de dato y por lo tanto no puede sugerir métodos que se pueden aplicar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1268412" y="5081587"/>
            <a:ext cx="59070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“Ricardo Tapia”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toFixed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);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id="339" name="Google Shape;339;p17"/>
          <p:cNvPicPr preferRelativeResize="0"/>
          <p:nvPr/>
        </p:nvPicPr>
        <p:blipFill rotWithShape="1">
          <a:blip r:embed="rId5">
            <a:alphaModFix/>
          </a:blip>
          <a:srcRect b="64414" l="0" r="0" t="0"/>
          <a:stretch/>
        </p:blipFill>
        <p:spPr>
          <a:xfrm>
            <a:off x="5187950" y="4445000"/>
            <a:ext cx="3051175" cy="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4" name="Google Shape;344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1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46" name="Google Shape;3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8"/>
          <p:cNvPicPr preferRelativeResize="0"/>
          <p:nvPr/>
        </p:nvPicPr>
        <p:blipFill rotWithShape="1">
          <a:blip r:embed="rId5">
            <a:alphaModFix/>
          </a:blip>
          <a:srcRect b="0" l="30191" r="0" t="13128"/>
          <a:stretch/>
        </p:blipFill>
        <p:spPr>
          <a:xfrm>
            <a:off x="4205287" y="3662362"/>
            <a:ext cx="4467225" cy="178593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8"/>
          <p:cNvSpPr/>
          <p:nvPr/>
        </p:nvSpPr>
        <p:spPr>
          <a:xfrm>
            <a:off x="5937250" y="2381250"/>
            <a:ext cx="2192337" cy="1100137"/>
          </a:xfrm>
          <a:prstGeom prst="wedgeRectCallout">
            <a:avLst>
              <a:gd fmla="val -9699" name="adj1"/>
              <a:gd fmla="val 50315" name="adj2"/>
            </a:avLst>
          </a:prstGeom>
          <a:solidFill>
            <a:srgbClr val="92D05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Ahora TypeScript sabe que es un number y puede sugerir métodos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1144587" y="185737"/>
            <a:ext cx="41814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Funciones Genéricas…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1042987" y="2408237"/>
            <a:ext cx="33274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return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042987" y="3311525"/>
            <a:ext cx="45720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regresar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15.456789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600" u="none">
                <a:solidFill>
                  <a:srgbClr val="00D03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);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715962" y="1057275"/>
            <a:ext cx="80851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función define un tipo genérico para sus parámetros usando &lt; &gt;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8" name="Google Shape;358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9"/>
          <p:cNvSpPr txBox="1"/>
          <p:nvPr/>
        </p:nvSpPr>
        <p:spPr>
          <a:xfrm>
            <a:off x="1144587" y="185737"/>
            <a:ext cx="3101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Objetos Literales</a:t>
            </a:r>
            <a:endParaRPr/>
          </a:p>
        </p:txBody>
      </p:sp>
      <p:cxnSp>
        <p:nvCxnSpPr>
          <p:cNvPr id="360" name="Google Shape;360;p1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1" name="Google Shape;361;p19"/>
          <p:cNvSpPr txBox="1"/>
          <p:nvPr/>
        </p:nvSpPr>
        <p:spPr>
          <a:xfrm>
            <a:off x="627062" y="1312862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Palabra reservada: </a:t>
            </a: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endParaRPr/>
          </a:p>
        </p:txBody>
      </p:sp>
      <p:pic>
        <p:nvPicPr>
          <p:cNvPr id="362" name="Google Shape;3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9"/>
          <p:cNvPicPr preferRelativeResize="0"/>
          <p:nvPr/>
        </p:nvPicPr>
        <p:blipFill rotWithShape="1">
          <a:blip r:embed="rId5">
            <a:alphaModFix/>
          </a:blip>
          <a:srcRect b="52340" l="20552" r="16535" t="33332"/>
          <a:stretch/>
        </p:blipFill>
        <p:spPr>
          <a:xfrm>
            <a:off x="1144587" y="2493962"/>
            <a:ext cx="7208837" cy="92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9"/>
          <p:cNvSpPr txBox="1"/>
          <p:nvPr/>
        </p:nvSpPr>
        <p:spPr>
          <a:xfrm>
            <a:off x="627062" y="1890712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Declarar un objeto literalmente: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70" name="Google Shape;370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0"/>
          <p:cNvSpPr txBox="1"/>
          <p:nvPr/>
        </p:nvSpPr>
        <p:spPr>
          <a:xfrm>
            <a:off x="1144587" y="185737"/>
            <a:ext cx="1344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Clases</a:t>
            </a:r>
            <a:endParaRPr/>
          </a:p>
        </p:txBody>
      </p:sp>
      <p:cxnSp>
        <p:nvCxnSpPr>
          <p:cNvPr id="372" name="Google Shape;372;p2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3" name="Google Shape;373;p20"/>
          <p:cNvSpPr txBox="1"/>
          <p:nvPr/>
        </p:nvSpPr>
        <p:spPr>
          <a:xfrm>
            <a:off x="627062" y="1312862"/>
            <a:ext cx="82899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 incorpora características de POO disponibles en lenguajes como Java y C#.</a:t>
            </a:r>
            <a:endParaRPr/>
          </a:p>
        </p:txBody>
      </p:sp>
      <p:pic>
        <p:nvPicPr>
          <p:cNvPr id="374" name="Google Shape;3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 txBox="1"/>
          <p:nvPr/>
        </p:nvSpPr>
        <p:spPr>
          <a:xfrm>
            <a:off x="1600200" y="2300287"/>
            <a:ext cx="6459537" cy="372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edad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console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(`Nombre: ${this.nombre} y edad:${this.edad}`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persona1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persona1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'Juan'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persona1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3492500" y="2511425"/>
            <a:ext cx="244475" cy="488950"/>
          </a:xfrm>
          <a:prstGeom prst="rightBrace">
            <a:avLst>
              <a:gd fmla="val 9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3859212" y="2533650"/>
            <a:ext cx="1069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800100" y="4143375"/>
            <a:ext cx="9540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/>
          </a:p>
        </p:txBody>
      </p:sp>
      <p:sp>
        <p:nvSpPr>
          <p:cNvPr id="379" name="Google Shape;379;p20"/>
          <p:cNvSpPr txBox="1"/>
          <p:nvPr/>
        </p:nvSpPr>
        <p:spPr>
          <a:xfrm>
            <a:off x="530225" y="3055937"/>
            <a:ext cx="1327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/>
          </a:p>
        </p:txBody>
      </p:sp>
      <p:sp>
        <p:nvSpPr>
          <p:cNvPr id="380" name="Google Shape;380;p20"/>
          <p:cNvSpPr txBox="1"/>
          <p:nvPr/>
        </p:nvSpPr>
        <p:spPr>
          <a:xfrm>
            <a:off x="5245100" y="5437187"/>
            <a:ext cx="15192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instanciación</a:t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6" name="Google Shape;386;p2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 txBox="1"/>
          <p:nvPr/>
        </p:nvSpPr>
        <p:spPr>
          <a:xfrm>
            <a:off x="1144587" y="185737"/>
            <a:ext cx="4508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Modificadores de Acceso</a:t>
            </a:r>
            <a:endParaRPr/>
          </a:p>
        </p:txBody>
      </p:sp>
      <p:cxnSp>
        <p:nvCxnSpPr>
          <p:cNvPr id="388" name="Google Shape;388;p2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9" name="Google Shape;389;p21"/>
          <p:cNvSpPr txBox="1"/>
          <p:nvPr/>
        </p:nvSpPr>
        <p:spPr>
          <a:xfrm>
            <a:off x="627062" y="1312862"/>
            <a:ext cx="82899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modificadores de acceso principales: public (por defecto), private, protected y static.</a:t>
            </a:r>
            <a:endParaRPr/>
          </a:p>
        </p:txBody>
      </p:sp>
      <p:pic>
        <p:nvPicPr>
          <p:cNvPr id="390" name="Google Shape;3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1"/>
          <p:cNvSpPr txBox="1"/>
          <p:nvPr/>
        </p:nvSpPr>
        <p:spPr>
          <a:xfrm>
            <a:off x="1243012" y="2097087"/>
            <a:ext cx="27559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protected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especie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1144587" y="3671887"/>
            <a:ext cx="4572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especie = 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‘Humano’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4217987" y="3448050"/>
            <a:ext cx="4071937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Las propiedades estáticas pertenecen a la clase y no a las instancias de la clase</a:t>
            </a:r>
            <a:endParaRPr/>
          </a:p>
        </p:txBody>
      </p:sp>
      <p:graphicFrame>
        <p:nvGraphicFramePr>
          <p:cNvPr id="394" name="Google Shape;394;p21"/>
          <p:cNvGraphicFramePr/>
          <p:nvPr/>
        </p:nvGraphicFramePr>
        <p:xfrm>
          <a:off x="1108075" y="437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{9A2485D3-23CC-46EE-9E45-B93D68062CE7}</a:tableStyleId>
              </a:tblPr>
              <a:tblGrid>
                <a:gridCol w="1647825"/>
                <a:gridCol w="1468425"/>
                <a:gridCol w="1530350"/>
                <a:gridCol w="2655875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Modificador de Acceso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Accesible dentro de la clase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Accesible en la subclase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Accesible externamente mediante instancia de clase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(por defecto)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protected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2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00" name="Google Shape;400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1144587" y="185737"/>
            <a:ext cx="64801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Creación automática de propiedades</a:t>
            </a:r>
            <a:endParaRPr/>
          </a:p>
        </p:txBody>
      </p:sp>
      <p:cxnSp>
        <p:nvCxnSpPr>
          <p:cNvPr id="402" name="Google Shape;402;p2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03" name="Google Shape;4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2"/>
          <p:cNvSpPr txBox="1"/>
          <p:nvPr/>
        </p:nvSpPr>
        <p:spPr>
          <a:xfrm>
            <a:off x="627062" y="1225550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ahorrar la definición de atributos inicializados en el constructor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1123950" y="4491037"/>
            <a:ext cx="6672262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}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1144587" y="1733550"/>
            <a:ext cx="7343775" cy="2195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950" lIns="0" spcFirstLastPara="1" rIns="0" wrap="square" tIns="126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apellido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nuevoNombre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nuevoApellido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nuevoNombre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   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nuevoApellido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7162800" y="3181350"/>
            <a:ext cx="633412" cy="1770062"/>
          </a:xfrm>
          <a:prstGeom prst="curvedLeftArrow">
            <a:avLst>
              <a:gd fmla="val 17735" name="adj1"/>
              <a:gd fmla="val 20634" name="adj2"/>
              <a:gd fmla="val 5400" name="adj3"/>
            </a:avLst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13" name="Google Shape;413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3"/>
          <p:cNvSpPr txBox="1"/>
          <p:nvPr/>
        </p:nvSpPr>
        <p:spPr>
          <a:xfrm>
            <a:off x="1144587" y="185737"/>
            <a:ext cx="3482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Herencia de Clases</a:t>
            </a:r>
            <a:endParaRPr/>
          </a:p>
        </p:txBody>
      </p:sp>
      <p:cxnSp>
        <p:nvCxnSpPr>
          <p:cNvPr id="415" name="Google Shape;415;p2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6" name="Google Shape;416;p23"/>
          <p:cNvSpPr txBox="1"/>
          <p:nvPr/>
        </p:nvSpPr>
        <p:spPr>
          <a:xfrm>
            <a:off x="627062" y="1312862"/>
            <a:ext cx="82899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crear nuevas clases partiendo de clases existentes, que tendrá todas los atributos y los métodos de su 'clase padre' además de los propios.</a:t>
            </a:r>
            <a:endParaRPr/>
          </a:p>
        </p:txBody>
      </p:sp>
      <p:pic>
        <p:nvPicPr>
          <p:cNvPr id="417" name="Google Shape;4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3"/>
          <p:cNvSpPr txBox="1"/>
          <p:nvPr/>
        </p:nvSpPr>
        <p:spPr>
          <a:xfrm>
            <a:off x="1328737" y="2135187"/>
            <a:ext cx="4576762" cy="1725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 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 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1323975" y="4021137"/>
            <a:ext cx="6184900" cy="227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Empleado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sueldo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edad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sueldo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2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super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2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sueldo 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sueldo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imprimir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console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2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2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`Nombre: ${nombre} - Sueldo: ${this.sueldo}`</a:t>
            </a: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200"/>
              <a:buFont typeface="Consolas"/>
              <a:buNone/>
            </a:pPr>
            <a:r>
              <a:rPr b="0" i="0" lang="en-US" sz="12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5" name="Google Shape;425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 txBox="1"/>
          <p:nvPr/>
        </p:nvSpPr>
        <p:spPr>
          <a:xfrm>
            <a:off x="1144587" y="185737"/>
            <a:ext cx="4140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Set y get en una Clase</a:t>
            </a:r>
            <a:endParaRPr/>
          </a:p>
        </p:txBody>
      </p:sp>
      <p:cxnSp>
        <p:nvCxnSpPr>
          <p:cNvPr id="427" name="Google Shape;427;p2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8" name="Google Shape;428;p24"/>
          <p:cNvSpPr txBox="1"/>
          <p:nvPr/>
        </p:nvSpPr>
        <p:spPr>
          <a:xfrm>
            <a:off x="627062" y="1165225"/>
            <a:ext cx="8105775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Sintaxis: </a:t>
            </a: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set/get nombre_campo(): tipo {...}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Declarar una propiedad:</a:t>
            </a:r>
            <a:endParaRPr/>
          </a:p>
        </p:txBody>
      </p:sp>
      <p:pic>
        <p:nvPicPr>
          <p:cNvPr id="429" name="Google Shape;4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4"/>
          <p:cNvSpPr txBox="1"/>
          <p:nvPr/>
        </p:nvSpPr>
        <p:spPr>
          <a:xfrm>
            <a:off x="1389062" y="2198687"/>
            <a:ext cx="4576762" cy="286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 { 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return 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(n: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1389062" y="5295900"/>
            <a:ext cx="45720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‘Juan’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-US" sz="14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//invoca a set nombre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4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//invoca a get nombre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/>
          </a:p>
        </p:txBody>
      </p:sp>
      <p:sp>
        <p:nvSpPr>
          <p:cNvPr id="432" name="Google Shape;432;p2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37" name="Google Shape;437;p2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/>
        </p:nvSpPr>
        <p:spPr>
          <a:xfrm>
            <a:off x="1144587" y="185737"/>
            <a:ext cx="18859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endParaRPr/>
          </a:p>
        </p:txBody>
      </p:sp>
      <p:cxnSp>
        <p:nvCxnSpPr>
          <p:cNvPr id="439" name="Google Shape;439;p2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40" name="Google Shape;440;p25"/>
          <p:cNvSpPr txBox="1"/>
          <p:nvPr/>
        </p:nvSpPr>
        <p:spPr>
          <a:xfrm>
            <a:off x="627062" y="1312862"/>
            <a:ext cx="810577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interface declara una serie de métodos y propiedades que deben ser implementados luego por una o más clases.</a:t>
            </a:r>
            <a:endParaRPr/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interfaces vienen a suplir la imposibilidad de herencia múltiple.</a:t>
            </a:r>
            <a:endParaRPr/>
          </a:p>
        </p:txBody>
      </p:sp>
      <p:pic>
        <p:nvPicPr>
          <p:cNvPr id="441" name="Google Shape;4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5"/>
          <p:cNvSpPr txBox="1"/>
          <p:nvPr/>
        </p:nvSpPr>
        <p:spPr>
          <a:xfrm>
            <a:off x="1511300" y="2571750"/>
            <a:ext cx="2087562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Punto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1511300" y="3490912"/>
            <a:ext cx="6010275" cy="178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PuntoPlano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Punto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console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`Punto en el plano: (${this.x},${this.y})`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1511300" y="5611812"/>
            <a:ext cx="5324475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puntoPlano1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PuntoPlano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puntoPlano1 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PuntoPlano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puntoPlano1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4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b="0" i="0" lang="en-US" sz="14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50" name="Google Shape;450;p2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6"/>
          <p:cNvSpPr txBox="1"/>
          <p:nvPr/>
        </p:nvSpPr>
        <p:spPr>
          <a:xfrm>
            <a:off x="1144587" y="185737"/>
            <a:ext cx="6280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Espacios de Nombre (Namespace)</a:t>
            </a:r>
            <a:endParaRPr/>
          </a:p>
        </p:txBody>
      </p:sp>
      <p:cxnSp>
        <p:nvCxnSpPr>
          <p:cNvPr id="452" name="Google Shape;452;p2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3" name="Google Shape;453;p26"/>
          <p:cNvSpPr txBox="1"/>
          <p:nvPr/>
        </p:nvSpPr>
        <p:spPr>
          <a:xfrm>
            <a:off x="585787" y="1182687"/>
            <a:ext cx="6496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Namespaces permiten agrupar código.</a:t>
            </a:r>
            <a:endParaRPr/>
          </a:p>
        </p:txBody>
      </p:sp>
      <p:pic>
        <p:nvPicPr>
          <p:cNvPr id="454" name="Google Shape;4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6"/>
          <p:cNvPicPr preferRelativeResize="0"/>
          <p:nvPr/>
        </p:nvPicPr>
        <p:blipFill rotWithShape="1">
          <a:blip r:embed="rId5">
            <a:alphaModFix/>
          </a:blip>
          <a:srcRect b="19064" l="17204" r="24566" t="22012"/>
          <a:stretch/>
        </p:blipFill>
        <p:spPr>
          <a:xfrm>
            <a:off x="838200" y="1881187"/>
            <a:ext cx="6392862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6"/>
          <p:cNvSpPr txBox="1"/>
          <p:nvPr/>
        </p:nvSpPr>
        <p:spPr>
          <a:xfrm>
            <a:off x="777875" y="1819275"/>
            <a:ext cx="6548437" cy="3322637"/>
          </a:xfrm>
          <a:prstGeom prst="rect">
            <a:avLst/>
          </a:prstGeom>
          <a:noFill/>
          <a:ln cap="flat" cmpd="sng" w="19050">
            <a:solidFill>
              <a:srgbClr val="D2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26"/>
          <p:cNvPicPr preferRelativeResize="0"/>
          <p:nvPr/>
        </p:nvPicPr>
        <p:blipFill rotWithShape="1">
          <a:blip r:embed="rId6">
            <a:alphaModFix/>
          </a:blip>
          <a:srcRect b="43458" l="18287" r="59608" t="51463"/>
          <a:stretch/>
        </p:blipFill>
        <p:spPr>
          <a:xfrm>
            <a:off x="684212" y="5197475"/>
            <a:ext cx="2419350" cy="312737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6"/>
          <p:cNvSpPr txBox="1"/>
          <p:nvPr/>
        </p:nvSpPr>
        <p:spPr>
          <a:xfrm>
            <a:off x="838200" y="1881187"/>
            <a:ext cx="2081212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2919412" y="5694362"/>
            <a:ext cx="3978275" cy="695325"/>
          </a:xfrm>
          <a:prstGeom prst="wedgeRectCallout">
            <a:avLst>
              <a:gd fmla="val 15124" name="adj1"/>
              <a:gd fmla="val -51850" name="adj2"/>
            </a:avLst>
          </a:prstGeom>
          <a:solidFill>
            <a:srgbClr val="FF6699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Inaccesible porque no se conoce, por defecto, Geometria fuera del namespace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869950" y="5233987"/>
            <a:ext cx="3087687" cy="331787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66" name="Google Shape;466;p2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7"/>
          <p:cNvSpPr txBox="1"/>
          <p:nvPr/>
        </p:nvSpPr>
        <p:spPr>
          <a:xfrm>
            <a:off x="1144587" y="185737"/>
            <a:ext cx="539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Espacios de Nombre - Export</a:t>
            </a:r>
            <a:endParaRPr/>
          </a:p>
        </p:txBody>
      </p:sp>
      <p:cxnSp>
        <p:nvCxnSpPr>
          <p:cNvPr id="468" name="Google Shape;468;p2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69" name="Google Shape;4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 txBox="1"/>
          <p:nvPr/>
        </p:nvSpPr>
        <p:spPr>
          <a:xfrm>
            <a:off x="585787" y="1182687"/>
            <a:ext cx="81470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hacer accesible la clase rectángulo fuera del namespace se debe marcar con </a:t>
            </a: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export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471" name="Google Shape;471;p27"/>
          <p:cNvPicPr preferRelativeResize="0"/>
          <p:nvPr/>
        </p:nvPicPr>
        <p:blipFill rotWithShape="1">
          <a:blip r:embed="rId5">
            <a:alphaModFix/>
          </a:blip>
          <a:srcRect b="50012" l="17691" r="21220" t="29774"/>
          <a:stretch/>
        </p:blipFill>
        <p:spPr>
          <a:xfrm>
            <a:off x="1027112" y="1990725"/>
            <a:ext cx="68548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7"/>
          <p:cNvPicPr preferRelativeResize="0"/>
          <p:nvPr/>
        </p:nvPicPr>
        <p:blipFill rotWithShape="1">
          <a:blip r:embed="rId6">
            <a:alphaModFix/>
          </a:blip>
          <a:srcRect b="42587" l="18287" r="42578" t="51463"/>
          <a:stretch/>
        </p:blipFill>
        <p:spPr>
          <a:xfrm>
            <a:off x="1103312" y="3336925"/>
            <a:ext cx="4284662" cy="36671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7"/>
          <p:cNvSpPr/>
          <p:nvPr/>
        </p:nvSpPr>
        <p:spPr>
          <a:xfrm>
            <a:off x="3246437" y="3895725"/>
            <a:ext cx="2057400" cy="695325"/>
          </a:xfrm>
          <a:prstGeom prst="wedgeRectCallout">
            <a:avLst>
              <a:gd fmla="val 10086" name="adj1"/>
              <a:gd fmla="val -50191" name="adj2"/>
            </a:avLst>
          </a:prstGeom>
          <a:solidFill>
            <a:srgbClr val="92D05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Ahora es accesible porque se exportó</a:t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1511300" y="2268537"/>
            <a:ext cx="2484437" cy="284162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7"/>
          <p:cNvSpPr txBox="1"/>
          <p:nvPr/>
        </p:nvSpPr>
        <p:spPr>
          <a:xfrm>
            <a:off x="1266825" y="3367087"/>
            <a:ext cx="4068762" cy="284162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7"/>
          <p:cNvSpPr txBox="1"/>
          <p:nvPr/>
        </p:nvSpPr>
        <p:spPr>
          <a:xfrm>
            <a:off x="585787" y="5019675"/>
            <a:ext cx="8147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posible exportar cualquier cosa: clases, variables primitivas, constantes.</a:t>
            </a:r>
            <a:endParaRPr/>
          </a:p>
        </p:txBody>
      </p:sp>
      <p:sp>
        <p:nvSpPr>
          <p:cNvPr id="477" name="Google Shape;477;p27"/>
          <p:cNvSpPr txBox="1"/>
          <p:nvPr/>
        </p:nvSpPr>
        <p:spPr>
          <a:xfrm>
            <a:off x="655637" y="5599112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también conocidos como módulos internos.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 txBox="1"/>
          <p:nvPr/>
        </p:nvSpPr>
        <p:spPr>
          <a:xfrm>
            <a:off x="627062" y="1312862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ampliar una definición de un namespace que ya existía.</a:t>
            </a:r>
            <a:endParaRPr/>
          </a:p>
        </p:txBody>
      </p:sp>
      <p:pic>
        <p:nvPicPr>
          <p:cNvPr descr="Resultado de imagen para angular logos" id="484" name="Google Shape;484;p2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8"/>
          <p:cNvSpPr txBox="1"/>
          <p:nvPr/>
        </p:nvSpPr>
        <p:spPr>
          <a:xfrm>
            <a:off x="1144587" y="185737"/>
            <a:ext cx="6161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Espacios de Nombre – Ampliación</a:t>
            </a:r>
            <a:endParaRPr/>
          </a:p>
        </p:txBody>
      </p:sp>
      <p:cxnSp>
        <p:nvCxnSpPr>
          <p:cNvPr id="486" name="Google Shape;486;p2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87" name="Google Shape;4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8"/>
          <p:cNvSpPr txBox="1"/>
          <p:nvPr/>
        </p:nvSpPr>
        <p:spPr>
          <a:xfrm>
            <a:off x="900112" y="2092325"/>
            <a:ext cx="7281862" cy="1814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Geometria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export class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Rectangulo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alto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ancho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Geometria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Rectangulo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900112" y="4175125"/>
            <a:ext cx="6303962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Geometria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export class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Circulo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radio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 {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Geometria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Circulo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777875" y="2092325"/>
            <a:ext cx="7466012" cy="13970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777875" y="4164012"/>
            <a:ext cx="7466012" cy="13970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5734050" y="3881437"/>
            <a:ext cx="2241550" cy="847725"/>
          </a:xfrm>
          <a:prstGeom prst="wedgeRectCallout">
            <a:avLst>
              <a:gd fmla="val -50000" name="adj1"/>
              <a:gd fmla="val 8989" name="adj2"/>
            </a:avLst>
          </a:prstGeom>
          <a:solidFill>
            <a:srgbClr val="92D05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puede extender la declaración del mismo namespace</a:t>
            </a:r>
            <a:endParaRPr/>
          </a:p>
        </p:txBody>
      </p:sp>
      <p:sp>
        <p:nvSpPr>
          <p:cNvPr id="493" name="Google Shape;493;p28"/>
          <p:cNvSpPr txBox="1"/>
          <p:nvPr/>
        </p:nvSpPr>
        <p:spPr>
          <a:xfrm>
            <a:off x="904875" y="2120900"/>
            <a:ext cx="2268537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 txBox="1"/>
          <p:nvPr/>
        </p:nvSpPr>
        <p:spPr>
          <a:xfrm>
            <a:off x="922337" y="4224337"/>
            <a:ext cx="2266950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1181100" y="4510087"/>
            <a:ext cx="2339975" cy="204787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 txBox="1"/>
          <p:nvPr/>
        </p:nvSpPr>
        <p:spPr>
          <a:xfrm>
            <a:off x="922337" y="5634037"/>
            <a:ext cx="3887787" cy="284162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9"/>
          <p:cNvSpPr txBox="1"/>
          <p:nvPr/>
        </p:nvSpPr>
        <p:spPr>
          <a:xfrm>
            <a:off x="627062" y="1312862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separar en diferentes archivos los espacios de nombre</a:t>
            </a:r>
            <a:endParaRPr/>
          </a:p>
        </p:txBody>
      </p:sp>
      <p:pic>
        <p:nvPicPr>
          <p:cNvPr descr="Resultado de imagen para angular logos" id="503" name="Google Shape;503;p2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9"/>
          <p:cNvSpPr txBox="1"/>
          <p:nvPr/>
        </p:nvSpPr>
        <p:spPr>
          <a:xfrm>
            <a:off x="1144587" y="185737"/>
            <a:ext cx="6197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Espacios de Nombres - Separación</a:t>
            </a:r>
            <a:endParaRPr/>
          </a:p>
        </p:txBody>
      </p:sp>
      <p:cxnSp>
        <p:nvCxnSpPr>
          <p:cNvPr id="505" name="Google Shape;505;p2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06" name="Google Shape;5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9"/>
          <p:cNvPicPr preferRelativeResize="0"/>
          <p:nvPr/>
        </p:nvPicPr>
        <p:blipFill rotWithShape="1">
          <a:blip r:embed="rId5">
            <a:alphaModFix/>
          </a:blip>
          <a:srcRect b="50238" l="18544" r="21000" t="31523"/>
          <a:stretch/>
        </p:blipFill>
        <p:spPr>
          <a:xfrm>
            <a:off x="944562" y="2401887"/>
            <a:ext cx="7856537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9"/>
          <p:cNvPicPr preferRelativeResize="0"/>
          <p:nvPr/>
        </p:nvPicPr>
        <p:blipFill rotWithShape="1">
          <a:blip r:embed="rId6">
            <a:alphaModFix/>
          </a:blip>
          <a:srcRect b="18356" l="19212" r="74060" t="68232"/>
          <a:stretch/>
        </p:blipFill>
        <p:spPr>
          <a:xfrm>
            <a:off x="312737" y="2401887"/>
            <a:ext cx="795337" cy="8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9"/>
          <p:cNvSpPr txBox="1"/>
          <p:nvPr/>
        </p:nvSpPr>
        <p:spPr>
          <a:xfrm>
            <a:off x="1133475" y="4405312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/// &lt;reference path=“geometria.ts” /&gt;</a:t>
            </a:r>
            <a:endParaRPr/>
          </a:p>
        </p:txBody>
      </p:sp>
      <p:sp>
        <p:nvSpPr>
          <p:cNvPr id="510" name="Google Shape;510;p29"/>
          <p:cNvSpPr txBox="1"/>
          <p:nvPr/>
        </p:nvSpPr>
        <p:spPr>
          <a:xfrm>
            <a:off x="327025" y="2251075"/>
            <a:ext cx="8345487" cy="148431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29"/>
          <p:cNvPicPr preferRelativeResize="0"/>
          <p:nvPr/>
        </p:nvPicPr>
        <p:blipFill rotWithShape="1">
          <a:blip r:embed="rId5">
            <a:alphaModFix/>
          </a:blip>
          <a:srcRect b="27392" l="18544" r="21000" t="58308"/>
          <a:stretch/>
        </p:blipFill>
        <p:spPr>
          <a:xfrm>
            <a:off x="944562" y="4832350"/>
            <a:ext cx="7856537" cy="10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9"/>
          <p:cNvPicPr preferRelativeResize="0"/>
          <p:nvPr/>
        </p:nvPicPr>
        <p:blipFill rotWithShape="1">
          <a:blip r:embed="rId6">
            <a:alphaModFix/>
          </a:blip>
          <a:srcRect b="18356" l="19212" r="74060" t="68232"/>
          <a:stretch/>
        </p:blipFill>
        <p:spPr>
          <a:xfrm>
            <a:off x="312737" y="4495800"/>
            <a:ext cx="795337" cy="8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9"/>
          <p:cNvSpPr txBox="1"/>
          <p:nvPr/>
        </p:nvSpPr>
        <p:spPr>
          <a:xfrm>
            <a:off x="320675" y="4332287"/>
            <a:ext cx="8345487" cy="148272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227012" y="1897062"/>
            <a:ext cx="13779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geometria.ts</a:t>
            </a:r>
            <a:endParaRPr/>
          </a:p>
        </p:txBody>
      </p:sp>
      <p:sp>
        <p:nvSpPr>
          <p:cNvPr id="515" name="Google Shape;515;p29"/>
          <p:cNvSpPr txBox="1"/>
          <p:nvPr/>
        </p:nvSpPr>
        <p:spPr>
          <a:xfrm>
            <a:off x="227012" y="3978275"/>
            <a:ext cx="187483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creargeometria.ts</a:t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6775450" y="4495800"/>
            <a:ext cx="1774825" cy="1044575"/>
          </a:xfrm>
          <a:prstGeom prst="wedgeRectCallout">
            <a:avLst>
              <a:gd fmla="val -50179" name="adj1"/>
              <a:gd fmla="val 5623" name="adj2"/>
            </a:avLst>
          </a:prstGeom>
          <a:solidFill>
            <a:srgbClr val="92D05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incluye el archivo geometria.ts completo</a:t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1206500" y="4448175"/>
            <a:ext cx="4679950" cy="284162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2674937" y="5191125"/>
            <a:ext cx="3743325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227012" y="1924050"/>
            <a:ext cx="1331912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25" name="Google Shape;525;p3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0"/>
          <p:cNvSpPr txBox="1"/>
          <p:nvPr/>
        </p:nvSpPr>
        <p:spPr>
          <a:xfrm>
            <a:off x="1144587" y="185737"/>
            <a:ext cx="16621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Módulos</a:t>
            </a:r>
            <a:endParaRPr/>
          </a:p>
        </p:txBody>
      </p:sp>
      <p:pic>
        <p:nvPicPr>
          <p:cNvPr descr="Imagen relacionada" id="527" name="Google Shape;527;p30"/>
          <p:cNvPicPr preferRelativeResize="0"/>
          <p:nvPr/>
        </p:nvPicPr>
        <p:blipFill rotWithShape="1">
          <a:blip r:embed="rId4">
            <a:alphaModFix/>
          </a:blip>
          <a:srcRect b="25532" l="18324" r="18196" t="18258"/>
          <a:stretch/>
        </p:blipFill>
        <p:spPr>
          <a:xfrm>
            <a:off x="6924675" y="1638300"/>
            <a:ext cx="1771650" cy="16938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" name="Google Shape;528;p3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9" name="Google Shape;529;p30"/>
          <p:cNvSpPr txBox="1"/>
          <p:nvPr/>
        </p:nvSpPr>
        <p:spPr>
          <a:xfrm>
            <a:off x="585787" y="1182687"/>
            <a:ext cx="64960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Sirven para encapsular código, es decir, para controlar qué se expone públicamente y qué se mantiene resguardado. </a:t>
            </a:r>
            <a:endParaRPr/>
          </a:p>
        </p:txBody>
      </p:sp>
      <p:sp>
        <p:nvSpPr>
          <p:cNvPr id="530" name="Google Shape;530;p30"/>
          <p:cNvSpPr txBox="1"/>
          <p:nvPr/>
        </p:nvSpPr>
        <p:spPr>
          <a:xfrm>
            <a:off x="585787" y="1960562"/>
            <a:ext cx="61896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distribuir la lógica en varias partes, reutilizables y articulables. (“Ravioli”)</a:t>
            </a:r>
            <a:endParaRPr/>
          </a:p>
        </p:txBody>
      </p:sp>
      <p:sp>
        <p:nvSpPr>
          <p:cNvPr id="531" name="Google Shape;531;p30"/>
          <p:cNvSpPr txBox="1"/>
          <p:nvPr/>
        </p:nvSpPr>
        <p:spPr>
          <a:xfrm>
            <a:off x="584200" y="2755900"/>
            <a:ext cx="6802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de un archivo, solo aquello que se 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exporta 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accesible desde fuera (aunque sí desde dentro).</a:t>
            </a:r>
            <a:endParaRPr/>
          </a:p>
        </p:txBody>
      </p:sp>
      <p:sp>
        <p:nvSpPr>
          <p:cNvPr id="532" name="Google Shape;532;p30"/>
          <p:cNvSpPr txBox="1"/>
          <p:nvPr/>
        </p:nvSpPr>
        <p:spPr>
          <a:xfrm>
            <a:off x="582612" y="3551237"/>
            <a:ext cx="54927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usarlo en otro archivo hay que 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importarlo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533" name="Google Shape;53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0"/>
          <p:cNvPicPr preferRelativeResize="0"/>
          <p:nvPr/>
        </p:nvPicPr>
        <p:blipFill rotWithShape="1">
          <a:blip r:embed="rId6">
            <a:alphaModFix/>
          </a:blip>
          <a:srcRect b="9689" l="19212" r="17204" t="60249"/>
          <a:stretch/>
        </p:blipFill>
        <p:spPr>
          <a:xfrm>
            <a:off x="900112" y="4121150"/>
            <a:ext cx="7519987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0"/>
          <p:cNvSpPr txBox="1"/>
          <p:nvPr/>
        </p:nvSpPr>
        <p:spPr>
          <a:xfrm>
            <a:off x="5519737" y="4519612"/>
            <a:ext cx="2914650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1944687" y="5819775"/>
            <a:ext cx="1728787" cy="28575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42" name="Google Shape;542;p3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1"/>
          <p:cNvSpPr txBox="1"/>
          <p:nvPr/>
        </p:nvSpPr>
        <p:spPr>
          <a:xfrm>
            <a:off x="1144587" y="185737"/>
            <a:ext cx="75263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Destructuración de objetos y arrays</a:t>
            </a:r>
            <a:endParaRPr/>
          </a:p>
        </p:txBody>
      </p:sp>
      <p:cxnSp>
        <p:nvCxnSpPr>
          <p:cNvPr id="544" name="Google Shape;544;p3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45" name="Google Shape;5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1"/>
          <p:cNvSpPr txBox="1"/>
          <p:nvPr/>
        </p:nvSpPr>
        <p:spPr>
          <a:xfrm>
            <a:off x="585787" y="1182687"/>
            <a:ext cx="8147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Destructuración de objetos 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6456362" y="7532687"/>
            <a:ext cx="4108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Tercera posición -&gt; ironman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1001712" y="4775200"/>
            <a:ext cx="6916737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frutas:string[]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“mandarina”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“naranjo”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600" u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“acido-dulce”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sabor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frutas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 ,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gusto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frutas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console.log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sabor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pic>
        <p:nvPicPr>
          <p:cNvPr id="549" name="Google Shape;549;p31"/>
          <p:cNvPicPr preferRelativeResize="0"/>
          <p:nvPr/>
        </p:nvPicPr>
        <p:blipFill rotWithShape="1">
          <a:blip r:embed="rId5">
            <a:alphaModFix/>
          </a:blip>
          <a:srcRect b="40136" l="16535" r="48098" t="25549"/>
          <a:stretch/>
        </p:blipFill>
        <p:spPr>
          <a:xfrm>
            <a:off x="777875" y="1717675"/>
            <a:ext cx="3808412" cy="207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1"/>
          <p:cNvPicPr preferRelativeResize="0"/>
          <p:nvPr/>
        </p:nvPicPr>
        <p:blipFill rotWithShape="1">
          <a:blip r:embed="rId5">
            <a:alphaModFix/>
          </a:blip>
          <a:srcRect b="30189" l="16535" r="48098" t="58990"/>
          <a:stretch/>
        </p:blipFill>
        <p:spPr>
          <a:xfrm>
            <a:off x="788987" y="3089275"/>
            <a:ext cx="3806825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1"/>
          <p:cNvPicPr preferRelativeResize="0"/>
          <p:nvPr/>
        </p:nvPicPr>
        <p:blipFill rotWithShape="1">
          <a:blip r:embed="rId5">
            <a:alphaModFix/>
          </a:blip>
          <a:srcRect b="25013" l="16535" r="48098" t="68069"/>
          <a:stretch/>
        </p:blipFill>
        <p:spPr>
          <a:xfrm>
            <a:off x="777875" y="3795712"/>
            <a:ext cx="3808412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1"/>
          <p:cNvSpPr txBox="1"/>
          <p:nvPr/>
        </p:nvSpPr>
        <p:spPr>
          <a:xfrm>
            <a:off x="585787" y="4346575"/>
            <a:ext cx="8147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Destructuración de arrays 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58" name="Google Shape;558;p3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2"/>
          <p:cNvSpPr txBox="1"/>
          <p:nvPr/>
        </p:nvSpPr>
        <p:spPr>
          <a:xfrm>
            <a:off x="1144587" y="185737"/>
            <a:ext cx="75263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Decoradores de Clase</a:t>
            </a:r>
            <a:endParaRPr/>
          </a:p>
        </p:txBody>
      </p:sp>
      <p:cxnSp>
        <p:nvCxnSpPr>
          <p:cNvPr id="560" name="Google Shape;560;p3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61" name="Google Shape;56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155575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63" name="Google Shape;563;p32"/>
          <p:cNvSpPr txBox="1"/>
          <p:nvPr/>
        </p:nvSpPr>
        <p:spPr>
          <a:xfrm>
            <a:off x="585787" y="1182687"/>
            <a:ext cx="814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funciones denotadas por @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Permiten extender o modificar el comportamiento de una clase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usan para añadir metadatos a las clases</a:t>
            </a:r>
            <a:endParaRPr/>
          </a:p>
        </p:txBody>
      </p:sp>
      <p:sp>
        <p:nvSpPr>
          <p:cNvPr id="564" name="Google Shape;564;p32"/>
          <p:cNvSpPr/>
          <p:nvPr/>
        </p:nvSpPr>
        <p:spPr>
          <a:xfrm>
            <a:off x="585787" y="3662362"/>
            <a:ext cx="441325" cy="312737"/>
          </a:xfrm>
          <a:prstGeom prst="rightArrow">
            <a:avLst>
              <a:gd fmla="val 13947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1052512" y="2689225"/>
            <a:ext cx="4560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consola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@consola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Persona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){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rgbClr val="BF9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