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7315200" cy="9601200"/>
  <p:embeddedFontLst>
    <p:embeddedFont>
      <p:font typeface="Arial Black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jroALwRBaBkIi4gwpd+EkjiWxV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ArialBlack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7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7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19137"/>
            <a:ext cx="4802187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7" y="4560887"/>
            <a:ext cx="5853112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18600"/>
            <a:ext cx="3170237" cy="481012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18600"/>
            <a:ext cx="3170237" cy="481012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257300" y="719137"/>
            <a:ext cx="4802187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31837" y="4560887"/>
            <a:ext cx="5853112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Antes de aprender tecnologías como </a:t>
            </a:r>
            <a:r>
              <a:rPr b="1" lang="en-US" sz="1200">
                <a:solidFill>
                  <a:schemeClr val="dk1"/>
                </a:solidFill>
              </a:rPr>
              <a:t>HTML o CSS</a:t>
            </a:r>
            <a:r>
              <a:rPr lang="en-US" sz="1200">
                <a:solidFill>
                  <a:schemeClr val="dk1"/>
                </a:solidFill>
              </a:rPr>
              <a:t>, primero debemos entender </a:t>
            </a:r>
            <a:r>
              <a:rPr b="1" lang="en-US" sz="1200">
                <a:solidFill>
                  <a:schemeClr val="dk1"/>
                </a:solidFill>
              </a:rPr>
              <a:t>cómo diseñar interfaces que las personas puedan usar</a:t>
            </a:r>
            <a:r>
              <a:rPr lang="en-US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Primero: pensar en las personas (usabilidad)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↓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Luego: estructurar la información (HTML)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↓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Luego: usar mejoras modernas (HTML5)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↓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Finalmente: diseñar la apariencia (CSS)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/>
        </p:nvSpPr>
        <p:spPr>
          <a:xfrm>
            <a:off x="4143375" y="9118600"/>
            <a:ext cx="3170237" cy="481012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731837" y="4560887"/>
            <a:ext cx="5853112" cy="4321175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Como desarrolladores, muchas veces medimos el éxito de una aplicación porque </a:t>
            </a:r>
            <a:r>
              <a:rPr b="1" lang="en-US" sz="1200">
                <a:solidFill>
                  <a:schemeClr val="dk1"/>
                </a:solidFill>
              </a:rPr>
              <a:t>funciona técnicamente</a:t>
            </a:r>
            <a:r>
              <a:rPr lang="en-US" sz="1200">
                <a:solidFill>
                  <a:schemeClr val="dk1"/>
                </a:solidFill>
              </a:rPr>
              <a:t>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el backend responde, el botón ejecuta la acción, el formulario guarda los datos.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El usuario: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¿Entendió cómo usarla?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¿Pudo completar su tarea rápido?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¿Se frustró o no?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Qué tan fácil y claro es para una persona usar una interfaz para lograr un objetivo.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Muchas personas usan apps como: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/>
              <a:t>Uber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/>
              <a:t>WhatsApp</a:t>
            </a:r>
            <a:br>
              <a:rPr lang="en-US" sz="1200"/>
            </a:b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sin manual. Eso no ocurre por casualidad.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¿Alguna vez usaron un sistema que era muy difícil de entender?</a:t>
            </a:r>
            <a:endParaRPr sz="1200"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257300" y="719137"/>
            <a:ext cx="4802187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fac9bac00_0_33:notes"/>
          <p:cNvSpPr txBox="1"/>
          <p:nvPr>
            <p:ph idx="1" type="body"/>
          </p:nvPr>
        </p:nvSpPr>
        <p:spPr>
          <a:xfrm>
            <a:off x="731837" y="4560887"/>
            <a:ext cx="5853000" cy="43212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cfac9bac00_0_33:notes"/>
          <p:cNvSpPr/>
          <p:nvPr>
            <p:ph idx="2" type="sldImg"/>
          </p:nvPr>
        </p:nvSpPr>
        <p:spPr>
          <a:xfrm>
            <a:off x="1257300" y="719137"/>
            <a:ext cx="48021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731837" y="4560887"/>
            <a:ext cx="5853112" cy="4321175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257300" y="719137"/>
            <a:ext cx="4802187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731837" y="4560887"/>
            <a:ext cx="5853112" cy="4321175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257300" y="719137"/>
            <a:ext cx="4802187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731837" y="4560887"/>
            <a:ext cx="5853112" cy="4321175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System Usability Scale</a:t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257300" y="719137"/>
            <a:ext cx="4802187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731837" y="4560887"/>
            <a:ext cx="5853112" cy="4321175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257300" y="719137"/>
            <a:ext cx="4802187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731837" y="4560887"/>
            <a:ext cx="5853112" cy="4321175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El sistema debe </a:t>
            </a:r>
            <a:r>
              <a:rPr b="1" lang="en-US" sz="1100">
                <a:solidFill>
                  <a:schemeClr val="dk1"/>
                </a:solidFill>
              </a:rPr>
              <a:t>informar qué está pasando</a:t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257300" y="719137"/>
            <a:ext cx="4802187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731837" y="4560887"/>
            <a:ext cx="5853112" cy="4321175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El sistema debe </a:t>
            </a:r>
            <a:r>
              <a:rPr b="1" lang="en-US" sz="1100">
                <a:solidFill>
                  <a:schemeClr val="dk1"/>
                </a:solidFill>
              </a:rPr>
              <a:t>informar qué está pasando</a:t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257300" y="719137"/>
            <a:ext cx="4802187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731837" y="4560887"/>
            <a:ext cx="5853112" cy="4321175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La interfaz debe usar </a:t>
            </a:r>
            <a:r>
              <a:rPr b="1" lang="en-US" sz="1100">
                <a:solidFill>
                  <a:schemeClr val="dk1"/>
                </a:solidFill>
              </a:rPr>
              <a:t>lenguaje y conceptos familiares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/>
          </a:p>
        </p:txBody>
      </p:sp>
      <p:sp>
        <p:nvSpPr>
          <p:cNvPr id="216" name="Google Shape;216;p9:notes"/>
          <p:cNvSpPr/>
          <p:nvPr>
            <p:ph idx="2" type="sldImg"/>
          </p:nvPr>
        </p:nvSpPr>
        <p:spPr>
          <a:xfrm>
            <a:off x="1257300" y="719137"/>
            <a:ext cx="4802187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/>
          <p:nvPr>
            <p:ph idx="1" type="body"/>
          </p:nvPr>
        </p:nvSpPr>
        <p:spPr>
          <a:xfrm>
            <a:off x="731837" y="4560887"/>
            <a:ext cx="5853112" cy="4321175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Los usuarios deben poder </a:t>
            </a:r>
            <a:r>
              <a:rPr b="1" lang="en-US" sz="1100">
                <a:solidFill>
                  <a:schemeClr val="dk1"/>
                </a:solidFill>
              </a:rPr>
              <a:t>deshacer acciones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/>
          </a:p>
        </p:txBody>
      </p:sp>
      <p:sp>
        <p:nvSpPr>
          <p:cNvPr id="233" name="Google Shape;233;p10:notes"/>
          <p:cNvSpPr/>
          <p:nvPr>
            <p:ph idx="2" type="sldImg"/>
          </p:nvPr>
        </p:nvSpPr>
        <p:spPr>
          <a:xfrm>
            <a:off x="1257300" y="719137"/>
            <a:ext cx="4802187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 txBox="1"/>
          <p:nvPr>
            <p:ph idx="1" type="body"/>
          </p:nvPr>
        </p:nvSpPr>
        <p:spPr>
          <a:xfrm>
            <a:off x="731837" y="4560887"/>
            <a:ext cx="5853112" cy="4321175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Mejor </a:t>
            </a:r>
            <a:r>
              <a:rPr b="1" lang="en-US" sz="1100">
                <a:solidFill>
                  <a:schemeClr val="dk1"/>
                </a:solidFill>
              </a:rPr>
              <a:t>evitar errores</a:t>
            </a:r>
            <a:r>
              <a:rPr lang="en-US" sz="1100">
                <a:solidFill>
                  <a:schemeClr val="dk1"/>
                </a:solidFill>
              </a:rPr>
              <a:t> que mostrar mensajes de error.</a:t>
            </a:r>
            <a:endParaRPr/>
          </a:p>
        </p:txBody>
      </p:sp>
      <p:sp>
        <p:nvSpPr>
          <p:cNvPr id="251" name="Google Shape;251;p11:notes"/>
          <p:cNvSpPr/>
          <p:nvPr>
            <p:ph idx="2" type="sldImg"/>
          </p:nvPr>
        </p:nvSpPr>
        <p:spPr>
          <a:xfrm>
            <a:off x="1257300" y="719137"/>
            <a:ext cx="4802187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 txBox="1"/>
          <p:nvPr>
            <p:ph idx="1" type="body"/>
          </p:nvPr>
        </p:nvSpPr>
        <p:spPr>
          <a:xfrm>
            <a:off x="731837" y="4560887"/>
            <a:ext cx="5853112" cy="4321175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Las interfaces deben comportarse </a:t>
            </a:r>
            <a:r>
              <a:rPr b="1" lang="en-US" sz="1100">
                <a:solidFill>
                  <a:schemeClr val="dk1"/>
                </a:solidFill>
              </a:rPr>
              <a:t>de forma similar a otras aplicaciones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:notes"/>
          <p:cNvSpPr/>
          <p:nvPr>
            <p:ph idx="2" type="sldImg"/>
          </p:nvPr>
        </p:nvSpPr>
        <p:spPr>
          <a:xfrm>
            <a:off x="1257300" y="719137"/>
            <a:ext cx="4802187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 txBox="1"/>
          <p:nvPr>
            <p:ph idx="1" type="body"/>
          </p:nvPr>
        </p:nvSpPr>
        <p:spPr>
          <a:xfrm>
            <a:off x="731837" y="4560887"/>
            <a:ext cx="5853112" cy="4321175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El usuario </a:t>
            </a:r>
            <a:r>
              <a:rPr b="1" lang="en-US" sz="1100">
                <a:solidFill>
                  <a:schemeClr val="dk1"/>
                </a:solidFill>
              </a:rPr>
              <a:t>no debería tener que recordar cosas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/>
          </a:p>
        </p:txBody>
      </p:sp>
      <p:sp>
        <p:nvSpPr>
          <p:cNvPr id="280" name="Google Shape;280;p13:notes"/>
          <p:cNvSpPr/>
          <p:nvPr>
            <p:ph idx="2" type="sldImg"/>
          </p:nvPr>
        </p:nvSpPr>
        <p:spPr>
          <a:xfrm>
            <a:off x="1257300" y="719137"/>
            <a:ext cx="4802187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:notes"/>
          <p:cNvSpPr txBox="1"/>
          <p:nvPr>
            <p:ph idx="1" type="body"/>
          </p:nvPr>
        </p:nvSpPr>
        <p:spPr>
          <a:xfrm>
            <a:off x="731837" y="4560887"/>
            <a:ext cx="5853112" cy="4321175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Usuarios expertos deben poder </a:t>
            </a:r>
            <a:r>
              <a:rPr b="1" lang="en-US" sz="1100">
                <a:solidFill>
                  <a:schemeClr val="dk1"/>
                </a:solidFill>
              </a:rPr>
              <a:t>hacer tareas más rápido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/>
          </a:p>
        </p:txBody>
      </p:sp>
      <p:sp>
        <p:nvSpPr>
          <p:cNvPr id="296" name="Google Shape;296;p14:notes"/>
          <p:cNvSpPr/>
          <p:nvPr>
            <p:ph idx="2" type="sldImg"/>
          </p:nvPr>
        </p:nvSpPr>
        <p:spPr>
          <a:xfrm>
            <a:off x="1257300" y="719137"/>
            <a:ext cx="4802187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:notes"/>
          <p:cNvSpPr txBox="1"/>
          <p:nvPr>
            <p:ph idx="1" type="body"/>
          </p:nvPr>
        </p:nvSpPr>
        <p:spPr>
          <a:xfrm>
            <a:off x="731837" y="4560887"/>
            <a:ext cx="5853112" cy="4321175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mostrar información innecesaria.</a:t>
            </a:r>
            <a:endParaRPr/>
          </a:p>
        </p:txBody>
      </p:sp>
      <p:sp>
        <p:nvSpPr>
          <p:cNvPr id="313" name="Google Shape;313;p15:notes"/>
          <p:cNvSpPr/>
          <p:nvPr>
            <p:ph idx="2" type="sldImg"/>
          </p:nvPr>
        </p:nvSpPr>
        <p:spPr>
          <a:xfrm>
            <a:off x="1257300" y="719137"/>
            <a:ext cx="4802187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6:notes"/>
          <p:cNvSpPr txBox="1"/>
          <p:nvPr>
            <p:ph idx="1" type="body"/>
          </p:nvPr>
        </p:nvSpPr>
        <p:spPr>
          <a:xfrm>
            <a:off x="731837" y="4560887"/>
            <a:ext cx="5853112" cy="4321175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Los mensajes de error deben: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explicar el problema</a:t>
            </a:r>
            <a:br>
              <a:rPr lang="en-US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decir cómo solucionarlo</a:t>
            </a:r>
            <a:endParaRPr/>
          </a:p>
        </p:txBody>
      </p:sp>
      <p:sp>
        <p:nvSpPr>
          <p:cNvPr id="327" name="Google Shape;327;p16:notes"/>
          <p:cNvSpPr/>
          <p:nvPr>
            <p:ph idx="2" type="sldImg"/>
          </p:nvPr>
        </p:nvSpPr>
        <p:spPr>
          <a:xfrm>
            <a:off x="1257300" y="719137"/>
            <a:ext cx="4802187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7:notes"/>
          <p:cNvSpPr txBox="1"/>
          <p:nvPr>
            <p:ph idx="1" type="body"/>
          </p:nvPr>
        </p:nvSpPr>
        <p:spPr>
          <a:xfrm>
            <a:off x="731837" y="4560887"/>
            <a:ext cx="5853112" cy="4321175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El sistema debería poder usarse </a:t>
            </a:r>
            <a:r>
              <a:rPr b="1" lang="en-US" sz="1100">
                <a:solidFill>
                  <a:schemeClr val="dk1"/>
                </a:solidFill>
              </a:rPr>
              <a:t>sin manual</a:t>
            </a:r>
            <a:r>
              <a:rPr lang="en-US" sz="1100">
                <a:solidFill>
                  <a:schemeClr val="dk1"/>
                </a:solidFill>
              </a:rPr>
              <a:t>, pero si es necesario</a:t>
            </a:r>
            <a:endParaRPr/>
          </a:p>
        </p:txBody>
      </p:sp>
      <p:sp>
        <p:nvSpPr>
          <p:cNvPr id="341" name="Google Shape;341;p17:notes"/>
          <p:cNvSpPr/>
          <p:nvPr>
            <p:ph idx="2" type="sldImg"/>
          </p:nvPr>
        </p:nvSpPr>
        <p:spPr>
          <a:xfrm>
            <a:off x="1257300" y="719137"/>
            <a:ext cx="4802187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" type="body"/>
          </p:nvPr>
        </p:nvSpPr>
        <p:spPr>
          <a:xfrm rot="5400000">
            <a:off x="2396332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23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41" name="Google Shape;41;p2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47" name="Google Shape;47;p24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48" name="Google Shape;48;p2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5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6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9" name="Google Shape;59;p26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1" name="Google Shape;61;p26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1.png"/><Relationship Id="rId5" Type="http://schemas.openxmlformats.org/officeDocument/2006/relationships/image" Target="../media/image4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image" Target="../media/image8.jp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6.png"/><Relationship Id="rId5" Type="http://schemas.openxmlformats.org/officeDocument/2006/relationships/image" Target="../media/image10.jpg"/><Relationship Id="rId6" Type="http://schemas.openxmlformats.org/officeDocument/2006/relationships/image" Target="../media/image5.png"/><Relationship Id="rId7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26.png"/><Relationship Id="rId7" Type="http://schemas.openxmlformats.org/officeDocument/2006/relationships/image" Target="../media/image3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3.gif"/><Relationship Id="rId5" Type="http://schemas.openxmlformats.org/officeDocument/2006/relationships/image" Target="../media/image12.gif"/><Relationship Id="rId6" Type="http://schemas.openxmlformats.org/officeDocument/2006/relationships/image" Target="../media/image24.jpg"/><Relationship Id="rId7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jpg"/><Relationship Id="rId4" Type="http://schemas.openxmlformats.org/officeDocument/2006/relationships/image" Target="../media/image5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4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Relationship Id="rId4" Type="http://schemas.openxmlformats.org/officeDocument/2006/relationships/image" Target="../media/image22.png"/><Relationship Id="rId5" Type="http://schemas.openxmlformats.org/officeDocument/2006/relationships/image" Target="../media/image5.png"/><Relationship Id="rId6" Type="http://schemas.openxmlformats.org/officeDocument/2006/relationships/image" Target="../media/image23.png"/><Relationship Id="rId7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7.jpg"/><Relationship Id="rId4" Type="http://schemas.openxmlformats.org/officeDocument/2006/relationships/image" Target="../media/image30.jpg"/><Relationship Id="rId5" Type="http://schemas.openxmlformats.org/officeDocument/2006/relationships/image" Target="../media/image5.png"/><Relationship Id="rId6" Type="http://schemas.openxmlformats.org/officeDocument/2006/relationships/image" Target="../media/image4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5.png"/><Relationship Id="rId4" Type="http://schemas.openxmlformats.org/officeDocument/2006/relationships/image" Target="../media/image5.png"/><Relationship Id="rId5" Type="http://schemas.openxmlformats.org/officeDocument/2006/relationships/image" Target="../media/image3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31.png"/><Relationship Id="rId5" Type="http://schemas.openxmlformats.org/officeDocument/2006/relationships/image" Target="../media/image4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3.jpg"/><Relationship Id="rId4" Type="http://schemas.openxmlformats.org/officeDocument/2006/relationships/image" Target="../media/image5.png"/><Relationship Id="rId5" Type="http://schemas.openxmlformats.org/officeDocument/2006/relationships/image" Target="../media/image36.png"/><Relationship Id="rId6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190500" y="6477000"/>
            <a:ext cx="8724900" cy="312737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837" y="390525"/>
            <a:ext cx="3571875" cy="83978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1220787" y="808037"/>
            <a:ext cx="2846387" cy="207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>
            <p:ph type="ctrTitle"/>
          </p:nvPr>
        </p:nvSpPr>
        <p:spPr>
          <a:xfrm>
            <a:off x="4176712" y="2608262"/>
            <a:ext cx="4743450" cy="9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20000"/>
              </a:buClr>
              <a:buSzPts val="4400"/>
              <a:buFont typeface="Arial Black"/>
              <a:buNone/>
            </a:pPr>
            <a:r>
              <a:rPr b="1" i="0" lang="en-US" sz="4400" u="none">
                <a:solidFill>
                  <a:srgbClr val="D20000"/>
                </a:solidFill>
                <a:latin typeface="Arial Black"/>
                <a:ea typeface="Arial Black"/>
                <a:cs typeface="Arial Black"/>
                <a:sym typeface="Arial Black"/>
              </a:rPr>
              <a:t>USABILIDAD</a:t>
            </a:r>
            <a:endParaRPr/>
          </a:p>
        </p:txBody>
      </p:sp>
      <p:sp>
        <p:nvSpPr>
          <p:cNvPr id="93" name="Google Shape;93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None/>
            </a:pPr>
            <a:r>
              <a:rPr lang="en-US" sz="2000">
                <a:solidFill>
                  <a:srgbClr val="404040"/>
                </a:solidFill>
              </a:rPr>
              <a:t>César Aguilera Sepúlveda</a:t>
            </a:r>
            <a:r>
              <a:rPr b="0" i="0" lang="en-US" sz="20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None/>
            </a:pPr>
            <a:r>
              <a:rPr i="1" lang="en-US" sz="2000">
                <a:solidFill>
                  <a:srgbClr val="0033CC"/>
                </a:solidFill>
              </a:rPr>
              <a:t>caguilsepulveda@gmail.com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4284662" y="3557587"/>
            <a:ext cx="4325937" cy="87312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USABILIDAD" id="95" name="Google Shape;95;p1"/>
          <p:cNvPicPr preferRelativeResize="0"/>
          <p:nvPr/>
        </p:nvPicPr>
        <p:blipFill rotWithShape="1">
          <a:blip r:embed="rId4">
            <a:alphaModFix/>
          </a:blip>
          <a:srcRect b="10737" l="7325" r="4241" t="8332"/>
          <a:stretch/>
        </p:blipFill>
        <p:spPr>
          <a:xfrm>
            <a:off x="604837" y="1901825"/>
            <a:ext cx="3462337" cy="2513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Descripción generada automáticamente" id="96" name="Google Shape;9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64162" y="274637"/>
            <a:ext cx="3462337" cy="1071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1144587" y="185737"/>
            <a:ext cx="18129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</a:pPr>
            <a:r>
              <a:rPr b="1" i="0" lang="en-US" sz="28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/>
          </a:p>
        </p:txBody>
      </p:sp>
      <p:cxnSp>
        <p:nvCxnSpPr>
          <p:cNvPr id="103" name="Google Shape;103;p2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F559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4" name="Google Shape;104;p2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2/17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814388" y="1158000"/>
            <a:ext cx="75153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Que algo funcione no significa que sea fácil de usar</a:t>
            </a:r>
            <a:endParaRPr/>
          </a:p>
        </p:txBody>
      </p:sp>
      <p:pic>
        <p:nvPicPr>
          <p:cNvPr id="108" name="Google Shape;108;p2" title="ChatGPT Image 12 mar 2026, 10_30_35 p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3725" y="1850675"/>
            <a:ext cx="2962819" cy="4444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13" name="Google Shape;113;g3cfac9bac00_0_33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cfac9bac00_0_33"/>
          <p:cNvSpPr txBox="1"/>
          <p:nvPr/>
        </p:nvSpPr>
        <p:spPr>
          <a:xfrm>
            <a:off x="1144587" y="185737"/>
            <a:ext cx="1812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</a:pPr>
            <a:r>
              <a:rPr b="1" i="0" lang="en-US" sz="28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/>
          </a:p>
        </p:txBody>
      </p:sp>
      <p:cxnSp>
        <p:nvCxnSpPr>
          <p:cNvPr id="115" name="Google Shape;115;g3cfac9bac00_0_33"/>
          <p:cNvCxnSpPr/>
          <p:nvPr/>
        </p:nvCxnSpPr>
        <p:spPr>
          <a:xfrm>
            <a:off x="1206500" y="858837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F559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6" name="Google Shape;116;g3cfac9bac00_0_33"/>
          <p:cNvSpPr txBox="1"/>
          <p:nvPr/>
        </p:nvSpPr>
        <p:spPr>
          <a:xfrm>
            <a:off x="0" y="6537325"/>
            <a:ext cx="85503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17" name="Google Shape;117;g3cfac9bac00_0_33"/>
          <p:cNvSpPr/>
          <p:nvPr/>
        </p:nvSpPr>
        <p:spPr>
          <a:xfrm>
            <a:off x="8421687" y="6418262"/>
            <a:ext cx="795300" cy="4317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cfac9bac00_0_33"/>
          <p:cNvSpPr txBox="1"/>
          <p:nvPr/>
        </p:nvSpPr>
        <p:spPr>
          <a:xfrm>
            <a:off x="8459787" y="6453187"/>
            <a:ext cx="66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2/17</a:t>
            </a:r>
            <a:endParaRPr/>
          </a:p>
        </p:txBody>
      </p:sp>
      <p:sp>
        <p:nvSpPr>
          <p:cNvPr id="119" name="Google Shape;119;g3cfac9bac00_0_33"/>
          <p:cNvSpPr txBox="1"/>
          <p:nvPr/>
        </p:nvSpPr>
        <p:spPr>
          <a:xfrm>
            <a:off x="448500" y="1222325"/>
            <a:ext cx="82470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La usabilidad no es algo aislado. Es parte de un campo más grande llamado </a:t>
            </a:r>
            <a:r>
              <a:rPr lang="en-US" sz="1800">
                <a:solidFill>
                  <a:srgbClr val="0033CC"/>
                </a:solidFill>
              </a:rPr>
              <a:t>Diseño de la interacción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/>
          </a:p>
        </p:txBody>
      </p:sp>
      <p:pic>
        <p:nvPicPr>
          <p:cNvPr descr="El diseño de interacción lo compone: la Experiencia de usuario, HCI y la Usabilidad" id="120" name="Google Shape;120;g3cfac9bac00_0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93512" y="2326312"/>
            <a:ext cx="3586162" cy="207168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cfac9bac00_0_33"/>
          <p:cNvSpPr txBox="1"/>
          <p:nvPr/>
        </p:nvSpPr>
        <p:spPr>
          <a:xfrm>
            <a:off x="448500" y="2519150"/>
            <a:ext cx="4545000" cy="16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compone de tres áreas:</a:t>
            </a:r>
            <a:endParaRPr/>
          </a:p>
          <a:p>
            <a:pPr indent="-571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Experiencia del Usuario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Interacción Humano-Computador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Usabilidad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26" name="Google Shape;126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 txBox="1"/>
          <p:nvPr/>
        </p:nvSpPr>
        <p:spPr>
          <a:xfrm>
            <a:off x="1144587" y="185737"/>
            <a:ext cx="39560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</a:pPr>
            <a:r>
              <a:rPr b="1" i="0" lang="en-US" sz="28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¿QUÉ ES LA USABILIDAD?</a:t>
            </a:r>
            <a:endParaRPr/>
          </a:p>
        </p:txBody>
      </p:sp>
      <p:cxnSp>
        <p:nvCxnSpPr>
          <p:cNvPr id="128" name="Google Shape;128;p3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F559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9" name="Google Shape;129;p3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3/17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485775" y="1287462"/>
            <a:ext cx="75152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Definición coloquial [J. Preece, 1994]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Sistemas fáciles de usar y aprender.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485775" y="2290762"/>
            <a:ext cx="8189912" cy="12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Definición formal [ISO 9241-11]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medida en la que un producto se puede usar por determinados usuarios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conseguir objetivos específicos con efectividad, eficiencia y satisfacción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un contexto de uso especificado.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 txBox="1"/>
          <p:nvPr>
            <p:ph idx="4294967295" type="body"/>
          </p:nvPr>
        </p:nvSpPr>
        <p:spPr>
          <a:xfrm>
            <a:off x="571500" y="1176337"/>
            <a:ext cx="6072187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Entre los principales beneficios se encuentran: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571500" y="3213100"/>
            <a:ext cx="8286750" cy="928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Noto Sans Symbols"/>
              <a:buChar char="⚫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caso real, en 1999, después de ser rediseñado prestándose especial atención a la usabilidad, el sitio web de IBM incrementó sus ventas en un 400% y su tráfico en 120%.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755650" y="1654175"/>
            <a:ext cx="4714875" cy="1487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⚫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Reducción de costos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</a:t>
            </a:r>
            <a:endParaRPr/>
          </a:p>
          <a:p>
            <a:pPr indent="-228599" lvl="1" marL="5476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Char char="⚫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Aprendizaje</a:t>
            </a:r>
            <a:endParaRPr/>
          </a:p>
          <a:p>
            <a:pPr indent="-228599" lvl="1" marL="5476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Char char="⚫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Asistencia y ayuda al usuario</a:t>
            </a:r>
            <a:endParaRPr/>
          </a:p>
          <a:p>
            <a:pPr indent="-228599" lvl="1" marL="5476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Char char="⚫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Diseño, rediseño, mantenimiento</a:t>
            </a:r>
            <a:endParaRPr/>
          </a:p>
        </p:txBody>
      </p:sp>
      <p:pic>
        <p:nvPicPr>
          <p:cNvPr descr="Resultado de imagen para angular logos" id="141" name="Google Shape;141;p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 txBox="1"/>
          <p:nvPr/>
        </p:nvSpPr>
        <p:spPr>
          <a:xfrm>
            <a:off x="1144587" y="185737"/>
            <a:ext cx="47752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</a:pPr>
            <a:r>
              <a:rPr b="1" i="0" lang="en-US" sz="28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BENEFICIOS DE LA USABILIDAD</a:t>
            </a:r>
            <a:endParaRPr/>
          </a:p>
        </p:txBody>
      </p:sp>
      <p:cxnSp>
        <p:nvCxnSpPr>
          <p:cNvPr id="143" name="Google Shape;143;p4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F559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4" name="Google Shape;144;p4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4/17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7740650" y="49212"/>
            <a:ext cx="10985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Calibri"/>
              <a:buNone/>
            </a:pPr>
            <a:r>
              <a:rPr b="1" i="0" lang="en-US" sz="14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USABILIDAD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4970462" y="1689100"/>
            <a:ext cx="4714875" cy="1452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⚫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Mejor calidad de vida del usuario</a:t>
            </a:r>
            <a:endParaRPr/>
          </a:p>
          <a:p>
            <a:pPr indent="-228599" lvl="1" marL="5476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Char char="⚫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Reduce stress</a:t>
            </a:r>
            <a:endParaRPr/>
          </a:p>
          <a:p>
            <a:pPr indent="-228599" lvl="1" marL="5476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Char char="⚫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Incrementa satisfacción</a:t>
            </a:r>
            <a:endParaRPr/>
          </a:p>
          <a:p>
            <a:pPr indent="-228599" lvl="1" marL="5476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Char char="⚫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Incrementa productividad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27537" y="4102100"/>
            <a:ext cx="3116262" cy="2132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 txBox="1"/>
          <p:nvPr>
            <p:ph idx="4294967295" type="body"/>
          </p:nvPr>
        </p:nvSpPr>
        <p:spPr>
          <a:xfrm>
            <a:off x="571500" y="1169987"/>
            <a:ext cx="8143875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3525" lvl="0" marL="263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Existen dos grandes categorías de métodos para evaluar la usabilidad:</a:t>
            </a:r>
            <a:endParaRPr/>
          </a:p>
          <a:p>
            <a:pPr indent="-149225" lvl="0" marL="263525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4" lvl="1" marL="538162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571500" y="1773237"/>
            <a:ext cx="6500812" cy="1601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3524" lvl="1" marL="5381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Char char="⚫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Métodos realizados con usuarios reales.</a:t>
            </a:r>
            <a:endParaRPr/>
          </a:p>
          <a:p>
            <a:pPr indent="-263525" lvl="2" marL="812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6B1AB"/>
              </a:buClr>
              <a:buSzPts val="1530"/>
              <a:buFont typeface="Noto Sans Symbols"/>
              <a:buChar char="⚫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Consiste en pruebas realizadas con usuarios reales para observar y analizar </a:t>
            </a:r>
            <a:r>
              <a:rPr lang="en-US" sz="1800">
                <a:solidFill>
                  <a:schemeClr val="dk1"/>
                </a:solidFill>
              </a:rPr>
              <a:t>cómo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utilizan el sistema, detectando los puntos fuertes y los problemas de usabilidad.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1.bp.blogspot.com/_FF5I-D3GYwY/STZgxLLAECI/AAAAAAAAAQA/F3GGEjhYVk4/s400/MOREAE+1.GIF" id="156" name="Google Shape;15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2312" y="1773237"/>
            <a:ext cx="1601787" cy="1601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usando.info/blog/uploaded_images/20070202_nielsen.jpg" id="157" name="Google Shape;15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0" y="3702050"/>
            <a:ext cx="1266825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58" name="Google Shape;158;p5"/>
          <p:cNvPicPr preferRelativeResize="0"/>
          <p:nvPr/>
        </p:nvPicPr>
        <p:blipFill rotWithShape="1">
          <a:blip r:embed="rId5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5"/>
          <p:cNvSpPr txBox="1"/>
          <p:nvPr/>
        </p:nvSpPr>
        <p:spPr>
          <a:xfrm>
            <a:off x="1144587" y="185737"/>
            <a:ext cx="49593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</a:pPr>
            <a:r>
              <a:rPr b="1" i="0" lang="en-US" sz="28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EVALUACIÓN DE LA USABILIDAD</a:t>
            </a:r>
            <a:endParaRPr/>
          </a:p>
        </p:txBody>
      </p:sp>
      <p:cxnSp>
        <p:nvCxnSpPr>
          <p:cNvPr id="160" name="Google Shape;160;p5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F559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61" name="Google Shape;161;p5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5/17</a:t>
            </a:r>
            <a:endParaRPr/>
          </a:p>
        </p:txBody>
      </p:sp>
      <p:sp>
        <p:nvSpPr>
          <p:cNvPr id="164" name="Google Shape;164;p5"/>
          <p:cNvSpPr txBox="1"/>
          <p:nvPr/>
        </p:nvSpPr>
        <p:spPr>
          <a:xfrm>
            <a:off x="7740650" y="49212"/>
            <a:ext cx="10985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Calibri"/>
              <a:buNone/>
            </a:pPr>
            <a:r>
              <a:rPr b="1" i="0" lang="en-US" sz="14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USABILIDAD</a:t>
            </a:r>
            <a:endParaRPr/>
          </a:p>
        </p:txBody>
      </p:sp>
      <p:sp>
        <p:nvSpPr>
          <p:cNvPr id="165" name="Google Shape;165;p5"/>
          <p:cNvSpPr txBox="1"/>
          <p:nvPr/>
        </p:nvSpPr>
        <p:spPr>
          <a:xfrm>
            <a:off x="571500" y="3702050"/>
            <a:ext cx="6500812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3524" lvl="1" marL="5381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Char char="⚫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Métodos realizados por expertos en usabilidad.</a:t>
            </a:r>
            <a:endParaRPr/>
          </a:p>
          <a:p>
            <a:pPr indent="-263525" lvl="2" marL="812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6B1AB"/>
              </a:buClr>
              <a:buSzPts val="1530"/>
              <a:buFont typeface="Noto Sans Symbols"/>
              <a:buChar char="⚫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Aquí destaca la evaluación Heurística desarrollada por Nielsen y Molich. Consiste en analizar la conformidad de la interfaz con algunos principios de usabilidad establecidos (las heurísticas).</a:t>
            </a:r>
            <a:endParaRPr/>
          </a:p>
          <a:p>
            <a:pPr indent="-166369" lvl="1" marL="53816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>
            <p:ph idx="4294967295" type="body"/>
          </p:nvPr>
        </p:nvSpPr>
        <p:spPr>
          <a:xfrm>
            <a:off x="500062" y="1285875"/>
            <a:ext cx="6072187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3525" lvl="0" marL="2635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Jacob Nielsen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considerado uno de los pioneros en trabajar en usabilidad.</a:t>
            </a:r>
            <a:endParaRPr/>
          </a:p>
          <a:p>
            <a:pPr indent="-149225" lvl="0" marL="263525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63525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Según Nielsen, la usabilidad es una cualidad que determina qué tan fáciles de usar son las interfaces de usuario.</a:t>
            </a:r>
            <a:endParaRPr/>
          </a:p>
        </p:txBody>
      </p:sp>
      <p:pic>
        <p:nvPicPr>
          <p:cNvPr descr="http://www.iscram.org/dmdocuments/ISCRAM2008/BenSchneiderman_small.jpg" id="171" name="Google Shape;171;p6"/>
          <p:cNvPicPr preferRelativeResize="0"/>
          <p:nvPr/>
        </p:nvPicPr>
        <p:blipFill rotWithShape="1">
          <a:blip r:embed="rId3">
            <a:alphaModFix/>
          </a:blip>
          <a:srcRect b="5880" l="0" r="0" t="0"/>
          <a:stretch/>
        </p:blipFill>
        <p:spPr>
          <a:xfrm>
            <a:off x="642937" y="4221162"/>
            <a:ext cx="1643062" cy="206533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6"/>
          <p:cNvSpPr txBox="1"/>
          <p:nvPr/>
        </p:nvSpPr>
        <p:spPr>
          <a:xfrm>
            <a:off x="2357437" y="4214812"/>
            <a:ext cx="6500812" cy="2071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⚫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 Shneiderman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profesor de Informática en el </a:t>
            </a:r>
            <a:r>
              <a:rPr lang="en-US" sz="1800">
                <a:solidFill>
                  <a:schemeClr val="dk1"/>
                </a:solidFill>
              </a:rPr>
              <a:t>Human–Computer Interaction (HCI)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Laboratory en la Universidad de Maryland.</a:t>
            </a:r>
            <a:endParaRPr/>
          </a:p>
          <a:p>
            <a:pPr indent="-175895" lvl="0" marL="2730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⚫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Propone un conjunto de principios o heurísticas aplicable en la mayoría de sistemas interactivos, se denominan “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Reglas de oro en Diseño de Interfaces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darmano.typepad.com/logic_emotion/images/nielson_1.jpg" id="173" name="Google Shape;173;p6"/>
          <p:cNvPicPr preferRelativeResize="0"/>
          <p:nvPr/>
        </p:nvPicPr>
        <p:blipFill rotWithShape="1">
          <a:blip r:embed="rId4">
            <a:alphaModFix/>
          </a:blip>
          <a:srcRect b="14285" l="0" r="0" t="0"/>
          <a:stretch/>
        </p:blipFill>
        <p:spPr>
          <a:xfrm>
            <a:off x="7072312" y="1214437"/>
            <a:ext cx="1677987" cy="18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6"/>
          <p:cNvSpPr txBox="1"/>
          <p:nvPr/>
        </p:nvSpPr>
        <p:spPr>
          <a:xfrm>
            <a:off x="500062" y="3286125"/>
            <a:ext cx="8286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3525" lvl="0" marL="263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Noto Sans Symbols"/>
              <a:buChar char="⚫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Propone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heurísticas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 sirven para el diseño de interfaces en general.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angular logos" id="175" name="Google Shape;175;p6"/>
          <p:cNvPicPr preferRelativeResize="0"/>
          <p:nvPr/>
        </p:nvPicPr>
        <p:blipFill rotWithShape="1">
          <a:blip r:embed="rId5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 txBox="1"/>
          <p:nvPr/>
        </p:nvSpPr>
        <p:spPr>
          <a:xfrm>
            <a:off x="1144587" y="185737"/>
            <a:ext cx="36560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</a:pPr>
            <a:r>
              <a:rPr b="1" i="0" lang="en-US" sz="28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GURÚS EN USABILIDAD</a:t>
            </a:r>
            <a:endParaRPr/>
          </a:p>
        </p:txBody>
      </p:sp>
      <p:cxnSp>
        <p:nvCxnSpPr>
          <p:cNvPr id="177" name="Google Shape;177;p6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F559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78" name="Google Shape;178;p6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6/17</a:t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7740650" y="49212"/>
            <a:ext cx="10985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Calibri"/>
              <a:buNone/>
            </a:pPr>
            <a:r>
              <a:rPr b="1" i="0" lang="en-US" sz="14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USABILIDAD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"/>
          <p:cNvSpPr txBox="1"/>
          <p:nvPr>
            <p:ph idx="4294967295" type="body"/>
          </p:nvPr>
        </p:nvSpPr>
        <p:spPr>
          <a:xfrm>
            <a:off x="1028700" y="1143000"/>
            <a:ext cx="81153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N° 1: Visibilidad y estatus de la aplicación</a:t>
            </a:r>
            <a:endParaRPr/>
          </a:p>
          <a:p>
            <a:pPr indent="-228600" lvl="0" marL="3429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4" lvl="1" marL="538162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Siempre se debe mantener a los usuarios informados del estado del sistema, con una realimentación apropiada y en un tiempo razonable. </a:t>
            </a:r>
            <a:endParaRPr/>
          </a:p>
          <a:p>
            <a:pPr indent="-5715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azam" id="187" name="Google Shape;18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8775" y="3308350"/>
            <a:ext cx="1714500" cy="2928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building-iphone-apps.labs.oreilly.com/figs/web/bipa_0301.png" id="188" name="Google Shape;188;p7"/>
          <p:cNvPicPr preferRelativeResize="0"/>
          <p:nvPr/>
        </p:nvPicPr>
        <p:blipFill rotWithShape="1">
          <a:blip r:embed="rId4">
            <a:alphaModFix/>
          </a:blip>
          <a:srcRect b="17947" l="11830" r="10093" t="17948"/>
          <a:stretch/>
        </p:blipFill>
        <p:spPr>
          <a:xfrm>
            <a:off x="3414712" y="3344862"/>
            <a:ext cx="1908175" cy="289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iskyapps.com/iskyhome06b.jpg" id="189" name="Google Shape;18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4962" y="3308350"/>
            <a:ext cx="2036762" cy="2928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90" name="Google Shape;190;p7"/>
          <p:cNvPicPr preferRelativeResize="0"/>
          <p:nvPr/>
        </p:nvPicPr>
        <p:blipFill rotWithShape="1">
          <a:blip r:embed="rId6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7"/>
          <p:cNvSpPr txBox="1"/>
          <p:nvPr/>
        </p:nvSpPr>
        <p:spPr>
          <a:xfrm>
            <a:off x="1144587" y="185737"/>
            <a:ext cx="49815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</a:pPr>
            <a:r>
              <a:rPr b="1" i="0" lang="en-US" sz="28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HEURÍSTICAS DE JACOB NIELSEN</a:t>
            </a:r>
            <a:endParaRPr/>
          </a:p>
        </p:txBody>
      </p:sp>
      <p:cxnSp>
        <p:nvCxnSpPr>
          <p:cNvPr id="192" name="Google Shape;192;p7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F559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93" name="Google Shape;193;p7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7/17</a:t>
            </a:r>
            <a:endParaRPr/>
          </a:p>
        </p:txBody>
      </p:sp>
      <p:sp>
        <p:nvSpPr>
          <p:cNvPr id="196" name="Google Shape;196;p7"/>
          <p:cNvSpPr txBox="1"/>
          <p:nvPr/>
        </p:nvSpPr>
        <p:spPr>
          <a:xfrm>
            <a:off x="7740650" y="49212"/>
            <a:ext cx="10985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Calibri"/>
              <a:buNone/>
            </a:pPr>
            <a:r>
              <a:rPr b="1" i="0" lang="en-US" sz="14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USABILIDAD</a:t>
            </a:r>
            <a:endParaRPr/>
          </a:p>
        </p:txBody>
      </p:sp>
      <p:pic>
        <p:nvPicPr>
          <p:cNvPr id="197" name="Google Shape;19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84412" y="2735262"/>
            <a:ext cx="3981450" cy="334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/>
          <p:cNvSpPr txBox="1"/>
          <p:nvPr>
            <p:ph idx="4294967295" type="body"/>
          </p:nvPr>
        </p:nvSpPr>
        <p:spPr>
          <a:xfrm>
            <a:off x="1028700" y="1143000"/>
            <a:ext cx="6351587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N° 1: Visibilidad y estatus de la aplicación …</a:t>
            </a:r>
            <a:endParaRPr/>
          </a:p>
          <a:p>
            <a:pPr indent="-4445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angular logos" id="203" name="Google Shape;203;p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8"/>
          <p:cNvSpPr txBox="1"/>
          <p:nvPr/>
        </p:nvSpPr>
        <p:spPr>
          <a:xfrm>
            <a:off x="1144587" y="185737"/>
            <a:ext cx="49815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</a:pPr>
            <a:r>
              <a:rPr b="1" i="0" lang="en-US" sz="28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HEURÍSTICAS DE JACOB NIELSEN</a:t>
            </a:r>
            <a:endParaRPr/>
          </a:p>
        </p:txBody>
      </p:sp>
      <p:cxnSp>
        <p:nvCxnSpPr>
          <p:cNvPr id="205" name="Google Shape;205;p8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F559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06" name="Google Shape;206;p8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8/17</a:t>
            </a:r>
            <a:endParaRPr/>
          </a:p>
        </p:txBody>
      </p:sp>
      <p:sp>
        <p:nvSpPr>
          <p:cNvPr id="209" name="Google Shape;209;p8"/>
          <p:cNvSpPr txBox="1"/>
          <p:nvPr/>
        </p:nvSpPr>
        <p:spPr>
          <a:xfrm>
            <a:off x="7740650" y="49212"/>
            <a:ext cx="10985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Calibri"/>
              <a:buNone/>
            </a:pPr>
            <a:r>
              <a:rPr b="1" i="0" lang="en-US" sz="14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USABILIDAD</a:t>
            </a:r>
            <a:endParaRPr/>
          </a:p>
        </p:txBody>
      </p:sp>
      <p:pic>
        <p:nvPicPr>
          <p:cNvPr id="210" name="Google Shape;21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5137" y="1773237"/>
            <a:ext cx="3808412" cy="2036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8"/>
          <p:cNvPicPr preferRelativeResize="0"/>
          <p:nvPr/>
        </p:nvPicPr>
        <p:blipFill rotWithShape="1">
          <a:blip r:embed="rId5">
            <a:alphaModFix/>
          </a:blip>
          <a:srcRect b="47111" l="0" r="0" t="0"/>
          <a:stretch/>
        </p:blipFill>
        <p:spPr>
          <a:xfrm>
            <a:off x="5148262" y="4302125"/>
            <a:ext cx="2338387" cy="13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46200" y="1882775"/>
            <a:ext cx="213995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8"/>
          <p:cNvPicPr preferRelativeResize="0"/>
          <p:nvPr/>
        </p:nvPicPr>
        <p:blipFill rotWithShape="1">
          <a:blip r:embed="rId7">
            <a:alphaModFix/>
          </a:blip>
          <a:srcRect b="20600" l="13194" r="50000" t="42999"/>
          <a:stretch/>
        </p:blipFill>
        <p:spPr>
          <a:xfrm>
            <a:off x="1144587" y="4098925"/>
            <a:ext cx="3365500" cy="1871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"/>
          <p:cNvSpPr txBox="1"/>
          <p:nvPr>
            <p:ph idx="4294967295" type="body"/>
          </p:nvPr>
        </p:nvSpPr>
        <p:spPr>
          <a:xfrm>
            <a:off x="1000125" y="1143000"/>
            <a:ext cx="8143875" cy="500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0362" lvl="0" marL="3603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N° 2: Correspondencia entre la aplicación y el mundo real</a:t>
            </a:r>
            <a:endParaRPr/>
          </a:p>
        </p:txBody>
      </p:sp>
      <p:sp>
        <p:nvSpPr>
          <p:cNvPr id="219" name="Google Shape;219;p9"/>
          <p:cNvSpPr txBox="1"/>
          <p:nvPr/>
        </p:nvSpPr>
        <p:spPr>
          <a:xfrm>
            <a:off x="571500" y="1785937"/>
            <a:ext cx="6143625" cy="140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0362" lvl="1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debe hablar el lenguaje de los usuarios, con las palabras, las frases y los conceptos familiares, en lugar de que los términos estén orientados al sistema. Utilizar convenciones del mundo real, haciendo que la información aparezca en un orden natural y lógico.</a:t>
            </a:r>
            <a:endParaRPr/>
          </a:p>
        </p:txBody>
      </p:sp>
      <p:pic>
        <p:nvPicPr>
          <p:cNvPr descr="Resultado de imagen para angular logos" id="220" name="Google Shape;220;p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9"/>
          <p:cNvSpPr txBox="1"/>
          <p:nvPr/>
        </p:nvSpPr>
        <p:spPr>
          <a:xfrm>
            <a:off x="1144587" y="185737"/>
            <a:ext cx="49815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</a:pPr>
            <a:r>
              <a:rPr b="1" i="0" lang="en-US" sz="28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HEURÍSTICAS DE JACOB NIELSEN</a:t>
            </a:r>
            <a:endParaRPr/>
          </a:p>
        </p:txBody>
      </p:sp>
      <p:cxnSp>
        <p:nvCxnSpPr>
          <p:cNvPr id="222" name="Google Shape;222;p9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F559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23" name="Google Shape;223;p9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9/17</a:t>
            </a:r>
            <a:endParaRPr/>
          </a:p>
        </p:txBody>
      </p:sp>
      <p:sp>
        <p:nvSpPr>
          <p:cNvPr id="226" name="Google Shape;226;p9"/>
          <p:cNvSpPr txBox="1"/>
          <p:nvPr/>
        </p:nvSpPr>
        <p:spPr>
          <a:xfrm>
            <a:off x="7740650" y="49212"/>
            <a:ext cx="10985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Calibri"/>
              <a:buNone/>
            </a:pPr>
            <a:r>
              <a:rPr b="1" i="0" lang="en-US" sz="14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USABILIDAD</a:t>
            </a:r>
            <a:endParaRPr/>
          </a:p>
        </p:txBody>
      </p:sp>
      <p:pic>
        <p:nvPicPr>
          <p:cNvPr descr="a white trash can with blue arrows on it (proporcionado por Tenor)" id="227" name="Google Shape;227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8175" y="1795462"/>
            <a:ext cx="1851025" cy="185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battery is glowing in the dark on a black surface (proporcionado por Tenor)" id="228" name="Google Shape;228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2725" y="3429000"/>
            <a:ext cx="2464734" cy="185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catchapp.net/appss/299/299852753_0.jpg" id="229" name="Google Shape;229;p9"/>
          <p:cNvPicPr preferRelativeResize="0"/>
          <p:nvPr/>
        </p:nvPicPr>
        <p:blipFill rotWithShape="1">
          <a:blip r:embed="rId6">
            <a:alphaModFix/>
          </a:blip>
          <a:srcRect b="0" l="5262" r="10525" t="0"/>
          <a:stretch/>
        </p:blipFill>
        <p:spPr>
          <a:xfrm>
            <a:off x="612775" y="4271962"/>
            <a:ext cx="2582862" cy="204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97733" y="3798887"/>
            <a:ext cx="3922712" cy="2446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 txBox="1"/>
          <p:nvPr>
            <p:ph idx="4294967295" type="body"/>
          </p:nvPr>
        </p:nvSpPr>
        <p:spPr>
          <a:xfrm>
            <a:off x="1028700" y="1143000"/>
            <a:ext cx="7521575" cy="2071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0362" lvl="0" marL="3603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N° 3: Control y libertad para el usuario</a:t>
            </a:r>
            <a:endParaRPr/>
          </a:p>
          <a:p>
            <a:pPr indent="-296862" lvl="0" marL="360362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0362" lvl="1" marL="635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usuarios eligen a veces funciones del sistema por error y necesitan a menudo una salida de emergencia claramente marcada, esto es, salir del estado indeseado sin tener que pasar por un diálogo extendido. Es importante disponer de deshacer y rehacer.</a:t>
            </a:r>
            <a:endParaRPr/>
          </a:p>
          <a:p>
            <a:pPr indent="-5715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gigapple.files.wordpress.com/2008/10/iphone-cancel-sms.jpg" id="236" name="Google Shape;236;p10"/>
          <p:cNvPicPr preferRelativeResize="0"/>
          <p:nvPr/>
        </p:nvPicPr>
        <p:blipFill rotWithShape="1">
          <a:blip r:embed="rId3">
            <a:alphaModFix/>
          </a:blip>
          <a:srcRect b="0" l="0" r="0" t="3854"/>
          <a:stretch/>
        </p:blipFill>
        <p:spPr>
          <a:xfrm>
            <a:off x="1047750" y="3154362"/>
            <a:ext cx="2187575" cy="31543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37" name="Google Shape;237;p10"/>
          <p:cNvSpPr/>
          <p:nvPr/>
        </p:nvSpPr>
        <p:spPr>
          <a:xfrm>
            <a:off x="2605087" y="3036887"/>
            <a:ext cx="742950" cy="642937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angular logos" id="238" name="Google Shape;238;p10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0"/>
          <p:cNvSpPr txBox="1"/>
          <p:nvPr/>
        </p:nvSpPr>
        <p:spPr>
          <a:xfrm>
            <a:off x="1144587" y="185737"/>
            <a:ext cx="49815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</a:pPr>
            <a:r>
              <a:rPr b="1" i="0" lang="en-US" sz="28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HEURÍSTICAS DE JACOB NIELSEN</a:t>
            </a:r>
            <a:endParaRPr/>
          </a:p>
        </p:txBody>
      </p:sp>
      <p:cxnSp>
        <p:nvCxnSpPr>
          <p:cNvPr id="240" name="Google Shape;240;p10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F559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41" name="Google Shape;241;p10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10/17</a:t>
            </a:r>
            <a:endParaRPr/>
          </a:p>
        </p:txBody>
      </p:sp>
      <p:sp>
        <p:nvSpPr>
          <p:cNvPr id="244" name="Google Shape;244;p10"/>
          <p:cNvSpPr txBox="1"/>
          <p:nvPr/>
        </p:nvSpPr>
        <p:spPr>
          <a:xfrm>
            <a:off x="7740650" y="49212"/>
            <a:ext cx="10985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Calibri"/>
              <a:buNone/>
            </a:pPr>
            <a:r>
              <a:rPr b="1" i="0" lang="en-US" sz="14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USABILIDAD</a:t>
            </a:r>
            <a:endParaRPr/>
          </a:p>
        </p:txBody>
      </p:sp>
      <p:pic>
        <p:nvPicPr>
          <p:cNvPr id="245" name="Google Shape;24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35525" y="3009900"/>
            <a:ext cx="3863975" cy="1646237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0"/>
          <p:cNvSpPr/>
          <p:nvPr/>
        </p:nvSpPr>
        <p:spPr>
          <a:xfrm>
            <a:off x="7380287" y="3249612"/>
            <a:ext cx="1079500" cy="595312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10"/>
          <p:cNvPicPr preferRelativeResize="0"/>
          <p:nvPr/>
        </p:nvPicPr>
        <p:blipFill rotWithShape="1">
          <a:blip r:embed="rId6">
            <a:alphaModFix/>
          </a:blip>
          <a:srcRect b="13929" l="0" r="0" t="0"/>
          <a:stretch/>
        </p:blipFill>
        <p:spPr>
          <a:xfrm>
            <a:off x="3732212" y="4876800"/>
            <a:ext cx="2474912" cy="1366837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0"/>
          <p:cNvSpPr/>
          <p:nvPr/>
        </p:nvSpPr>
        <p:spPr>
          <a:xfrm>
            <a:off x="3635375" y="5392737"/>
            <a:ext cx="1657350" cy="642937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"/>
          <p:cNvSpPr txBox="1"/>
          <p:nvPr>
            <p:ph idx="4294967295" type="body"/>
          </p:nvPr>
        </p:nvSpPr>
        <p:spPr>
          <a:xfrm>
            <a:off x="1028700" y="1143000"/>
            <a:ext cx="81153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3525" lvl="0" marL="2635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N° 4: Prevención de errores</a:t>
            </a:r>
            <a:endParaRPr/>
          </a:p>
          <a:p>
            <a:pPr indent="-149225" lvl="0" marL="263525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51435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importante prevenir la aparición de errores que generar buenos mensajes de error.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pic>
        <p:nvPicPr>
          <p:cNvPr descr="Resultado de imagen para angular logos" id="254" name="Google Shape;254;p11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1"/>
          <p:cNvSpPr txBox="1"/>
          <p:nvPr/>
        </p:nvSpPr>
        <p:spPr>
          <a:xfrm>
            <a:off x="1144587" y="185737"/>
            <a:ext cx="49815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</a:pPr>
            <a:r>
              <a:rPr b="1" i="0" lang="en-US" sz="28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HEURÍSTICAS DE JACOB NIELSEN</a:t>
            </a:r>
            <a:endParaRPr/>
          </a:p>
        </p:txBody>
      </p:sp>
      <p:cxnSp>
        <p:nvCxnSpPr>
          <p:cNvPr id="256" name="Google Shape;256;p11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F559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57" name="Google Shape;257;p11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1117</a:t>
            </a:r>
            <a:endParaRPr/>
          </a:p>
        </p:txBody>
      </p:sp>
      <p:sp>
        <p:nvSpPr>
          <p:cNvPr id="260" name="Google Shape;260;p11"/>
          <p:cNvSpPr txBox="1"/>
          <p:nvPr/>
        </p:nvSpPr>
        <p:spPr>
          <a:xfrm>
            <a:off x="7740650" y="49212"/>
            <a:ext cx="10985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Calibri"/>
              <a:buNone/>
            </a:pPr>
            <a:r>
              <a:rPr b="1" i="0" lang="en-US" sz="14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USABILIDAD</a:t>
            </a:r>
            <a:endParaRPr/>
          </a:p>
        </p:txBody>
      </p:sp>
      <p:pic>
        <p:nvPicPr>
          <p:cNvPr id="261" name="Google Shape;261;p11"/>
          <p:cNvPicPr preferRelativeResize="0"/>
          <p:nvPr/>
        </p:nvPicPr>
        <p:blipFill rotWithShape="1">
          <a:blip r:embed="rId4">
            <a:alphaModFix/>
          </a:blip>
          <a:srcRect b="44400" l="51574" r="21032" t="22154"/>
          <a:stretch/>
        </p:blipFill>
        <p:spPr>
          <a:xfrm>
            <a:off x="4970462" y="3038475"/>
            <a:ext cx="3228975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1"/>
          <p:cNvPicPr preferRelativeResize="0"/>
          <p:nvPr/>
        </p:nvPicPr>
        <p:blipFill rotWithShape="1">
          <a:blip r:embed="rId5">
            <a:alphaModFix/>
          </a:blip>
          <a:srcRect b="55763" l="20152" r="52453" t="26037"/>
          <a:stretch/>
        </p:blipFill>
        <p:spPr>
          <a:xfrm>
            <a:off x="1209675" y="2749550"/>
            <a:ext cx="3281362" cy="1227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jakob nielsen heuristics web examples flexibility" id="263" name="Google Shape;26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8087" y="4276725"/>
            <a:ext cx="3151187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"/>
          <p:cNvSpPr txBox="1"/>
          <p:nvPr>
            <p:ph idx="4294967295" type="body"/>
          </p:nvPr>
        </p:nvSpPr>
        <p:spPr>
          <a:xfrm>
            <a:off x="1028700" y="1143000"/>
            <a:ext cx="8115300" cy="1928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3525" lvl="0" marL="263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N° 5: Consistencia y estándares</a:t>
            </a:r>
            <a:endParaRPr/>
          </a:p>
          <a:p>
            <a:pPr indent="-149225" lvl="0" marL="263525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usuarios no deben tener que preguntarse si las diversas palabras, situaciones, o acciones significan la misma cosa. En general siga las normas y convenciones de la plataforma sobre la que está implementando el sistema.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985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angular logos" id="269" name="Google Shape;269;p1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2"/>
          <p:cNvSpPr txBox="1"/>
          <p:nvPr/>
        </p:nvSpPr>
        <p:spPr>
          <a:xfrm>
            <a:off x="1144587" y="185737"/>
            <a:ext cx="49815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</a:pPr>
            <a:r>
              <a:rPr b="1" i="0" lang="en-US" sz="28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HEURÍSTICAS DE JACOB NIELSEN</a:t>
            </a:r>
            <a:endParaRPr/>
          </a:p>
        </p:txBody>
      </p:sp>
      <p:cxnSp>
        <p:nvCxnSpPr>
          <p:cNvPr id="271" name="Google Shape;271;p12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F559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72" name="Google Shape;272;p12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12/17</a:t>
            </a:r>
            <a:endParaRPr/>
          </a:p>
        </p:txBody>
      </p:sp>
      <p:sp>
        <p:nvSpPr>
          <p:cNvPr id="275" name="Google Shape;275;p12"/>
          <p:cNvSpPr txBox="1"/>
          <p:nvPr/>
        </p:nvSpPr>
        <p:spPr>
          <a:xfrm>
            <a:off x="7740650" y="49212"/>
            <a:ext cx="10985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Calibri"/>
              <a:buNone/>
            </a:pPr>
            <a:r>
              <a:rPr b="1" i="0" lang="en-US" sz="14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USABILIDAD</a:t>
            </a:r>
            <a:endParaRPr/>
          </a:p>
        </p:txBody>
      </p:sp>
      <p:pic>
        <p:nvPicPr>
          <p:cNvPr descr="Resultado de imagen para bootstrap interface" id="276" name="Google Shape;27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3450" y="2951162"/>
            <a:ext cx="5345112" cy="3141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droid material standar interface" id="277" name="Google Shape;27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7175" y="2951162"/>
            <a:ext cx="1766887" cy="31416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"/>
          <p:cNvSpPr txBox="1"/>
          <p:nvPr>
            <p:ph idx="4294967295" type="body"/>
          </p:nvPr>
        </p:nvSpPr>
        <p:spPr>
          <a:xfrm>
            <a:off x="1028700" y="1143000"/>
            <a:ext cx="7810500" cy="157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3525" lvl="0" marL="263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N° 6: Reconocimiento más que recuerdo</a:t>
            </a:r>
            <a:endParaRPr/>
          </a:p>
          <a:p>
            <a:pPr indent="-149225" lvl="0" marL="263525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4" lvl="1" marL="538162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usuario no debería tener que recordar la información de una parte del diálogo a la otra. Es mejor mantener objetos, acciones, y las opciones visibles que memorizar.</a:t>
            </a:r>
            <a:endParaRPr/>
          </a:p>
        </p:txBody>
      </p:sp>
      <p:pic>
        <p:nvPicPr>
          <p:cNvPr descr="IMG_0468" id="283" name="Google Shape;283;p13"/>
          <p:cNvPicPr preferRelativeResize="0"/>
          <p:nvPr/>
        </p:nvPicPr>
        <p:blipFill rotWithShape="1">
          <a:blip r:embed="rId3">
            <a:alphaModFix/>
          </a:blip>
          <a:srcRect b="0" l="0" r="0" t="4362"/>
          <a:stretch/>
        </p:blipFill>
        <p:spPr>
          <a:xfrm>
            <a:off x="1144587" y="2857500"/>
            <a:ext cx="2203450" cy="316071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descr="http://argentina.blog.nimbuzz.com/files/2009/12/Iphone-2.0-historial-chat-nimbuzz.png" id="284" name="Google Shape;284;p13"/>
          <p:cNvPicPr preferRelativeResize="0"/>
          <p:nvPr/>
        </p:nvPicPr>
        <p:blipFill rotWithShape="1">
          <a:blip r:embed="rId4">
            <a:alphaModFix/>
          </a:blip>
          <a:srcRect b="26634" l="11830" r="10093" t="20512"/>
          <a:stretch/>
        </p:blipFill>
        <p:spPr>
          <a:xfrm>
            <a:off x="3827462" y="2836862"/>
            <a:ext cx="1958975" cy="24479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descr="Resultado de imagen para angular logos" id="285" name="Google Shape;285;p13"/>
          <p:cNvPicPr preferRelativeResize="0"/>
          <p:nvPr/>
        </p:nvPicPr>
        <p:blipFill rotWithShape="1">
          <a:blip r:embed="rId5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3"/>
          <p:cNvSpPr txBox="1"/>
          <p:nvPr/>
        </p:nvSpPr>
        <p:spPr>
          <a:xfrm>
            <a:off x="1144587" y="185737"/>
            <a:ext cx="49815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</a:pPr>
            <a:r>
              <a:rPr b="1" i="0" lang="en-US" sz="28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HEURÍSTICAS DE JACOB NIELSEN</a:t>
            </a:r>
            <a:endParaRPr/>
          </a:p>
        </p:txBody>
      </p:sp>
      <p:cxnSp>
        <p:nvCxnSpPr>
          <p:cNvPr id="287" name="Google Shape;287;p13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F559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88" name="Google Shape;288;p13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13/17</a:t>
            </a:r>
            <a:endParaRPr/>
          </a:p>
        </p:txBody>
      </p:sp>
      <p:sp>
        <p:nvSpPr>
          <p:cNvPr id="291" name="Google Shape;291;p13"/>
          <p:cNvSpPr txBox="1"/>
          <p:nvPr/>
        </p:nvSpPr>
        <p:spPr>
          <a:xfrm>
            <a:off x="7740650" y="49212"/>
            <a:ext cx="10985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Calibri"/>
              <a:buNone/>
            </a:pPr>
            <a:r>
              <a:rPr b="1" i="0" lang="en-US" sz="14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USABILIDAD</a:t>
            </a:r>
            <a:endParaRPr/>
          </a:p>
        </p:txBody>
      </p:sp>
      <p:pic>
        <p:nvPicPr>
          <p:cNvPr id="292" name="Google Shape;292;p13"/>
          <p:cNvPicPr preferRelativeResize="0"/>
          <p:nvPr/>
        </p:nvPicPr>
        <p:blipFill rotWithShape="1">
          <a:blip r:embed="rId6">
            <a:alphaModFix/>
          </a:blip>
          <a:srcRect b="26199" l="20863" r="60237" t="28999"/>
          <a:stretch/>
        </p:blipFill>
        <p:spPr>
          <a:xfrm>
            <a:off x="6303962" y="2851150"/>
            <a:ext cx="189230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11637" y="5526087"/>
            <a:ext cx="2414587" cy="804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"/>
          <p:cNvSpPr txBox="1"/>
          <p:nvPr>
            <p:ph idx="4294967295" type="body"/>
          </p:nvPr>
        </p:nvSpPr>
        <p:spPr>
          <a:xfrm>
            <a:off x="1028700" y="1143000"/>
            <a:ext cx="7704137" cy="2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3525" lvl="0" marL="2635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N° 7: Flexibilidad y eficiencia de uso</a:t>
            </a:r>
            <a:endParaRPr/>
          </a:p>
          <a:p>
            <a:pPr indent="-212725" lvl="0" marL="263525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51435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instrucciones para el uso del sistema deben ser visibles o fácilmente accesibles siempre que se necesiten. </a:t>
            </a:r>
            <a:endParaRPr/>
          </a:p>
          <a:p>
            <a:pPr indent="-171450" lvl="1" marL="51435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aceleradores no vistos por el usuario principiante, mejoran la interacción para el usuario experto de tal manera que el sistema puede servir para usuario inexpertos y experimentados. Es importante que el sistema permita personalizar acciones frecuentes. </a:t>
            </a:r>
            <a:endParaRPr/>
          </a:p>
        </p:txBody>
      </p:sp>
      <p:pic>
        <p:nvPicPr>
          <p:cNvPr descr="urban-search" id="299" name="Google Shape;2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9225" y="3357562"/>
            <a:ext cx="18288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technologymavin.files.wordpress.com/2009/07/iphone.jpg" id="300" name="Google Shape;3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5362" y="3357562"/>
            <a:ext cx="18288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4"/>
          <p:cNvSpPr/>
          <p:nvPr/>
        </p:nvSpPr>
        <p:spPr>
          <a:xfrm>
            <a:off x="1144587" y="3638550"/>
            <a:ext cx="1698625" cy="1443037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14"/>
          <p:cNvCxnSpPr/>
          <p:nvPr/>
        </p:nvCxnSpPr>
        <p:spPr>
          <a:xfrm rot="10800000">
            <a:off x="4579937" y="4037012"/>
            <a:ext cx="658812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pic>
        <p:nvPicPr>
          <p:cNvPr descr="Resultado de imagen para angular logos" id="303" name="Google Shape;303;p14"/>
          <p:cNvPicPr preferRelativeResize="0"/>
          <p:nvPr/>
        </p:nvPicPr>
        <p:blipFill rotWithShape="1">
          <a:blip r:embed="rId5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4"/>
          <p:cNvSpPr txBox="1"/>
          <p:nvPr/>
        </p:nvSpPr>
        <p:spPr>
          <a:xfrm>
            <a:off x="1144587" y="185737"/>
            <a:ext cx="49815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</a:pPr>
            <a:r>
              <a:rPr b="1" i="0" lang="en-US" sz="28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HEURÍSTICAS DE JACOB NIELSEN</a:t>
            </a:r>
            <a:endParaRPr/>
          </a:p>
        </p:txBody>
      </p:sp>
      <p:cxnSp>
        <p:nvCxnSpPr>
          <p:cNvPr id="305" name="Google Shape;305;p14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F559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06" name="Google Shape;306;p14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307" name="Google Shape;307;p14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14/17</a:t>
            </a:r>
            <a:endParaRPr/>
          </a:p>
        </p:txBody>
      </p:sp>
      <p:sp>
        <p:nvSpPr>
          <p:cNvPr id="309" name="Google Shape;309;p14"/>
          <p:cNvSpPr txBox="1"/>
          <p:nvPr/>
        </p:nvSpPr>
        <p:spPr>
          <a:xfrm>
            <a:off x="7740650" y="49212"/>
            <a:ext cx="10985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Calibri"/>
              <a:buNone/>
            </a:pPr>
            <a:r>
              <a:rPr b="1" i="0" lang="en-US" sz="14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USABILIDAD</a:t>
            </a:r>
            <a:endParaRPr/>
          </a:p>
        </p:txBody>
      </p:sp>
      <p:pic>
        <p:nvPicPr>
          <p:cNvPr descr="Resultado de imagen para icono compartir redes sociales" id="310" name="Google Shape;31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03862" y="3570287"/>
            <a:ext cx="2911475" cy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5"/>
          <p:cNvSpPr txBox="1"/>
          <p:nvPr>
            <p:ph idx="4294967295" type="body"/>
          </p:nvPr>
        </p:nvSpPr>
        <p:spPr>
          <a:xfrm>
            <a:off x="1028700" y="1143000"/>
            <a:ext cx="8115300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3525" lvl="0" marL="263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N° 8: Estética y diseño minimalista</a:t>
            </a:r>
            <a:endParaRPr/>
          </a:p>
          <a:p>
            <a:pPr indent="-149225" lvl="0" marL="263525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deben contener la información que sea inaplicable o se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necesita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raramente. Cada unidad adicional de la información en un diálogo compite con las unidades relevantes de la información y disminuye su visibilidad relativa. 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pic>
        <p:nvPicPr>
          <p:cNvPr descr="IMG_0462" id="316" name="Google Shape;3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9250" y="3141662"/>
            <a:ext cx="19050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17" name="Google Shape;317;p15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5"/>
          <p:cNvSpPr txBox="1"/>
          <p:nvPr/>
        </p:nvSpPr>
        <p:spPr>
          <a:xfrm>
            <a:off x="1144587" y="185737"/>
            <a:ext cx="49815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</a:pPr>
            <a:r>
              <a:rPr b="1" i="0" lang="en-US" sz="28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HEURÍSTICAS DE JACOB NIELSEN</a:t>
            </a:r>
            <a:endParaRPr/>
          </a:p>
        </p:txBody>
      </p:sp>
      <p:cxnSp>
        <p:nvCxnSpPr>
          <p:cNvPr id="319" name="Google Shape;319;p15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F559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20" name="Google Shape;320;p15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321" name="Google Shape;321;p15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15/17</a:t>
            </a:r>
            <a:endParaRPr/>
          </a:p>
        </p:txBody>
      </p:sp>
      <p:sp>
        <p:nvSpPr>
          <p:cNvPr id="323" name="Google Shape;323;p15"/>
          <p:cNvSpPr txBox="1"/>
          <p:nvPr/>
        </p:nvSpPr>
        <p:spPr>
          <a:xfrm>
            <a:off x="7740650" y="49212"/>
            <a:ext cx="10985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Calibri"/>
              <a:buNone/>
            </a:pPr>
            <a:r>
              <a:rPr b="1" i="0" lang="en-US" sz="14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USABILIDAD</a:t>
            </a:r>
            <a:endParaRPr/>
          </a:p>
        </p:txBody>
      </p:sp>
      <p:pic>
        <p:nvPicPr>
          <p:cNvPr descr="Resultado de imagen para diseÃ±o web minimalista ejemplos" id="324" name="Google Shape;32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0787" y="3179762"/>
            <a:ext cx="4524375" cy="28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6"/>
          <p:cNvSpPr txBox="1"/>
          <p:nvPr>
            <p:ph idx="4294967295" type="body"/>
          </p:nvPr>
        </p:nvSpPr>
        <p:spPr>
          <a:xfrm>
            <a:off x="1028700" y="1143000"/>
            <a:ext cx="81153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3525" lvl="0" marL="2635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N° 9: Ayuda a los usuarios para reconocer, diagnosticar y recuperar errores</a:t>
            </a:r>
            <a:endParaRPr/>
          </a:p>
          <a:p>
            <a:pPr indent="-149225" lvl="0" marL="263525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51435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mensajes de error se deben expresar en un lenguaje claro, se debe indicar exactamente el problema, y deben ser constructivos. 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  <a:p>
            <a:pPr indent="-6985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angular logos" id="330" name="Google Shape;330;p1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6"/>
          <p:cNvSpPr txBox="1"/>
          <p:nvPr/>
        </p:nvSpPr>
        <p:spPr>
          <a:xfrm>
            <a:off x="1144587" y="185737"/>
            <a:ext cx="49815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</a:pPr>
            <a:r>
              <a:rPr b="1" i="0" lang="en-US" sz="28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HEURÍSTICAS DE JACOB NIELSEN</a:t>
            </a:r>
            <a:endParaRPr/>
          </a:p>
        </p:txBody>
      </p:sp>
      <p:cxnSp>
        <p:nvCxnSpPr>
          <p:cNvPr id="332" name="Google Shape;332;p16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F559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33" name="Google Shape;333;p16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334" name="Google Shape;334;p16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16/17</a:t>
            </a:r>
            <a:endParaRPr/>
          </a:p>
        </p:txBody>
      </p:sp>
      <p:sp>
        <p:nvSpPr>
          <p:cNvPr id="336" name="Google Shape;336;p16"/>
          <p:cNvSpPr txBox="1"/>
          <p:nvPr/>
        </p:nvSpPr>
        <p:spPr>
          <a:xfrm>
            <a:off x="7740650" y="49212"/>
            <a:ext cx="10985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Calibri"/>
              <a:buNone/>
            </a:pPr>
            <a:r>
              <a:rPr b="1" i="0" lang="en-US" sz="14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USABILIDAD</a:t>
            </a:r>
            <a:endParaRPr/>
          </a:p>
        </p:txBody>
      </p:sp>
      <p:pic>
        <p:nvPicPr>
          <p:cNvPr descr="https://cdn-images-1.medium.com/max/1600/1*0S3uIAbMLdQJZRMrUf_wtg.png" id="337" name="Google Shape;3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6350" y="2928937"/>
            <a:ext cx="3275012" cy="2336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descr="Resultado de imagen para jakob nielsen heuristics web examples" id="338" name="Google Shape;338;p16"/>
          <p:cNvPicPr preferRelativeResize="0"/>
          <p:nvPr/>
        </p:nvPicPr>
        <p:blipFill rotWithShape="1">
          <a:blip r:embed="rId5">
            <a:alphaModFix/>
          </a:blip>
          <a:srcRect b="0" l="9680" r="9680" t="0"/>
          <a:stretch/>
        </p:blipFill>
        <p:spPr>
          <a:xfrm>
            <a:off x="1547812" y="2763837"/>
            <a:ext cx="3227387" cy="266858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7"/>
          <p:cNvSpPr txBox="1"/>
          <p:nvPr>
            <p:ph idx="4294967295" type="body"/>
          </p:nvPr>
        </p:nvSpPr>
        <p:spPr>
          <a:xfrm>
            <a:off x="1028700" y="1143000"/>
            <a:ext cx="8115300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3525" lvl="0" marL="263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N° 10 : Ayuda y documentación</a:t>
            </a:r>
            <a:endParaRPr/>
          </a:p>
          <a:p>
            <a:pPr indent="-149225" lvl="0" marL="263525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Aunque es mejor si el sistema se puede usar sin documentación, puede ser necesario disponer de ayuda y documentación. Ésta tiene que ser fácil de buscar, centrada en las tareas del usuario, tener información de las etapas a realizar y que no sea muy extensa.</a:t>
            </a:r>
            <a:endParaRPr/>
          </a:p>
        </p:txBody>
      </p:sp>
      <p:pic>
        <p:nvPicPr>
          <p:cNvPr descr="http://www.earthrover.org/Earthrover_Software/Earthrover_Maps_files/helpScreen.jpg" id="344" name="Google Shape;344;p17"/>
          <p:cNvPicPr preferRelativeResize="0"/>
          <p:nvPr/>
        </p:nvPicPr>
        <p:blipFill rotWithShape="1">
          <a:blip r:embed="rId3">
            <a:alphaModFix/>
          </a:blip>
          <a:srcRect b="24998" l="26251" r="24998" t="25000"/>
          <a:stretch/>
        </p:blipFill>
        <p:spPr>
          <a:xfrm>
            <a:off x="1644650" y="3143250"/>
            <a:ext cx="1903412" cy="2928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45" name="Google Shape;345;p17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7"/>
          <p:cNvSpPr txBox="1"/>
          <p:nvPr/>
        </p:nvSpPr>
        <p:spPr>
          <a:xfrm>
            <a:off x="1144587" y="185737"/>
            <a:ext cx="49815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</a:pPr>
            <a:r>
              <a:rPr b="1" i="0" lang="en-US" sz="28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HEURÍSTICAS DE JACOB NIELSEN</a:t>
            </a:r>
            <a:endParaRPr/>
          </a:p>
        </p:txBody>
      </p:sp>
      <p:cxnSp>
        <p:nvCxnSpPr>
          <p:cNvPr id="347" name="Google Shape;347;p17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F559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48" name="Google Shape;348;p17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17/17</a:t>
            </a:r>
            <a:endParaRPr/>
          </a:p>
        </p:txBody>
      </p:sp>
      <p:sp>
        <p:nvSpPr>
          <p:cNvPr id="351" name="Google Shape;351;p17"/>
          <p:cNvSpPr txBox="1"/>
          <p:nvPr/>
        </p:nvSpPr>
        <p:spPr>
          <a:xfrm>
            <a:off x="7740650" y="49212"/>
            <a:ext cx="10985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Calibri"/>
              <a:buNone/>
            </a:pPr>
            <a:r>
              <a:rPr b="1" i="0" lang="en-US" sz="14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USABILIDAD</a:t>
            </a:r>
            <a:endParaRPr/>
          </a:p>
        </p:txBody>
      </p:sp>
      <p:pic>
        <p:nvPicPr>
          <p:cNvPr id="352" name="Google Shape;3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5375" y="3136900"/>
            <a:ext cx="2120900" cy="1516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97537" y="4152900"/>
            <a:ext cx="2736850" cy="2219325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54" name="Google Shape;354;p17"/>
          <p:cNvSpPr/>
          <p:nvPr/>
        </p:nvSpPr>
        <p:spPr>
          <a:xfrm>
            <a:off x="5224462" y="4149725"/>
            <a:ext cx="427037" cy="441325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2010-01-08T12:17:46Z</dcterms:created>
  <dc:creator>Luis</dc:creator>
</cp:coreProperties>
</file>