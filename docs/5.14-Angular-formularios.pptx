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9144000"/>
  <p:notesSz cx="7086600" cy="8686800"/>
  <p:embeddedFontLst>
    <p:embeddedFont>
      <p:font typeface="Arimo"/>
      <p:regular r:id="rId28"/>
      <p:bold r:id="rId29"/>
      <p:italic r:id="rId30"/>
      <p:boldItalic r:id="rId31"/>
    </p:embeddedFont>
    <p:embeddedFont>
      <p:font typeface="Arial Black"/>
      <p:regular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j0qOJfnj7Yn8XdjKXv/NjaNw2N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Arim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rim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imo-boldItalic.fntdata"/><Relationship Id="rId30" Type="http://schemas.openxmlformats.org/officeDocument/2006/relationships/font" Target="fonts/Arimo-italic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ArialBlack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13494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1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1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14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15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16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17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8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18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9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p19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0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8" name="Google Shape;368;p20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2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2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8" name="Google Shape;398;p2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3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7" name="Google Shape;417;p2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7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8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8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9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9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9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30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30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30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32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3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3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3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4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5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4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11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2.gif"/><Relationship Id="rId5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5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352800" y="2157413"/>
            <a:ext cx="5567363" cy="9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CL" sz="4800">
                <a:solidFill>
                  <a:srgbClr val="D20000"/>
                </a:solidFill>
                <a:latin typeface="Arial Black"/>
                <a:ea typeface="Arial Black"/>
                <a:cs typeface="Arial Black"/>
                <a:sym typeface="Arial Black"/>
              </a:rPr>
              <a:t>ANGULAR</a:t>
            </a:r>
            <a:endParaRPr b="1">
              <a:solidFill>
                <a:srgbClr val="D2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Arial"/>
              <a:buNone/>
            </a:pPr>
            <a:r>
              <a:rPr i="1" lang="es-CL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descr="escudo_color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2506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3352800" y="3090863"/>
            <a:ext cx="507841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Formularios Reactivos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 Validación</a:t>
            </a:r>
            <a:endParaRPr b="1" i="0" sz="2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3429000" y="4224587"/>
            <a:ext cx="5181600" cy="46037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6231" r="5906" t="0"/>
          <a:stretch/>
        </p:blipFill>
        <p:spPr>
          <a:xfrm>
            <a:off x="762000" y="2206625"/>
            <a:ext cx="2386013" cy="259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7448353" y="1859571"/>
            <a:ext cx="1425390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s-CL" sz="8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3668" y="228150"/>
            <a:ext cx="1897170" cy="1108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1144588" y="185738"/>
            <a:ext cx="422372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Formularios en Angular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27062" y="1164637"/>
            <a:ext cx="810577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Existen dos maneras de hacer formularios en Angular, </a:t>
            </a:r>
            <a:r>
              <a:rPr lang="es-CL" sz="1800">
                <a:solidFill>
                  <a:srgbClr val="0033CC"/>
                </a:solidFill>
              </a:rPr>
              <a:t>T</a:t>
            </a:r>
            <a:r>
              <a:rPr b="0" i="0" lang="es-CL" sz="1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emplate </a:t>
            </a:r>
            <a:r>
              <a:rPr lang="es-CL" sz="1800">
                <a:solidFill>
                  <a:srgbClr val="0033CC"/>
                </a:solidFill>
              </a:rPr>
              <a:t>D</a:t>
            </a:r>
            <a:r>
              <a:rPr b="0" i="0" lang="es-CL" sz="1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riven </a:t>
            </a:r>
            <a:r>
              <a:rPr lang="es-CL" sz="1800">
                <a:solidFill>
                  <a:srgbClr val="0033CC"/>
                </a:solidFill>
              </a:rPr>
              <a:t>Forms</a:t>
            </a:r>
            <a:r>
              <a:rPr b="0" i="0" lang="es-CL" sz="1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s-CL" sz="1800">
                <a:solidFill>
                  <a:srgbClr val="0033CC"/>
                </a:solidFill>
              </a:rPr>
              <a:t>R</a:t>
            </a:r>
            <a:r>
              <a:rPr b="0" i="0" lang="es-CL" sz="1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eactive </a:t>
            </a:r>
            <a:r>
              <a:rPr lang="es-CL" sz="1800">
                <a:solidFill>
                  <a:srgbClr val="0033CC"/>
                </a:solidFill>
              </a:rPr>
              <a:t>F</a:t>
            </a:r>
            <a:r>
              <a:rPr b="0" i="0" lang="es-CL" sz="1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orms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diferencias son: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900060" y="2556180"/>
            <a:ext cx="7762389" cy="27699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Template Driven</a:t>
            </a:r>
            <a:endParaRPr b="1" i="0" sz="18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Fácil de usar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Adecuado para escenarios simples.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way data binding (usando </a:t>
            </a:r>
            <a:r>
              <a:rPr lang="es-CL" sz="1800">
                <a:solidFill>
                  <a:schemeClr val="dk1"/>
                </a:solidFill>
              </a:rPr>
              <a:t>sintaxis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[(NgModel)])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necesita poco código en el componente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Seguimiento automático del formulario y sus datos (manejado por Angular)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unitarios difíciles de implementar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925191" y="5353027"/>
            <a:ext cx="7807646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Utilizan</a:t>
            </a:r>
            <a:r>
              <a:rPr b="0" i="0" lang="es-CL" sz="1800" u="none" cap="none" strike="noStrike">
                <a:solidFill>
                  <a:srgbClr val="BD414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cláusulas como: </a:t>
            </a:r>
            <a:r>
              <a:rPr b="0" i="0" lang="es-CL" sz="18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ngModel</a:t>
            </a:r>
            <a:r>
              <a:rPr b="0" i="0" lang="es-CL" sz="1800" u="none" cap="none" strike="noStrike">
                <a:solidFill>
                  <a:srgbClr val="292B2C"/>
                </a:solidFill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b="0" i="0" lang="es-CL" sz="18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ngModelGroup</a:t>
            </a:r>
            <a:r>
              <a:rPr b="0" i="0" lang="es-CL" sz="1800" u="none" cap="none" strike="noStrike">
                <a:solidFill>
                  <a:srgbClr val="292B2C"/>
                </a:solidFill>
                <a:latin typeface="Arial"/>
                <a:ea typeface="Arial"/>
                <a:cs typeface="Arial"/>
                <a:sym typeface="Arial"/>
              </a:rPr>
              <a:t>,y </a:t>
            </a:r>
            <a:r>
              <a:rPr b="0" i="0" lang="es-CL" sz="18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ngForm</a:t>
            </a:r>
            <a:r>
              <a:rPr b="0" i="0" lang="es-CL" sz="1800" u="none" cap="none" strike="noStrike">
                <a:solidFill>
                  <a:srgbClr val="292B2C"/>
                </a:solidFill>
                <a:latin typeface="Arial"/>
                <a:ea typeface="Arial"/>
                <a:cs typeface="Arial"/>
                <a:sym typeface="Arial"/>
              </a:rPr>
              <a:t> disponibles en el módulo </a:t>
            </a:r>
            <a:r>
              <a:rPr b="0" i="0" lang="es-CL" sz="18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FormsModule</a:t>
            </a:r>
            <a:r>
              <a:rPr b="0" i="0" lang="es-CL" sz="1800" u="none" cap="none" strike="noStrike">
                <a:solidFill>
                  <a:srgbClr val="292B2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13" name="Google Shape;113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1144588" y="185738"/>
            <a:ext cx="458279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Formularios en Angular…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p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6" name="Google Shape;116;p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900060" y="1287035"/>
            <a:ext cx="7832778" cy="40164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s-CL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Reactive Forms</a:t>
            </a:r>
            <a:endParaRPr b="1" i="0" sz="18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Más flexible, pero necesita más práctica.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Adecuado en escenarios complejos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se realiza ningún data binding (</a:t>
            </a:r>
            <a:r>
              <a:rPr b="0" i="0" lang="es-CL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inmutable data model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preferido por la mayoría de los desarrolladores)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Más código de componente y menos marcado 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pueden hacer transformaciones reactivas tales como: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Manejar un evento basado en </a:t>
            </a:r>
            <a:r>
              <a:rPr b="0" i="0" lang="es-CL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tiempo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Manejo de eventos para detectar cambios en componentes.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Adición de elementos dinámicamente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unitarios fáciles de usar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838861" y="5081373"/>
            <a:ext cx="7893977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69875" lvl="0" marL="2698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Utilizan cláusulas como: </a:t>
            </a:r>
            <a:r>
              <a:rPr b="0" i="0" lang="es-CL" sz="18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FormControl</a:t>
            </a:r>
            <a:r>
              <a:rPr b="0" i="0" lang="es-CL" sz="1800" u="none" cap="none" strike="noStrike">
                <a:solidFill>
                  <a:srgbClr val="292B2C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s-CL" sz="18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FormGroup</a:t>
            </a:r>
            <a:r>
              <a:rPr b="0" i="0" lang="es-CL" sz="1800" u="none" cap="none" strike="noStrike">
                <a:solidFill>
                  <a:srgbClr val="292B2C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0" i="0" lang="es-CL" sz="18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FormBuilder </a:t>
            </a:r>
            <a:r>
              <a:rPr b="0" i="0" lang="es-CL" sz="1800" u="none" cap="none" strike="noStrike">
                <a:solidFill>
                  <a:srgbClr val="292B2C"/>
                </a:solidFill>
                <a:latin typeface="Arial"/>
                <a:ea typeface="Arial"/>
                <a:cs typeface="Arial"/>
                <a:sym typeface="Arial"/>
              </a:rPr>
              <a:t>disponibles en el módulo </a:t>
            </a:r>
            <a:r>
              <a:rPr b="0" i="0" lang="es-CL" sz="18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ReactiveFormsModule</a:t>
            </a:r>
            <a:r>
              <a:rPr b="0" i="0" lang="es-CL" sz="1800" u="none" cap="none" strike="noStrike">
                <a:solidFill>
                  <a:srgbClr val="292B2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4" title="Captura de pantalla 2026-04-24 a la(s) 14.03.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600" y="2055612"/>
            <a:ext cx="5956001" cy="4241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24" name="Google Shape;124;p4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 txBox="1"/>
          <p:nvPr/>
        </p:nvSpPr>
        <p:spPr>
          <a:xfrm>
            <a:off x="1144588" y="185738"/>
            <a:ext cx="696754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Template para Formulario de Productos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" name="Google Shape;127;p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27062" y="1225836"/>
            <a:ext cx="810577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Usando la versión refactorizada. Modificar el template de la ventana para agregar label e inputs: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4"/>
          <p:cNvPicPr preferRelativeResize="0"/>
          <p:nvPr/>
        </p:nvPicPr>
        <p:blipFill rotWithShape="1">
          <a:blip r:embed="rId5">
            <a:alphaModFix/>
          </a:blip>
          <a:srcRect b="19739" l="0" r="16012" t="14000"/>
          <a:stretch/>
        </p:blipFill>
        <p:spPr>
          <a:xfrm>
            <a:off x="6052141" y="4224585"/>
            <a:ext cx="2664444" cy="208075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0" name="Google Shape;13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21166" y="1750867"/>
            <a:ext cx="2795419" cy="18617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1" name="Google Shape;131;p4"/>
          <p:cNvSpPr/>
          <p:nvPr/>
        </p:nvSpPr>
        <p:spPr>
          <a:xfrm>
            <a:off x="6798026" y="3733921"/>
            <a:ext cx="171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Completar: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777661" y="2245913"/>
            <a:ext cx="4957119" cy="130037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777661" y="3546288"/>
            <a:ext cx="4957119" cy="1276639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777661" y="4823814"/>
            <a:ext cx="4957119" cy="1276639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511798" y="1859729"/>
            <a:ext cx="305995" cy="287047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6" title="Captura de pantalla 2026-04-27 a la(s) 03.31.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825" y="3534152"/>
            <a:ext cx="7526352" cy="17791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41" name="Google Shape;141;p6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 txBox="1"/>
          <p:nvPr/>
        </p:nvSpPr>
        <p:spPr>
          <a:xfrm>
            <a:off x="1144588" y="185738"/>
            <a:ext cx="405752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¿Qué es FormBuilder?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" name="Google Shape;144;p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630108" y="1225836"/>
            <a:ext cx="810273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•"/>
            </a:pPr>
            <a:r>
              <a:rPr b="1" i="0" lang="es-CL" sz="1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En un servicio</a:t>
            </a:r>
            <a:r>
              <a:rPr b="0" i="0" lang="es-CL" sz="1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que permite construir un formulario mediante </a:t>
            </a:r>
            <a:r>
              <a:rPr b="0" i="0" lang="es-CL" sz="18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FormGroup</a:t>
            </a:r>
            <a:r>
              <a:rPr b="0" i="0" lang="es-CL" sz="1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(un grupo de controles) que realiza un seguimiento de la validez (valor y estado de cambio) de los datos.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Para usarlo tenemos que importar el módulo </a:t>
            </a:r>
            <a:r>
              <a:rPr b="0" i="0" lang="es-CL" sz="18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ReactiveFormsModule</a:t>
            </a:r>
            <a:r>
              <a:rPr b="0" i="0" lang="es-CL" sz="1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Las validaciones en los reactive forms se declaran en la definición de los controles con la siguiente sintaxis: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6475693" y="5530726"/>
            <a:ext cx="204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Validadores asíncronos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baseline="30000" i="0" lang="es-CL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er</a:t>
            </a:r>
            <a:r>
              <a:rPr b="0" i="0" lang="es-CL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parámetro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147;p6"/>
          <p:cNvCxnSpPr/>
          <p:nvPr/>
        </p:nvCxnSpPr>
        <p:spPr>
          <a:xfrm rot="10800000">
            <a:off x="7323230" y="5319698"/>
            <a:ext cx="0" cy="285900"/>
          </a:xfrm>
          <a:prstGeom prst="straightConnector1">
            <a:avLst/>
          </a:prstGeom>
          <a:noFill/>
          <a:ln cap="flat" cmpd="sng" w="28575">
            <a:solidFill>
              <a:srgbClr val="C55A1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48" name="Google Shape;148;p6"/>
          <p:cNvSpPr/>
          <p:nvPr/>
        </p:nvSpPr>
        <p:spPr>
          <a:xfrm>
            <a:off x="1124907" y="5073526"/>
            <a:ext cx="612000" cy="185400"/>
          </a:xfrm>
          <a:prstGeom prst="rect">
            <a:avLst/>
          </a:prstGeom>
          <a:solidFill>
            <a:srgbClr val="92D050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1803760" y="5069114"/>
            <a:ext cx="214800" cy="185400"/>
          </a:xfrm>
          <a:prstGeom prst="rect">
            <a:avLst/>
          </a:prstGeom>
          <a:solidFill>
            <a:srgbClr val="2E75B5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2186425" y="5062500"/>
            <a:ext cx="3927900" cy="192900"/>
          </a:xfrm>
          <a:prstGeom prst="rect">
            <a:avLst/>
          </a:prstGeom>
          <a:solidFill>
            <a:srgbClr val="FFFF00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6316152" y="5073720"/>
            <a:ext cx="1706400" cy="167400"/>
          </a:xfrm>
          <a:prstGeom prst="rect">
            <a:avLst/>
          </a:prstGeom>
          <a:solidFill>
            <a:srgbClr val="FF9999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p6"/>
          <p:cNvCxnSpPr/>
          <p:nvPr/>
        </p:nvCxnSpPr>
        <p:spPr>
          <a:xfrm rot="10800000">
            <a:off x="1378949" y="5309823"/>
            <a:ext cx="0" cy="285900"/>
          </a:xfrm>
          <a:prstGeom prst="straightConnector1">
            <a:avLst/>
          </a:prstGeom>
          <a:noFill/>
          <a:ln cap="flat" cmpd="sng" w="28575">
            <a:solidFill>
              <a:srgbClr val="C55A1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53" name="Google Shape;153;p6"/>
          <p:cNvSpPr txBox="1"/>
          <p:nvPr/>
        </p:nvSpPr>
        <p:spPr>
          <a:xfrm>
            <a:off x="3326116" y="5535659"/>
            <a:ext cx="1942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Validadores síncronos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baseline="30000" i="0" lang="es-CL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s-CL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parámetro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6"/>
          <p:cNvCxnSpPr/>
          <p:nvPr/>
        </p:nvCxnSpPr>
        <p:spPr>
          <a:xfrm rot="10800000">
            <a:off x="4173653" y="5324631"/>
            <a:ext cx="0" cy="285900"/>
          </a:xfrm>
          <a:prstGeom prst="straightConnector1">
            <a:avLst/>
          </a:prstGeom>
          <a:noFill/>
          <a:ln cap="flat" cmpd="sng" w="28575">
            <a:solidFill>
              <a:srgbClr val="C55A1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55" name="Google Shape;155;p6"/>
          <p:cNvSpPr txBox="1"/>
          <p:nvPr/>
        </p:nvSpPr>
        <p:spPr>
          <a:xfrm>
            <a:off x="989020" y="5556271"/>
            <a:ext cx="76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Campo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1649871" y="5581384"/>
            <a:ext cx="1255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Valor inicial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baseline="30000" i="0" lang="es-CL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er</a:t>
            </a:r>
            <a:r>
              <a:rPr b="0" i="0" lang="es-CL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parámetro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p6"/>
          <p:cNvCxnSpPr/>
          <p:nvPr/>
        </p:nvCxnSpPr>
        <p:spPr>
          <a:xfrm rot="10800000">
            <a:off x="1922025" y="5315584"/>
            <a:ext cx="0" cy="265800"/>
          </a:xfrm>
          <a:prstGeom prst="straightConnector1">
            <a:avLst/>
          </a:prstGeom>
          <a:noFill/>
          <a:ln cap="flat" cmpd="sng" w="28575">
            <a:solidFill>
              <a:srgbClr val="C55A11"/>
            </a:solidFill>
            <a:prstDash val="solid"/>
            <a:miter lim="800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62" name="Google Shape;162;p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 txBox="1"/>
          <p:nvPr/>
        </p:nvSpPr>
        <p:spPr>
          <a:xfrm>
            <a:off x="1144588" y="185738"/>
            <a:ext cx="610974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Validación – Tipos de Validaciones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p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5" name="Google Shape;165;p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627062" y="1164637"/>
            <a:ext cx="810577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un reactive forms es posible utilizar validadores síncronos preconstruidos por Angular.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declaran en la definición de los controles con la siguiente sintaxis: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627061" y="309791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se necesitan varias validaciones, se colocan entre corchetes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1167610" y="2507808"/>
            <a:ext cx="74046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 code:</a:t>
            </a:r>
            <a:r>
              <a:rPr b="0" i="0" lang="es-CL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[</a:t>
            </a:r>
            <a:r>
              <a:rPr b="0" i="0" lang="es-CL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'valor'</a:t>
            </a:r>
            <a:r>
              <a:rPr b="0" i="0" lang="es-CL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s-CL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Validators</a:t>
            </a:r>
            <a:r>
              <a:rPr b="0" i="0" lang="es-CL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18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XXX</a:t>
            </a:r>
            <a:r>
              <a:rPr b="0" i="0" lang="es-CL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1121202" y="3612597"/>
            <a:ext cx="74046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 code:</a:t>
            </a:r>
            <a:r>
              <a:rPr b="0" i="0" lang="es-CL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[</a:t>
            </a:r>
            <a:r>
              <a:rPr b="0" i="0" lang="es-CL" sz="1800" u="none" cap="none" strike="noStrike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'valor’</a:t>
            </a:r>
            <a:r>
              <a:rPr b="0" i="0" lang="es-CL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[</a:t>
            </a:r>
            <a:r>
              <a:rPr b="0" i="0" lang="es-CL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Validators</a:t>
            </a:r>
            <a:r>
              <a:rPr b="0" i="0" lang="es-CL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18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XX1</a:t>
            </a:r>
            <a:r>
              <a:rPr b="0" i="0" lang="es-CL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18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1800" u="none" cap="none" strike="noStrike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Validators</a:t>
            </a:r>
            <a:r>
              <a:rPr b="0" i="0" lang="es-CL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18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XX2</a:t>
            </a:r>
            <a:r>
              <a:rPr b="0" i="0" lang="es-CL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]],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74" name="Google Shape;174;p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 txBox="1"/>
          <p:nvPr/>
        </p:nvSpPr>
        <p:spPr>
          <a:xfrm>
            <a:off x="1144588" y="185738"/>
            <a:ext cx="64079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Validación – Tipos de Validaciones…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p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7" name="Google Shape;177;p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27061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validaciones preconstruidas por Angular pueden ser: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893435" y="2072028"/>
            <a:ext cx="665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Validators</a:t>
            </a:r>
            <a:r>
              <a:rPr b="0" i="0" lang="es-CL" sz="16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1600" u="none" cap="none" strike="noStrike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minLength</a:t>
            </a:r>
            <a:r>
              <a:rPr b="0" i="0" lang="es-CL" sz="16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1600" u="none" cap="none" strike="noStrike">
                <a:solidFill>
                  <a:srgbClr val="0088CC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s-CL" sz="16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s-C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Se requiere un valor de largo mínimo a 4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900294" y="4113123"/>
            <a:ext cx="630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Validators</a:t>
            </a:r>
            <a:r>
              <a:rPr b="0" i="0" lang="es-CL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1600" u="none" cap="none" strike="noStrike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email</a:t>
            </a:r>
            <a:r>
              <a:rPr b="0" i="0" lang="es-C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Se requiere que tenga formato de email válido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894806" y="2888466"/>
            <a:ext cx="561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Validators</a:t>
            </a:r>
            <a:r>
              <a:rPr b="0" i="0" lang="es-CL" sz="16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1600" u="none" cap="none" strike="noStrike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min</a:t>
            </a:r>
            <a:r>
              <a:rPr b="0" i="0" lang="es-CL" sz="16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1600" u="none" cap="none" strike="noStrike">
                <a:solidFill>
                  <a:srgbClr val="0088CC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s-CL" sz="16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s-C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Se requiere un valor mínimo igual 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894806" y="3296685"/>
            <a:ext cx="588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Validators</a:t>
            </a:r>
            <a:r>
              <a:rPr b="0" i="0" lang="es-CL" sz="16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1600" u="none" cap="none" strike="noStrike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b="0" i="0" lang="es-CL" sz="16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1600" u="none" cap="none" strike="noStrike">
                <a:solidFill>
                  <a:srgbClr val="0088CC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b="0" i="0" lang="es-CL" sz="16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s-C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Se requiere un valor máximo igual a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893435" y="3704904"/>
            <a:ext cx="625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Validators</a:t>
            </a:r>
            <a:r>
              <a:rPr b="0" i="0" lang="es-CL" sz="16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1600" u="none" cap="none" strike="noStrike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requiredTrue</a:t>
            </a:r>
            <a:r>
              <a:rPr b="0" i="0" lang="es-C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Se requiere un valor verdadero (true)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887390" y="2480247"/>
            <a:ext cx="643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Validators</a:t>
            </a:r>
            <a:r>
              <a:rPr b="0" i="0" lang="es-CL" sz="16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1600" u="none" cap="none" strike="noStrike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maxLength</a:t>
            </a:r>
            <a:r>
              <a:rPr b="0" i="0" lang="es-CL" sz="16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1600" u="none" cap="none" strike="noStrike">
                <a:solidFill>
                  <a:srgbClr val="0088CC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s-CL" sz="16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s-C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se requiere un valor de largo máximo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907358" y="4521342"/>
            <a:ext cx="7722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Validators</a:t>
            </a:r>
            <a:r>
              <a:rPr b="0" i="0" lang="es-CL" sz="16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1600" u="none" cap="none" strike="noStrike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pattern</a:t>
            </a:r>
            <a:r>
              <a:rPr b="0" i="0" lang="es-CL" sz="16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CL" sz="1600" u="none" cap="none" strike="noStrike">
                <a:solidFill>
                  <a:srgbClr val="880000"/>
                </a:solidFill>
                <a:latin typeface="Consolas"/>
                <a:ea typeface="Consolas"/>
                <a:cs typeface="Consolas"/>
                <a:sym typeface="Consolas"/>
              </a:rPr>
              <a:t>'[a-zA-Z ]*'</a:t>
            </a:r>
            <a:r>
              <a:rPr b="0" i="0" lang="es-CL" sz="1600" u="none" cap="none" strike="noStrike">
                <a:solidFill>
                  <a:srgbClr val="6666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s-C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Se requiere un valor que calce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con la expresión regular proporcionada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894799" y="1663800"/>
            <a:ext cx="752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Validators.</a:t>
            </a:r>
            <a:r>
              <a:rPr b="0" i="0" lang="es-CL" sz="1600" u="none" cap="none" strike="noStrike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required</a:t>
            </a:r>
            <a:r>
              <a:rPr b="0" i="0" lang="es-C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Se requiere el ingreso de un valor obligatorio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9" title="Captura de pantalla 2026-04-27 a la(s) 01.34.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850" y="1817351"/>
            <a:ext cx="5997037" cy="471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92" name="Google Shape;192;p9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9"/>
          <p:cNvSpPr txBox="1"/>
          <p:nvPr/>
        </p:nvSpPr>
        <p:spPr>
          <a:xfrm>
            <a:off x="1144588" y="185738"/>
            <a:ext cx="66159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Usar FormBuilder para Modelar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5" name="Google Shape;195;p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Implementar el modelo que representa a los datos usando </a:t>
            </a:r>
            <a:r>
              <a:rPr b="0" i="0" lang="es-CL" sz="18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FormBuilder</a:t>
            </a:r>
            <a:endParaRPr b="0" i="0" sz="1800" u="none" cap="none" strike="noStrike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763324" y="1542092"/>
            <a:ext cx="237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modal-add.ts</a:t>
            </a:r>
            <a:endParaRPr b="0" i="0" sz="1400" u="none" cap="none" strike="noStrike">
              <a:solidFill>
                <a:srgbClr val="0033CC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863850" y="1972319"/>
            <a:ext cx="5587500" cy="2562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1047450" y="4240725"/>
            <a:ext cx="5682000" cy="14493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1047450" y="3851006"/>
            <a:ext cx="2610300" cy="2133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1047450" y="5866438"/>
            <a:ext cx="4624800" cy="6192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6428425" y="1868325"/>
            <a:ext cx="2325600" cy="646500"/>
          </a:xfrm>
          <a:prstGeom prst="wedgeRectCallout">
            <a:avLst>
              <a:gd fmla="val -67735" name="adj1"/>
              <a:gd fmla="val -19828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rgbClr val="ED7D3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Importar dependencias para formularios reactivos</a:t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6256975" y="3586175"/>
            <a:ext cx="2325600" cy="457200"/>
          </a:xfrm>
          <a:prstGeom prst="wedgeRectCallout">
            <a:avLst>
              <a:gd fmla="val -161157" name="adj1"/>
              <a:gd fmla="val 34491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rgbClr val="ED7D3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Inyectar dependencia de FormBuilder</a:t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6428425" y="4524375"/>
            <a:ext cx="2325600" cy="457200"/>
          </a:xfrm>
          <a:prstGeom prst="wedgeRectCallout">
            <a:avLst>
              <a:gd fmla="val -160544" name="adj1"/>
              <a:gd fmla="val 4167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rgbClr val="ED7D3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Agregar validaciones para los campos</a:t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6428425" y="5856500"/>
            <a:ext cx="2325600" cy="457200"/>
          </a:xfrm>
          <a:prstGeom prst="wedgeRectCallout">
            <a:avLst>
              <a:gd fmla="val -90507" name="adj1"/>
              <a:gd fmla="val 34678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rgbClr val="ED7D3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Primer implementaci</a:t>
            </a:r>
            <a:r>
              <a:rPr lang="es-CL"/>
              <a:t>ón de guardar datos</a:t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1047450" y="2743800"/>
            <a:ext cx="2496000" cy="2133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0" title="Captura de pantalla 2026-04-27 a la(s) 01.38.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566" y="1773455"/>
            <a:ext cx="7253650" cy="47669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12" name="Google Shape;212;p10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0"/>
          <p:cNvSpPr txBox="1"/>
          <p:nvPr/>
        </p:nvSpPr>
        <p:spPr>
          <a:xfrm>
            <a:off x="1144588" y="185738"/>
            <a:ext cx="678961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Enlazar Template con Modelo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p10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5" name="Google Shape;215;p10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627062" y="1042239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Enlazar el modelo de datos (</a:t>
            </a:r>
            <a:r>
              <a:rPr b="0" i="0" lang="es-CL" sz="18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formGroup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con la vista de ingreso de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627062" y="1470632"/>
            <a:ext cx="256993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modal-add.html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1206500" y="2349050"/>
            <a:ext cx="5185200" cy="2448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1144588" y="5460581"/>
            <a:ext cx="795900" cy="1980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777650" y="2494575"/>
            <a:ext cx="305700" cy="30774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 rot="-5400000">
            <a:off x="-147890" y="3848987"/>
            <a:ext cx="128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Formulario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1975209" y="3941871"/>
            <a:ext cx="1227600" cy="1836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"/>
          <p:cNvSpPr txBox="1"/>
          <p:nvPr/>
        </p:nvSpPr>
        <p:spPr>
          <a:xfrm>
            <a:off x="3202804" y="3841172"/>
            <a:ext cx="460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Agregar aquí controles de ingreso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2111405" y="4691713"/>
            <a:ext cx="1160400" cy="1980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1" title="Captura de pantalla 2026-04-27 a la(s) 01.41.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5151" y="3028109"/>
            <a:ext cx="3975124" cy="2869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30" name="Google Shape;230;p11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1"/>
          <p:cNvSpPr txBox="1"/>
          <p:nvPr/>
        </p:nvSpPr>
        <p:spPr>
          <a:xfrm>
            <a:off x="1144588" y="185738"/>
            <a:ext cx="691567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Enlazar campos Lógicos con Controles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2" name="Google Shape;232;p11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3" name="Google Shape;233;p11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control del html se debe enlazar a la lógica mediante </a:t>
            </a:r>
            <a:r>
              <a:rPr b="0" i="0" lang="es-CL" sz="18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formControlName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11"/>
          <p:cNvPicPr preferRelativeResize="0"/>
          <p:nvPr/>
        </p:nvPicPr>
        <p:blipFill rotWithShape="1">
          <a:blip r:embed="rId5">
            <a:alphaModFix/>
          </a:blip>
          <a:srcRect b="71779" l="0" r="0" t="15646"/>
          <a:stretch/>
        </p:blipFill>
        <p:spPr>
          <a:xfrm>
            <a:off x="838861" y="2205020"/>
            <a:ext cx="7466278" cy="183597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6" name="Google Shape;236;p11"/>
          <p:cNvSpPr/>
          <p:nvPr/>
        </p:nvSpPr>
        <p:spPr>
          <a:xfrm>
            <a:off x="1639103" y="2152526"/>
            <a:ext cx="1953713" cy="259133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4464299" y="4187663"/>
            <a:ext cx="3108000" cy="2448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11"/>
          <p:cNvPicPr preferRelativeResize="0"/>
          <p:nvPr/>
        </p:nvPicPr>
        <p:blipFill rotWithShape="1">
          <a:blip r:embed="rId6">
            <a:alphaModFix/>
          </a:blip>
          <a:srcRect b="19739" l="0" r="16012" t="14000"/>
          <a:stretch/>
        </p:blipFill>
        <p:spPr>
          <a:xfrm>
            <a:off x="627062" y="3781440"/>
            <a:ext cx="2664444" cy="208075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9" name="Google Shape;239;p11"/>
          <p:cNvSpPr/>
          <p:nvPr/>
        </p:nvSpPr>
        <p:spPr>
          <a:xfrm>
            <a:off x="2407301" y="2425952"/>
            <a:ext cx="1955556" cy="1859218"/>
          </a:xfrm>
          <a:custGeom>
            <a:rect b="b" l="l" r="r" t="t"/>
            <a:pathLst>
              <a:path extrusionOk="0" h="2267339" w="1558212">
                <a:moveTo>
                  <a:pt x="0" y="0"/>
                </a:moveTo>
                <a:cubicBezTo>
                  <a:pt x="6220" y="251927"/>
                  <a:pt x="16411" y="503787"/>
                  <a:pt x="18661" y="755780"/>
                </a:cubicBezTo>
                <a:cubicBezTo>
                  <a:pt x="21652" y="1090739"/>
                  <a:pt x="-3788" y="949272"/>
                  <a:pt x="18661" y="1184988"/>
                </a:cubicBezTo>
                <a:cubicBezTo>
                  <a:pt x="21001" y="1209554"/>
                  <a:pt x="38598" y="1299507"/>
                  <a:pt x="46653" y="1315617"/>
                </a:cubicBezTo>
                <a:cubicBezTo>
                  <a:pt x="52873" y="1328058"/>
                  <a:pt x="59835" y="1340155"/>
                  <a:pt x="65314" y="1352939"/>
                </a:cubicBezTo>
                <a:cubicBezTo>
                  <a:pt x="69188" y="1361979"/>
                  <a:pt x="72057" y="1371442"/>
                  <a:pt x="74645" y="1380931"/>
                </a:cubicBezTo>
                <a:cubicBezTo>
                  <a:pt x="81393" y="1405675"/>
                  <a:pt x="77917" y="1435058"/>
                  <a:pt x="93306" y="1455576"/>
                </a:cubicBezTo>
                <a:lnTo>
                  <a:pt x="121298" y="1492898"/>
                </a:lnTo>
                <a:cubicBezTo>
                  <a:pt x="142693" y="1557079"/>
                  <a:pt x="113430" y="1479128"/>
                  <a:pt x="158620" y="1558212"/>
                </a:cubicBezTo>
                <a:cubicBezTo>
                  <a:pt x="163500" y="1566752"/>
                  <a:pt x="163175" y="1577606"/>
                  <a:pt x="167951" y="1586204"/>
                </a:cubicBezTo>
                <a:cubicBezTo>
                  <a:pt x="178843" y="1605810"/>
                  <a:pt x="195242" y="1622128"/>
                  <a:pt x="205273" y="1642188"/>
                </a:cubicBezTo>
                <a:cubicBezTo>
                  <a:pt x="211494" y="1654629"/>
                  <a:pt x="218456" y="1666725"/>
                  <a:pt x="223935" y="1679510"/>
                </a:cubicBezTo>
                <a:cubicBezTo>
                  <a:pt x="227809" y="1688550"/>
                  <a:pt x="227809" y="1699318"/>
                  <a:pt x="233265" y="1707502"/>
                </a:cubicBezTo>
                <a:cubicBezTo>
                  <a:pt x="240584" y="1718481"/>
                  <a:pt x="251926" y="1726163"/>
                  <a:pt x="261257" y="1735494"/>
                </a:cubicBezTo>
                <a:cubicBezTo>
                  <a:pt x="267477" y="1747935"/>
                  <a:pt x="271013" y="1762131"/>
                  <a:pt x="279918" y="1772817"/>
                </a:cubicBezTo>
                <a:cubicBezTo>
                  <a:pt x="287097" y="1781432"/>
                  <a:pt x="300905" y="1782721"/>
                  <a:pt x="307910" y="1791478"/>
                </a:cubicBezTo>
                <a:cubicBezTo>
                  <a:pt x="359418" y="1855862"/>
                  <a:pt x="265012" y="1784651"/>
                  <a:pt x="345233" y="1838131"/>
                </a:cubicBezTo>
                <a:cubicBezTo>
                  <a:pt x="351453" y="1847462"/>
                  <a:pt x="355137" y="1859118"/>
                  <a:pt x="363894" y="1866123"/>
                </a:cubicBezTo>
                <a:cubicBezTo>
                  <a:pt x="371574" y="1872267"/>
                  <a:pt x="384931" y="1868498"/>
                  <a:pt x="391886" y="1875453"/>
                </a:cubicBezTo>
                <a:cubicBezTo>
                  <a:pt x="486591" y="1970158"/>
                  <a:pt x="341709" y="1866885"/>
                  <a:pt x="438539" y="1931437"/>
                </a:cubicBezTo>
                <a:cubicBezTo>
                  <a:pt x="454742" y="1980050"/>
                  <a:pt x="437255" y="1941495"/>
                  <a:pt x="466531" y="1978090"/>
                </a:cubicBezTo>
                <a:cubicBezTo>
                  <a:pt x="473536" y="1986847"/>
                  <a:pt x="477263" y="1998153"/>
                  <a:pt x="485192" y="2006082"/>
                </a:cubicBezTo>
                <a:cubicBezTo>
                  <a:pt x="493121" y="2014011"/>
                  <a:pt x="504745" y="2017359"/>
                  <a:pt x="513184" y="2024743"/>
                </a:cubicBezTo>
                <a:cubicBezTo>
                  <a:pt x="580050" y="2083250"/>
                  <a:pt x="532003" y="2064437"/>
                  <a:pt x="597159" y="2080727"/>
                </a:cubicBezTo>
                <a:cubicBezTo>
                  <a:pt x="606490" y="2086947"/>
                  <a:pt x="614903" y="2094834"/>
                  <a:pt x="625151" y="2099388"/>
                </a:cubicBezTo>
                <a:cubicBezTo>
                  <a:pt x="654354" y="2112367"/>
                  <a:pt x="687441" y="2119626"/>
                  <a:pt x="718457" y="2127380"/>
                </a:cubicBezTo>
                <a:cubicBezTo>
                  <a:pt x="727788" y="2133600"/>
                  <a:pt x="736419" y="2141026"/>
                  <a:pt x="746449" y="2146041"/>
                </a:cubicBezTo>
                <a:cubicBezTo>
                  <a:pt x="766460" y="2156047"/>
                  <a:pt x="801924" y="2160442"/>
                  <a:pt x="821094" y="2164702"/>
                </a:cubicBezTo>
                <a:cubicBezTo>
                  <a:pt x="833612" y="2167484"/>
                  <a:pt x="845975" y="2170923"/>
                  <a:pt x="858416" y="2174033"/>
                </a:cubicBezTo>
                <a:cubicBezTo>
                  <a:pt x="867747" y="2180253"/>
                  <a:pt x="876378" y="2187679"/>
                  <a:pt x="886408" y="2192694"/>
                </a:cubicBezTo>
                <a:cubicBezTo>
                  <a:pt x="901327" y="2200153"/>
                  <a:pt x="937764" y="2207367"/>
                  <a:pt x="951722" y="2211355"/>
                </a:cubicBezTo>
                <a:cubicBezTo>
                  <a:pt x="961179" y="2214057"/>
                  <a:pt x="970293" y="2217860"/>
                  <a:pt x="979714" y="2220686"/>
                </a:cubicBezTo>
                <a:cubicBezTo>
                  <a:pt x="1001402" y="2227192"/>
                  <a:pt x="1023341" y="2232841"/>
                  <a:pt x="1045029" y="2239347"/>
                </a:cubicBezTo>
                <a:cubicBezTo>
                  <a:pt x="1054449" y="2242173"/>
                  <a:pt x="1063563" y="2245976"/>
                  <a:pt x="1073020" y="2248678"/>
                </a:cubicBezTo>
                <a:cubicBezTo>
                  <a:pt x="1111984" y="2259810"/>
                  <a:pt x="1122350" y="2260009"/>
                  <a:pt x="1166326" y="2267339"/>
                </a:cubicBezTo>
                <a:cubicBezTo>
                  <a:pt x="1477323" y="2256615"/>
                  <a:pt x="1346664" y="2258008"/>
                  <a:pt x="1558212" y="2258008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1157695" y="3800879"/>
            <a:ext cx="2067927" cy="30131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45" name="Google Shape;245;p1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2"/>
          <p:cNvSpPr txBox="1"/>
          <p:nvPr/>
        </p:nvSpPr>
        <p:spPr>
          <a:xfrm>
            <a:off x="1144588" y="185738"/>
            <a:ext cx="409272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Visualizar el Resultado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7" name="Google Shape;247;p1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8" name="Google Shape;248;p1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627062" y="1164637"/>
            <a:ext cx="83512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Iniciar la aplicación Angular y el servidor y observar el resultado (Animación).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a captura de pantalla de una red social&#10;&#10;Descripción generada automáticamente" id="250" name="Google Shape;25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338" y="1731300"/>
            <a:ext cx="7937499" cy="4345627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55" name="Google Shape;255;p1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3"/>
          <p:cNvSpPr txBox="1"/>
          <p:nvPr/>
        </p:nvSpPr>
        <p:spPr>
          <a:xfrm>
            <a:off x="1144588" y="185738"/>
            <a:ext cx="619535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Validación – Estados de un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7" name="Google Shape;257;p1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8" name="Google Shape;258;p1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control (button, input, checkbox, etc.) posee: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1014158" y="1470632"/>
            <a:ext cx="5516210" cy="1658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valor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estado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Validadores y errores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capacidad de ser deshabilitado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capacidad de emitir eventos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627062" y="3306602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estados que se pueden consultar son: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1013018" y="3737133"/>
            <a:ext cx="7719819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touched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fue tocado por el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untouched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no ha sido tocado por el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pristine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el valor no ha sido cambiado desde que se desplegó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pending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el control esta realizando una validación (aún no concluye)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dirty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el usuario cambió el valor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valid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es válido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CC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invalid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es inválido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14" title="Captura de pantalla 2026-04-27 a la(s) 01.51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100" y="2139562"/>
            <a:ext cx="7250605" cy="1644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68" name="Google Shape;268;p14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4"/>
          <p:cNvSpPr txBox="1"/>
          <p:nvPr/>
        </p:nvSpPr>
        <p:spPr>
          <a:xfrm>
            <a:off x="1144588" y="185738"/>
            <a:ext cx="781598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Validación – Mostrar</a:t>
            </a:r>
            <a:r>
              <a:rPr b="1" i="0" lang="es-CL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Visualmente</a:t>
            </a:r>
            <a:r>
              <a:rPr b="1" i="0" lang="es-CL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los</a:t>
            </a:r>
            <a:r>
              <a:rPr b="1" i="0" lang="es-CL" sz="2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Errores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" name="Google Shape;270;p1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1" name="Google Shape;271;p1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627061" y="1164637"/>
            <a:ext cx="796903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siguiente ejemplo muestra una manera de validar los datos ingresados en un control.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861" y="5581685"/>
            <a:ext cx="31432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4"/>
          <p:cNvSpPr/>
          <p:nvPr/>
        </p:nvSpPr>
        <p:spPr>
          <a:xfrm>
            <a:off x="1101650" y="2556572"/>
            <a:ext cx="6847500" cy="10323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captura de pantalla&#10;&#10;Descripción generada automáticamente" id="275" name="Google Shape;27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283" y="3970281"/>
            <a:ext cx="4295606" cy="133489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6" name="Google Shape;276;p14"/>
          <p:cNvSpPr/>
          <p:nvPr/>
        </p:nvSpPr>
        <p:spPr>
          <a:xfrm>
            <a:off x="5367587" y="3970281"/>
            <a:ext cx="3365251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muestra el error, se verifica si el campo “</a:t>
            </a:r>
            <a:r>
              <a:rPr b="0" i="0" lang="es-CL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tiene errores y si ha tenido el foco al menos una vez (</a:t>
            </a:r>
            <a:r>
              <a:rPr b="0" i="0" lang="es-CL" sz="18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touched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o ha sido modificado (</a:t>
            </a:r>
            <a:r>
              <a:rPr b="0" i="0" lang="es-CL" sz="18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dirty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(Animación).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4"/>
          <p:cNvSpPr txBox="1"/>
          <p:nvPr/>
        </p:nvSpPr>
        <p:spPr>
          <a:xfrm>
            <a:off x="838861" y="1827101"/>
            <a:ext cx="256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modal-add.html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82" name="Google Shape;282;p1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5"/>
          <p:cNvSpPr txBox="1"/>
          <p:nvPr/>
        </p:nvSpPr>
        <p:spPr>
          <a:xfrm>
            <a:off x="1144588" y="185738"/>
            <a:ext cx="77743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Proporcionar Feedback Luego de Validación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4" name="Google Shape;284;p1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5" name="Google Shape;285;p1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Desactivar el botón “Guardar” sino se han ingresado los datos requeridos (Animación).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5"/>
          <p:cNvSpPr txBox="1"/>
          <p:nvPr/>
        </p:nvSpPr>
        <p:spPr>
          <a:xfrm>
            <a:off x="627062" y="3580869"/>
            <a:ext cx="256993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modal-add.html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5"/>
          <p:cNvSpPr/>
          <p:nvPr/>
        </p:nvSpPr>
        <p:spPr>
          <a:xfrm rot="-5400000">
            <a:off x="3621325" y="3094500"/>
            <a:ext cx="396000" cy="25338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5"/>
          <p:cNvSpPr txBox="1"/>
          <p:nvPr/>
        </p:nvSpPr>
        <p:spPr>
          <a:xfrm>
            <a:off x="2430035" y="4677344"/>
            <a:ext cx="6302802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“disabled” es una propiedad del control (button), le asignamos un valor booleano que en este caso corresponde a la verificación del formulario completo (todas sus validaciones) definidas en el FormBuilder.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captura de pantalla&#10;&#10;Descripción generada automáticamente" id="290" name="Google Shape;29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12029" y="1920001"/>
            <a:ext cx="4657725" cy="1447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1" name="Google Shape;291;p15" title="Captura de pantalla 2026-04-27 a la(s) 01.53.4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4850" y="3900801"/>
            <a:ext cx="7774299" cy="243541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5"/>
          <p:cNvSpPr/>
          <p:nvPr/>
        </p:nvSpPr>
        <p:spPr>
          <a:xfrm>
            <a:off x="2516275" y="3900775"/>
            <a:ext cx="2570100" cy="2436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97" name="Google Shape;297;p1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6"/>
          <p:cNvSpPr txBox="1"/>
          <p:nvPr/>
        </p:nvSpPr>
        <p:spPr>
          <a:xfrm>
            <a:off x="1144588" y="185738"/>
            <a:ext cx="407778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 de Validación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" name="Google Shape;299;p1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0" name="Google Shape;300;p1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requiere validar: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6744563" y="2976230"/>
            <a:ext cx="12851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GUS-8410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7113" y="2134133"/>
            <a:ext cx="3916189" cy="390017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4" name="Google Shape;304;p16"/>
          <p:cNvSpPr/>
          <p:nvPr/>
        </p:nvSpPr>
        <p:spPr>
          <a:xfrm>
            <a:off x="1756847" y="3184204"/>
            <a:ext cx="2447960" cy="367194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5233902" y="2052900"/>
            <a:ext cx="3744426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ingreso del código del producto para que tenga la estructura necesaria: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y además no exista en la base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de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 startAt="2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Precio mínimo igual a cero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 startAt="3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Rating entre 1 y 200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1756847" y="4054418"/>
            <a:ext cx="2447960" cy="367194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1756847" y="4489525"/>
            <a:ext cx="2447960" cy="367194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12" name="Google Shape;312;p1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7"/>
          <p:cNvSpPr txBox="1"/>
          <p:nvPr/>
        </p:nvSpPr>
        <p:spPr>
          <a:xfrm>
            <a:off x="1144588" y="185738"/>
            <a:ext cx="380636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Validación Asíncrona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p1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5" name="Google Shape;315;p1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627063" y="5108231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Este tipo de validaciones pueden retornar solo una estructura asíncrona, como por ejemplo una Promesa o un Observable.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633316" y="1287035"/>
            <a:ext cx="8099522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Son aquellas validaciones en las cuales se hace una </a:t>
            </a:r>
            <a:r>
              <a:rPr b="0" i="0" lang="es-CL" sz="1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solicitud externa </a:t>
            </a:r>
            <a:r>
              <a:rPr b="0" i="0" lang="es-CL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de acuerdo a ello validar los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ejemplo, al validar un </a:t>
            </a:r>
            <a:r>
              <a:rPr b="0" i="1" lang="es-CL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username</a:t>
            </a:r>
            <a:r>
              <a:rPr b="0" i="0" lang="es-CL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primero debemos hacer una solicitud a la base de datos y comprobar que el nombre de usuario está disponible.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1002654" y="3451969"/>
            <a:ext cx="1101582" cy="1040383"/>
          </a:xfrm>
          <a:prstGeom prst="flowChartAlternateProcess">
            <a:avLst/>
          </a:prstGeom>
          <a:solidFill>
            <a:srgbClr val="D8D8D8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1125495" y="3735104"/>
            <a:ext cx="856341" cy="12229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1125495" y="3949354"/>
            <a:ext cx="856341" cy="12229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7"/>
          <p:cNvSpPr txBox="1"/>
          <p:nvPr/>
        </p:nvSpPr>
        <p:spPr>
          <a:xfrm>
            <a:off x="1125495" y="4102584"/>
            <a:ext cx="856341" cy="230832"/>
          </a:xfrm>
          <a:prstGeom prst="rect">
            <a:avLst/>
          </a:prstGeom>
          <a:solidFill>
            <a:srgbClr val="FF999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L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7"/>
          <p:cNvSpPr txBox="1"/>
          <p:nvPr/>
        </p:nvSpPr>
        <p:spPr>
          <a:xfrm>
            <a:off x="1079588" y="3902527"/>
            <a:ext cx="505267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L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13920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7325955" y="3589627"/>
            <a:ext cx="917985" cy="577311"/>
          </a:xfrm>
          <a:prstGeom prst="flowChartMagneticDisk">
            <a:avLst/>
          </a:prstGeom>
          <a:solidFill>
            <a:srgbClr val="BBD6EE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2914203" y="3481854"/>
            <a:ext cx="1348639" cy="896468"/>
          </a:xfrm>
          <a:prstGeom prst="rect">
            <a:avLst/>
          </a:prstGeom>
          <a:solidFill>
            <a:srgbClr val="FFF2CC"/>
          </a:solidFill>
          <a:ln cap="flat" cmpd="sng" w="12700">
            <a:solidFill>
              <a:srgbClr val="BF9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7"/>
          <p:cNvSpPr txBox="1"/>
          <p:nvPr/>
        </p:nvSpPr>
        <p:spPr>
          <a:xfrm>
            <a:off x="3006813" y="3673796"/>
            <a:ext cx="1348639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L" sz="9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ValidarCodigo(){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L" sz="9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L" sz="9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5364469" y="3494272"/>
            <a:ext cx="1318852" cy="896468"/>
          </a:xfrm>
          <a:prstGeom prst="rect">
            <a:avLst/>
          </a:prstGeom>
          <a:solidFill>
            <a:srgbClr val="FBE4D4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7" name="Google Shape;327;p17"/>
          <p:cNvSpPr txBox="1"/>
          <p:nvPr/>
        </p:nvSpPr>
        <p:spPr>
          <a:xfrm>
            <a:off x="5425667" y="3655861"/>
            <a:ext cx="1318851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L" sz="9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ValidarCodigo(){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L" sz="9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   http.get(…)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L" sz="9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2039025" y="3946323"/>
            <a:ext cx="849086" cy="31855"/>
          </a:xfrm>
          <a:custGeom>
            <a:rect b="b" l="l" r="r" t="t"/>
            <a:pathLst>
              <a:path extrusionOk="0" h="31855" w="849086">
                <a:moveTo>
                  <a:pt x="0" y="18661"/>
                </a:moveTo>
                <a:cubicBezTo>
                  <a:pt x="183489" y="41598"/>
                  <a:pt x="59859" y="29973"/>
                  <a:pt x="410547" y="18661"/>
                </a:cubicBezTo>
                <a:lnTo>
                  <a:pt x="653143" y="9331"/>
                </a:lnTo>
                <a:lnTo>
                  <a:pt x="849086" y="0"/>
                </a:lnTo>
              </a:path>
            </a:pathLst>
          </a:custGeom>
          <a:noFill/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4107115" y="3948592"/>
            <a:ext cx="1225835" cy="45719"/>
          </a:xfrm>
          <a:custGeom>
            <a:rect b="b" l="l" r="r" t="t"/>
            <a:pathLst>
              <a:path extrusionOk="0" h="56793" w="1520890">
                <a:moveTo>
                  <a:pt x="0" y="0"/>
                </a:moveTo>
                <a:cubicBezTo>
                  <a:pt x="86315" y="14386"/>
                  <a:pt x="50218" y="9941"/>
                  <a:pt x="167951" y="18662"/>
                </a:cubicBezTo>
                <a:cubicBezTo>
                  <a:pt x="214580" y="22116"/>
                  <a:pt x="261180" y="26451"/>
                  <a:pt x="307911" y="27992"/>
                </a:cubicBezTo>
                <a:cubicBezTo>
                  <a:pt x="544240" y="35783"/>
                  <a:pt x="780847" y="35405"/>
                  <a:pt x="1017037" y="46653"/>
                </a:cubicBezTo>
                <a:cubicBezTo>
                  <a:pt x="1315500" y="60866"/>
                  <a:pt x="1147592" y="55984"/>
                  <a:pt x="1520890" y="55984"/>
                </a:cubicBezTo>
              </a:path>
            </a:pathLst>
          </a:custGeom>
          <a:noFill/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6545931" y="3946323"/>
            <a:ext cx="709126" cy="28672"/>
          </a:xfrm>
          <a:custGeom>
            <a:rect b="b" l="l" r="r" t="t"/>
            <a:pathLst>
              <a:path extrusionOk="0" h="28672" w="709126">
                <a:moveTo>
                  <a:pt x="0" y="526"/>
                </a:moveTo>
                <a:cubicBezTo>
                  <a:pt x="18661" y="6746"/>
                  <a:pt x="36553" y="16119"/>
                  <a:pt x="55983" y="19187"/>
                </a:cubicBezTo>
                <a:cubicBezTo>
                  <a:pt x="177102" y="38311"/>
                  <a:pt x="323844" y="23283"/>
                  <a:pt x="438539" y="19187"/>
                </a:cubicBezTo>
                <a:cubicBezTo>
                  <a:pt x="463420" y="12967"/>
                  <a:pt x="487794" y="-3101"/>
                  <a:pt x="513183" y="526"/>
                </a:cubicBezTo>
                <a:cubicBezTo>
                  <a:pt x="577028" y="9647"/>
                  <a:pt x="602681" y="14250"/>
                  <a:pt x="671804" y="19187"/>
                </a:cubicBezTo>
                <a:cubicBezTo>
                  <a:pt x="684213" y="20073"/>
                  <a:pt x="696685" y="19187"/>
                  <a:pt x="709126" y="19187"/>
                </a:cubicBezTo>
              </a:path>
            </a:pathLst>
          </a:custGeom>
          <a:noFill/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6592584" y="3759178"/>
            <a:ext cx="634481" cy="10389"/>
          </a:xfrm>
          <a:custGeom>
            <a:rect b="b" l="l" r="r" t="t"/>
            <a:pathLst>
              <a:path extrusionOk="0" h="10389" w="634481">
                <a:moveTo>
                  <a:pt x="634481" y="10389"/>
                </a:moveTo>
                <a:cubicBezTo>
                  <a:pt x="273817" y="-4638"/>
                  <a:pt x="485256" y="1059"/>
                  <a:pt x="0" y="1059"/>
                </a:cubicBezTo>
              </a:path>
            </a:pathLst>
          </a:custGeom>
          <a:noFill/>
          <a:ln cap="flat" cmpd="sng" w="28575">
            <a:solidFill>
              <a:srgbClr val="0033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4129302" y="3778824"/>
            <a:ext cx="1147666" cy="28078"/>
          </a:xfrm>
          <a:custGeom>
            <a:rect b="b" l="l" r="r" t="t"/>
            <a:pathLst>
              <a:path extrusionOk="0" h="28078" w="1147666">
                <a:moveTo>
                  <a:pt x="1147666" y="9405"/>
                </a:moveTo>
                <a:cubicBezTo>
                  <a:pt x="1069911" y="6295"/>
                  <a:pt x="992218" y="74"/>
                  <a:pt x="914400" y="74"/>
                </a:cubicBezTo>
                <a:cubicBezTo>
                  <a:pt x="322799" y="74"/>
                  <a:pt x="403064" y="-2229"/>
                  <a:pt x="46653" y="18735"/>
                </a:cubicBezTo>
                <a:cubicBezTo>
                  <a:pt x="6314" y="28820"/>
                  <a:pt x="22155" y="28066"/>
                  <a:pt x="0" y="28066"/>
                </a:cubicBezTo>
              </a:path>
            </a:pathLst>
          </a:custGeom>
          <a:noFill/>
          <a:ln cap="flat" cmpd="sng" w="28575">
            <a:solidFill>
              <a:srgbClr val="0033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2057906" y="4114710"/>
            <a:ext cx="793102" cy="46653"/>
          </a:xfrm>
          <a:custGeom>
            <a:rect b="b" l="l" r="r" t="t"/>
            <a:pathLst>
              <a:path extrusionOk="0" h="46653" w="793102">
                <a:moveTo>
                  <a:pt x="793102" y="0"/>
                </a:moveTo>
                <a:lnTo>
                  <a:pt x="606490" y="9330"/>
                </a:lnTo>
                <a:cubicBezTo>
                  <a:pt x="482112" y="13476"/>
                  <a:pt x="357584" y="13010"/>
                  <a:pt x="233265" y="18661"/>
                </a:cubicBezTo>
                <a:cubicBezTo>
                  <a:pt x="220455" y="19243"/>
                  <a:pt x="208226" y="24307"/>
                  <a:pt x="195943" y="27992"/>
                </a:cubicBezTo>
                <a:cubicBezTo>
                  <a:pt x="177102" y="33644"/>
                  <a:pt x="159630" y="46653"/>
                  <a:pt x="139959" y="46653"/>
                </a:cubicBezTo>
                <a:lnTo>
                  <a:pt x="0" y="46653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7"/>
          <p:cNvSpPr txBox="1"/>
          <p:nvPr/>
        </p:nvSpPr>
        <p:spPr>
          <a:xfrm>
            <a:off x="4373127" y="3503318"/>
            <a:ext cx="85745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CL" sz="9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Observable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7"/>
          <p:cNvSpPr txBox="1"/>
          <p:nvPr/>
        </p:nvSpPr>
        <p:spPr>
          <a:xfrm>
            <a:off x="2108050" y="4150500"/>
            <a:ext cx="857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CL" sz="9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Observable</a:t>
            </a:r>
            <a:endParaRPr b="0" i="0" sz="900" u="none" cap="none" strike="noStrike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6" name="Google Shape;336;p17"/>
          <p:cNvSpPr txBox="1"/>
          <p:nvPr/>
        </p:nvSpPr>
        <p:spPr>
          <a:xfrm>
            <a:off x="5358723" y="3451969"/>
            <a:ext cx="1318851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Service</a:t>
            </a:r>
            <a:endParaRPr b="1" i="0" sz="10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7" name="Google Shape;337;p17"/>
          <p:cNvSpPr txBox="1"/>
          <p:nvPr/>
        </p:nvSpPr>
        <p:spPr>
          <a:xfrm>
            <a:off x="2908456" y="3465642"/>
            <a:ext cx="1318851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Component</a:t>
            </a:r>
            <a:endParaRPr b="1" i="0" sz="10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42" name="Google Shape;342;p1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8"/>
          <p:cNvSpPr txBox="1"/>
          <p:nvPr/>
        </p:nvSpPr>
        <p:spPr>
          <a:xfrm>
            <a:off x="1144588" y="185738"/>
            <a:ext cx="55231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Ejercicio: Validación Asíncrona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1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5" name="Google Shape;345;p1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Agregaremos validación asíncrona a nuestro ejercicio. Verificaremos que el código no existe cuando agregamos un nuevo producto (Animación).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captura de pantalla&#10;&#10;Descripción generada automáticamente" id="347" name="Google Shape;3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7113" y="1978535"/>
            <a:ext cx="4406596" cy="43802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8" name="Google Shape;348;p18"/>
          <p:cNvSpPr/>
          <p:nvPr/>
        </p:nvSpPr>
        <p:spPr>
          <a:xfrm>
            <a:off x="5217601" y="2724000"/>
            <a:ext cx="3107700" cy="1194600"/>
          </a:xfrm>
          <a:prstGeom prst="wedgeRectCallout">
            <a:avLst>
              <a:gd fmla="val -78195" name="adj1"/>
              <a:gd fmla="val 4125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Recordar que los códigos de los productos tienen 8 caracteres.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Están escritos con mayúsculas.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Ejemplo: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6785163" y="3487047"/>
            <a:ext cx="102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GMG-0042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5693812" y="4260860"/>
            <a:ext cx="263155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La búsqueda se realiza en tiempo real, antes de presionar el botón “Guardar”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19" title="Captura de pantalla 2026-04-27 a la(s) 03.11.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450" y="2266650"/>
            <a:ext cx="8105774" cy="30827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356" name="Google Shape;356;p19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7" name="Google Shape;357;p1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8" name="Google Shape;358;p1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9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validación se utiliza en el </a:t>
            </a:r>
            <a:r>
              <a:rPr b="0" i="0" lang="es-CL" sz="18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FormBuilder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recordar que es el tercer parámetro: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7168793" y="3461392"/>
            <a:ext cx="244800" cy="306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9"/>
          <p:cNvSpPr/>
          <p:nvPr/>
        </p:nvSpPr>
        <p:spPr>
          <a:xfrm>
            <a:off x="6326294" y="3828586"/>
            <a:ext cx="2216100" cy="367200"/>
          </a:xfrm>
          <a:prstGeom prst="rect">
            <a:avLst/>
          </a:prstGeom>
          <a:noFill/>
          <a:ln cap="flat" cmpd="sng" w="28575">
            <a:solidFill>
              <a:srgbClr val="FF00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6403805" y="3026417"/>
            <a:ext cx="201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Tercer parámetro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9"/>
          <p:cNvSpPr/>
          <p:nvPr/>
        </p:nvSpPr>
        <p:spPr>
          <a:xfrm>
            <a:off x="491005" y="1926235"/>
            <a:ext cx="273461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modal-add.ts</a:t>
            </a:r>
            <a:endParaRPr b="0" i="0" sz="1600" u="none" cap="none" strike="noStrike">
              <a:solidFill>
                <a:srgbClr val="0033CC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4" name="Google Shape;364;p19"/>
          <p:cNvSpPr txBox="1"/>
          <p:nvPr/>
        </p:nvSpPr>
        <p:spPr>
          <a:xfrm>
            <a:off x="1144588" y="185738"/>
            <a:ext cx="71005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Ejercicio: Validación Asíncrona - 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9"/>
          <p:cNvSpPr/>
          <p:nvPr/>
        </p:nvSpPr>
        <p:spPr>
          <a:xfrm>
            <a:off x="900000" y="3890025"/>
            <a:ext cx="7586700" cy="2436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>
                <a:alpha val="4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20" title="Captura de pantalla 2026-04-27 a la(s) 03.22.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28" y="2150099"/>
            <a:ext cx="7633248" cy="363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371" name="Google Shape;371;p20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2" name="Google Shape;372;p20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3" name="Google Shape;373;p20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función de validación tiene una estructura obligatoria bien definida: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655264" y="1782829"/>
            <a:ext cx="273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modal-add.ts</a:t>
            </a:r>
            <a:endParaRPr b="0" i="0" sz="1600" u="none" cap="none" strike="noStrike">
              <a:solidFill>
                <a:srgbClr val="0033CC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6" name="Google Shape;376;p20"/>
          <p:cNvSpPr/>
          <p:nvPr/>
        </p:nvSpPr>
        <p:spPr>
          <a:xfrm>
            <a:off x="2369865" y="2173753"/>
            <a:ext cx="1555800" cy="2238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>
                <a:alpha val="4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0"/>
          <p:cNvSpPr/>
          <p:nvPr/>
        </p:nvSpPr>
        <p:spPr>
          <a:xfrm>
            <a:off x="4169232" y="2416052"/>
            <a:ext cx="3855600" cy="2238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>
                <a:alpha val="4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0"/>
          <p:cNvSpPr/>
          <p:nvPr/>
        </p:nvSpPr>
        <p:spPr>
          <a:xfrm>
            <a:off x="1724398" y="2419564"/>
            <a:ext cx="2264400" cy="2238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>
                <a:alpha val="4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0"/>
          <p:cNvSpPr/>
          <p:nvPr/>
        </p:nvSpPr>
        <p:spPr>
          <a:xfrm>
            <a:off x="1224490" y="2638813"/>
            <a:ext cx="2322600" cy="2424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>
                <a:alpha val="4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1837499" y="3986075"/>
            <a:ext cx="2734500" cy="2220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>
                <a:alpha val="4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0"/>
          <p:cNvSpPr/>
          <p:nvPr/>
        </p:nvSpPr>
        <p:spPr>
          <a:xfrm>
            <a:off x="1724409" y="4588081"/>
            <a:ext cx="1158600" cy="2424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>
                <a:alpha val="4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0"/>
          <p:cNvSpPr txBox="1"/>
          <p:nvPr/>
        </p:nvSpPr>
        <p:spPr>
          <a:xfrm>
            <a:off x="1144588" y="185738"/>
            <a:ext cx="74590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Ejercicio: Validación Asíncrona - Validador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1" title="Captura de pantalla 2026-04-27 a la(s) 03.24.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800" y="2388626"/>
            <a:ext cx="7980410" cy="167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388" name="Google Shape;388;p21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9" name="Google Shape;389;p21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0" name="Google Shape;390;p21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1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servicio realiza una petición HTTP de tipo GET al servidor para comprobar la existencia del producto con código “code”: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1"/>
          <p:cNvSpPr txBox="1"/>
          <p:nvPr/>
        </p:nvSpPr>
        <p:spPr>
          <a:xfrm>
            <a:off x="1144588" y="185738"/>
            <a:ext cx="723999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Ejercicio: Validación Asíncrona - Servicio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1"/>
          <p:cNvSpPr/>
          <p:nvPr/>
        </p:nvSpPr>
        <p:spPr>
          <a:xfrm>
            <a:off x="538936" y="2067376"/>
            <a:ext cx="273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product.ts</a:t>
            </a:r>
            <a:endParaRPr b="0" i="0" sz="1600" u="none" cap="none" strike="noStrike">
              <a:solidFill>
                <a:srgbClr val="0033CC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4" name="Google Shape;394;p21"/>
          <p:cNvSpPr/>
          <p:nvPr/>
        </p:nvSpPr>
        <p:spPr>
          <a:xfrm>
            <a:off x="1163975" y="3087225"/>
            <a:ext cx="2936700" cy="3129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>
                <a:alpha val="4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1"/>
          <p:cNvSpPr/>
          <p:nvPr/>
        </p:nvSpPr>
        <p:spPr>
          <a:xfrm>
            <a:off x="2676669" y="3792951"/>
            <a:ext cx="2763600" cy="762300"/>
          </a:xfrm>
          <a:prstGeom prst="wedgeRectCallout">
            <a:avLst>
              <a:gd fmla="val -21475" name="adj1"/>
              <a:gd fmla="val -91165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necesario mapear el resultado para utilizar solo el campo “data”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22" title="Captura de pantalla 2026-04-27 a la(s) 02.22.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7187" y="2486848"/>
            <a:ext cx="7109625" cy="3099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401" name="Google Shape;401;p22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2" name="Google Shape;402;p2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3" name="Google Shape;403;p2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2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implementación del servicio en el backend solo busca el producto con código igual al que ingresó el usuario.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1144588" y="185738"/>
            <a:ext cx="734258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Ejercicio: Validación Asíncrona - Backend</a:t>
            </a:r>
            <a:endParaRPr b="1" i="0" sz="2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2"/>
          <p:cNvSpPr/>
          <p:nvPr/>
        </p:nvSpPr>
        <p:spPr>
          <a:xfrm>
            <a:off x="1017169" y="2115835"/>
            <a:ext cx="273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2"/>
          <p:cNvSpPr/>
          <p:nvPr/>
        </p:nvSpPr>
        <p:spPr>
          <a:xfrm>
            <a:off x="1957825" y="2551925"/>
            <a:ext cx="2485500" cy="3126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>
                <a:alpha val="4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2"/>
          <p:cNvSpPr/>
          <p:nvPr/>
        </p:nvSpPr>
        <p:spPr>
          <a:xfrm>
            <a:off x="3305975" y="3093550"/>
            <a:ext cx="1851900" cy="3129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>
                <a:alpha val="4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2"/>
          <p:cNvSpPr/>
          <p:nvPr/>
        </p:nvSpPr>
        <p:spPr>
          <a:xfrm>
            <a:off x="1605751" y="2885650"/>
            <a:ext cx="6209400" cy="2079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>
                <a:alpha val="4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2"/>
          <p:cNvSpPr/>
          <p:nvPr/>
        </p:nvSpPr>
        <p:spPr>
          <a:xfrm>
            <a:off x="2304049" y="4168075"/>
            <a:ext cx="1930500" cy="2079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>
                <a:alpha val="4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2"/>
          <p:cNvSpPr/>
          <p:nvPr/>
        </p:nvSpPr>
        <p:spPr>
          <a:xfrm>
            <a:off x="2850125" y="1948925"/>
            <a:ext cx="1078800" cy="408300"/>
          </a:xfrm>
          <a:prstGeom prst="wedgeRectCallout">
            <a:avLst>
              <a:gd fmla="val -24917" name="adj1"/>
              <a:gd fmla="val 78127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Ruta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2"/>
          <p:cNvSpPr/>
          <p:nvPr/>
        </p:nvSpPr>
        <p:spPr>
          <a:xfrm>
            <a:off x="227025" y="2759375"/>
            <a:ext cx="1078800" cy="408300"/>
          </a:xfrm>
          <a:prstGeom prst="wedgeRectCallout">
            <a:avLst>
              <a:gd fmla="val 79936" name="adj1"/>
              <a:gd fmla="val 9025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Query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2"/>
          <p:cNvSpPr/>
          <p:nvPr/>
        </p:nvSpPr>
        <p:spPr>
          <a:xfrm>
            <a:off x="5157875" y="3569000"/>
            <a:ext cx="1078800" cy="408300"/>
          </a:xfrm>
          <a:prstGeom prst="wedgeRectCallout">
            <a:avLst>
              <a:gd fmla="val -80469" name="adj1"/>
              <a:gd fmla="val -84289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Parámetro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2"/>
          <p:cNvSpPr/>
          <p:nvPr/>
        </p:nvSpPr>
        <p:spPr>
          <a:xfrm>
            <a:off x="3928925" y="4767750"/>
            <a:ext cx="1686000" cy="523200"/>
          </a:xfrm>
          <a:prstGeom prst="wedgeRectCallout">
            <a:avLst>
              <a:gd fmla="val -102531" name="adj1"/>
              <a:gd fmla="val -125645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L">
                <a:solidFill>
                  <a:schemeClr val="dk1"/>
                </a:solidFill>
              </a:rPr>
              <a:t>Resultado en campo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23" title="Captura de pantalla 2026-04-27 a la(s) 03.16.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100" y="1782612"/>
            <a:ext cx="7717675" cy="26602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420" name="Google Shape;420;p23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1" name="Google Shape;421;p2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2" name="Google Shape;422;p2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3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Agregaremos la validación para mostrar el error en la vista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1144588" y="185738"/>
            <a:ext cx="771769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Ejercicio: Validación Asíncrona - Formulario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3"/>
          <p:cNvSpPr/>
          <p:nvPr/>
        </p:nvSpPr>
        <p:spPr>
          <a:xfrm>
            <a:off x="821100" y="4612950"/>
            <a:ext cx="77178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Mostramos el mensaje “</a:t>
            </a:r>
            <a:r>
              <a:rPr b="0" i="0" lang="es-CL" sz="1800" u="none" cap="none" strike="noStrike">
                <a:solidFill>
                  <a:srgbClr val="BF9000"/>
                </a:solidFill>
                <a:latin typeface="Arial"/>
                <a:ea typeface="Arial"/>
                <a:cs typeface="Arial"/>
                <a:sym typeface="Arial"/>
              </a:rPr>
              <a:t>buscando…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mientras se busca en la base de datos. Preguntamos por el estado “</a:t>
            </a:r>
            <a:r>
              <a:rPr b="0" i="0" lang="es-CL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pending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Mostrar un mensaje de error cuando el código ingresado existe en la base de datos. Preguntamos por el campo “</a:t>
            </a:r>
            <a:r>
              <a:rPr lang="es-CL" sz="1800">
                <a:solidFill>
                  <a:srgbClr val="FF0000"/>
                </a:solidFill>
              </a:rPr>
              <a:t>codeExists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que indica true cuando el código existe en la BD.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3"/>
          <p:cNvSpPr/>
          <p:nvPr/>
        </p:nvSpPr>
        <p:spPr>
          <a:xfrm>
            <a:off x="821100" y="2784796"/>
            <a:ext cx="8013000" cy="12069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>
                <a:alpha val="4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