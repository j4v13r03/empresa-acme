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9144000"/>
  <p:notesSz cx="7086600" cy="8686800"/>
  <p:embeddedFontLst>
    <p:embeddedFont>
      <p:font typeface="Arimo"/>
      <p:regular r:id="rId32"/>
      <p:bold r:id="rId33"/>
      <p:italic r:id="rId34"/>
      <p:boldItalic r:id="rId35"/>
    </p:embeddedFont>
    <p:embeddedFont>
      <p:font typeface="Helvetica Neue"/>
      <p:regular r:id="rId36"/>
      <p:bold r:id="rId37"/>
      <p:italic r:id="rId38"/>
      <p:boldItalic r:id="rId39"/>
    </p:embeddedFont>
    <p:embeddedFont>
      <p:font typeface="Arial Black"/>
      <p:regular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1" roundtripDataSignature="AMtx7mikVxKiibkxmIdIEIaBvdQygZ50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ialBlack-regular.fntdata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Arimo-bold.fntdata"/><Relationship Id="rId10" Type="http://schemas.openxmlformats.org/officeDocument/2006/relationships/slide" Target="slides/slide5.xml"/><Relationship Id="rId32" Type="http://schemas.openxmlformats.org/officeDocument/2006/relationships/font" Target="fonts/Arimo-regular.fntdata"/><Relationship Id="rId13" Type="http://schemas.openxmlformats.org/officeDocument/2006/relationships/slide" Target="slides/slide8.xml"/><Relationship Id="rId35" Type="http://schemas.openxmlformats.org/officeDocument/2006/relationships/font" Target="fonts/Arimo-boldItalic.fntdata"/><Relationship Id="rId12" Type="http://schemas.openxmlformats.org/officeDocument/2006/relationships/slide" Target="slides/slide7.xml"/><Relationship Id="rId34" Type="http://schemas.openxmlformats.org/officeDocument/2006/relationships/font" Target="fonts/Arimo-italic.fntdata"/><Relationship Id="rId15" Type="http://schemas.openxmlformats.org/officeDocument/2006/relationships/slide" Target="slides/slide10.xml"/><Relationship Id="rId37" Type="http://schemas.openxmlformats.org/officeDocument/2006/relationships/font" Target="fonts/HelveticaNeue-bold.fntdata"/><Relationship Id="rId14" Type="http://schemas.openxmlformats.org/officeDocument/2006/relationships/slide" Target="slides/slide9.xml"/><Relationship Id="rId36" Type="http://schemas.openxmlformats.org/officeDocument/2006/relationships/font" Target="fonts/HelveticaNeue-regular.fntdata"/><Relationship Id="rId17" Type="http://schemas.openxmlformats.org/officeDocument/2006/relationships/slide" Target="slides/slide12.xml"/><Relationship Id="rId39" Type="http://schemas.openxmlformats.org/officeDocument/2006/relationships/font" Target="fonts/HelveticaNeue-boldItalic.fntdata"/><Relationship Id="rId16" Type="http://schemas.openxmlformats.org/officeDocument/2006/relationships/slide" Target="slides/slide11.xml"/><Relationship Id="rId38" Type="http://schemas.openxmlformats.org/officeDocument/2006/relationships/font" Target="fonts/HelveticaNeue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2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13494" y="2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6d50ca2b4_1_0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d6d50ca2b4_1_0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6d50ca2b4_1_23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d6d50ca2b4_1_23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6d50ca2b4_1_37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d6d50ca2b4_1_37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6d50ca2b4_1_54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d6d50ca2b4_1_54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6d50ca2b4_1_81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d6d50ca2b4_1_81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1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3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4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5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5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6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6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7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7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8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8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9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9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0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0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1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1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3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3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4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4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d71ed91e8f_0_0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3d71ed91e8f_0_0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8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8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9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9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0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0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0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1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1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31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31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31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3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3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33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3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4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4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4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3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5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5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6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6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25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3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7.png"/><Relationship Id="rId5" Type="http://schemas.openxmlformats.org/officeDocument/2006/relationships/image" Target="../media/image40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4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5.png"/><Relationship Id="rId5" Type="http://schemas.openxmlformats.org/officeDocument/2006/relationships/image" Target="../media/image39.png"/><Relationship Id="rId6" Type="http://schemas.openxmlformats.org/officeDocument/2006/relationships/image" Target="../media/image43.png"/><Relationship Id="rId7" Type="http://schemas.openxmlformats.org/officeDocument/2006/relationships/image" Target="../media/image4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7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12.png"/><Relationship Id="rId6" Type="http://schemas.openxmlformats.org/officeDocument/2006/relationships/image" Target="../media/image18.png"/><Relationship Id="rId7" Type="http://schemas.openxmlformats.org/officeDocument/2006/relationships/image" Target="../media/image20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1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6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34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3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3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4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30.gif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7.png"/><Relationship Id="rId4" Type="http://schemas.openxmlformats.org/officeDocument/2006/relationships/image" Target="../media/image1.png"/><Relationship Id="rId5" Type="http://schemas.openxmlformats.org/officeDocument/2006/relationships/image" Target="../media/image3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3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36.gif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3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3352800" y="2157413"/>
            <a:ext cx="5567363" cy="9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800">
                <a:solidFill>
                  <a:srgbClr val="D2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b="1">
              <a:solidFill>
                <a:srgbClr val="D2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762000" y="5095875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None/>
            </a:pPr>
            <a:r>
              <a:rPr lang="es-CL" sz="2000">
                <a:solidFill>
                  <a:srgbClr val="404040"/>
                </a:solidFill>
              </a:rPr>
              <a:t>César Aguilera Sepúlveda</a:t>
            </a:r>
            <a:endParaRPr/>
          </a:p>
          <a:p>
            <a:pPr indent="0" lvl="0" marL="0" rtl="0" algn="ctr">
              <a:spcBef>
                <a:spcPts val="700"/>
              </a:spcBef>
              <a:spcAft>
                <a:spcPts val="0"/>
              </a:spcAft>
              <a:buClr>
                <a:srgbClr val="0033CC"/>
              </a:buClr>
              <a:buSzPts val="2000"/>
              <a:buFont typeface="Arial"/>
              <a:buNone/>
            </a:pPr>
            <a:r>
              <a:rPr i="1" lang="es-CL" sz="2000">
                <a:solidFill>
                  <a:srgbClr val="0033CC"/>
                </a:solidFill>
              </a:rPr>
              <a:t>caguilsepulveda@gmail.com</a:t>
            </a:r>
            <a:endParaRPr sz="2000">
              <a:solidFill>
                <a:srgbClr val="3F3F3F"/>
              </a:solidFill>
            </a:endParaRPr>
          </a:p>
        </p:txBody>
      </p:sp>
      <p:pic>
        <p:nvPicPr>
          <p:cNvPr descr="escudo_color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2507" t="0"/>
          <a:stretch/>
        </p:blipFill>
        <p:spPr>
          <a:xfrm>
            <a:off x="304800" y="304800"/>
            <a:ext cx="16002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/>
          <p:nvPr/>
        </p:nvSpPr>
        <p:spPr>
          <a:xfrm>
            <a:off x="3379407" y="3122613"/>
            <a:ext cx="507841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Desarrollo del Backend</a:t>
            </a:r>
            <a:endParaRPr b="1" i="0" sz="3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Servidor</a:t>
            </a:r>
            <a:endParaRPr b="1" i="0" sz="3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90500" y="6477000"/>
            <a:ext cx="8724900" cy="312738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3429000" y="4224587"/>
            <a:ext cx="5181600" cy="46037"/>
          </a:xfrm>
          <a:prstGeom prst="rect">
            <a:avLst/>
          </a:prstGeom>
          <a:solidFill>
            <a:srgbClr val="008000"/>
          </a:solidFill>
          <a:ln cap="flat" cmpd="sng" w="12700">
            <a:solidFill>
              <a:srgbClr val="008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6897562" y="1859571"/>
            <a:ext cx="2045753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8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10a</a:t>
            </a:r>
            <a:endParaRPr/>
          </a:p>
        </p:txBody>
      </p:sp>
      <p:pic>
        <p:nvPicPr>
          <p:cNvPr id="96" name="Google Shape;9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5725" y="1899630"/>
            <a:ext cx="2459557" cy="2783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3668" y="228150"/>
            <a:ext cx="1897170" cy="1108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02" name="Google Shape;102;g3d6d50ca2b4_1_0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3d6d50ca2b4_1_0"/>
          <p:cNvSpPr txBox="1"/>
          <p:nvPr/>
        </p:nvSpPr>
        <p:spPr>
          <a:xfrm>
            <a:off x="1144610" y="185750"/>
            <a:ext cx="281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Introducción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" name="Google Shape;104;g3d6d50ca2b4_1_0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g3d6d50ca2b4_1_0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06" name="Google Shape;106;g3d6d50ca2b4_1_0"/>
          <p:cNvSpPr/>
          <p:nvPr/>
        </p:nvSpPr>
        <p:spPr>
          <a:xfrm>
            <a:off x="671750" y="2675147"/>
            <a:ext cx="81057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Angular es </a:t>
            </a:r>
            <a:r>
              <a:rPr b="1" lang="es-CL" sz="1800">
                <a:solidFill>
                  <a:schemeClr val="dk1"/>
                </a:solidFill>
              </a:rPr>
              <a:t>desarrollo frontend</a:t>
            </a:r>
            <a:r>
              <a:rPr lang="es-CL" sz="1800">
                <a:solidFill>
                  <a:schemeClr val="dk1"/>
                </a:solidFill>
              </a:rPr>
              <a:t> y no maneja los datos - generalmente los pide a un servidor.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-342900" lvl="1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Nuestro proyecto hasta ahora tiene los datos hardcodeados en Angular y eso no es real.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7" name="Google Shape;107;g3d6d50ca2b4_1_0"/>
          <p:cNvSpPr/>
          <p:nvPr/>
        </p:nvSpPr>
        <p:spPr>
          <a:xfrm>
            <a:off x="697862" y="4174544"/>
            <a:ext cx="80535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23232"/>
                </a:solidFill>
              </a:rPr>
              <a:t>¿Qué falta para conectar nuestra aplicación Angular con datos reales?</a:t>
            </a:r>
            <a:endParaRPr sz="1800">
              <a:solidFill>
                <a:srgbClr val="323232"/>
              </a:solidFill>
            </a:endParaRPr>
          </a:p>
          <a:p>
            <a:pPr indent="-342900" lvl="1" marL="914400" marR="0" rtl="0" algn="just">
              <a:spcBef>
                <a:spcPts val="0"/>
              </a:spcBef>
              <a:spcAft>
                <a:spcPts val="0"/>
              </a:spcAft>
              <a:buClr>
                <a:srgbClr val="323232"/>
              </a:buClr>
              <a:buSzPts val="1800"/>
              <a:buChar char="○"/>
            </a:pPr>
            <a:r>
              <a:rPr lang="es-CL" sz="1800">
                <a:solidFill>
                  <a:srgbClr val="323232"/>
                </a:solidFill>
              </a:rPr>
              <a:t>Un </a:t>
            </a:r>
            <a:r>
              <a:rPr b="1" lang="es-CL" sz="1800">
                <a:solidFill>
                  <a:srgbClr val="323232"/>
                </a:solidFill>
              </a:rPr>
              <a:t>Servidor Backend</a:t>
            </a:r>
            <a:r>
              <a:rPr lang="es-CL" sz="1800">
                <a:solidFill>
                  <a:srgbClr val="323232"/>
                </a:solidFill>
              </a:rPr>
              <a:t> que gestione los datos reales.</a:t>
            </a:r>
            <a:endParaRPr sz="1800">
              <a:solidFill>
                <a:srgbClr val="323232"/>
              </a:solidFill>
            </a:endParaRPr>
          </a:p>
        </p:txBody>
      </p:sp>
      <p:sp>
        <p:nvSpPr>
          <p:cNvPr id="108" name="Google Shape;108;g3d6d50ca2b4_1_0"/>
          <p:cNvSpPr/>
          <p:nvPr/>
        </p:nvSpPr>
        <p:spPr>
          <a:xfrm>
            <a:off x="671750" y="1122950"/>
            <a:ext cx="8105700" cy="14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El desarrollo web se diferencia típicamente en dos áreas bien marcadas: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-342900" lvl="1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s-CL" sz="1800">
                <a:solidFill>
                  <a:schemeClr val="dk1"/>
                </a:solidFill>
              </a:rPr>
              <a:t>Frontend</a:t>
            </a:r>
            <a:r>
              <a:rPr lang="es-CL" sz="1800">
                <a:solidFill>
                  <a:schemeClr val="dk1"/>
                </a:solidFill>
              </a:rPr>
              <a:t>: Desarrollo en el lado del cliente con foco en UX.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s-CL" sz="1800">
                <a:solidFill>
                  <a:schemeClr val="dk1"/>
                </a:solidFill>
              </a:rPr>
              <a:t>Backend</a:t>
            </a:r>
            <a:r>
              <a:rPr lang="es-CL" sz="1800">
                <a:solidFill>
                  <a:schemeClr val="dk1"/>
                </a:solidFill>
              </a:rPr>
              <a:t>: Desarrollo en el lado del servidor con foco en la lógica y administración de datos.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9" name="Google Shape;109;g3d6d50ca2b4_1_0"/>
          <p:cNvSpPr/>
          <p:nvPr/>
        </p:nvSpPr>
        <p:spPr>
          <a:xfrm>
            <a:off x="697862" y="4970141"/>
            <a:ext cx="80535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323232"/>
                </a:solidFill>
              </a:rPr>
              <a:t>Vamos a crear un servidor simple que entregue datos!!</a:t>
            </a:r>
            <a:endParaRPr sz="1800">
              <a:solidFill>
                <a:srgbClr val="32323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6d50ca2b4_1_23"/>
          <p:cNvSpPr/>
          <p:nvPr/>
        </p:nvSpPr>
        <p:spPr>
          <a:xfrm>
            <a:off x="671750" y="1122950"/>
            <a:ext cx="8105700" cy="26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s-CL" sz="1800">
                <a:solidFill>
                  <a:schemeClr val="dk1"/>
                </a:solidFill>
              </a:rPr>
              <a:t>NodeJS</a:t>
            </a:r>
            <a:r>
              <a:rPr lang="es-CL" sz="1800">
                <a:solidFill>
                  <a:schemeClr val="dk1"/>
                </a:solidFill>
              </a:rPr>
              <a:t>: Framework Javascript del lado del servidor, basado en </a:t>
            </a:r>
            <a:r>
              <a:rPr b="1" lang="es-CL" sz="1800">
                <a:solidFill>
                  <a:schemeClr val="dk1"/>
                </a:solidFill>
              </a:rPr>
              <a:t>eventos</a:t>
            </a:r>
            <a:r>
              <a:rPr lang="es-CL" sz="1800">
                <a:solidFill>
                  <a:schemeClr val="dk1"/>
                </a:solidFill>
              </a:rPr>
              <a:t>, y por lo tanto, </a:t>
            </a:r>
            <a:r>
              <a:rPr b="1" lang="es-CL" sz="1800">
                <a:solidFill>
                  <a:schemeClr val="dk1"/>
                </a:solidFill>
              </a:rPr>
              <a:t>asíncrono</a:t>
            </a:r>
            <a:r>
              <a:rPr lang="es-CL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Desarrollado por Google.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Destacado por su rendimiento.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Compila Javascript en código de máquina nativo.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Es de código abierto, y se ejecuta en Mac OS X, Windows y Linux.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N</a:t>
            </a:r>
            <a:r>
              <a:rPr lang="es-CL" sz="1800">
                <a:solidFill>
                  <a:schemeClr val="dk1"/>
                </a:solidFill>
              </a:rPr>
              <a:t>odeJS ya está instalado (Angular lo utiliza), entonces debemos verificar su versión desde la consola.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Resultado de imagen para angular logos" id="115" name="Google Shape;115;g3d6d50ca2b4_1_23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g3d6d50ca2b4_1_23"/>
          <p:cNvSpPr txBox="1"/>
          <p:nvPr/>
        </p:nvSpPr>
        <p:spPr>
          <a:xfrm>
            <a:off x="1144610" y="185750"/>
            <a:ext cx="281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Prerrequisitos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" name="Google Shape;117;g3d6d50ca2b4_1_23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8" name="Google Shape;118;g3d6d50ca2b4_1_23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pic>
        <p:nvPicPr>
          <p:cNvPr descr="Resultado de imagen para nodejs logo" id="119" name="Google Shape;119;g3d6d50ca2b4_1_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00877" y="1614003"/>
            <a:ext cx="2232016" cy="59985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3d6d50ca2b4_1_23"/>
          <p:cNvSpPr/>
          <p:nvPr/>
        </p:nvSpPr>
        <p:spPr>
          <a:xfrm>
            <a:off x="3864606" y="3852700"/>
            <a:ext cx="14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node -v</a:t>
            </a:r>
            <a:endParaRPr sz="1800">
              <a:solidFill>
                <a:srgbClr val="7030A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Imagen que contiene monitor, blanco, computadora&#10;&#10;Descripción generada automáticamente" id="121" name="Google Shape;121;g3d6d50ca2b4_1_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33646" y="4289031"/>
            <a:ext cx="4076700" cy="162877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6d50ca2b4_1_37"/>
          <p:cNvSpPr/>
          <p:nvPr/>
        </p:nvSpPr>
        <p:spPr>
          <a:xfrm>
            <a:off x="671750" y="1122950"/>
            <a:ext cx="8105700" cy="26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s-CL" sz="1800">
                <a:solidFill>
                  <a:schemeClr val="dk1"/>
                </a:solidFill>
              </a:rPr>
              <a:t>MySql</a:t>
            </a:r>
            <a:r>
              <a:rPr lang="es-CL" sz="1800">
                <a:solidFill>
                  <a:schemeClr val="dk1"/>
                </a:solidFill>
              </a:rPr>
              <a:t>: Sistema de gesti</a:t>
            </a:r>
            <a:r>
              <a:rPr lang="es-CL" sz="1800">
                <a:solidFill>
                  <a:schemeClr val="dk1"/>
                </a:solidFill>
              </a:rPr>
              <a:t>ón de bases de datos relacionales</a:t>
            </a:r>
            <a:r>
              <a:rPr lang="es-CL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-342900" lvl="1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Es de código abierto.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Mantenido y soportado por Oracle.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Destacado por su alto rendimiento.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rgbClr val="0A0A0A"/>
                </a:solidFill>
                <a:highlight>
                  <a:srgbClr val="FFFFFF"/>
                </a:highlight>
              </a:rPr>
              <a:t>Utiliza </a:t>
            </a:r>
            <a:r>
              <a:rPr i="1" lang="es-CL" sz="1800">
                <a:solidFill>
                  <a:srgbClr val="0A0A0A"/>
                </a:solidFill>
                <a:highlight>
                  <a:srgbClr val="FFFFFF"/>
                </a:highlight>
              </a:rPr>
              <a:t>Structured Query Language</a:t>
            </a:r>
            <a:r>
              <a:rPr lang="es-CL" sz="1800">
                <a:solidFill>
                  <a:srgbClr val="0A0A0A"/>
                </a:solidFill>
                <a:highlight>
                  <a:srgbClr val="FFFFFF"/>
                </a:highlight>
              </a:rPr>
              <a:t> (SQL) para realizar consultas y gestionar datos</a:t>
            </a:r>
            <a:r>
              <a:rPr lang="es-CL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Para usar MySQL se </a:t>
            </a:r>
            <a:r>
              <a:rPr lang="es-CL" sz="1800">
                <a:solidFill>
                  <a:schemeClr val="dk1"/>
                </a:solidFill>
              </a:rPr>
              <a:t>sugiere instalar algún paquete tipo XAMPP que provea herramientas para la fácil administración de la BD</a:t>
            </a:r>
            <a:r>
              <a:rPr lang="es-CL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Resultado de imagen para angular logos" id="127" name="Google Shape;127;g3d6d50ca2b4_1_37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d6d50ca2b4_1_37"/>
          <p:cNvSpPr txBox="1"/>
          <p:nvPr/>
        </p:nvSpPr>
        <p:spPr>
          <a:xfrm>
            <a:off x="1144610" y="185750"/>
            <a:ext cx="281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Prerrequisitos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" name="Google Shape;129;g3d6d50ca2b4_1_37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" name="Google Shape;130;g3d6d50ca2b4_1_37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pic>
        <p:nvPicPr>
          <p:cNvPr id="131" name="Google Shape;131;g3d6d50ca2b4_1_37" title="MySQL-Logo.wine.png"/>
          <p:cNvPicPr preferRelativeResize="0"/>
          <p:nvPr/>
        </p:nvPicPr>
        <p:blipFill rotWithShape="1">
          <a:blip r:embed="rId4">
            <a:alphaModFix/>
          </a:blip>
          <a:srcRect b="14843" l="6848" r="5240" t="11822"/>
          <a:stretch/>
        </p:blipFill>
        <p:spPr>
          <a:xfrm>
            <a:off x="5918800" y="916000"/>
            <a:ext cx="2858650" cy="158939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3d6d50ca2b4_1_37"/>
          <p:cNvSpPr/>
          <p:nvPr/>
        </p:nvSpPr>
        <p:spPr>
          <a:xfrm>
            <a:off x="1571400" y="3786000"/>
            <a:ext cx="600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https://www.apachefriends.org/es/download.html</a:t>
            </a:r>
            <a:endParaRPr/>
          </a:p>
        </p:txBody>
      </p:sp>
      <p:pic>
        <p:nvPicPr>
          <p:cNvPr id="133" name="Google Shape;133;g3d6d50ca2b4_1_37" title="Captura de pantalla 2026-04-17 a la(s) 11.33.3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65025" y="4265224"/>
            <a:ext cx="2873546" cy="2084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g3d6d50ca2b4_1_37" title="Xampp_logo.svg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11325" y="4759073"/>
            <a:ext cx="3612001" cy="945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6d50ca2b4_1_54"/>
          <p:cNvSpPr/>
          <p:nvPr/>
        </p:nvSpPr>
        <p:spPr>
          <a:xfrm>
            <a:off x="671750" y="1122950"/>
            <a:ext cx="8105700" cy="26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s-CL" sz="1800">
                <a:solidFill>
                  <a:schemeClr val="dk1"/>
                </a:solidFill>
              </a:rPr>
              <a:t>Postman</a:t>
            </a:r>
            <a:r>
              <a:rPr lang="es-CL" sz="1800">
                <a:solidFill>
                  <a:schemeClr val="dk1"/>
                </a:solidFill>
              </a:rPr>
              <a:t>: </a:t>
            </a:r>
            <a:r>
              <a:rPr lang="es-CL" sz="1800">
                <a:solidFill>
                  <a:srgbClr val="001D35"/>
                </a:solidFill>
                <a:highlight>
                  <a:srgbClr val="FFFFFF"/>
                </a:highlight>
              </a:rPr>
              <a:t>Plataforma de desarrollo integral para APIs que permite gestionar servicios web de manera sencilla mediante una interfaz gráfica</a:t>
            </a:r>
            <a:r>
              <a:rPr lang="es-CL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-342900" lvl="1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Es gratuita.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Soporta envío de peticiones HTTP</a:t>
            </a:r>
            <a:r>
              <a:rPr lang="es-CL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rgbClr val="0A0A0A"/>
                </a:solidFill>
                <a:highlight>
                  <a:srgbClr val="FFFFFF"/>
                </a:highlight>
              </a:rPr>
              <a:t>Organiza las solicitudes </a:t>
            </a:r>
            <a:r>
              <a:rPr lang="es-CL" sz="1800">
                <a:solidFill>
                  <a:srgbClr val="0A0A0A"/>
                </a:solidFill>
                <a:highlight>
                  <a:srgbClr val="FFFFFF"/>
                </a:highlight>
              </a:rPr>
              <a:t>relacionadas </a:t>
            </a:r>
            <a:r>
              <a:rPr lang="es-CL" sz="1800">
                <a:solidFill>
                  <a:srgbClr val="0A0A0A"/>
                </a:solidFill>
                <a:highlight>
                  <a:srgbClr val="FFFFFF"/>
                </a:highlight>
              </a:rPr>
              <a:t>en colecciones y carpetas</a:t>
            </a:r>
            <a:r>
              <a:rPr lang="es-CL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Permite escribir script para pruebas automatizadas.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rgbClr val="0A0A0A"/>
                </a:solidFill>
                <a:highlight>
                  <a:srgbClr val="FFFFFF"/>
                </a:highlight>
              </a:rPr>
              <a:t>Genera y publica documentación técnica detallada</a:t>
            </a:r>
            <a:r>
              <a:rPr lang="es-CL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Puede ser descargada desde</a:t>
            </a:r>
            <a:r>
              <a:rPr lang="es-CL" sz="1800">
                <a:solidFill>
                  <a:schemeClr val="dk1"/>
                </a:solidFill>
              </a:rPr>
              <a:t>: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Resultado de imagen para angular logos" id="140" name="Google Shape;140;g3d6d50ca2b4_1_54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d6d50ca2b4_1_54"/>
          <p:cNvSpPr txBox="1"/>
          <p:nvPr/>
        </p:nvSpPr>
        <p:spPr>
          <a:xfrm>
            <a:off x="1144610" y="185750"/>
            <a:ext cx="281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Prerrequisitos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" name="Google Shape;142;g3d6d50ca2b4_1_54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3" name="Google Shape;143;g3d6d50ca2b4_1_54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44" name="Google Shape;144;g3d6d50ca2b4_1_54"/>
          <p:cNvSpPr/>
          <p:nvPr/>
        </p:nvSpPr>
        <p:spPr>
          <a:xfrm>
            <a:off x="2940750" y="3764775"/>
            <a:ext cx="32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https://www.postman.com/</a:t>
            </a:r>
            <a:endParaRPr/>
          </a:p>
        </p:txBody>
      </p:sp>
      <p:pic>
        <p:nvPicPr>
          <p:cNvPr id="145" name="Google Shape;145;g3d6d50ca2b4_1_54" title="Captura de pantalla 2026-04-17 a la(s) 11.44.1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9325" y="4286475"/>
            <a:ext cx="4050545" cy="20984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50" name="Google Shape;150;p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"/>
          <p:cNvSpPr txBox="1"/>
          <p:nvPr/>
        </p:nvSpPr>
        <p:spPr>
          <a:xfrm>
            <a:off x="1144610" y="185750"/>
            <a:ext cx="758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Crear Proyecto Backend</a:t>
            </a:r>
            <a:endParaRPr/>
          </a:p>
        </p:txBody>
      </p:sp>
      <p:cxnSp>
        <p:nvCxnSpPr>
          <p:cNvPr id="152" name="Google Shape;152;p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3" name="Google Shape;153;p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54" name="Google Shape;154;p3"/>
          <p:cNvSpPr/>
          <p:nvPr/>
        </p:nvSpPr>
        <p:spPr>
          <a:xfrm>
            <a:off x="624738" y="1700437"/>
            <a:ext cx="8167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Crear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CL" sz="1800">
                <a:solidFill>
                  <a:schemeClr val="dk1"/>
                </a:solidFill>
              </a:rPr>
              <a:t>una carpeta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backend-server</a:t>
            </a:r>
            <a:r>
              <a:rPr lang="es-CL" sz="1800">
                <a:solidFill>
                  <a:schemeClr val="dk1"/>
                </a:solidFill>
              </a:rPr>
              <a:t> y mediante consola </a:t>
            </a:r>
            <a:r>
              <a:rPr b="1" lang="es-CL" sz="1800">
                <a:solidFill>
                  <a:schemeClr val="dk1"/>
                </a:solidFill>
              </a:rPr>
              <a:t>ubicarse dentro de ella</a:t>
            </a:r>
            <a:r>
              <a:rPr lang="es-CL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155" name="Google Shape;155;p3"/>
          <p:cNvCxnSpPr/>
          <p:nvPr/>
        </p:nvCxnSpPr>
        <p:spPr>
          <a:xfrm rot="10800000">
            <a:off x="4693890" y="2727349"/>
            <a:ext cx="4896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56" name="Google Shape;156;p3"/>
          <p:cNvSpPr txBox="1"/>
          <p:nvPr/>
        </p:nvSpPr>
        <p:spPr>
          <a:xfrm>
            <a:off x="5183496" y="2592628"/>
            <a:ext cx="773100" cy="26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proyecto</a:t>
            </a:r>
            <a:endParaRPr/>
          </a:p>
        </p:txBody>
      </p:sp>
      <p:grpSp>
        <p:nvGrpSpPr>
          <p:cNvPr id="157" name="Google Shape;157;p3"/>
          <p:cNvGrpSpPr/>
          <p:nvPr/>
        </p:nvGrpSpPr>
        <p:grpSpPr>
          <a:xfrm>
            <a:off x="2463084" y="2542679"/>
            <a:ext cx="1834851" cy="639602"/>
            <a:chOff x="2463084" y="2542679"/>
            <a:chExt cx="1834851" cy="639602"/>
          </a:xfrm>
        </p:grpSpPr>
        <p:pic>
          <p:nvPicPr>
            <p:cNvPr id="158" name="Google Shape;158;p3"/>
            <p:cNvPicPr preferRelativeResize="0"/>
            <p:nvPr/>
          </p:nvPicPr>
          <p:blipFill rotWithShape="1">
            <a:blip r:embed="rId4">
              <a:alphaModFix/>
            </a:blip>
            <a:srcRect b="0" l="0" r="0" t="41366"/>
            <a:stretch/>
          </p:blipFill>
          <p:spPr>
            <a:xfrm>
              <a:off x="2463084" y="2869531"/>
              <a:ext cx="1762125" cy="312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520525" y="2542679"/>
              <a:ext cx="1777410" cy="3693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0" name="Google Shape;160;p3"/>
          <p:cNvSpPr/>
          <p:nvPr/>
        </p:nvSpPr>
        <p:spPr>
          <a:xfrm>
            <a:off x="624750" y="1165127"/>
            <a:ext cx="78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Ir</a:t>
            </a:r>
            <a:r>
              <a:rPr lang="es-CL" sz="1800">
                <a:solidFill>
                  <a:schemeClr val="dk1"/>
                </a:solidFill>
              </a:rPr>
              <a:t> a la carpeta en la cual creamos nuestro proyecto.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624750" y="3444325"/>
            <a:ext cx="8108100" cy="19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Recordando algunas instrucciones para la</a:t>
            </a: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consola de Windows: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CC0099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cd ..   </a:t>
            </a:r>
            <a:r>
              <a:rPr b="0" i="0" lang="es-CL" sz="18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salir de una carpeta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CC0099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cd \</a:t>
            </a:r>
            <a:r>
              <a:rPr b="0" i="0" lang="es-CL" sz="18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Para ir a la raíz del directorio</a:t>
            </a:r>
            <a:endParaRPr>
              <a:solidFill>
                <a:schemeClr val="dk1"/>
              </a:solidFill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CC0099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cd &lt;nombre carpeta&gt; </a:t>
            </a:r>
            <a:r>
              <a:rPr b="0" i="0" lang="es-CL" sz="18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entrar en una</a:t>
            </a:r>
            <a:endParaRPr b="0" i="0" sz="1800" u="none" cap="none" strike="noStrike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CC0099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mkdir:  </a:t>
            </a:r>
            <a:r>
              <a:rPr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Crear directorio</a:t>
            </a:r>
            <a:endParaRPr>
              <a:solidFill>
                <a:schemeClr val="dk1"/>
              </a:solidFill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CC0099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&lt;unidad&gt;:  </a:t>
            </a:r>
            <a:r>
              <a:rPr b="0" i="0" lang="es-CL" sz="18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Cambiar la unidad de trabajo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4" title="Captura de pantalla 2026-04-17 a la(s) 11.55.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950" y="2080488"/>
            <a:ext cx="5305024" cy="39715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Resultado de imagen para angular logos" id="167" name="Google Shape;167;p4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4"/>
          <p:cNvSpPr txBox="1"/>
          <p:nvPr/>
        </p:nvSpPr>
        <p:spPr>
          <a:xfrm>
            <a:off x="1144588" y="185738"/>
            <a:ext cx="76979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Iniciar</a:t>
            </a: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el proyecto – Crear package.json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" name="Google Shape;169;p4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0" name="Google Shape;170;p4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635953" y="1225836"/>
            <a:ext cx="80968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Iniciar</a:t>
            </a:r>
            <a:r>
              <a:rPr lang="es-CL" sz="1800">
                <a:solidFill>
                  <a:schemeClr val="dk1"/>
                </a:solidFill>
              </a:rPr>
              <a:t> un nuevo proyecto creando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el archivo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package.json</a:t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6202409" y="4420689"/>
            <a:ext cx="2176500" cy="601500"/>
          </a:xfrm>
          <a:prstGeom prst="wedgeRectCallout">
            <a:avLst>
              <a:gd fmla="val -80686" name="adj1"/>
              <a:gd fmla="val -186041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Esto genera un archivo llamado package.json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6086125" y="2074575"/>
            <a:ext cx="2646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Presionar enter frente a cada pregunta excepto en los casos marcados con el recuadro rojo.</a:t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635944" y="2304830"/>
            <a:ext cx="2739600" cy="203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635950" y="2928074"/>
            <a:ext cx="1191600" cy="171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2581068" y="1653188"/>
            <a:ext cx="141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npm init</a:t>
            </a:r>
            <a:endParaRPr sz="1800">
              <a:solidFill>
                <a:srgbClr val="7030A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635950" y="5260325"/>
            <a:ext cx="1098000" cy="171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82" name="Google Shape;182;p5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5"/>
          <p:cNvSpPr txBox="1"/>
          <p:nvPr/>
        </p:nvSpPr>
        <p:spPr>
          <a:xfrm>
            <a:off x="1144603" y="185750"/>
            <a:ext cx="758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Configurar el proyecto – Ins</a:t>
            </a:r>
            <a:r>
              <a:rPr b="1" lang="es-CL" sz="2800">
                <a:solidFill>
                  <a:srgbClr val="0070C0"/>
                </a:solidFill>
              </a:rPr>
              <a:t>talar </a:t>
            </a: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Express.js</a:t>
            </a:r>
            <a:endParaRPr/>
          </a:p>
        </p:txBody>
      </p:sp>
      <p:cxnSp>
        <p:nvCxnSpPr>
          <p:cNvPr id="184" name="Google Shape;184;p5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5" name="Google Shape;185;p5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635953" y="2141683"/>
            <a:ext cx="80968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Instalamos la librería express para el proyecto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2736030" y="4319401"/>
            <a:ext cx="305995" cy="7889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635953" y="1213209"/>
            <a:ext cx="809688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Express es una librería para NodeJS que facilita la manipulación de rutas, operaciones HTTP y varias funcionalidades más.</a:t>
            </a:r>
            <a:endParaRPr/>
          </a:p>
        </p:txBody>
      </p:sp>
      <p:sp>
        <p:nvSpPr>
          <p:cNvPr id="189" name="Google Shape;189;p5"/>
          <p:cNvSpPr/>
          <p:nvPr/>
        </p:nvSpPr>
        <p:spPr>
          <a:xfrm>
            <a:off x="2730750" y="2622688"/>
            <a:ext cx="368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CL" sz="18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npm install express ––save</a:t>
            </a:r>
            <a:endParaRPr sz="1800">
              <a:solidFill>
                <a:srgbClr val="7030A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90" name="Google Shape;190;p5" title="Captura de pantalla 2026-04-17 a la(s) 12.04.4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0338" y="3103667"/>
            <a:ext cx="5628117" cy="183423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6d50ca2b4_1_81"/>
          <p:cNvSpPr/>
          <p:nvPr/>
        </p:nvSpPr>
        <p:spPr>
          <a:xfrm>
            <a:off x="635950" y="1213199"/>
            <a:ext cx="80970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Entramos a Visual Studio Code y abrimos proyecto </a:t>
            </a:r>
            <a:r>
              <a:rPr b="1" lang="es-CL" sz="1800">
                <a:solidFill>
                  <a:schemeClr val="dk1"/>
                </a:solidFill>
              </a:rPr>
              <a:t>backend-server</a:t>
            </a:r>
            <a:r>
              <a:rPr lang="es-CL" sz="1800">
                <a:solidFill>
                  <a:schemeClr val="dk1"/>
                </a:solidFill>
              </a:rPr>
              <a:t>.</a:t>
            </a:r>
            <a:endParaRPr/>
          </a:p>
        </p:txBody>
      </p:sp>
      <p:pic>
        <p:nvPicPr>
          <p:cNvPr descr="Resultado de imagen para angular logos" id="196" name="Google Shape;196;g3d6d50ca2b4_1_81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3d6d50ca2b4_1_81"/>
          <p:cNvSpPr txBox="1"/>
          <p:nvPr/>
        </p:nvSpPr>
        <p:spPr>
          <a:xfrm>
            <a:off x="1144603" y="185750"/>
            <a:ext cx="758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Configurar el proyecto – Ins</a:t>
            </a:r>
            <a:r>
              <a:rPr b="1" lang="es-CL" sz="2800">
                <a:solidFill>
                  <a:srgbClr val="0070C0"/>
                </a:solidFill>
              </a:rPr>
              <a:t>talar </a:t>
            </a: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Express.js</a:t>
            </a:r>
            <a:endParaRPr/>
          </a:p>
        </p:txBody>
      </p:sp>
      <p:cxnSp>
        <p:nvCxnSpPr>
          <p:cNvPr id="198" name="Google Shape;198;g3d6d50ca2b4_1_81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9" name="Google Shape;199;g3d6d50ca2b4_1_81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00" name="Google Shape;200;g3d6d50ca2b4_1_81"/>
          <p:cNvSpPr/>
          <p:nvPr/>
        </p:nvSpPr>
        <p:spPr>
          <a:xfrm>
            <a:off x="2736030" y="4319401"/>
            <a:ext cx="306000" cy="789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d6d50ca2b4_1_81"/>
          <p:cNvSpPr/>
          <p:nvPr/>
        </p:nvSpPr>
        <p:spPr>
          <a:xfrm>
            <a:off x="1371638" y="4319402"/>
            <a:ext cx="80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8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app.js</a:t>
            </a:r>
            <a:endParaRPr/>
          </a:p>
        </p:txBody>
      </p:sp>
      <p:sp>
        <p:nvSpPr>
          <p:cNvPr id="202" name="Google Shape;202;g3d6d50ca2b4_1_81"/>
          <p:cNvSpPr/>
          <p:nvPr/>
        </p:nvSpPr>
        <p:spPr>
          <a:xfrm>
            <a:off x="635950" y="3818913"/>
            <a:ext cx="80970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Crear un punto de entrada (Ej: app.js)</a:t>
            </a:r>
            <a:endParaRPr/>
          </a:p>
        </p:txBody>
      </p:sp>
      <p:pic>
        <p:nvPicPr>
          <p:cNvPr id="203" name="Google Shape;203;g3d6d50ca2b4_1_81" title="Captura de pantalla 2026-04-17 a la(s) 12.09.1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475" y="1695673"/>
            <a:ext cx="2496442" cy="1905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g3d6d50ca2b4_1_81" title="Captura de pantalla 2026-04-17 a la(s) 12.09.3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67730" y="1702098"/>
            <a:ext cx="2121400" cy="190501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5" name="Google Shape;205;g3d6d50ca2b4_1_81" title="Captura de pantalla 2026-04-17 a la(s) 12.09.4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36959" y="1702087"/>
            <a:ext cx="3383554" cy="1905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g3d6d50ca2b4_1_81" title="Captura de pantalla 2026-04-17 a la(s) 12.15.55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46080" y="4370613"/>
            <a:ext cx="4876754" cy="201431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3d6d50ca2b4_1_81"/>
          <p:cNvSpPr/>
          <p:nvPr/>
        </p:nvSpPr>
        <p:spPr>
          <a:xfrm>
            <a:off x="2323725" y="5019675"/>
            <a:ext cx="744000" cy="171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12" name="Google Shape;212;p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6"/>
          <p:cNvSpPr txBox="1"/>
          <p:nvPr/>
        </p:nvSpPr>
        <p:spPr>
          <a:xfrm>
            <a:off x="1144588" y="185738"/>
            <a:ext cx="329930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Lanzar el Servidor</a:t>
            </a:r>
            <a:endParaRPr/>
          </a:p>
        </p:txBody>
      </p:sp>
      <p:cxnSp>
        <p:nvCxnSpPr>
          <p:cNvPr id="214" name="Google Shape;214;p6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5" name="Google Shape;215;p6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635953" y="1225836"/>
            <a:ext cx="80968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Ejecutamos el servidor de node en el t</a:t>
            </a:r>
            <a:r>
              <a:rPr lang="es-CL" sz="1800">
                <a:solidFill>
                  <a:schemeClr val="dk1"/>
                </a:solidFill>
              </a:rPr>
              <a:t>erminal.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5250" y="1654248"/>
            <a:ext cx="2310351" cy="166957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8" name="Google Shape;218;p6"/>
          <p:cNvSpPr/>
          <p:nvPr/>
        </p:nvSpPr>
        <p:spPr>
          <a:xfrm>
            <a:off x="6397977" y="3157575"/>
            <a:ext cx="550200" cy="166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03737" y="2082622"/>
            <a:ext cx="30765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84525" y="4076971"/>
            <a:ext cx="3019425" cy="17240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1" name="Google Shape;221;p6"/>
          <p:cNvSpPr/>
          <p:nvPr/>
        </p:nvSpPr>
        <p:spPr>
          <a:xfrm>
            <a:off x="635953" y="3578449"/>
            <a:ext cx="80968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Probar, enviando una solicitud al servidor</a:t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2674831" y="5020174"/>
            <a:ext cx="1713572" cy="24479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2552433" y="4591781"/>
            <a:ext cx="1713572" cy="299203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1364425" y="1654250"/>
            <a:ext cx="131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node app</a:t>
            </a:r>
            <a:endParaRPr sz="1800">
              <a:solidFill>
                <a:srgbClr val="7030A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7" title="Captura de pantalla 2026-04-17 a la(s) 14.19.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700" y="4604491"/>
            <a:ext cx="5614608" cy="1017863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7"/>
          <p:cNvSpPr txBox="1"/>
          <p:nvPr/>
        </p:nvSpPr>
        <p:spPr>
          <a:xfrm>
            <a:off x="1144588" y="185738"/>
            <a:ext cx="7757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Configurar el proyecto </a:t>
            </a: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b="1" lang="es-CL" sz="2800">
                <a:solidFill>
                  <a:srgbClr val="0070C0"/>
                </a:solidFill>
              </a:rPr>
              <a:t>Instalar NodeMon</a:t>
            </a:r>
            <a:endParaRPr/>
          </a:p>
        </p:txBody>
      </p:sp>
      <p:pic>
        <p:nvPicPr>
          <p:cNvPr descr="Resultado de imagen para angular logos" id="231" name="Google Shape;231;p7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2" name="Google Shape;232;p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3" name="Google Shape;233;p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635953" y="2270830"/>
            <a:ext cx="809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Instalamos la herramienta nodemon para el proyecto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p7"/>
          <p:cNvPicPr preferRelativeResize="0"/>
          <p:nvPr/>
        </p:nvPicPr>
        <p:blipFill rotWithShape="1">
          <a:blip r:embed="rId5">
            <a:alphaModFix/>
          </a:blip>
          <a:srcRect b="0" l="0" r="0" t="76422"/>
          <a:stretch/>
        </p:blipFill>
        <p:spPr>
          <a:xfrm>
            <a:off x="1039704" y="3322505"/>
            <a:ext cx="7686675" cy="65576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7"/>
          <p:cNvSpPr/>
          <p:nvPr/>
        </p:nvSpPr>
        <p:spPr>
          <a:xfrm>
            <a:off x="635954" y="1190994"/>
            <a:ext cx="815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CL" sz="1800">
                <a:solidFill>
                  <a:schemeClr val="dk1"/>
                </a:solidFill>
              </a:rPr>
              <a:t>Nodemon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 un monitor en tiempo real para aplicaciones implementadas en NodeJS que permite recompilar los cambios tan pronto como se realicen en los archivos del proyecto (similar al funcionamiento de Angular).</a:t>
            </a:r>
            <a:endParaRPr/>
          </a:p>
        </p:txBody>
      </p:sp>
      <p:cxnSp>
        <p:nvCxnSpPr>
          <p:cNvPr id="237" name="Google Shape;237;p7"/>
          <p:cNvCxnSpPr/>
          <p:nvPr/>
        </p:nvCxnSpPr>
        <p:spPr>
          <a:xfrm>
            <a:off x="1144588" y="3359449"/>
            <a:ext cx="61225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miter lim="800000"/>
            <a:headEnd len="sm" w="sm" type="none"/>
            <a:tailEnd len="sm" w="sm" type="none"/>
          </a:ln>
        </p:spPr>
      </p:cxnSp>
      <p:sp>
        <p:nvSpPr>
          <p:cNvPr id="238" name="Google Shape;238;p7"/>
          <p:cNvSpPr/>
          <p:nvPr/>
        </p:nvSpPr>
        <p:spPr>
          <a:xfrm>
            <a:off x="635954" y="4134776"/>
            <a:ext cx="815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Modificar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package.json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1360844" y="4895010"/>
            <a:ext cx="2509200" cy="2568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1027119" y="2796663"/>
            <a:ext cx="401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npm install ––save-dev nodemon</a:t>
            </a:r>
            <a:endParaRPr sz="1800">
              <a:solidFill>
                <a:srgbClr val="7030A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45" name="Google Shape;245;p8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8"/>
          <p:cNvSpPr txBox="1"/>
          <p:nvPr/>
        </p:nvSpPr>
        <p:spPr>
          <a:xfrm>
            <a:off x="1144588" y="185738"/>
            <a:ext cx="775725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NodeMon – Detectar cambios en tiempo real</a:t>
            </a:r>
            <a:endParaRPr/>
          </a:p>
        </p:txBody>
      </p:sp>
      <p:cxnSp>
        <p:nvCxnSpPr>
          <p:cNvPr id="247" name="Google Shape;247;p8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8" name="Google Shape;248;p8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635954" y="1225836"/>
            <a:ext cx="81587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Lanzar el servidor, ahora cambia el comando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Captura de pantalla de un celular&#10;&#10;Descripción generada automáticamente" id="250" name="Google Shape;25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463" y="2139198"/>
            <a:ext cx="5136036" cy="4257324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8"/>
          <p:cNvSpPr/>
          <p:nvPr/>
        </p:nvSpPr>
        <p:spPr>
          <a:xfrm>
            <a:off x="6171517" y="2935981"/>
            <a:ext cx="2730324" cy="986037"/>
          </a:xfrm>
          <a:prstGeom prst="wedgeRectCallout">
            <a:avLst>
              <a:gd fmla="val -84537" name="adj1"/>
              <a:gd fmla="val -5293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Cualquier cambio en los archivos del proyecto implicará una recompilación automática del proyecto.</a:t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2506438" y="1682538"/>
            <a:ext cx="155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npm start</a:t>
            </a:r>
            <a:endParaRPr sz="1800">
              <a:solidFill>
                <a:srgbClr val="7030A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57" name="Google Shape;257;p9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9"/>
          <p:cNvSpPr txBox="1"/>
          <p:nvPr/>
        </p:nvSpPr>
        <p:spPr>
          <a:xfrm>
            <a:off x="1144588" y="185738"/>
            <a:ext cx="667843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Responder Solicitudes de los Clientes</a:t>
            </a:r>
            <a:endParaRPr/>
          </a:p>
        </p:txBody>
      </p:sp>
      <p:cxnSp>
        <p:nvCxnSpPr>
          <p:cNvPr id="259" name="Google Shape;259;p9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0" name="Google Shape;260;p9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635953" y="1225836"/>
            <a:ext cx="80968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Implementamos la operación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que responda la petición</a:t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635953" y="3612597"/>
            <a:ext cx="80968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Probar nuevamente con la misma solicitud</a:t>
            </a:r>
            <a:endParaRPr/>
          </a:p>
        </p:txBody>
      </p:sp>
      <p:pic>
        <p:nvPicPr>
          <p:cNvPr id="263" name="Google Shape;26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9354" y="1714961"/>
            <a:ext cx="5343525" cy="16478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4" name="Google Shape;264;p9"/>
          <p:cNvSpPr/>
          <p:nvPr/>
        </p:nvSpPr>
        <p:spPr>
          <a:xfrm>
            <a:off x="2491233" y="5014831"/>
            <a:ext cx="3673029" cy="36538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" name="Google Shape;265;p9"/>
          <p:cNvPicPr preferRelativeResize="0"/>
          <p:nvPr/>
        </p:nvPicPr>
        <p:blipFill rotWithShape="1">
          <a:blip r:embed="rId5">
            <a:alphaModFix/>
          </a:blip>
          <a:srcRect b="0" l="0" r="47204" t="0"/>
          <a:stretch/>
        </p:blipFill>
        <p:spPr>
          <a:xfrm>
            <a:off x="6531318" y="1714961"/>
            <a:ext cx="2324612" cy="1010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9"/>
          <p:cNvPicPr preferRelativeResize="0"/>
          <p:nvPr/>
        </p:nvPicPr>
        <p:blipFill rotWithShape="1">
          <a:blip r:embed="rId6">
            <a:alphaModFix/>
          </a:blip>
          <a:srcRect b="0" l="0" r="33196" t="0"/>
          <a:stretch/>
        </p:blipFill>
        <p:spPr>
          <a:xfrm>
            <a:off x="6531318" y="2741255"/>
            <a:ext cx="2333493" cy="1200296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9"/>
          <p:cNvSpPr/>
          <p:nvPr/>
        </p:nvSpPr>
        <p:spPr>
          <a:xfrm>
            <a:off x="6474852" y="1670079"/>
            <a:ext cx="2442277" cy="235050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aptura de pantalla de un celular&#10;&#10;Descripción generada automáticamente" id="268" name="Google Shape;268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9354" y="4232005"/>
            <a:ext cx="5924550" cy="16287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73" name="Google Shape;273;p11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1"/>
          <p:cNvSpPr txBox="1"/>
          <p:nvPr/>
        </p:nvSpPr>
        <p:spPr>
          <a:xfrm>
            <a:off x="1144588" y="185738"/>
            <a:ext cx="299953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Utilizar Postman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5" name="Google Shape;275;p11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6" name="Google Shape;276;p11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635953" y="1225836"/>
            <a:ext cx="80968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Ejecutamos la misma consulta anterior</a:t>
            </a:r>
            <a:endParaRPr i="1"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Captura de pantalla de un celular&#10;&#10;Descripción generada automáticamente" id="278" name="Google Shape;27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647" y="1813269"/>
            <a:ext cx="7947191" cy="3818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83" name="Google Shape;283;p1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3"/>
          <p:cNvSpPr txBox="1"/>
          <p:nvPr/>
        </p:nvSpPr>
        <p:spPr>
          <a:xfrm>
            <a:off x="1144603" y="185750"/>
            <a:ext cx="7580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MySQL: </a:t>
            </a: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Implementar la Tabla “productos” </a:t>
            </a:r>
            <a:endParaRPr/>
          </a:p>
        </p:txBody>
      </p:sp>
      <p:cxnSp>
        <p:nvCxnSpPr>
          <p:cNvPr id="285" name="Google Shape;285;p1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6" name="Google Shape;286;p1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87" name="Google Shape;287;p13"/>
          <p:cNvSpPr/>
          <p:nvPr/>
        </p:nvSpPr>
        <p:spPr>
          <a:xfrm>
            <a:off x="635954" y="1225836"/>
            <a:ext cx="552722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tabla de productos debe tener la misma estructura que nuestra interface llamada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IProduct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288" name="Google Shape;2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75593" y="1138821"/>
            <a:ext cx="2749300" cy="2106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38982" y="3332155"/>
            <a:ext cx="6666036" cy="2670047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0" name="Google Shape;290;p13"/>
          <p:cNvSpPr/>
          <p:nvPr/>
        </p:nvSpPr>
        <p:spPr>
          <a:xfrm>
            <a:off x="635954" y="2305746"/>
            <a:ext cx="55272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Construir la base de datos, por ejemplo desde </a:t>
            </a:r>
            <a:r>
              <a:rPr lang="es-CL" sz="1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phpMyAdmin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y luego ingresar los productos.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95" name="Google Shape;295;p1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4"/>
          <p:cNvSpPr txBox="1"/>
          <p:nvPr/>
        </p:nvSpPr>
        <p:spPr>
          <a:xfrm>
            <a:off x="1144588" y="185738"/>
            <a:ext cx="624780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Implementar la Tabla “productos”…</a:t>
            </a:r>
            <a:endParaRPr/>
          </a:p>
        </p:txBody>
      </p:sp>
      <p:cxnSp>
        <p:nvCxnSpPr>
          <p:cNvPr id="297" name="Google Shape;297;p14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8" name="Google Shape;298;p14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99" name="Google Shape;299;p14"/>
          <p:cNvSpPr/>
          <p:nvPr/>
        </p:nvSpPr>
        <p:spPr>
          <a:xfrm>
            <a:off x="635953" y="1103438"/>
            <a:ext cx="81587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Lanzar phpMyAdmin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que contiene electrónica, captura de pantalla, computadora&#10;&#10;Descripción generada automáticamente" id="300" name="Google Shape;3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975" y="1660228"/>
            <a:ext cx="7820025" cy="4343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05" name="Google Shape;305;p15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5"/>
          <p:cNvSpPr txBox="1"/>
          <p:nvPr/>
        </p:nvSpPr>
        <p:spPr>
          <a:xfrm>
            <a:off x="1144588" y="185738"/>
            <a:ext cx="624780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Implementar la Tabla “productos”…</a:t>
            </a:r>
            <a:endParaRPr/>
          </a:p>
        </p:txBody>
      </p:sp>
      <p:cxnSp>
        <p:nvCxnSpPr>
          <p:cNvPr id="307" name="Google Shape;307;p15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8" name="Google Shape;308;p15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pic>
        <p:nvPicPr>
          <p:cNvPr descr="Una captura de pantalla de una computadora&#10;&#10;Descripción generada automáticamente" id="309" name="Google Shape;3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908" y="1595168"/>
            <a:ext cx="8146027" cy="4666406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5"/>
          <p:cNvSpPr/>
          <p:nvPr/>
        </p:nvSpPr>
        <p:spPr>
          <a:xfrm>
            <a:off x="613532" y="1099486"/>
            <a:ext cx="81587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Crear la base de datos </a:t>
            </a:r>
            <a:r>
              <a:rPr lang="es-CL" sz="1800">
                <a:solidFill>
                  <a:schemeClr val="dk1"/>
                </a:solidFill>
              </a:rPr>
              <a:t>“</a:t>
            </a:r>
            <a:r>
              <a:rPr b="1" lang="es-CL" sz="1800">
                <a:solidFill>
                  <a:schemeClr val="dk1"/>
                </a:solidFill>
              </a:rPr>
              <a:t>acme</a:t>
            </a:r>
            <a:r>
              <a:rPr lang="es-CL" sz="1800">
                <a:solidFill>
                  <a:schemeClr val="dk1"/>
                </a:solidFill>
              </a:rPr>
              <a:t>” 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 phpMyAdmin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15" name="Google Shape;315;p1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6"/>
          <p:cNvSpPr txBox="1"/>
          <p:nvPr/>
        </p:nvSpPr>
        <p:spPr>
          <a:xfrm>
            <a:off x="1144600" y="185750"/>
            <a:ext cx="758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Configurar el proyecto – L</a:t>
            </a: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ibrería </a:t>
            </a:r>
            <a:r>
              <a:rPr b="1" lang="es-CL" sz="2800">
                <a:solidFill>
                  <a:srgbClr val="0070C0"/>
                </a:solidFill>
              </a:rPr>
              <a:t>para</a:t>
            </a: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la BD</a:t>
            </a:r>
            <a:endParaRPr/>
          </a:p>
        </p:txBody>
      </p:sp>
      <p:cxnSp>
        <p:nvCxnSpPr>
          <p:cNvPr id="317" name="Google Shape;317;p16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8" name="Google Shape;318;p16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19" name="Google Shape;319;p16"/>
          <p:cNvSpPr/>
          <p:nvPr/>
        </p:nvSpPr>
        <p:spPr>
          <a:xfrm>
            <a:off x="635953" y="1225836"/>
            <a:ext cx="80968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Instalar driver para mysql en el proyecto</a:t>
            </a:r>
            <a:endParaRPr i="1"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2564844" y="1668963"/>
            <a:ext cx="401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npm install mysql</a:t>
            </a:r>
            <a:endParaRPr sz="1800">
              <a:solidFill>
                <a:srgbClr val="7030A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21" name="Google Shape;321;p16" title="Captura de pantalla 2026-04-17 a la(s) 14.24.3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6363" y="2112072"/>
            <a:ext cx="6291276" cy="156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26" name="Google Shape;326;p17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7"/>
          <p:cNvSpPr txBox="1"/>
          <p:nvPr/>
        </p:nvSpPr>
        <p:spPr>
          <a:xfrm>
            <a:off x="1144588" y="185738"/>
            <a:ext cx="59154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Configurar la Conexión con la BD</a:t>
            </a:r>
            <a:endParaRPr/>
          </a:p>
        </p:txBody>
      </p:sp>
      <p:cxnSp>
        <p:nvCxnSpPr>
          <p:cNvPr id="328" name="Google Shape;328;p1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9" name="Google Shape;329;p1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30" name="Google Shape;330;p17"/>
          <p:cNvSpPr/>
          <p:nvPr/>
        </p:nvSpPr>
        <p:spPr>
          <a:xfrm>
            <a:off x="635953" y="1225836"/>
            <a:ext cx="80968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Indicar credenciales de conexión</a:t>
            </a:r>
            <a:endParaRPr/>
          </a:p>
        </p:txBody>
      </p:sp>
      <p:sp>
        <p:nvSpPr>
          <p:cNvPr id="331" name="Google Shape;331;p17"/>
          <p:cNvSpPr/>
          <p:nvPr/>
        </p:nvSpPr>
        <p:spPr>
          <a:xfrm>
            <a:off x="2292143" y="1758315"/>
            <a:ext cx="80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8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app.js</a:t>
            </a:r>
            <a:endParaRPr/>
          </a:p>
        </p:txBody>
      </p:sp>
      <p:sp>
        <p:nvSpPr>
          <p:cNvPr id="332" name="Google Shape;332;p17"/>
          <p:cNvSpPr/>
          <p:nvPr/>
        </p:nvSpPr>
        <p:spPr>
          <a:xfrm>
            <a:off x="4475199" y="4558276"/>
            <a:ext cx="489592" cy="244796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3" name="Google Shape;333;p17" title="Captura de pantalla 2026-04-17 a la(s) 14.31.5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9401" y="2127639"/>
            <a:ext cx="4425199" cy="3877219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7"/>
          <p:cNvSpPr/>
          <p:nvPr/>
        </p:nvSpPr>
        <p:spPr>
          <a:xfrm>
            <a:off x="2835128" y="2580357"/>
            <a:ext cx="2937600" cy="2565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2835125" y="3703210"/>
            <a:ext cx="3549000" cy="16581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7"/>
          <p:cNvSpPr/>
          <p:nvPr/>
        </p:nvSpPr>
        <p:spPr>
          <a:xfrm>
            <a:off x="2835074" y="5491989"/>
            <a:ext cx="3549000" cy="5130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41" name="Google Shape;341;p18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8"/>
          <p:cNvSpPr txBox="1"/>
          <p:nvPr/>
        </p:nvSpPr>
        <p:spPr>
          <a:xfrm>
            <a:off x="1144588" y="185738"/>
            <a:ext cx="521065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Obtener Todos los Productos</a:t>
            </a:r>
            <a:endParaRPr/>
          </a:p>
        </p:txBody>
      </p:sp>
      <p:cxnSp>
        <p:nvCxnSpPr>
          <p:cNvPr id="343" name="Google Shape;343;p18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4" name="Google Shape;344;p18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45" name="Google Shape;345;p18"/>
          <p:cNvSpPr/>
          <p:nvPr/>
        </p:nvSpPr>
        <p:spPr>
          <a:xfrm>
            <a:off x="635953" y="1225836"/>
            <a:ext cx="80968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Implementar el método GET para obtener todos los productos</a:t>
            </a:r>
            <a:endParaRPr/>
          </a:p>
        </p:txBody>
      </p:sp>
      <p:pic>
        <p:nvPicPr>
          <p:cNvPr id="346" name="Google Shape;346;p18" title="Captura de pantalla 2026-04-17 a la(s) 14.47.4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4525" y="1671726"/>
            <a:ext cx="4854948" cy="4713201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8"/>
          <p:cNvSpPr/>
          <p:nvPr/>
        </p:nvSpPr>
        <p:spPr>
          <a:xfrm>
            <a:off x="2428875" y="1671725"/>
            <a:ext cx="4338300" cy="23082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52" name="Google Shape;352;p19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9"/>
          <p:cNvSpPr txBox="1"/>
          <p:nvPr/>
        </p:nvSpPr>
        <p:spPr>
          <a:xfrm>
            <a:off x="1144588" y="185738"/>
            <a:ext cx="521065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Obtener Todos los Productos</a:t>
            </a:r>
            <a:endParaRPr/>
          </a:p>
        </p:txBody>
      </p:sp>
      <p:cxnSp>
        <p:nvCxnSpPr>
          <p:cNvPr id="354" name="Google Shape;354;p19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5" name="Google Shape;355;p19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56" name="Google Shape;356;p19"/>
          <p:cNvSpPr/>
          <p:nvPr/>
        </p:nvSpPr>
        <p:spPr>
          <a:xfrm>
            <a:off x="624241" y="1225836"/>
            <a:ext cx="80968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Probarlo desde Postman  </a:t>
            </a:r>
            <a:r>
              <a:rPr i="1"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localhost:3000/productos</a:t>
            </a:r>
            <a:endParaRPr/>
          </a:p>
        </p:txBody>
      </p:sp>
      <p:pic>
        <p:nvPicPr>
          <p:cNvPr descr="Captura de pantalla de un celular&#10;&#10;Descripción generada automáticamente" id="357" name="Google Shape;35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663" y="1743345"/>
            <a:ext cx="7965344" cy="3827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20" title="Captura de pantalla 2026-04-17 a la(s) 14.51.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6388" y="4361271"/>
            <a:ext cx="5367574" cy="16703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363" name="Google Shape;363;p20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0"/>
          <p:cNvSpPr txBox="1"/>
          <p:nvPr/>
        </p:nvSpPr>
        <p:spPr>
          <a:xfrm>
            <a:off x="1144588" y="185738"/>
            <a:ext cx="49375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Agregar un Nuevo Producto</a:t>
            </a:r>
            <a:endParaRPr/>
          </a:p>
        </p:txBody>
      </p:sp>
      <p:cxnSp>
        <p:nvCxnSpPr>
          <p:cNvPr id="365" name="Google Shape;365;p20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6" name="Google Shape;366;p20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67" name="Google Shape;367;p20"/>
          <p:cNvSpPr/>
          <p:nvPr/>
        </p:nvSpPr>
        <p:spPr>
          <a:xfrm>
            <a:off x="635953" y="1225836"/>
            <a:ext cx="80968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Necesitamos instalar la librería body-parser para el proyecto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0"/>
          <p:cNvSpPr/>
          <p:nvPr/>
        </p:nvSpPr>
        <p:spPr>
          <a:xfrm>
            <a:off x="635953" y="3649605"/>
            <a:ext cx="80968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Importar la librería en el servidor</a:t>
            </a:r>
            <a:endParaRPr i="1"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9" name="Google Shape;369;p20"/>
          <p:cNvSpPr/>
          <p:nvPr/>
        </p:nvSpPr>
        <p:spPr>
          <a:xfrm>
            <a:off x="1534082" y="4414592"/>
            <a:ext cx="3989400" cy="2316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0"/>
          <p:cNvSpPr/>
          <p:nvPr/>
        </p:nvSpPr>
        <p:spPr>
          <a:xfrm>
            <a:off x="1534081" y="5429179"/>
            <a:ext cx="4704000" cy="549600"/>
          </a:xfrm>
          <a:prstGeom prst="rect">
            <a:avLst/>
          </a:prstGeom>
          <a:solidFill>
            <a:srgbClr val="FFFF00">
              <a:alpha val="10196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0"/>
          <p:cNvSpPr/>
          <p:nvPr/>
        </p:nvSpPr>
        <p:spPr>
          <a:xfrm>
            <a:off x="1003145" y="3991953"/>
            <a:ext cx="8002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app.js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372" name="Google Shape;372;p20"/>
          <p:cNvSpPr/>
          <p:nvPr/>
        </p:nvSpPr>
        <p:spPr>
          <a:xfrm>
            <a:off x="5917393" y="3428563"/>
            <a:ext cx="2753955" cy="986037"/>
          </a:xfrm>
          <a:prstGeom prst="wedgeRectCallout">
            <a:avLst>
              <a:gd fmla="val -75319" name="adj1"/>
              <a:gd fmla="val 60442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body-parser es una librería que permite el acceso a los datos agregados en la sección body de la petición POST</a:t>
            </a:r>
            <a:endParaRPr/>
          </a:p>
        </p:txBody>
      </p:sp>
      <p:sp>
        <p:nvSpPr>
          <p:cNvPr id="373" name="Google Shape;373;p20"/>
          <p:cNvSpPr/>
          <p:nvPr/>
        </p:nvSpPr>
        <p:spPr>
          <a:xfrm>
            <a:off x="6319350" y="4483449"/>
            <a:ext cx="2352000" cy="1346400"/>
          </a:xfrm>
          <a:prstGeom prst="wedgeRectCallout">
            <a:avLst>
              <a:gd fmla="val -81995" name="adj1"/>
              <a:gd fmla="val 47389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extended:true</a:t>
            </a: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permite el uso de otras características como archivos y arreglos codificados dentro del formato URL-encoded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0"/>
          <p:cNvSpPr/>
          <p:nvPr/>
        </p:nvSpPr>
        <p:spPr>
          <a:xfrm>
            <a:off x="1027119" y="1694963"/>
            <a:ext cx="401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npm install –save body-parser</a:t>
            </a:r>
            <a:endParaRPr sz="1800">
              <a:solidFill>
                <a:srgbClr val="7030A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75" name="Google Shape;375;p20" title="Captura de pantalla 2026-04-17 a la(s) 14.49.4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3150" y="2074575"/>
            <a:ext cx="4623818" cy="143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p21" title="Captura de pantalla 2026-04-17 a la(s) 15.03.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27" y="2244174"/>
            <a:ext cx="9080724" cy="2757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381" name="Google Shape;381;p21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1"/>
          <p:cNvSpPr txBox="1"/>
          <p:nvPr/>
        </p:nvSpPr>
        <p:spPr>
          <a:xfrm>
            <a:off x="1144588" y="185738"/>
            <a:ext cx="533671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Agregar un Nuevo Producto…</a:t>
            </a:r>
            <a:endParaRPr/>
          </a:p>
        </p:txBody>
      </p:sp>
      <p:cxnSp>
        <p:nvCxnSpPr>
          <p:cNvPr id="383" name="Google Shape;383;p21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4" name="Google Shape;384;p21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85" name="Google Shape;385;p21"/>
          <p:cNvSpPr/>
          <p:nvPr/>
        </p:nvSpPr>
        <p:spPr>
          <a:xfrm>
            <a:off x="635953" y="1225836"/>
            <a:ext cx="80968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continuación, agregamos una nueva ruta tipo POST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‘/producto’</a:t>
            </a:r>
            <a:endParaRPr/>
          </a:p>
        </p:txBody>
      </p:sp>
      <p:sp>
        <p:nvSpPr>
          <p:cNvPr id="386" name="Google Shape;386;p21"/>
          <p:cNvSpPr/>
          <p:nvPr/>
        </p:nvSpPr>
        <p:spPr>
          <a:xfrm>
            <a:off x="6979396" y="2315715"/>
            <a:ext cx="2080800" cy="923400"/>
          </a:xfrm>
          <a:prstGeom prst="wedgeRectCallout">
            <a:avLst>
              <a:gd fmla="val -84014" name="adj1"/>
              <a:gd fmla="val 24289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nombre de la clave debe calzar con el nombre del campo en la base de datos.</a:t>
            </a:r>
            <a:endParaRPr/>
          </a:p>
        </p:txBody>
      </p:sp>
      <p:sp>
        <p:nvSpPr>
          <p:cNvPr id="387" name="Google Shape;387;p21"/>
          <p:cNvSpPr/>
          <p:nvPr/>
        </p:nvSpPr>
        <p:spPr>
          <a:xfrm>
            <a:off x="635903" y="1770811"/>
            <a:ext cx="809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Incorporamos la consulta SQL INSERT para agregar el nuevo producto</a:t>
            </a:r>
            <a:endParaRPr/>
          </a:p>
        </p:txBody>
      </p:sp>
      <p:sp>
        <p:nvSpPr>
          <p:cNvPr id="388" name="Google Shape;388;p21"/>
          <p:cNvSpPr/>
          <p:nvPr/>
        </p:nvSpPr>
        <p:spPr>
          <a:xfrm>
            <a:off x="635903" y="5236607"/>
            <a:ext cx="809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Lanzar el servidor</a:t>
            </a:r>
            <a:endParaRPr/>
          </a:p>
        </p:txBody>
      </p:sp>
      <p:sp>
        <p:nvSpPr>
          <p:cNvPr id="389" name="Google Shape;389;p21"/>
          <p:cNvSpPr/>
          <p:nvPr/>
        </p:nvSpPr>
        <p:spPr>
          <a:xfrm>
            <a:off x="1027113" y="5651088"/>
            <a:ext cx="155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npm start</a:t>
            </a:r>
            <a:endParaRPr sz="1800">
              <a:solidFill>
                <a:srgbClr val="7030A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90" name="Google Shape;39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13788" y="4024673"/>
            <a:ext cx="4403040" cy="1010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13788" y="5050967"/>
            <a:ext cx="3493076" cy="1200296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1"/>
          <p:cNvSpPr/>
          <p:nvPr/>
        </p:nvSpPr>
        <p:spPr>
          <a:xfrm>
            <a:off x="4487811" y="3946690"/>
            <a:ext cx="4459500" cy="23505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97" name="Google Shape;397;p2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3"/>
          <p:cNvSpPr txBox="1"/>
          <p:nvPr/>
        </p:nvSpPr>
        <p:spPr>
          <a:xfrm>
            <a:off x="1144588" y="185738"/>
            <a:ext cx="533671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Agregar un Nuevo Producto…</a:t>
            </a:r>
            <a:endParaRPr/>
          </a:p>
        </p:txBody>
      </p:sp>
      <p:cxnSp>
        <p:nvCxnSpPr>
          <p:cNvPr id="399" name="Google Shape;399;p2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0" name="Google Shape;400;p2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401" name="Google Shape;401;p23"/>
          <p:cNvSpPr/>
          <p:nvPr/>
        </p:nvSpPr>
        <p:spPr>
          <a:xfrm>
            <a:off x="635953" y="1225836"/>
            <a:ext cx="80968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Realizar peticiones POST con Postman al servidor</a:t>
            </a:r>
            <a:endParaRPr/>
          </a:p>
        </p:txBody>
      </p:sp>
      <p:sp>
        <p:nvSpPr>
          <p:cNvPr id="402" name="Google Shape;402;p23"/>
          <p:cNvSpPr/>
          <p:nvPr/>
        </p:nvSpPr>
        <p:spPr>
          <a:xfrm>
            <a:off x="900060" y="1606394"/>
            <a:ext cx="33554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8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localhost:3000/producto</a:t>
            </a:r>
            <a:endParaRPr/>
          </a:p>
        </p:txBody>
      </p:sp>
      <p:pic>
        <p:nvPicPr>
          <p:cNvPr descr="Captura de pantalla de un celular&#10;&#10;Descripción generada automáticamente" id="403" name="Google Shape;40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0060" y="2112047"/>
            <a:ext cx="7942085" cy="3887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408" name="Google Shape;408;p2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24"/>
          <p:cNvSpPr txBox="1"/>
          <p:nvPr/>
        </p:nvSpPr>
        <p:spPr>
          <a:xfrm>
            <a:off x="1144588" y="185738"/>
            <a:ext cx="533671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Agregar un Nuevo Producto…</a:t>
            </a:r>
            <a:endParaRPr/>
          </a:p>
        </p:txBody>
      </p:sp>
      <p:cxnSp>
        <p:nvCxnSpPr>
          <p:cNvPr id="410" name="Google Shape;410;p24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1" name="Google Shape;411;p24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412" name="Google Shape;412;p24"/>
          <p:cNvSpPr/>
          <p:nvPr/>
        </p:nvSpPr>
        <p:spPr>
          <a:xfrm>
            <a:off x="635953" y="1225836"/>
            <a:ext cx="80968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Adjuntar los datos del nuevo producto a la petición POST</a:t>
            </a:r>
            <a:endParaRPr/>
          </a:p>
        </p:txBody>
      </p:sp>
      <p:pic>
        <p:nvPicPr>
          <p:cNvPr id="413" name="Google Shape;41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7113" y="1794629"/>
            <a:ext cx="59912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24"/>
          <p:cNvSpPr/>
          <p:nvPr/>
        </p:nvSpPr>
        <p:spPr>
          <a:xfrm>
            <a:off x="1027113" y="3046259"/>
            <a:ext cx="5991224" cy="253932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4"/>
          <p:cNvSpPr/>
          <p:nvPr/>
        </p:nvSpPr>
        <p:spPr>
          <a:xfrm>
            <a:off x="4388403" y="1810585"/>
            <a:ext cx="979184" cy="455634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4"/>
          <p:cNvSpPr/>
          <p:nvPr/>
        </p:nvSpPr>
        <p:spPr>
          <a:xfrm>
            <a:off x="3030665" y="2338821"/>
            <a:ext cx="2030927" cy="208093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4"/>
          <p:cNvSpPr/>
          <p:nvPr/>
        </p:nvSpPr>
        <p:spPr>
          <a:xfrm>
            <a:off x="7203557" y="3551397"/>
            <a:ext cx="1529281" cy="795587"/>
          </a:xfrm>
          <a:prstGeom prst="wedgeRectCallout">
            <a:avLst>
              <a:gd fmla="val -72112" name="adj1"/>
              <a:gd fmla="val -9187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Datos de un nuevo producto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422" name="Google Shape;422;g3d71ed91e8f_0_0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g3d71ed91e8f_0_0"/>
          <p:cNvSpPr txBox="1"/>
          <p:nvPr/>
        </p:nvSpPr>
        <p:spPr>
          <a:xfrm>
            <a:off x="1144588" y="185738"/>
            <a:ext cx="533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Ejercicio</a:t>
            </a:r>
            <a:endParaRPr/>
          </a:p>
        </p:txBody>
      </p:sp>
      <p:cxnSp>
        <p:nvCxnSpPr>
          <p:cNvPr id="424" name="Google Shape;424;g3d71ed91e8f_0_0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5" name="Google Shape;425;g3d71ed91e8f_0_0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426" name="Google Shape;426;g3d71ed91e8f_0_0"/>
          <p:cNvSpPr/>
          <p:nvPr/>
        </p:nvSpPr>
        <p:spPr>
          <a:xfrm>
            <a:off x="635950" y="1225815"/>
            <a:ext cx="8097000" cy="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Implementar la operación GET que permite consulta un producto específico a partir de su ID</a:t>
            </a:r>
            <a:endParaRPr/>
          </a:p>
        </p:txBody>
      </p:sp>
      <p:sp>
        <p:nvSpPr>
          <p:cNvPr id="427" name="Google Shape;427;g3d71ed91e8f_0_0"/>
          <p:cNvSpPr/>
          <p:nvPr/>
        </p:nvSpPr>
        <p:spPr>
          <a:xfrm>
            <a:off x="883745" y="1964625"/>
            <a:ext cx="492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8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localhost:3000/productos/{id}</a:t>
            </a:r>
            <a:endParaRPr/>
          </a:p>
        </p:txBody>
      </p:sp>
      <p:pic>
        <p:nvPicPr>
          <p:cNvPr id="428" name="Google Shape;428;g3d71ed91e8f_0_0" title="Captura de pantalla 2026-04-17 a la(s) 16.36.2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4488" y="2446200"/>
            <a:ext cx="6115027" cy="3898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Luis Gajardo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