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9144000"/>
  <p:notesSz cx="7010400" cy="9296400"/>
  <p:embeddedFontLst>
    <p:embeddedFont>
      <p:font typeface="Arial Black"/>
      <p:regular r:id="rId37"/>
    </p:embeddedFont>
    <p:embeddedFont>
      <p:font typeface="PT Sans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g3qhur+A+Fq28JFJw0x4TY+S+h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regular.fntdata"/><Relationship Id="rId41" Type="http://schemas.openxmlformats.org/officeDocument/2006/relationships/font" Target="fonts/PTSans-bold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ArialBlack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TSans-bold.fntdata"/><Relationship Id="rId16" Type="http://schemas.openxmlformats.org/officeDocument/2006/relationships/slide" Target="slides/slide11.xml"/><Relationship Id="rId38" Type="http://schemas.openxmlformats.org/officeDocument/2006/relationships/font" Target="fonts/PT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7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7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3970337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df8e6ff4b_0_0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protocolo HTTP establece la forma que debe tener una solicitud y la forma que debe tener una respuesta</a:t>
            </a:r>
            <a:endParaRPr/>
          </a:p>
        </p:txBody>
      </p:sp>
      <p:sp>
        <p:nvSpPr>
          <p:cNvPr id="112" name="Google Shape;112;g3cdf8e6ff4b_0_0:notes"/>
          <p:cNvSpPr/>
          <p:nvPr>
            <p:ph idx="2" type="sldImg"/>
          </p:nvPr>
        </p:nvSpPr>
        <p:spPr>
          <a:xfrm>
            <a:off x="1414462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df8e6ff4b_0_36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cdf8e6ff4b_0_36:notes"/>
          <p:cNvSpPr/>
          <p:nvPr>
            <p:ph idx="2" type="sldImg"/>
          </p:nvPr>
        </p:nvSpPr>
        <p:spPr>
          <a:xfrm>
            <a:off x="1414462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express: paquete publicado en node y consiste en un framework simple y minimalista para hacer web</a:t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8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8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9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0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0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1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2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3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4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6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7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8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9:notes"/>
          <p:cNvSpPr/>
          <p:nvPr>
            <p:ph idx="2" type="sldImg"/>
          </p:nvPr>
        </p:nvSpPr>
        <p:spPr>
          <a:xfrm>
            <a:off x="1414462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3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3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2" name="Google Shape;42;p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8" name="Google Shape;48;p3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9" name="Google Shape;49;p3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" name="Google Shape;59;p38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38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4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jpg"/><Relationship Id="rId10" Type="http://schemas.openxmlformats.org/officeDocument/2006/relationships/image" Target="../media/image13.png"/><Relationship Id="rId13" Type="http://schemas.openxmlformats.org/officeDocument/2006/relationships/image" Target="../media/image17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36.png"/><Relationship Id="rId9" Type="http://schemas.openxmlformats.org/officeDocument/2006/relationships/image" Target="../media/image18.png"/><Relationship Id="rId15" Type="http://schemas.openxmlformats.org/officeDocument/2006/relationships/image" Target="../media/image12.png"/><Relationship Id="rId14" Type="http://schemas.openxmlformats.org/officeDocument/2006/relationships/image" Target="../media/image25.jpg"/><Relationship Id="rId16" Type="http://schemas.openxmlformats.org/officeDocument/2006/relationships/image" Target="../media/image22.jp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32.jpg"/><Relationship Id="rId5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3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38.png"/><Relationship Id="rId9" Type="http://schemas.openxmlformats.org/officeDocument/2006/relationships/image" Target="../media/image53.png"/><Relationship Id="rId5" Type="http://schemas.openxmlformats.org/officeDocument/2006/relationships/image" Target="../media/image41.jpg"/><Relationship Id="rId6" Type="http://schemas.openxmlformats.org/officeDocument/2006/relationships/image" Target="../media/image42.png"/><Relationship Id="rId7" Type="http://schemas.openxmlformats.org/officeDocument/2006/relationships/image" Target="../media/image39.jpg"/><Relationship Id="rId8" Type="http://schemas.openxmlformats.org/officeDocument/2006/relationships/image" Target="../media/image3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47.jpg"/><Relationship Id="rId5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5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52.jpg"/><Relationship Id="rId5" Type="http://schemas.openxmlformats.org/officeDocument/2006/relationships/image" Target="../media/image49.png"/><Relationship Id="rId6" Type="http://schemas.openxmlformats.org/officeDocument/2006/relationships/image" Target="../media/image5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190500" y="6477000"/>
            <a:ext cx="8724900" cy="312737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3352800" y="2157412"/>
            <a:ext cx="5567362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0000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INTRODUCCIÓN</a:t>
            </a: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None/>
            </a:pPr>
            <a:r>
              <a:rPr lang="en-US" sz="2000">
                <a:solidFill>
                  <a:srgbClr val="404040"/>
                </a:solidFill>
              </a:rPr>
              <a:t>César Aguilera</a:t>
            </a:r>
            <a:r>
              <a:rPr b="0" i="0" lang="en-US" sz="20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Sep</a:t>
            </a:r>
            <a:r>
              <a:rPr lang="en-US" sz="2000">
                <a:solidFill>
                  <a:srgbClr val="404040"/>
                </a:solidFill>
              </a:rPr>
              <a:t>úlveda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i="1" lang="en-US" sz="2000">
                <a:solidFill>
                  <a:srgbClr val="0033CC"/>
                </a:solidFill>
              </a:rPr>
              <a:t>caguilsepulveda@gmail.com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352800" y="3090862"/>
            <a:ext cx="50784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Conceptos y Tecnologías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3429000" y="3627437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tecnologias web" id="94" name="Google Shape;94;p1"/>
          <p:cNvPicPr preferRelativeResize="0"/>
          <p:nvPr/>
        </p:nvPicPr>
        <p:blipFill rotWithShape="1">
          <a:blip r:embed="rId3">
            <a:alphaModFix/>
          </a:blip>
          <a:srcRect b="0" l="40031" r="9011" t="0"/>
          <a:stretch/>
        </p:blipFill>
        <p:spPr>
          <a:xfrm>
            <a:off x="700087" y="2066925"/>
            <a:ext cx="2506662" cy="2544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do_color"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2507" t="0"/>
          <a:stretch/>
        </p:blipFill>
        <p:spPr>
          <a:xfrm>
            <a:off x="411162" y="293687"/>
            <a:ext cx="160020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 con confianza media" id="96" name="Google Shape;9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9725" y="276225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7" y="185737"/>
            <a:ext cx="501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b="1" lang="en-US" sz="2800">
                <a:solidFill>
                  <a:srgbClr val="2E75B6"/>
                </a:solidFill>
              </a:rPr>
              <a:t>Cómo</a:t>
            </a:r>
            <a:r>
              <a:rPr b="1" lang="en-US" sz="2800">
                <a:solidFill>
                  <a:srgbClr val="2E75B6"/>
                </a:solidFill>
              </a:rPr>
              <a:t> funciona la Web</a:t>
            </a: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5" name="Google Shape;105;p2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2/29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674696" y="1168513"/>
            <a:ext cx="779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</a:rPr>
              <a:t>La </a:t>
            </a:r>
            <a:r>
              <a:rPr b="1" lang="en-US" sz="1800">
                <a:solidFill>
                  <a:schemeClr val="dk1"/>
                </a:solidFill>
              </a:rPr>
              <a:t>Web</a:t>
            </a:r>
            <a:r>
              <a:rPr lang="en-US" sz="1800">
                <a:solidFill>
                  <a:schemeClr val="dk1"/>
                </a:solidFill>
              </a:rPr>
              <a:t> funciona en base a </a:t>
            </a:r>
            <a:r>
              <a:rPr b="1" lang="en-US" sz="1800">
                <a:solidFill>
                  <a:schemeClr val="dk1"/>
                </a:solidFill>
              </a:rPr>
              <a:t>peticiones</a:t>
            </a:r>
            <a:r>
              <a:rPr lang="en-US" sz="1800">
                <a:solidFill>
                  <a:schemeClr val="dk1"/>
                </a:solidFill>
              </a:rPr>
              <a:t> o </a:t>
            </a:r>
            <a:r>
              <a:rPr b="1" lang="en-US" sz="1800">
                <a:solidFill>
                  <a:schemeClr val="dk1"/>
                </a:solidFill>
              </a:rPr>
              <a:t>consultas</a:t>
            </a:r>
            <a:r>
              <a:rPr lang="en-US" sz="1800">
                <a:solidFill>
                  <a:schemeClr val="dk1"/>
                </a:solidFill>
              </a:rPr>
              <a:t> que hace un </a:t>
            </a:r>
            <a:r>
              <a:rPr lang="en-US" sz="1800" u="sng">
                <a:solidFill>
                  <a:schemeClr val="dk1"/>
                </a:solidFill>
              </a:rPr>
              <a:t>cliente</a:t>
            </a:r>
            <a:r>
              <a:rPr lang="en-US" sz="1800">
                <a:solidFill>
                  <a:schemeClr val="dk1"/>
                </a:solidFill>
              </a:rPr>
              <a:t> hacia un </a:t>
            </a:r>
            <a:r>
              <a:rPr lang="en-US" sz="1800" u="sng">
                <a:solidFill>
                  <a:schemeClr val="dk1"/>
                </a:solidFill>
              </a:rPr>
              <a:t>servidor</a:t>
            </a:r>
            <a:r>
              <a:rPr lang="en-US" sz="1800">
                <a:solidFill>
                  <a:schemeClr val="dk1"/>
                </a:solidFill>
              </a:rPr>
              <a:t> Web que se encuentra alojado en algún lugar.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8" name="Google Shape;108;p2" title="501f9-cliente-servid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3600" y="1991325"/>
            <a:ext cx="3763067" cy="22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674696" y="4195725"/>
            <a:ext cx="7794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Ese </a:t>
            </a:r>
            <a:r>
              <a:rPr b="1" lang="en-US" sz="1800">
                <a:solidFill>
                  <a:schemeClr val="dk1"/>
                </a:solidFill>
              </a:rPr>
              <a:t>cliente</a:t>
            </a:r>
            <a:r>
              <a:rPr lang="en-US" sz="1800">
                <a:solidFill>
                  <a:schemeClr val="dk1"/>
                </a:solidFill>
              </a:rPr>
              <a:t> se comunica con un </a:t>
            </a:r>
            <a:r>
              <a:rPr b="1" lang="en-US" sz="1800">
                <a:solidFill>
                  <a:schemeClr val="dk1"/>
                </a:solidFill>
              </a:rPr>
              <a:t>servidor</a:t>
            </a:r>
            <a:r>
              <a:rPr lang="en-US" sz="1800">
                <a:solidFill>
                  <a:schemeClr val="dk1"/>
                </a:solidFill>
              </a:rPr>
              <a:t>, mediante un </a:t>
            </a:r>
            <a:r>
              <a:rPr lang="en-US" sz="1800" u="sng">
                <a:solidFill>
                  <a:schemeClr val="dk1"/>
                </a:solidFill>
              </a:rPr>
              <a:t>protocolo</a:t>
            </a:r>
            <a:r>
              <a:rPr lang="en-US" sz="1800">
                <a:solidFill>
                  <a:schemeClr val="dk1"/>
                </a:solidFill>
              </a:rPr>
              <a:t> que se llama </a:t>
            </a:r>
            <a:r>
              <a:rPr b="1" lang="en-US" sz="1800">
                <a:solidFill>
                  <a:schemeClr val="dk1"/>
                </a:solidFill>
              </a:rPr>
              <a:t>HTTP</a:t>
            </a:r>
            <a:r>
              <a:rPr lang="en-US" sz="1800">
                <a:solidFill>
                  <a:schemeClr val="dk1"/>
                </a:solidFill>
              </a:rPr>
              <a:t> o protocolo de transferencia de hipertexto.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Mediante este protocolo el cliente realiza consultas (</a:t>
            </a:r>
            <a:r>
              <a:rPr b="1" lang="en-US" sz="1800">
                <a:solidFill>
                  <a:schemeClr val="dk1"/>
                </a:solidFill>
              </a:rPr>
              <a:t>requests</a:t>
            </a:r>
            <a:r>
              <a:rPr lang="en-US" sz="1800">
                <a:solidFill>
                  <a:schemeClr val="dk1"/>
                </a:solidFill>
              </a:rPr>
              <a:t>) y recibe respuestas (</a:t>
            </a:r>
            <a:r>
              <a:rPr b="1" lang="en-US" sz="1800">
                <a:solidFill>
                  <a:schemeClr val="dk1"/>
                </a:solidFill>
              </a:rPr>
              <a:t>response</a:t>
            </a:r>
            <a:r>
              <a:rPr lang="en-US" sz="1800">
                <a:solidFill>
                  <a:schemeClr val="dk1"/>
                </a:solidFill>
              </a:rPr>
              <a:t>).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df8e6ff4b_0_0"/>
          <p:cNvSpPr txBox="1"/>
          <p:nvPr/>
        </p:nvSpPr>
        <p:spPr>
          <a:xfrm>
            <a:off x="0" y="6537325"/>
            <a:ext cx="85503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115" name="Google Shape;115;g3cdf8e6ff4b_0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cdf8e6ff4b_0_0"/>
          <p:cNvSpPr txBox="1"/>
          <p:nvPr/>
        </p:nvSpPr>
        <p:spPr>
          <a:xfrm>
            <a:off x="1144587" y="185737"/>
            <a:ext cx="501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¿Qué es el protocolo HTTP?</a:t>
            </a:r>
            <a:endParaRPr/>
          </a:p>
        </p:txBody>
      </p:sp>
      <p:cxnSp>
        <p:nvCxnSpPr>
          <p:cNvPr id="117" name="Google Shape;117;g3cdf8e6ff4b_0_0"/>
          <p:cNvCxnSpPr/>
          <p:nvPr/>
        </p:nvCxnSpPr>
        <p:spPr>
          <a:xfrm>
            <a:off x="1206500" y="858837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8" name="Google Shape;118;g3cdf8e6ff4b_0_0"/>
          <p:cNvSpPr/>
          <p:nvPr/>
        </p:nvSpPr>
        <p:spPr>
          <a:xfrm>
            <a:off x="8421687" y="6418262"/>
            <a:ext cx="795300" cy="4317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cdf8e6ff4b_0_0"/>
          <p:cNvSpPr txBox="1"/>
          <p:nvPr/>
        </p:nvSpPr>
        <p:spPr>
          <a:xfrm>
            <a:off x="8459787" y="6453187"/>
            <a:ext cx="6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2/29</a:t>
            </a:r>
            <a:endParaRPr/>
          </a:p>
        </p:txBody>
      </p:sp>
      <p:sp>
        <p:nvSpPr>
          <p:cNvPr id="120" name="Google Shape;120;g3cdf8e6ff4b_0_0"/>
          <p:cNvSpPr txBox="1"/>
          <p:nvPr/>
        </p:nvSpPr>
        <p:spPr>
          <a:xfrm>
            <a:off x="627062" y="1165225"/>
            <a:ext cx="5841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protocolo es un </a:t>
            </a:r>
            <a:r>
              <a:rPr b="1" i="0" lang="en-US" sz="1800" u="none">
                <a:solidFill>
                  <a:schemeClr val="dk1"/>
                </a:solidFill>
              </a:rPr>
              <a:t>sistema de reglas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permiten la comunicación entre entidades.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significa "Hypertext Transfer Protocol“.</a:t>
            </a:r>
            <a:endParaRPr/>
          </a:p>
        </p:txBody>
      </p:sp>
      <p:pic>
        <p:nvPicPr>
          <p:cNvPr descr="Resultado de imagen para http logo" id="121" name="Google Shape;121;g3cdf8e6ff4b_0_0"/>
          <p:cNvPicPr preferRelativeResize="0"/>
          <p:nvPr/>
        </p:nvPicPr>
        <p:blipFill rotWithShape="1">
          <a:blip r:embed="rId4">
            <a:alphaModFix/>
          </a:blip>
          <a:srcRect b="27691" l="8061" r="8053" t="27691"/>
          <a:stretch/>
        </p:blipFill>
        <p:spPr>
          <a:xfrm>
            <a:off x="6653212" y="1230312"/>
            <a:ext cx="2070100" cy="110013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cdf8e6ff4b_0_0"/>
          <p:cNvSpPr txBox="1"/>
          <p:nvPr/>
        </p:nvSpPr>
        <p:spPr>
          <a:xfrm>
            <a:off x="627062" y="2579687"/>
            <a:ext cx="81057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 un protocolo cliente-servidor.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 cliente realiza peticiones y el servidor le envía respuestas.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almacena el estado de las operaciones realizadas.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Diseñado en 1990, es un protocolo ampliable, que ha ido evolucionando con el tiempo.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/>
        </p:nvSpPr>
        <p:spPr>
          <a:xfrm>
            <a:off x="1144587" y="185737"/>
            <a:ext cx="64150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se puede controlar con HTTP?</a:t>
            </a:r>
            <a:endParaRPr/>
          </a:p>
        </p:txBody>
      </p:sp>
      <p:cxnSp>
        <p:nvCxnSpPr>
          <p:cNvPr id="130" name="Google Shape;130;p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1" name="Google Shape;131;p3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3/29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627062" y="1165225"/>
            <a:ext cx="8105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Caché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0" lang="en-US" sz="1800" u="none">
                <a:solidFill>
                  <a:schemeClr val="dk1"/>
                </a:solidFill>
              </a:rPr>
              <a:t>Es una </a:t>
            </a:r>
            <a:r>
              <a:rPr b="1" i="0" lang="en-US" sz="1800" u="none">
                <a:solidFill>
                  <a:schemeClr val="dk1"/>
                </a:solidFill>
              </a:rPr>
              <a:t>copia temporal de datos</a:t>
            </a:r>
            <a:r>
              <a:rPr i="0" lang="en-US" sz="1800" u="none">
                <a:solidFill>
                  <a:schemeClr val="dk1"/>
                </a:solidFill>
              </a:rPr>
              <a:t> guardada cerca del usuario para ganar velocidad. El servidor dicta las reglas (</a:t>
            </a:r>
            <a:r>
              <a:rPr lang="en-US" sz="1800">
                <a:solidFill>
                  <a:schemeClr val="dk1"/>
                </a:solidFill>
              </a:rPr>
              <a:t>a los proxies y navegadores</a:t>
            </a:r>
            <a:r>
              <a:rPr i="0" lang="en-US" sz="1800" u="none">
                <a:solidFill>
                  <a:schemeClr val="dk1"/>
                </a:solidFill>
              </a:rPr>
              <a:t>): qué se guarda y cuánto tiempo dura antes de caducar.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627062" y="2319337"/>
            <a:ext cx="8105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Flexibilidad del requisito de origen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</a:rPr>
              <a:t>Por seguridad, los navegadores prohíben que un sitio web pida datos a un dominio distinto al suyo. Mediante </a:t>
            </a:r>
            <a:r>
              <a:rPr b="1" lang="en-US" sz="1800">
                <a:solidFill>
                  <a:schemeClr val="dk1"/>
                </a:solidFill>
              </a:rPr>
              <a:t>cabeceras HTTP</a:t>
            </a:r>
            <a:r>
              <a:rPr lang="en-US" sz="1800">
                <a:solidFill>
                  <a:schemeClr val="dk1"/>
                </a:solidFill>
              </a:rPr>
              <a:t>, el servidor puede dar "permisos especiales" para relajar esta restricción y autorizar a ciertos clientes externos a consumir su información.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92150" y="3998900"/>
            <a:ext cx="8040600" cy="193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Autentificación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Hay páginas Web, que pueden estar protegidas, de manera que solo los usuarios autorizados puedan acceder (validaci</a:t>
            </a:r>
            <a:r>
              <a:rPr lang="en-US" sz="1800">
                <a:solidFill>
                  <a:schemeClr val="dk1"/>
                </a:solidFill>
              </a:rPr>
              <a:t>ón de identidad)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HTTP provee servicios básicos de autentificación, por ejemplo, mediante el uso de cabeceras como:  WWW-Authenticate, o estableciendo una sesión </a:t>
            </a:r>
            <a:r>
              <a:rPr lang="en-US" sz="1800">
                <a:solidFill>
                  <a:schemeClr val="dk1"/>
                </a:solidFill>
              </a:rPr>
              <a:t>específica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mediante el uso de  HTTP cookies.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1144587" y="185737"/>
            <a:ext cx="67135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se puede controlar con HTTP?...</a:t>
            </a:r>
            <a:endParaRPr/>
          </a:p>
        </p:txBody>
      </p:sp>
      <p:cxnSp>
        <p:nvCxnSpPr>
          <p:cNvPr id="143" name="Google Shape;143;p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4" name="Google Shape;144;p4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4/29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627062" y="1287462"/>
            <a:ext cx="7712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Proxies y  tunneling</a:t>
            </a:r>
            <a:b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Servidores y/o clientes pueden estar en intranets (</a:t>
            </a:r>
            <a:r>
              <a:rPr lang="en-US" sz="1800">
                <a:solidFill>
                  <a:srgbClr val="333333"/>
                </a:solidFill>
              </a:rPr>
              <a:t>red privadas)</a:t>
            </a: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y esconder así su verdadera dirección IP a otros. Las peticiones HTTP utilizan los proxies para acceder a ellos. 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642925" y="2633650"/>
            <a:ext cx="7696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Sesiones</a:t>
            </a:r>
            <a:b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 uso de 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cookies</a:t>
            </a: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permite relacionar peticiones con el estado del servidor. Esto es muy útil no sólo para aplicaciones de comercio electrónico, sino también para cualquier sitio que permita configuración al usuario.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 txBox="1"/>
          <p:nvPr/>
        </p:nvSpPr>
        <p:spPr>
          <a:xfrm>
            <a:off x="1144587" y="185737"/>
            <a:ext cx="284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endParaRPr/>
          </a:p>
        </p:txBody>
      </p:sp>
      <p:cxnSp>
        <p:nvCxnSpPr>
          <p:cNvPr id="155" name="Google Shape;155;p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6" name="Google Shape;156;p5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5/29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715962" y="3167412"/>
            <a:ext cx="771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70C0"/>
                </a:solidFill>
              </a:rPr>
              <a:t>¿Porque necesitamos tanto</a:t>
            </a:r>
            <a:r>
              <a:rPr b="1" lang="en-US" sz="2800">
                <a:solidFill>
                  <a:srgbClr val="0070C0"/>
                </a:solidFill>
              </a:rPr>
              <a:t> Control?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df8e6ff4b_0_36"/>
          <p:cNvSpPr txBox="1"/>
          <p:nvPr/>
        </p:nvSpPr>
        <p:spPr>
          <a:xfrm>
            <a:off x="0" y="6537325"/>
            <a:ext cx="85503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164" name="Google Shape;164;g3cdf8e6ff4b_0_3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cdf8e6ff4b_0_36"/>
          <p:cNvSpPr txBox="1"/>
          <p:nvPr/>
        </p:nvSpPr>
        <p:spPr>
          <a:xfrm>
            <a:off x="1144587" y="185737"/>
            <a:ext cx="284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Mensajes HTTP</a:t>
            </a:r>
            <a:endParaRPr/>
          </a:p>
        </p:txBody>
      </p:sp>
      <p:cxnSp>
        <p:nvCxnSpPr>
          <p:cNvPr id="166" name="Google Shape;166;g3cdf8e6ff4b_0_36"/>
          <p:cNvCxnSpPr/>
          <p:nvPr/>
        </p:nvCxnSpPr>
        <p:spPr>
          <a:xfrm>
            <a:off x="1206500" y="858837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7" name="Google Shape;167;g3cdf8e6ff4b_0_36"/>
          <p:cNvSpPr/>
          <p:nvPr/>
        </p:nvSpPr>
        <p:spPr>
          <a:xfrm>
            <a:off x="8421687" y="6418262"/>
            <a:ext cx="795300" cy="4317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cdf8e6ff4b_0_36"/>
          <p:cNvSpPr txBox="1"/>
          <p:nvPr/>
        </p:nvSpPr>
        <p:spPr>
          <a:xfrm>
            <a:off x="8459787" y="6453187"/>
            <a:ext cx="6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5/29</a:t>
            </a:r>
            <a:endParaRPr/>
          </a:p>
        </p:txBody>
      </p:sp>
      <p:sp>
        <p:nvSpPr>
          <p:cNvPr id="169" name="Google Shape;169;g3cdf8e6ff4b_0_36"/>
          <p:cNvSpPr txBox="1"/>
          <p:nvPr/>
        </p:nvSpPr>
        <p:spPr>
          <a:xfrm>
            <a:off x="627062" y="1287462"/>
            <a:ext cx="771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 documento web </a:t>
            </a:r>
            <a:r>
              <a:rPr lang="en-US" sz="1800">
                <a:solidFill>
                  <a:srgbClr val="333333"/>
                </a:solidFill>
              </a:rPr>
              <a:t>está compuesto por</a:t>
            </a: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una compilación de diferentes recursos.</a:t>
            </a:r>
            <a:endParaRPr/>
          </a:p>
        </p:txBody>
      </p:sp>
      <p:pic>
        <p:nvPicPr>
          <p:cNvPr descr="Resultado de imagen para protocolo http animado" id="170" name="Google Shape;170;g3cdf8e6ff4b_0_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1400" y="1951037"/>
            <a:ext cx="6883399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176" name="Google Shape;176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1144587" y="185737"/>
            <a:ext cx="32019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Mensajes HTTP…</a:t>
            </a:r>
            <a:endParaRPr/>
          </a:p>
        </p:txBody>
      </p:sp>
      <p:cxnSp>
        <p:nvCxnSpPr>
          <p:cNvPr id="178" name="Google Shape;178;p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9" name="Google Shape;179;p6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6/29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627062" y="1287462"/>
            <a:ext cx="7712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las versiones del protocolo HTTP/1.1 y anteriores los mensajes eran de formato texto.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HTTP/2, los mensajes </a:t>
            </a:r>
            <a:r>
              <a:rPr lang="en-US" sz="1800">
                <a:solidFill>
                  <a:schemeClr val="dk1"/>
                </a:solidFill>
              </a:rPr>
              <a:t>están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estructurados en un nuevo formato binario y las tramas permiten la compresión de las cabeceras y su multiplexación.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Ejemplo de petición HTTP:</a:t>
            </a:r>
            <a:endParaRPr/>
          </a:p>
        </p:txBody>
      </p:sp>
      <p:pic>
        <p:nvPicPr>
          <p:cNvPr descr="A basic HTTP request" id="182" name="Google Shape;1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4587" y="3648075"/>
            <a:ext cx="5649912" cy="274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3197225" y="5875337"/>
            <a:ext cx="1300162" cy="3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Cabeceras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1027112" y="4024312"/>
            <a:ext cx="1069975" cy="369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Métodos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4319587" y="4024312"/>
            <a:ext cx="2474912" cy="369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Versión del protocolo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5734050" y="4394200"/>
            <a:ext cx="246062" cy="746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2919412" y="3778250"/>
            <a:ext cx="835025" cy="369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 txBox="1"/>
          <p:nvPr/>
        </p:nvSpPr>
        <p:spPr>
          <a:xfrm>
            <a:off x="1144587" y="185737"/>
            <a:ext cx="32019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Mensajes HTTP…</a:t>
            </a:r>
            <a:endParaRPr/>
          </a:p>
        </p:txBody>
      </p:sp>
      <p:cxnSp>
        <p:nvCxnSpPr>
          <p:cNvPr id="195" name="Google Shape;195;p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6" name="Google Shape;196;p7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7/29</a:t>
            </a:r>
            <a:endParaRPr/>
          </a:p>
        </p:txBody>
      </p:sp>
      <p:sp>
        <p:nvSpPr>
          <p:cNvPr id="198" name="Google Shape;198;p7"/>
          <p:cNvSpPr txBox="1"/>
          <p:nvPr/>
        </p:nvSpPr>
        <p:spPr>
          <a:xfrm>
            <a:off x="627062" y="1287462"/>
            <a:ext cx="77120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Ejemplo de respuesta HTTP:</a:t>
            </a:r>
            <a:endParaRPr/>
          </a:p>
        </p:txBody>
      </p:sp>
      <p:pic>
        <p:nvPicPr>
          <p:cNvPr descr="https://mdn.mozillademos.org/files/13691/HTTP_Response.png" id="199" name="Google Shape;1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925" y="1831975"/>
            <a:ext cx="5997575" cy="39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 txBox="1"/>
          <p:nvPr/>
        </p:nvSpPr>
        <p:spPr>
          <a:xfrm>
            <a:off x="3695700" y="5229225"/>
            <a:ext cx="1301750" cy="3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Cabeceras</a:t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857250" y="2263775"/>
            <a:ext cx="2476500" cy="3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Versión del protocolo</a:t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2552700" y="1833562"/>
            <a:ext cx="2474912" cy="369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Código de estatus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3649662" y="2287587"/>
            <a:ext cx="2474912" cy="369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Mensaje de estatus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2490787" y="2573337"/>
            <a:ext cx="123825" cy="1190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5038725" y="2581275"/>
            <a:ext cx="152400" cy="152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0" name="Google Shape;210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 txBox="1"/>
          <p:nvPr/>
        </p:nvSpPr>
        <p:spPr>
          <a:xfrm>
            <a:off x="1144587" y="185737"/>
            <a:ext cx="38814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Backend Vs Frontend</a:t>
            </a:r>
            <a:endParaRPr/>
          </a:p>
        </p:txBody>
      </p:sp>
      <p:cxnSp>
        <p:nvCxnSpPr>
          <p:cNvPr id="212" name="Google Shape;212;p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3" name="Google Shape;213;p8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8/29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441325" y="3062287"/>
            <a:ext cx="354488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Todas aquellas tecnologías que corren del lado del navegador web</a:t>
            </a:r>
            <a:endParaRPr/>
          </a:p>
        </p:txBody>
      </p:sp>
      <p:pic>
        <p:nvPicPr>
          <p:cNvPr descr="Resultado de imagen para backend y frontend" id="217" name="Google Shape;217;p8"/>
          <p:cNvPicPr preferRelativeResize="0"/>
          <p:nvPr/>
        </p:nvPicPr>
        <p:blipFill rotWithShape="1">
          <a:blip r:embed="rId4">
            <a:alphaModFix/>
          </a:blip>
          <a:srcRect b="17178" l="0" r="0" t="19302"/>
          <a:stretch/>
        </p:blipFill>
        <p:spPr>
          <a:xfrm>
            <a:off x="2930525" y="1790700"/>
            <a:ext cx="3073400" cy="102076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 txBox="1"/>
          <p:nvPr/>
        </p:nvSpPr>
        <p:spPr>
          <a:xfrm>
            <a:off x="609600" y="1065212"/>
            <a:ext cx="79406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El desarrollo web se diferencia típicamente en dos áreas bien marcadas: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6040437" y="1762125"/>
            <a:ext cx="2971800" cy="107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Backend: </a:t>
            </a:r>
            <a:r>
              <a:rPr b="0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corresponde al manejo de lógica de negocio y administración de datos del lado del servidor.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485775" y="1762125"/>
            <a:ext cx="2582862" cy="107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Frontend:</a:t>
            </a:r>
            <a:r>
              <a:rPr b="0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corresponde  al desarrollo del lado del cliente con el foco en la experiencia del usuario.</a:t>
            </a:r>
            <a:endParaRPr/>
          </a:p>
        </p:txBody>
      </p:sp>
      <p:pic>
        <p:nvPicPr>
          <p:cNvPr descr="Resultado de imagen para html" id="221" name="Google Shape;22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3895725"/>
            <a:ext cx="1223962" cy="1223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css" id="222" name="Google Shape;22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52562" y="3910012"/>
            <a:ext cx="1223962" cy="1223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javascript" id="223" name="Google Shape;22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4912" y="4054475"/>
            <a:ext cx="1301750" cy="130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24" name="Google Shape;224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474912" y="5475287"/>
            <a:ext cx="952500" cy="9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"/>
          <p:cNvSpPr txBox="1"/>
          <p:nvPr/>
        </p:nvSpPr>
        <p:spPr>
          <a:xfrm>
            <a:off x="5434012" y="3063875"/>
            <a:ext cx="3544887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Todas las tecnologías para manejo de datos, sesiones de usuario, por ejemplo.</a:t>
            </a:r>
            <a:endParaRPr/>
          </a:p>
        </p:txBody>
      </p:sp>
      <p:pic>
        <p:nvPicPr>
          <p:cNvPr descr="Resultado de imagen para .net logo" id="226" name="Google Shape;226;p8"/>
          <p:cNvPicPr preferRelativeResize="0"/>
          <p:nvPr/>
        </p:nvPicPr>
        <p:blipFill rotWithShape="1">
          <a:blip r:embed="rId8">
            <a:alphaModFix/>
          </a:blip>
          <a:srcRect b="0" l="22149" r="19596" t="0"/>
          <a:stretch/>
        </p:blipFill>
        <p:spPr>
          <a:xfrm>
            <a:off x="7046912" y="4054475"/>
            <a:ext cx="774700" cy="70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spring logo" id="227" name="Google Shape;22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3112" y="4119562"/>
            <a:ext cx="10287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laravel logo" id="228" name="Google Shape;228;p8"/>
          <p:cNvPicPr preferRelativeResize="0"/>
          <p:nvPr/>
        </p:nvPicPr>
        <p:blipFill rotWithShape="1">
          <a:blip r:embed="rId10">
            <a:alphaModFix/>
          </a:blip>
          <a:srcRect b="9509" l="25837" r="22712" t="0"/>
          <a:stretch/>
        </p:blipFill>
        <p:spPr>
          <a:xfrm>
            <a:off x="5811837" y="4002087"/>
            <a:ext cx="10477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mysql logo" id="229" name="Google Shape;229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19987" y="5111750"/>
            <a:ext cx="1236662" cy="639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oracle logo" id="230" name="Google Shape;230;p8"/>
          <p:cNvPicPr preferRelativeResize="0"/>
          <p:nvPr/>
        </p:nvPicPr>
        <p:blipFill rotWithShape="1">
          <a:blip r:embed="rId12">
            <a:alphaModFix/>
          </a:blip>
          <a:srcRect b="29605" l="3962" r="4496" t="30989"/>
          <a:stretch/>
        </p:blipFill>
        <p:spPr>
          <a:xfrm>
            <a:off x="5970587" y="5813425"/>
            <a:ext cx="1423987" cy="217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postgres logo" id="231" name="Google Shape;231;p8"/>
          <p:cNvPicPr preferRelativeResize="0"/>
          <p:nvPr/>
        </p:nvPicPr>
        <p:blipFill rotWithShape="1">
          <a:blip r:embed="rId13">
            <a:alphaModFix/>
          </a:blip>
          <a:srcRect b="15834" l="0" r="0" t="18222"/>
          <a:stretch/>
        </p:blipFill>
        <p:spPr>
          <a:xfrm>
            <a:off x="5934075" y="5011737"/>
            <a:ext cx="1460500" cy="592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sql server logo" id="232" name="Google Shape;232;p8"/>
          <p:cNvPicPr preferRelativeResize="0"/>
          <p:nvPr/>
        </p:nvPicPr>
        <p:blipFill rotWithShape="1">
          <a:blip r:embed="rId14">
            <a:alphaModFix/>
          </a:blip>
          <a:srcRect b="11605" l="0" r="0" t="11434"/>
          <a:stretch/>
        </p:blipFill>
        <p:spPr>
          <a:xfrm>
            <a:off x="4467225" y="5133975"/>
            <a:ext cx="1155700" cy="88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node js logo" id="233" name="Google Shape;233;p8"/>
          <p:cNvPicPr preferRelativeResize="0"/>
          <p:nvPr/>
        </p:nvPicPr>
        <p:blipFill rotWithShape="1">
          <a:blip r:embed="rId15">
            <a:alphaModFix/>
          </a:blip>
          <a:srcRect b="6745" l="11650" r="11650" t="8569"/>
          <a:stretch/>
        </p:blipFill>
        <p:spPr>
          <a:xfrm>
            <a:off x="7945437" y="3992562"/>
            <a:ext cx="831850" cy="919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vs react vs vue" id="234" name="Google Shape;234;p8"/>
          <p:cNvPicPr preferRelativeResize="0"/>
          <p:nvPr/>
        </p:nvPicPr>
        <p:blipFill rotWithShape="1">
          <a:blip r:embed="rId16">
            <a:alphaModFix/>
          </a:blip>
          <a:srcRect b="25013" l="34742" r="3808" t="23123"/>
          <a:stretch/>
        </p:blipFill>
        <p:spPr>
          <a:xfrm>
            <a:off x="485775" y="5511800"/>
            <a:ext cx="1824037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240" name="Google Shape;240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 txBox="1"/>
          <p:nvPr/>
        </p:nvSpPr>
        <p:spPr>
          <a:xfrm>
            <a:off x="1144587" y="185737"/>
            <a:ext cx="58388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¿Qué es un Stack de tecnología?</a:t>
            </a:r>
            <a:endParaRPr/>
          </a:p>
        </p:txBody>
      </p:sp>
      <p:cxnSp>
        <p:nvCxnSpPr>
          <p:cNvPr id="242" name="Google Shape;242;p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3" name="Google Shape;243;p9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9/29</a:t>
            </a:r>
            <a:endParaRPr/>
          </a:p>
        </p:txBody>
      </p:sp>
      <p:sp>
        <p:nvSpPr>
          <p:cNvPr id="245" name="Google Shape;245;p9"/>
          <p:cNvSpPr txBox="1"/>
          <p:nvPr/>
        </p:nvSpPr>
        <p:spPr>
          <a:xfrm>
            <a:off x="3697287" y="4219575"/>
            <a:ext cx="2098675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LAMP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inux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pache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ySQL/</a:t>
            </a: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ariaDB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erl, </a:t>
            </a: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HP, o </a:t>
            </a: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ython</a:t>
            </a:r>
            <a:endParaRPr/>
          </a:p>
        </p:txBody>
      </p:sp>
      <p:sp>
        <p:nvSpPr>
          <p:cNvPr id="246" name="Google Shape;246;p9"/>
          <p:cNvSpPr txBox="1"/>
          <p:nvPr/>
        </p:nvSpPr>
        <p:spPr>
          <a:xfrm>
            <a:off x="908050" y="4219575"/>
            <a:ext cx="1846262" cy="1169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WAMP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indows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pache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ySQL/</a:t>
            </a: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ariaDB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HP 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609600" y="1065212"/>
            <a:ext cx="5553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Un stack de software es el conjunto de componentes necesarios para crear una plataforma completa, donde no se requiere software adicional para soportar las aplicaciones.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El concepto de “stack” está en plena evolución, incluye la combinación de productos de software y lenguajes de programación.</a:t>
            </a:r>
            <a:endParaRPr/>
          </a:p>
        </p:txBody>
      </p:sp>
      <p:pic>
        <p:nvPicPr>
          <p:cNvPr descr="Resultado de imagen para hamburguesa" id="248" name="Google Shape;248;p9"/>
          <p:cNvPicPr preferRelativeResize="0"/>
          <p:nvPr/>
        </p:nvPicPr>
        <p:blipFill rotWithShape="1">
          <a:blip r:embed="rId4">
            <a:alphaModFix/>
          </a:blip>
          <a:srcRect b="0" l="13514" r="12896" t="0"/>
          <a:stretch/>
        </p:blipFill>
        <p:spPr>
          <a:xfrm>
            <a:off x="6162675" y="1201737"/>
            <a:ext cx="2692400" cy="2246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9"/>
          <p:cNvSpPr txBox="1"/>
          <p:nvPr/>
        </p:nvSpPr>
        <p:spPr>
          <a:xfrm>
            <a:off x="609600" y="3522662"/>
            <a:ext cx="148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6591300" y="4262437"/>
            <a:ext cx="1530350" cy="1169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MEAN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ongo DB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xpress JS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ngular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Char char="•"/>
            </a:pPr>
            <a:r>
              <a:rPr b="1" i="0" lang="en-US" sz="1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ode JS 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777875" y="4148137"/>
            <a:ext cx="2098675" cy="1470025"/>
          </a:xfrm>
          <a:prstGeom prst="rect">
            <a:avLst/>
          </a:prstGeom>
          <a:noFill/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3532187" y="4164012"/>
            <a:ext cx="2098675" cy="1468437"/>
          </a:xfrm>
          <a:prstGeom prst="rect">
            <a:avLst/>
          </a:prstGeom>
          <a:noFill/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6389687" y="4160837"/>
            <a:ext cx="2098675" cy="1470025"/>
          </a:xfrm>
          <a:prstGeom prst="rect">
            <a:avLst/>
          </a:prstGeom>
          <a:noFill/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062" y="2344737"/>
            <a:ext cx="7635875" cy="327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59" name="Google Shape;259;p10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"/>
          <p:cNvSpPr txBox="1"/>
          <p:nvPr/>
        </p:nvSpPr>
        <p:spPr>
          <a:xfrm>
            <a:off x="1144587" y="185737"/>
            <a:ext cx="39179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Ejemplo: Stack MEAN</a:t>
            </a:r>
            <a:endParaRPr/>
          </a:p>
        </p:txBody>
      </p:sp>
      <p:cxnSp>
        <p:nvCxnSpPr>
          <p:cNvPr id="261" name="Google Shape;261;p10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62" name="Google Shape;262;p10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10/29</a:t>
            </a:r>
            <a:endParaRPr/>
          </a:p>
        </p:txBody>
      </p:sp>
      <p:sp>
        <p:nvSpPr>
          <p:cNvPr id="265" name="Google Shape;265;p10"/>
          <p:cNvSpPr txBox="1"/>
          <p:nvPr/>
        </p:nvSpPr>
        <p:spPr>
          <a:xfrm>
            <a:off x="609600" y="1065212"/>
            <a:ext cx="8062912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MEAN corresponde a desarrollo full-stack en JavaScript.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Utiliza herramientas open source.</a:t>
            </a:r>
            <a:endParaRPr/>
          </a:p>
        </p:txBody>
      </p:sp>
      <p:sp>
        <p:nvSpPr>
          <p:cNvPr id="266" name="Google Shape;266;p10"/>
          <p:cNvSpPr txBox="1"/>
          <p:nvPr/>
        </p:nvSpPr>
        <p:spPr>
          <a:xfrm>
            <a:off x="962025" y="2147887"/>
            <a:ext cx="1528762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/>
          </a:p>
        </p:txBody>
      </p:sp>
      <p:sp>
        <p:nvSpPr>
          <p:cNvPr id="267" name="Google Shape;267;p10"/>
          <p:cNvSpPr txBox="1"/>
          <p:nvPr/>
        </p:nvSpPr>
        <p:spPr>
          <a:xfrm>
            <a:off x="2697162" y="2152650"/>
            <a:ext cx="168592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Framework Web</a:t>
            </a:r>
            <a:endParaRPr/>
          </a:p>
        </p:txBody>
      </p:sp>
      <p:sp>
        <p:nvSpPr>
          <p:cNvPr id="268" name="Google Shape;268;p10"/>
          <p:cNvSpPr txBox="1"/>
          <p:nvPr/>
        </p:nvSpPr>
        <p:spPr>
          <a:xfrm>
            <a:off x="4457700" y="2162175"/>
            <a:ext cx="2195512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Framework FrontEnd</a:t>
            </a:r>
            <a:endParaRPr/>
          </a:p>
        </p:txBody>
      </p:sp>
      <p:sp>
        <p:nvSpPr>
          <p:cNvPr id="269" name="Google Shape;269;p10"/>
          <p:cNvSpPr txBox="1"/>
          <p:nvPr/>
        </p:nvSpPr>
        <p:spPr>
          <a:xfrm>
            <a:off x="6759575" y="2171700"/>
            <a:ext cx="14224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Servidor Web</a:t>
            </a:r>
            <a:endParaRPr/>
          </a:p>
        </p:txBody>
      </p:sp>
      <p:sp>
        <p:nvSpPr>
          <p:cNvPr id="270" name="Google Shape;270;p10"/>
          <p:cNvSpPr txBox="1"/>
          <p:nvPr/>
        </p:nvSpPr>
        <p:spPr>
          <a:xfrm>
            <a:off x="5857875" y="4071937"/>
            <a:ext cx="244475" cy="33813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 txBox="1"/>
          <p:nvPr/>
        </p:nvSpPr>
        <p:spPr>
          <a:xfrm>
            <a:off x="898525" y="4410075"/>
            <a:ext cx="1579562" cy="8318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relacional</a:t>
            </a:r>
            <a:endParaRPr/>
          </a:p>
          <a:p>
            <a:pPr indent="-1000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62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Mucha flexibilidad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"/>
          <p:cNvSpPr txBox="1"/>
          <p:nvPr/>
        </p:nvSpPr>
        <p:spPr>
          <a:xfrm>
            <a:off x="2676525" y="4440237"/>
            <a:ext cx="1579562" cy="1200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 simple</a:t>
            </a:r>
            <a:endParaRPr/>
          </a:p>
          <a:p>
            <a:pPr indent="-1000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62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Estructura MVC</a:t>
            </a:r>
            <a:endParaRPr/>
          </a:p>
          <a:p>
            <a:pPr indent="-1000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00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4256087" y="4440237"/>
            <a:ext cx="2401887" cy="1200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Puente entre la vista y lógica de negocio</a:t>
            </a:r>
            <a:endParaRPr/>
          </a:p>
          <a:p>
            <a:pPr indent="-1000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62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Soporte para Pruebas de unidad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6673850" y="4440237"/>
            <a:ext cx="1785937" cy="101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Altamente extensible</a:t>
            </a:r>
            <a:endParaRPr/>
          </a:p>
          <a:p>
            <a:pPr indent="-1000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62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Rápido y escalable</a:t>
            </a:r>
            <a:endParaRPr/>
          </a:p>
          <a:p>
            <a:pPr indent="-100012" lvl="0" marL="176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280" name="Google Shape;280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1"/>
          <p:cNvSpPr txBox="1"/>
          <p:nvPr/>
        </p:nvSpPr>
        <p:spPr>
          <a:xfrm>
            <a:off x="1144587" y="185737"/>
            <a:ext cx="37417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¿Qué es JavaScript?</a:t>
            </a:r>
            <a:endParaRPr/>
          </a:p>
        </p:txBody>
      </p:sp>
      <p:cxnSp>
        <p:nvCxnSpPr>
          <p:cNvPr id="282" name="Google Shape;282;p11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3" name="Google Shape;283;p11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11/29</a:t>
            </a:r>
            <a:endParaRPr/>
          </a:p>
        </p:txBody>
      </p:sp>
      <p:sp>
        <p:nvSpPr>
          <p:cNvPr id="285" name="Google Shape;285;p11"/>
          <p:cNvSpPr txBox="1"/>
          <p:nvPr/>
        </p:nvSpPr>
        <p:spPr>
          <a:xfrm>
            <a:off x="627062" y="1898650"/>
            <a:ext cx="8105775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Creado en 1995 por Netscape y Sun Microsystems.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lenguaje interpretado orientado al frontend.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JavaScript no tiene nada que ver con Java.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Hay 2 tipos:</a:t>
            </a:r>
            <a:endParaRPr/>
          </a:p>
          <a:p>
            <a:pPr indent="-28575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que se ejecuta en el cliente: Navigator JavaScript</a:t>
            </a:r>
            <a:endParaRPr/>
          </a:p>
          <a:p>
            <a:pPr indent="-285750" lvl="1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que se ejecuta en el servidor: LiveWire Javascript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Hoy es el motor de las aplicaciones más conocidas en el ámbito de Internet: Google, Facebook, Twitter, Outlook.</a:t>
            </a:r>
            <a:endParaRPr/>
          </a:p>
        </p:txBody>
      </p:sp>
      <p:pic>
        <p:nvPicPr>
          <p:cNvPr descr="Resultado de imagen para javascript logo" id="286" name="Google Shape;286;p11"/>
          <p:cNvPicPr preferRelativeResize="0"/>
          <p:nvPr/>
        </p:nvPicPr>
        <p:blipFill rotWithShape="1">
          <a:blip r:embed="rId4">
            <a:alphaModFix/>
          </a:blip>
          <a:srcRect b="11329" l="0" r="0" t="6274"/>
          <a:stretch/>
        </p:blipFill>
        <p:spPr>
          <a:xfrm>
            <a:off x="7172325" y="1165225"/>
            <a:ext cx="1531937" cy="126206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1"/>
          <p:cNvSpPr txBox="1"/>
          <p:nvPr/>
        </p:nvSpPr>
        <p:spPr>
          <a:xfrm>
            <a:off x="627062" y="1165225"/>
            <a:ext cx="700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JavaScript es un lenguaje de programación que permite realizar actividades complejas en una página web.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293" name="Google Shape;293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2"/>
          <p:cNvSpPr txBox="1"/>
          <p:nvPr/>
        </p:nvSpPr>
        <p:spPr>
          <a:xfrm>
            <a:off x="1144587" y="185737"/>
            <a:ext cx="43402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Evolución de JavaScript</a:t>
            </a:r>
            <a:endParaRPr/>
          </a:p>
        </p:txBody>
      </p:sp>
      <p:cxnSp>
        <p:nvCxnSpPr>
          <p:cNvPr id="295" name="Google Shape;295;p1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96" name="Google Shape;296;p12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2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12/29</a:t>
            </a:r>
            <a:endParaRPr/>
          </a:p>
        </p:txBody>
      </p:sp>
      <p:sp>
        <p:nvSpPr>
          <p:cNvPr id="298" name="Google Shape;298;p12"/>
          <p:cNvSpPr txBox="1"/>
          <p:nvPr/>
        </p:nvSpPr>
        <p:spPr>
          <a:xfrm>
            <a:off x="627062" y="1165225"/>
            <a:ext cx="82296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ECMA es el nombre de la </a:t>
            </a:r>
            <a:r>
              <a:rPr b="0" i="0" lang="en-US" sz="180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Asociación Europea de Fabricantes de Computadoras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una organización sin ánimo de lucro que regula el funcionamiento de muchos estándares de lenguajes de programación de la industria mundial.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Uno de estos estándares es el 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ECMA-262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conocido como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ECMAScript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JavaScript es una de las implementaciones del estándar ECMA-262.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Versiones del estándar liberadas:</a:t>
            </a:r>
            <a:endParaRPr/>
          </a:p>
        </p:txBody>
      </p:sp>
      <p:sp>
        <p:nvSpPr>
          <p:cNvPr id="299" name="Google Shape;299;p12"/>
          <p:cNvSpPr txBox="1"/>
          <p:nvPr/>
        </p:nvSpPr>
        <p:spPr>
          <a:xfrm>
            <a:off x="627062" y="5133975"/>
            <a:ext cx="12334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ECMAScript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300" name="Google Shape;300;p12"/>
          <p:cNvSpPr txBox="1"/>
          <p:nvPr/>
        </p:nvSpPr>
        <p:spPr>
          <a:xfrm>
            <a:off x="3530525" y="6140450"/>
            <a:ext cx="181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Open Sans"/>
              <a:buNone/>
            </a:pPr>
            <a:r>
              <a:rPr b="0" i="0" lang="en-US" sz="1400" u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Nunca vió la luz</a:t>
            </a:r>
            <a:endParaRPr/>
          </a:p>
        </p:txBody>
      </p:sp>
      <p:cxnSp>
        <p:nvCxnSpPr>
          <p:cNvPr id="301" name="Google Shape;301;p12"/>
          <p:cNvCxnSpPr/>
          <p:nvPr/>
        </p:nvCxnSpPr>
        <p:spPr>
          <a:xfrm>
            <a:off x="900112" y="4714875"/>
            <a:ext cx="7521575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02" name="Google Shape;302;p12"/>
          <p:cNvSpPr txBox="1"/>
          <p:nvPr/>
        </p:nvSpPr>
        <p:spPr>
          <a:xfrm>
            <a:off x="1879600" y="5154600"/>
            <a:ext cx="123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ECMAScript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303" name="Google Shape;303;p12"/>
          <p:cNvSpPr txBox="1"/>
          <p:nvPr/>
        </p:nvSpPr>
        <p:spPr>
          <a:xfrm>
            <a:off x="2141537" y="4816475"/>
            <a:ext cx="59372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1998</a:t>
            </a:r>
            <a:endParaRPr/>
          </a:p>
        </p:txBody>
      </p:sp>
      <p:sp>
        <p:nvSpPr>
          <p:cNvPr id="304" name="Google Shape;304;p12"/>
          <p:cNvSpPr txBox="1"/>
          <p:nvPr/>
        </p:nvSpPr>
        <p:spPr>
          <a:xfrm>
            <a:off x="3081324" y="5160950"/>
            <a:ext cx="123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ECMAScript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305" name="Google Shape;305;p12"/>
          <p:cNvSpPr txBox="1"/>
          <p:nvPr/>
        </p:nvSpPr>
        <p:spPr>
          <a:xfrm>
            <a:off x="3343275" y="4822825"/>
            <a:ext cx="5953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1999</a:t>
            </a:r>
            <a:endParaRPr/>
          </a:p>
        </p:txBody>
      </p:sp>
      <p:sp>
        <p:nvSpPr>
          <p:cNvPr id="306" name="Google Shape;306;p12"/>
          <p:cNvSpPr txBox="1"/>
          <p:nvPr/>
        </p:nvSpPr>
        <p:spPr>
          <a:xfrm>
            <a:off x="4484674" y="5165725"/>
            <a:ext cx="126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ECMAScript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4746625" y="4827587"/>
            <a:ext cx="5953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2009</a:t>
            </a:r>
            <a:endParaRPr/>
          </a:p>
        </p:txBody>
      </p:sp>
      <p:sp>
        <p:nvSpPr>
          <p:cNvPr id="308" name="Google Shape;308;p12"/>
          <p:cNvSpPr txBox="1"/>
          <p:nvPr/>
        </p:nvSpPr>
        <p:spPr>
          <a:xfrm>
            <a:off x="5407025" y="5532425"/>
            <a:ext cx="123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ECMAScript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5.1</a:t>
            </a:r>
            <a:endParaRPr/>
          </a:p>
        </p:txBody>
      </p:sp>
      <p:sp>
        <p:nvSpPr>
          <p:cNvPr id="309" name="Google Shape;309;p12"/>
          <p:cNvSpPr txBox="1"/>
          <p:nvPr/>
        </p:nvSpPr>
        <p:spPr>
          <a:xfrm>
            <a:off x="5668962" y="5194300"/>
            <a:ext cx="5953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2011</a:t>
            </a:r>
            <a:endParaRPr/>
          </a:p>
        </p:txBody>
      </p:sp>
      <p:sp>
        <p:nvSpPr>
          <p:cNvPr id="310" name="Google Shape;310;p12"/>
          <p:cNvSpPr txBox="1"/>
          <p:nvPr/>
        </p:nvSpPr>
        <p:spPr>
          <a:xfrm>
            <a:off x="6264275" y="5153025"/>
            <a:ext cx="126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ECMAScript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6526212" y="4814887"/>
            <a:ext cx="595312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2015</a:t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7473950" y="5160962"/>
            <a:ext cx="12128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ECMAScript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7750175" y="4822825"/>
            <a:ext cx="5953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2020</a:t>
            </a:r>
            <a:endParaRPr/>
          </a:p>
        </p:txBody>
      </p:sp>
      <p:cxnSp>
        <p:nvCxnSpPr>
          <p:cNvPr id="314" name="Google Shape;314;p12"/>
          <p:cNvCxnSpPr/>
          <p:nvPr/>
        </p:nvCxnSpPr>
        <p:spPr>
          <a:xfrm rot="10800000">
            <a:off x="1206500" y="4530725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5" name="Google Shape;315;p12"/>
          <p:cNvCxnSpPr/>
          <p:nvPr/>
        </p:nvCxnSpPr>
        <p:spPr>
          <a:xfrm rot="10800000">
            <a:off x="2430462" y="4530725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6" name="Google Shape;316;p12"/>
          <p:cNvCxnSpPr/>
          <p:nvPr/>
        </p:nvCxnSpPr>
        <p:spPr>
          <a:xfrm rot="10800000">
            <a:off x="3654425" y="4549775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7" name="Google Shape;317;p12"/>
          <p:cNvCxnSpPr/>
          <p:nvPr/>
        </p:nvCxnSpPr>
        <p:spPr>
          <a:xfrm rot="10800000">
            <a:off x="5062537" y="4530725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8" name="Google Shape;318;p12"/>
          <p:cNvCxnSpPr/>
          <p:nvPr/>
        </p:nvCxnSpPr>
        <p:spPr>
          <a:xfrm rot="10800000">
            <a:off x="6835775" y="4530725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9" name="Google Shape;319;p12"/>
          <p:cNvCxnSpPr/>
          <p:nvPr/>
        </p:nvCxnSpPr>
        <p:spPr>
          <a:xfrm rot="10800000">
            <a:off x="8059737" y="4530725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0" name="Google Shape;320;p12"/>
          <p:cNvCxnSpPr/>
          <p:nvPr/>
        </p:nvCxnSpPr>
        <p:spPr>
          <a:xfrm rot="10800000">
            <a:off x="5919787" y="4487862"/>
            <a:ext cx="0" cy="7159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1" name="Google Shape;321;p12"/>
          <p:cNvCxnSpPr/>
          <p:nvPr/>
        </p:nvCxnSpPr>
        <p:spPr>
          <a:xfrm rot="10800000">
            <a:off x="4327525" y="4468812"/>
            <a:ext cx="0" cy="1189037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22" name="Google Shape;322;p12"/>
          <p:cNvSpPr txBox="1"/>
          <p:nvPr/>
        </p:nvSpPr>
        <p:spPr>
          <a:xfrm>
            <a:off x="3786174" y="5657850"/>
            <a:ext cx="123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ECMAScript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/>
          </a:p>
        </p:txBody>
      </p:sp>
      <p:sp>
        <p:nvSpPr>
          <p:cNvPr id="323" name="Google Shape;323;p12"/>
          <p:cNvSpPr txBox="1"/>
          <p:nvPr/>
        </p:nvSpPr>
        <p:spPr>
          <a:xfrm>
            <a:off x="925512" y="4832350"/>
            <a:ext cx="595312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1997</a:t>
            </a:r>
            <a:endParaRPr/>
          </a:p>
        </p:txBody>
      </p:sp>
      <p:cxnSp>
        <p:nvCxnSpPr>
          <p:cNvPr id="324" name="Google Shape;324;p12"/>
          <p:cNvCxnSpPr/>
          <p:nvPr/>
        </p:nvCxnSpPr>
        <p:spPr>
          <a:xfrm>
            <a:off x="8459787" y="4714875"/>
            <a:ext cx="3302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5" name="Google Shape;325;p12"/>
          <p:cNvCxnSpPr/>
          <p:nvPr/>
        </p:nvCxnSpPr>
        <p:spPr>
          <a:xfrm>
            <a:off x="7358062" y="4959350"/>
            <a:ext cx="330200" cy="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331" name="Google Shape;331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3"/>
          <p:cNvSpPr txBox="1"/>
          <p:nvPr/>
        </p:nvSpPr>
        <p:spPr>
          <a:xfrm>
            <a:off x="1144587" y="185737"/>
            <a:ext cx="72755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Modelo de Objetos del Documento (DOM)</a:t>
            </a:r>
            <a:endParaRPr/>
          </a:p>
        </p:txBody>
      </p:sp>
      <p:cxnSp>
        <p:nvCxnSpPr>
          <p:cNvPr id="333" name="Google Shape;333;p1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34" name="Google Shape;334;p13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13/29</a:t>
            </a:r>
            <a:endParaRPr/>
          </a:p>
        </p:txBody>
      </p:sp>
      <p:sp>
        <p:nvSpPr>
          <p:cNvPr id="336" name="Google Shape;336;p13"/>
          <p:cNvSpPr txBox="1"/>
          <p:nvPr/>
        </p:nvSpPr>
        <p:spPr>
          <a:xfrm>
            <a:off x="627062" y="1165225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una API para documentos HTML y XML.</a:t>
            </a:r>
            <a:endParaRPr/>
          </a:p>
        </p:txBody>
      </p:sp>
      <p:sp>
        <p:nvSpPr>
          <p:cNvPr id="337" name="Google Shape;337;p13"/>
          <p:cNvSpPr txBox="1"/>
          <p:nvPr/>
        </p:nvSpPr>
        <p:spPr>
          <a:xfrm>
            <a:off x="627062" y="1635125"/>
            <a:ext cx="810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la estructura lógica de los documentos y el modo en que se acceden y manipulan.</a:t>
            </a:r>
            <a:endParaRPr/>
          </a:p>
        </p:txBody>
      </p:sp>
      <p:sp>
        <p:nvSpPr>
          <p:cNvPr id="338" name="Google Shape;338;p13"/>
          <p:cNvSpPr txBox="1"/>
          <p:nvPr/>
        </p:nvSpPr>
        <p:spPr>
          <a:xfrm>
            <a:off x="642937" y="2420937"/>
            <a:ext cx="166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/>
          </a:p>
        </p:txBody>
      </p:sp>
      <p:sp>
        <p:nvSpPr>
          <p:cNvPr id="339" name="Google Shape;339;p13"/>
          <p:cNvSpPr txBox="1"/>
          <p:nvPr/>
        </p:nvSpPr>
        <p:spPr>
          <a:xfrm>
            <a:off x="900112" y="3068637"/>
            <a:ext cx="2203450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Aunque tiene forma de jerárquica, el DOM no especifica que los documentos deban ser implementados como un árbol o un bosque,</a:t>
            </a:r>
            <a:endParaRPr/>
          </a:p>
        </p:txBody>
      </p:sp>
      <p:pic>
        <p:nvPicPr>
          <p:cNvPr descr="Resultado de imagen para que es el dom web" id="340" name="Google Shape;34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100" y="2752725"/>
            <a:ext cx="5337175" cy="340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3"/>
          <p:cNvSpPr txBox="1"/>
          <p:nvPr/>
        </p:nvSpPr>
        <p:spPr>
          <a:xfrm>
            <a:off x="5946775" y="1146175"/>
            <a:ext cx="29702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(Document Object Model)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347" name="Google Shape;347;p1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4"/>
          <p:cNvSpPr txBox="1"/>
          <p:nvPr/>
        </p:nvSpPr>
        <p:spPr>
          <a:xfrm>
            <a:off x="1144587" y="185737"/>
            <a:ext cx="15462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jQUERY</a:t>
            </a:r>
            <a:endParaRPr/>
          </a:p>
        </p:txBody>
      </p:sp>
      <p:cxnSp>
        <p:nvCxnSpPr>
          <p:cNvPr id="349" name="Google Shape;349;p1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50" name="Google Shape;350;p14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14/29</a:t>
            </a:r>
            <a:endParaRPr/>
          </a:p>
        </p:txBody>
      </p:sp>
      <p:pic>
        <p:nvPicPr>
          <p:cNvPr descr="Resultado de imagen para que es jquery" id="352" name="Google Shape;35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5100" y="1295400"/>
            <a:ext cx="3532187" cy="992187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4"/>
          <p:cNvSpPr txBox="1"/>
          <p:nvPr/>
        </p:nvSpPr>
        <p:spPr>
          <a:xfrm>
            <a:off x="627062" y="1287462"/>
            <a:ext cx="4618037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una biblioteca multiplataforma de JavaScript.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simplificar la manera de interactuar con los documentos HTML.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Facilita la manera de manipular el árbol DOM: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manejar eventos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animaciones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interacción AJAX</a:t>
            </a:r>
            <a:endParaRPr/>
          </a:p>
        </p:txBody>
      </p:sp>
      <p:pic>
        <p:nvPicPr>
          <p:cNvPr id="354" name="Google Shape;354;p14"/>
          <p:cNvPicPr preferRelativeResize="0"/>
          <p:nvPr/>
        </p:nvPicPr>
        <p:blipFill rotWithShape="1">
          <a:blip r:embed="rId5">
            <a:alphaModFix/>
          </a:blip>
          <a:srcRect b="0" l="0" r="1461" t="0"/>
          <a:stretch/>
        </p:blipFill>
        <p:spPr>
          <a:xfrm>
            <a:off x="4656137" y="3290887"/>
            <a:ext cx="4070350" cy="246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4"/>
          <p:cNvSpPr txBox="1"/>
          <p:nvPr/>
        </p:nvSpPr>
        <p:spPr>
          <a:xfrm>
            <a:off x="8459787" y="3290887"/>
            <a:ext cx="396875" cy="3222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5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361" name="Google Shape;361;p1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5"/>
          <p:cNvSpPr txBox="1"/>
          <p:nvPr/>
        </p:nvSpPr>
        <p:spPr>
          <a:xfrm>
            <a:off x="1144587" y="185737"/>
            <a:ext cx="1143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AJAX</a:t>
            </a:r>
            <a:endParaRPr/>
          </a:p>
        </p:txBody>
      </p:sp>
      <p:cxnSp>
        <p:nvCxnSpPr>
          <p:cNvPr id="363" name="Google Shape;363;p1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64" name="Google Shape;364;p15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5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15/29</a:t>
            </a:r>
            <a:endParaRPr/>
          </a:p>
        </p:txBody>
      </p:sp>
      <p:sp>
        <p:nvSpPr>
          <p:cNvPr id="366" name="Google Shape;366;p15"/>
          <p:cNvSpPr txBox="1"/>
          <p:nvPr/>
        </p:nvSpPr>
        <p:spPr>
          <a:xfrm>
            <a:off x="627062" y="1287462"/>
            <a:ext cx="553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Acrónimo de </a:t>
            </a:r>
            <a:r>
              <a:rPr b="0" i="0" lang="en-US" sz="180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Asynchronous JavaScript And XML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67" name="Google Shape;367;p15"/>
          <p:cNvSpPr txBox="1"/>
          <p:nvPr/>
        </p:nvSpPr>
        <p:spPr>
          <a:xfrm>
            <a:off x="8459787" y="3290887"/>
            <a:ext cx="396875" cy="3222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que es ajax" id="368" name="Google Shape;3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712" y="1144587"/>
            <a:ext cx="2584450" cy="123983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5"/>
          <p:cNvSpPr txBox="1"/>
          <p:nvPr/>
        </p:nvSpPr>
        <p:spPr>
          <a:xfrm>
            <a:off x="627062" y="1898650"/>
            <a:ext cx="541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es ninguna tecnología, ni lenguaje de programación.</a:t>
            </a:r>
            <a:endParaRPr/>
          </a:p>
        </p:txBody>
      </p:sp>
      <p:sp>
        <p:nvSpPr>
          <p:cNvPr id="370" name="Google Shape;370;p15"/>
          <p:cNvSpPr txBox="1"/>
          <p:nvPr/>
        </p:nvSpPr>
        <p:spPr>
          <a:xfrm>
            <a:off x="566737" y="4921250"/>
            <a:ext cx="3516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Difícil programar y mantener los programas - Se recomienda usar un “Framework AJAX”</a:t>
            </a:r>
            <a:endParaRPr/>
          </a:p>
        </p:txBody>
      </p:sp>
      <p:sp>
        <p:nvSpPr>
          <p:cNvPr id="371" name="Google Shape;371;p15"/>
          <p:cNvSpPr txBox="1"/>
          <p:nvPr/>
        </p:nvSpPr>
        <p:spPr>
          <a:xfrm>
            <a:off x="600075" y="2776537"/>
            <a:ext cx="36654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una técnica de desarrollo web que combina varias tecnologías.</a:t>
            </a:r>
            <a:endParaRPr/>
          </a:p>
          <a:p>
            <a:pPr indent="-2286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una navegación más ágil y rápida, más dinámica.</a:t>
            </a:r>
            <a:endParaRPr/>
          </a:p>
        </p:txBody>
      </p:sp>
      <p:pic>
        <p:nvPicPr>
          <p:cNvPr descr="USO DE AJAX EN EL DESARROLLO DE APLICACIONES WEB CON JAVA Y PHP" id="372" name="Google Shape;372;p15"/>
          <p:cNvPicPr preferRelativeResize="0"/>
          <p:nvPr/>
        </p:nvPicPr>
        <p:blipFill rotWithShape="1">
          <a:blip r:embed="rId5">
            <a:alphaModFix/>
          </a:blip>
          <a:srcRect b="8451" l="0" r="0" t="18392"/>
          <a:stretch/>
        </p:blipFill>
        <p:spPr>
          <a:xfrm>
            <a:off x="3981450" y="2890837"/>
            <a:ext cx="5057775" cy="28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378" name="Google Shape;378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6"/>
          <p:cNvSpPr txBox="1"/>
          <p:nvPr/>
        </p:nvSpPr>
        <p:spPr>
          <a:xfrm>
            <a:off x="1144587" y="185737"/>
            <a:ext cx="41608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son las Cookies?</a:t>
            </a:r>
            <a:endParaRPr/>
          </a:p>
        </p:txBody>
      </p:sp>
      <p:cxnSp>
        <p:nvCxnSpPr>
          <p:cNvPr id="380" name="Google Shape;380;p1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81" name="Google Shape;381;p16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6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16/29</a:t>
            </a:r>
            <a:endParaRPr/>
          </a:p>
        </p:txBody>
      </p:sp>
      <p:pic>
        <p:nvPicPr>
          <p:cNvPr descr="Resultado de imagen para cookies" id="383" name="Google Shape;383;p16"/>
          <p:cNvPicPr preferRelativeResize="0"/>
          <p:nvPr/>
        </p:nvPicPr>
        <p:blipFill rotWithShape="1">
          <a:blip r:embed="rId4">
            <a:alphaModFix/>
          </a:blip>
          <a:srcRect b="18772" l="19212" r="14527" t="17939"/>
          <a:stretch/>
        </p:blipFill>
        <p:spPr>
          <a:xfrm>
            <a:off x="6653212" y="1249362"/>
            <a:ext cx="2347912" cy="1682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6"/>
          <p:cNvSpPr txBox="1"/>
          <p:nvPr/>
        </p:nvSpPr>
        <p:spPr>
          <a:xfrm>
            <a:off x="627062" y="1287462"/>
            <a:ext cx="5964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Fueron creadas en 1994.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Son un paquete de datos que un navegador web almacena en un computador.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cookie es enviada al cliente por el servidor.</a:t>
            </a: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627062" y="3954462"/>
            <a:ext cx="65151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Son necesarias debido a que el protocolo HTTP no almacena el estado y por esto las cookies si pueden guardar el historial de peticiones realizadas (ej: carrito de compras).</a:t>
            </a:r>
            <a:endParaRPr/>
          </a:p>
        </p:txBody>
      </p:sp>
      <p:pic>
        <p:nvPicPr>
          <p:cNvPr descr="Resultado de imagen para carro de compra" id="386" name="Google Shape;3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3937" y="3954462"/>
            <a:ext cx="906462" cy="107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6"/>
          <p:cNvSpPr txBox="1"/>
          <p:nvPr/>
        </p:nvSpPr>
        <p:spPr>
          <a:xfrm>
            <a:off x="627062" y="5233987"/>
            <a:ext cx="7923212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Hoy en día se utilizan para almacenar preferencias de usuario como el idioma, la sesión. También existen las tracking cookies para realizar seguimiento de la navegación entre sitios web.</a:t>
            </a:r>
            <a:endParaRPr/>
          </a:p>
        </p:txBody>
      </p:sp>
      <p:sp>
        <p:nvSpPr>
          <p:cNvPr id="388" name="Google Shape;388;p16"/>
          <p:cNvSpPr txBox="1"/>
          <p:nvPr/>
        </p:nvSpPr>
        <p:spPr>
          <a:xfrm>
            <a:off x="627062" y="3160712"/>
            <a:ext cx="807878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se pueden utilizar para ejecutar código de ningún tipo. Si pueden ser utilizadas para realizar un seguimiento de las actividades del usuario.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394" name="Google Shape;394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7"/>
          <p:cNvSpPr txBox="1"/>
          <p:nvPr/>
        </p:nvSpPr>
        <p:spPr>
          <a:xfrm>
            <a:off x="1144587" y="185737"/>
            <a:ext cx="58562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¿Cómo funcionan las Cookies?...</a:t>
            </a:r>
            <a:endParaRPr/>
          </a:p>
        </p:txBody>
      </p:sp>
      <p:cxnSp>
        <p:nvCxnSpPr>
          <p:cNvPr id="396" name="Google Shape;396;p1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97" name="Google Shape;397;p17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7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17/29</a:t>
            </a:r>
            <a:endParaRPr/>
          </a:p>
        </p:txBody>
      </p:sp>
      <p:sp>
        <p:nvSpPr>
          <p:cNvPr id="399" name="Google Shape;399;p17"/>
          <p:cNvSpPr txBox="1"/>
          <p:nvPr/>
        </p:nvSpPr>
        <p:spPr>
          <a:xfrm>
            <a:off x="627062" y="1287462"/>
            <a:ext cx="5964237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Las cookies contienen lo siguiente: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 par clave/valor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 dominio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Una ruta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Una fecha de caducidad o máxima edad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Una marca de sólo conexión segura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Una marca de sólo HTTP</a:t>
            </a:r>
            <a:endParaRPr/>
          </a:p>
        </p:txBody>
      </p:sp>
      <p:sp>
        <p:nvSpPr>
          <p:cNvPr id="400" name="Google Shape;400;p17"/>
          <p:cNvSpPr txBox="1"/>
          <p:nvPr/>
        </p:nvSpPr>
        <p:spPr>
          <a:xfrm>
            <a:off x="627062" y="3551237"/>
            <a:ext cx="59642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 ejemplo de cookie es el siguiente:</a:t>
            </a:r>
            <a:endParaRPr/>
          </a:p>
        </p:txBody>
      </p:sp>
      <p:sp>
        <p:nvSpPr>
          <p:cNvPr id="401" name="Google Shape;401;p17"/>
          <p:cNvSpPr txBox="1"/>
          <p:nvPr/>
        </p:nvSpPr>
        <p:spPr>
          <a:xfrm>
            <a:off x="1292225" y="4173537"/>
            <a:ext cx="7526337" cy="175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Set-Cookie: ID=Gehwvyyb%20pnchyyb;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           Domain=docs.foo.com;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           Path=/privado;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           Expires=Wed, 13-Jan-2021 22:23:01 GMT;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           Secure;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           HttpOnly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8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407" name="Google Shape;407;p1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8"/>
          <p:cNvSpPr txBox="1"/>
          <p:nvPr/>
        </p:nvSpPr>
        <p:spPr>
          <a:xfrm>
            <a:off x="1144587" y="185737"/>
            <a:ext cx="60388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JSON - Javascript Object Notation</a:t>
            </a:r>
            <a:endParaRPr/>
          </a:p>
        </p:txBody>
      </p:sp>
      <p:cxnSp>
        <p:nvCxnSpPr>
          <p:cNvPr id="409" name="Google Shape;409;p1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10" name="Google Shape;410;p18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8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18/29</a:t>
            </a:r>
            <a:endParaRPr/>
          </a:p>
        </p:txBody>
      </p:sp>
      <p:sp>
        <p:nvSpPr>
          <p:cNvPr id="412" name="Google Shape;412;p18"/>
          <p:cNvSpPr txBox="1"/>
          <p:nvPr/>
        </p:nvSpPr>
        <p:spPr>
          <a:xfrm>
            <a:off x="571500" y="2420937"/>
            <a:ext cx="8172450" cy="352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JSON está siendo usado ampliamente en la actualidad. </a:t>
            </a:r>
            <a:endParaRPr/>
          </a:p>
          <a:p>
            <a:pPr indent="-22987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680"/>
              <a:buFont typeface="Noto Sans Symbols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 la ayuda del AJAX las aplicaciones de internet intercambian este tipo de mensajes con el servidor.</a:t>
            </a:r>
            <a:endParaRPr/>
          </a:p>
          <a:p>
            <a:pPr indent="-22987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680"/>
              <a:buFont typeface="Noto Sans Symbols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/>
          </a:p>
          <a:p>
            <a:pPr indent="-22987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680"/>
              <a:buFont typeface="Noto Sans Symbols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Sencillez de uso. </a:t>
            </a:r>
            <a:endParaRPr/>
          </a:p>
          <a:p>
            <a:pPr indent="-22987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680"/>
              <a:buFont typeface="Noto Sans Symbols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Buen rendimiento. Se han hecho comparativas entre el uso con JSON y con XML y el primero obtiene mejores tiempos en su procesamiento.</a:t>
            </a:r>
            <a:endParaRPr/>
          </a:p>
        </p:txBody>
      </p:sp>
      <p:pic>
        <p:nvPicPr>
          <p:cNvPr descr="Imagen relacionada" id="413" name="Google Shape;413;p18"/>
          <p:cNvPicPr preferRelativeResize="0"/>
          <p:nvPr/>
        </p:nvPicPr>
        <p:blipFill rotWithShape="1">
          <a:blip r:embed="rId4">
            <a:alphaModFix/>
          </a:blip>
          <a:srcRect b="36032" l="0" r="0" t="35386"/>
          <a:stretch/>
        </p:blipFill>
        <p:spPr>
          <a:xfrm>
            <a:off x="5608637" y="1284287"/>
            <a:ext cx="3101975" cy="887412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8"/>
          <p:cNvSpPr txBox="1"/>
          <p:nvPr/>
        </p:nvSpPr>
        <p:spPr>
          <a:xfrm>
            <a:off x="571500" y="1273175"/>
            <a:ext cx="5037137" cy="1008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formato ligero de intercambio de datos (hecho en javascript) que viene a sustituir al XML.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9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420" name="Google Shape;420;p1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1" name="Google Shape;421;p1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22" name="Google Shape;422;p19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9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19/29</a:t>
            </a:r>
            <a:endParaRPr/>
          </a:p>
        </p:txBody>
      </p:sp>
      <p:sp>
        <p:nvSpPr>
          <p:cNvPr id="424" name="Google Shape;424;p19"/>
          <p:cNvSpPr txBox="1"/>
          <p:nvPr/>
        </p:nvSpPr>
        <p:spPr>
          <a:xfrm>
            <a:off x="571500" y="1341437"/>
            <a:ext cx="8177212" cy="486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¿CUÁLES SON SUS USOS?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igual que XML, sirve para modelar y presentar datos.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 combinar con todo tipo de aplicaciones como: lectores RSS, Widgets de WordPress, Mods de Joomla, Gadgets y Badges en diferentes aplicaciones y servidores.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ESTRUCTURA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</a:rPr>
              <a:t>Está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constituido por dos estructuras perfectamente válidas en cualquier lenguaje de programación: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colección de pares nombre / valor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lista ordenada de valores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9"/>
          <p:cNvSpPr txBox="1"/>
          <p:nvPr/>
        </p:nvSpPr>
        <p:spPr>
          <a:xfrm>
            <a:off x="1144587" y="185737"/>
            <a:ext cx="63373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JSON - Javascript Object Notation…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431" name="Google Shape;431;p2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0"/>
          <p:cNvSpPr txBox="1"/>
          <p:nvPr/>
        </p:nvSpPr>
        <p:spPr>
          <a:xfrm>
            <a:off x="1144587" y="185737"/>
            <a:ext cx="74787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JSON - JAVASCRIPT OBJECT NOTATION…</a:t>
            </a:r>
            <a:endParaRPr/>
          </a:p>
        </p:txBody>
      </p:sp>
      <p:cxnSp>
        <p:nvCxnSpPr>
          <p:cNvPr id="433" name="Google Shape;433;p20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34" name="Google Shape;434;p20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0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20/29</a:t>
            </a:r>
            <a:endParaRPr/>
          </a:p>
        </p:txBody>
      </p:sp>
      <p:sp>
        <p:nvSpPr>
          <p:cNvPr id="436" name="Google Shape;436;p20"/>
          <p:cNvSpPr txBox="1"/>
          <p:nvPr/>
        </p:nvSpPr>
        <p:spPr>
          <a:xfrm>
            <a:off x="571500" y="1341437"/>
            <a:ext cx="8177212" cy="5097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de automóviles</a:t>
            </a:r>
            <a:endParaRPr b="1" i="0" sz="18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{"autos":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[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{"auto":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{"id":"1",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"marca":"Ford"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{"auto":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{"id":"2",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"marca":"Seat"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437" name="Google Shape;437;p20"/>
          <p:cNvSpPr/>
          <p:nvPr/>
        </p:nvSpPr>
        <p:spPr>
          <a:xfrm>
            <a:off x="3492500" y="2557462"/>
            <a:ext cx="574675" cy="1592262"/>
          </a:xfrm>
          <a:prstGeom prst="rightBrace">
            <a:avLst>
              <a:gd fmla="val 65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3492500" y="4149725"/>
            <a:ext cx="574675" cy="1582737"/>
          </a:xfrm>
          <a:prstGeom prst="rightBrace">
            <a:avLst>
              <a:gd fmla="val 654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0"/>
          <p:cNvSpPr txBox="1"/>
          <p:nvPr/>
        </p:nvSpPr>
        <p:spPr>
          <a:xfrm>
            <a:off x="4211637" y="3065462"/>
            <a:ext cx="1223962" cy="576262"/>
          </a:xfrm>
          <a:prstGeom prst="rect">
            <a:avLst/>
          </a:prstGeom>
          <a:solidFill>
            <a:srgbClr val="DEEBF7"/>
          </a:solidFill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Objeto auto</a:t>
            </a:r>
            <a:endParaRPr/>
          </a:p>
        </p:txBody>
      </p:sp>
      <p:sp>
        <p:nvSpPr>
          <p:cNvPr id="440" name="Google Shape;440;p20"/>
          <p:cNvSpPr txBox="1"/>
          <p:nvPr/>
        </p:nvSpPr>
        <p:spPr>
          <a:xfrm>
            <a:off x="1116012" y="2557462"/>
            <a:ext cx="2232025" cy="1592262"/>
          </a:xfrm>
          <a:prstGeom prst="rect">
            <a:avLst/>
          </a:prstGeom>
          <a:noFill/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0"/>
          <p:cNvSpPr txBox="1"/>
          <p:nvPr/>
        </p:nvSpPr>
        <p:spPr>
          <a:xfrm>
            <a:off x="1116012" y="4149725"/>
            <a:ext cx="2232025" cy="1590675"/>
          </a:xfrm>
          <a:prstGeom prst="rect">
            <a:avLst/>
          </a:prstGeom>
          <a:noFill/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0"/>
          <p:cNvSpPr txBox="1"/>
          <p:nvPr/>
        </p:nvSpPr>
        <p:spPr>
          <a:xfrm>
            <a:off x="4211637" y="4656137"/>
            <a:ext cx="1223962" cy="576262"/>
          </a:xfrm>
          <a:prstGeom prst="rect">
            <a:avLst/>
          </a:prstGeom>
          <a:solidFill>
            <a:srgbClr val="DEEBF7"/>
          </a:solidFill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Objeto auto</a:t>
            </a:r>
            <a:endParaRPr/>
          </a:p>
        </p:txBody>
      </p:sp>
      <p:sp>
        <p:nvSpPr>
          <p:cNvPr id="443" name="Google Shape;443;p20"/>
          <p:cNvSpPr txBox="1"/>
          <p:nvPr/>
        </p:nvSpPr>
        <p:spPr>
          <a:xfrm>
            <a:off x="900112" y="2270125"/>
            <a:ext cx="4751387" cy="3822700"/>
          </a:xfrm>
          <a:prstGeom prst="rect">
            <a:avLst/>
          </a:prstGeom>
          <a:noFill/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0"/>
          <p:cNvSpPr txBox="1"/>
          <p:nvPr/>
        </p:nvSpPr>
        <p:spPr>
          <a:xfrm>
            <a:off x="5795962" y="2270125"/>
            <a:ext cx="1223962" cy="574675"/>
          </a:xfrm>
          <a:prstGeom prst="rect">
            <a:avLst/>
          </a:prstGeom>
          <a:solidFill>
            <a:srgbClr val="DEEBF7"/>
          </a:solidFill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Arreglo de autos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1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450" name="Google Shape;450;p2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1"/>
          <p:cNvSpPr txBox="1"/>
          <p:nvPr/>
        </p:nvSpPr>
        <p:spPr>
          <a:xfrm>
            <a:off x="1144587" y="185737"/>
            <a:ext cx="26336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¿Qué es SPA?</a:t>
            </a:r>
            <a:endParaRPr/>
          </a:p>
        </p:txBody>
      </p:sp>
      <p:cxnSp>
        <p:nvCxnSpPr>
          <p:cNvPr id="452" name="Google Shape;452;p21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53" name="Google Shape;453;p21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1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21/29</a:t>
            </a:r>
            <a:endParaRPr/>
          </a:p>
        </p:txBody>
      </p:sp>
      <p:sp>
        <p:nvSpPr>
          <p:cNvPr id="455" name="Google Shape;455;p21"/>
          <p:cNvSpPr txBox="1"/>
          <p:nvPr/>
        </p:nvSpPr>
        <p:spPr>
          <a:xfrm>
            <a:off x="627062" y="1165225"/>
            <a:ext cx="8105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Single Page Application, o SPA, son sitios web de una sola página web.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 una tendencia que tiene como </a:t>
            </a:r>
            <a:r>
              <a:rPr b="1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conseguir una </a:t>
            </a:r>
            <a:r>
              <a:rPr b="1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mejora importante en la experiencia de usuario</a:t>
            </a: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Mejorar los tiempos de espera o latencia entre vistas (similar a las aplicaciones nativas o de escritorio).</a:t>
            </a:r>
            <a:endParaRPr/>
          </a:p>
        </p:txBody>
      </p:sp>
      <p:pic>
        <p:nvPicPr>
          <p:cNvPr descr="Resultado de imagen para spa web app" id="456" name="Google Shape;456;p21"/>
          <p:cNvPicPr preferRelativeResize="0"/>
          <p:nvPr/>
        </p:nvPicPr>
        <p:blipFill rotWithShape="1">
          <a:blip r:embed="rId4">
            <a:alphaModFix/>
          </a:blip>
          <a:srcRect b="13911" l="0" r="0" t="10870"/>
          <a:stretch/>
        </p:blipFill>
        <p:spPr>
          <a:xfrm>
            <a:off x="533400" y="2632075"/>
            <a:ext cx="6346825" cy="354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ué es React y por qué se enseña en Desafío Latam? - Desafío Latam" id="457" name="Google Shape;457;p21"/>
          <p:cNvPicPr preferRelativeResize="0"/>
          <p:nvPr/>
        </p:nvPicPr>
        <p:blipFill rotWithShape="1">
          <a:blip r:embed="rId5">
            <a:alphaModFix/>
          </a:blip>
          <a:srcRect b="20962" l="0" r="0" t="17466"/>
          <a:stretch/>
        </p:blipFill>
        <p:spPr>
          <a:xfrm>
            <a:off x="7008812" y="2897187"/>
            <a:ext cx="1235075" cy="420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mo actualizar Angular-CLI de forma rápida y eficiente - DEV Community" id="458" name="Google Shape;458;p21"/>
          <p:cNvPicPr preferRelativeResize="0"/>
          <p:nvPr/>
        </p:nvPicPr>
        <p:blipFill rotWithShape="1">
          <a:blip r:embed="rId6">
            <a:alphaModFix/>
          </a:blip>
          <a:srcRect b="16947" l="0" r="0" t="17103"/>
          <a:stretch/>
        </p:blipFill>
        <p:spPr>
          <a:xfrm>
            <a:off x="7040562" y="3363912"/>
            <a:ext cx="1509712" cy="48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uejs: qué es y por qué usarlo | Arsys" id="459" name="Google Shape;459;p21"/>
          <p:cNvPicPr preferRelativeResize="0"/>
          <p:nvPr/>
        </p:nvPicPr>
        <p:blipFill rotWithShape="1">
          <a:blip r:embed="rId7">
            <a:alphaModFix/>
          </a:blip>
          <a:srcRect b="13728" l="16256" r="24049" t="20295"/>
          <a:stretch/>
        </p:blipFill>
        <p:spPr>
          <a:xfrm>
            <a:off x="7059612" y="3943350"/>
            <a:ext cx="1062037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er.js: El Framework para Desarrolladores Web Ambiciosos. Programación en  Castellano." id="460" name="Google Shape;460;p21"/>
          <p:cNvPicPr preferRelativeResize="0"/>
          <p:nvPr/>
        </p:nvPicPr>
        <p:blipFill rotWithShape="1">
          <a:blip r:embed="rId8">
            <a:alphaModFix/>
          </a:blip>
          <a:srcRect b="20353" l="7667" r="6158" t="12931"/>
          <a:stretch/>
        </p:blipFill>
        <p:spPr>
          <a:xfrm>
            <a:off x="7131050" y="4911725"/>
            <a:ext cx="1328737" cy="503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72325" y="4468812"/>
            <a:ext cx="1898650" cy="33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to fast track your SPRINTS with METEOR" id="462" name="Google Shape;462;p21"/>
          <p:cNvPicPr preferRelativeResize="0"/>
          <p:nvPr/>
        </p:nvPicPr>
        <p:blipFill rotWithShape="1">
          <a:blip r:embed="rId10">
            <a:alphaModFix/>
          </a:blip>
          <a:srcRect b="31330" l="8236" r="12251" t="17886"/>
          <a:stretch/>
        </p:blipFill>
        <p:spPr>
          <a:xfrm>
            <a:off x="7186612" y="5461000"/>
            <a:ext cx="1755775" cy="47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468" name="Google Shape;468;p2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2"/>
          <p:cNvSpPr txBox="1"/>
          <p:nvPr/>
        </p:nvSpPr>
        <p:spPr>
          <a:xfrm>
            <a:off x="1144587" y="185737"/>
            <a:ext cx="69326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Ciclos de vida en SPA y web tradicional</a:t>
            </a:r>
            <a:endParaRPr/>
          </a:p>
        </p:txBody>
      </p:sp>
      <p:cxnSp>
        <p:nvCxnSpPr>
          <p:cNvPr id="470" name="Google Shape;470;p2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71" name="Google Shape;471;p22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22/29</a:t>
            </a:r>
            <a:endParaRPr/>
          </a:p>
        </p:txBody>
      </p:sp>
      <p:pic>
        <p:nvPicPr>
          <p:cNvPr id="473" name="Google Shape;473;p22"/>
          <p:cNvPicPr preferRelativeResize="0"/>
          <p:nvPr/>
        </p:nvPicPr>
        <p:blipFill rotWithShape="1">
          <a:blip r:embed="rId4">
            <a:alphaModFix/>
          </a:blip>
          <a:srcRect b="8750" l="30899" r="4435" t="14901"/>
          <a:stretch/>
        </p:blipFill>
        <p:spPr>
          <a:xfrm>
            <a:off x="2189162" y="1409700"/>
            <a:ext cx="6543675" cy="4346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2"/>
          <p:cNvSpPr txBox="1"/>
          <p:nvPr/>
        </p:nvSpPr>
        <p:spPr>
          <a:xfrm>
            <a:off x="525462" y="2020887"/>
            <a:ext cx="1679575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Ciclo de vida de una aplicación web tradicional</a:t>
            </a: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525462" y="4308475"/>
            <a:ext cx="147637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Ciclo de vida de una SPA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3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481" name="Google Shape;481;p2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3"/>
          <p:cNvSpPr txBox="1"/>
          <p:nvPr/>
        </p:nvSpPr>
        <p:spPr>
          <a:xfrm>
            <a:off x="1144587" y="185737"/>
            <a:ext cx="34163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NodeJS?</a:t>
            </a:r>
            <a:endParaRPr/>
          </a:p>
        </p:txBody>
      </p:sp>
      <p:cxnSp>
        <p:nvCxnSpPr>
          <p:cNvPr id="483" name="Google Shape;483;p2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84" name="Google Shape;484;p23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3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23/29</a:t>
            </a:r>
            <a:endParaRPr/>
          </a:p>
        </p:txBody>
      </p:sp>
      <p:sp>
        <p:nvSpPr>
          <p:cNvPr id="486" name="Google Shape;486;p23"/>
          <p:cNvSpPr txBox="1"/>
          <p:nvPr/>
        </p:nvSpPr>
        <p:spPr>
          <a:xfrm>
            <a:off x="627062" y="1165225"/>
            <a:ext cx="62706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framework Javascript del lado del servidor, basado en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eventos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 por lo tanto,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asíncrono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87" name="Google Shape;487;p23"/>
          <p:cNvSpPr txBox="1"/>
          <p:nvPr/>
        </p:nvSpPr>
        <p:spPr>
          <a:xfrm>
            <a:off x="627062" y="2816225"/>
            <a:ext cx="64547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V8 compila Javascript en código de máquina nativo, en lugar de interpretarlo o ejecutarlo como bytecode.</a:t>
            </a:r>
            <a:endParaRPr/>
          </a:p>
        </p:txBody>
      </p:sp>
      <p:sp>
        <p:nvSpPr>
          <p:cNvPr id="488" name="Google Shape;488;p23"/>
          <p:cNvSpPr txBox="1"/>
          <p:nvPr/>
        </p:nvSpPr>
        <p:spPr>
          <a:xfrm>
            <a:off x="627062" y="3673475"/>
            <a:ext cx="81057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NodeJS es de código abierto, y se ejecuta en Mac OS X, Windows y Linux.</a:t>
            </a:r>
            <a:endParaRPr/>
          </a:p>
        </p:txBody>
      </p:sp>
      <p:sp>
        <p:nvSpPr>
          <p:cNvPr id="489" name="Google Shape;489;p23"/>
          <p:cNvSpPr txBox="1"/>
          <p:nvPr/>
        </p:nvSpPr>
        <p:spPr>
          <a:xfrm>
            <a:off x="627062" y="2020887"/>
            <a:ext cx="62706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 el motor V8, desarrollado por Google para uso de su navegador Chrome, logrando muy buen rendimiento.</a:t>
            </a:r>
            <a:endParaRPr/>
          </a:p>
        </p:txBody>
      </p:sp>
      <p:pic>
        <p:nvPicPr>
          <p:cNvPr descr="Resultado de imagen para node js logo" id="490" name="Google Shape;490;p23"/>
          <p:cNvPicPr preferRelativeResize="0"/>
          <p:nvPr/>
        </p:nvPicPr>
        <p:blipFill rotWithShape="1">
          <a:blip r:embed="rId4">
            <a:alphaModFix/>
          </a:blip>
          <a:srcRect b="6745" l="11650" r="11650" t="8569"/>
          <a:stretch/>
        </p:blipFill>
        <p:spPr>
          <a:xfrm>
            <a:off x="7004050" y="1165225"/>
            <a:ext cx="1765300" cy="19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4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496" name="Google Shape;496;p2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4"/>
          <p:cNvSpPr txBox="1"/>
          <p:nvPr/>
        </p:nvSpPr>
        <p:spPr>
          <a:xfrm>
            <a:off x="1144587" y="185737"/>
            <a:ext cx="53403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NPM - Node Package Manager</a:t>
            </a:r>
            <a:endParaRPr/>
          </a:p>
        </p:txBody>
      </p:sp>
      <p:cxnSp>
        <p:nvCxnSpPr>
          <p:cNvPr id="498" name="Google Shape;498;p2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99" name="Google Shape;499;p24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24/29</a:t>
            </a:r>
            <a:endParaRPr/>
          </a:p>
        </p:txBody>
      </p:sp>
      <p:pic>
        <p:nvPicPr>
          <p:cNvPr descr="Resultado de imagen para npm" id="501" name="Google Shape;50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6962" y="1136650"/>
            <a:ext cx="2592387" cy="100647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24"/>
          <p:cNvSpPr txBox="1"/>
          <p:nvPr/>
        </p:nvSpPr>
        <p:spPr>
          <a:xfrm>
            <a:off x="627062" y="1165225"/>
            <a:ext cx="54133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gestor de paquetes javascript.</a:t>
            </a:r>
            <a:endParaRPr/>
          </a:p>
        </p:txBody>
      </p:sp>
      <p:sp>
        <p:nvSpPr>
          <p:cNvPr id="503" name="Google Shape;503;p24"/>
          <p:cNvSpPr txBox="1"/>
          <p:nvPr/>
        </p:nvSpPr>
        <p:spPr>
          <a:xfrm>
            <a:off x="627062" y="2266950"/>
            <a:ext cx="55499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instalar casi cualquier librería disponible con tan solo 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línea de comando.</a:t>
            </a:r>
            <a:endParaRPr/>
          </a:p>
        </p:txBody>
      </p:sp>
      <p:sp>
        <p:nvSpPr>
          <p:cNvPr id="504" name="Google Shape;504;p24"/>
          <p:cNvSpPr txBox="1"/>
          <p:nvPr/>
        </p:nvSpPr>
        <p:spPr>
          <a:xfrm>
            <a:off x="627062" y="4073525"/>
            <a:ext cx="814228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NPM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utiliza el archivo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package.json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almacenar todos los datos relevantes a nuestra aplicación.</a:t>
            </a:r>
            <a:endParaRPr/>
          </a:p>
        </p:txBody>
      </p:sp>
      <p:sp>
        <p:nvSpPr>
          <p:cNvPr id="505" name="Google Shape;505;p24"/>
          <p:cNvSpPr txBox="1"/>
          <p:nvPr/>
        </p:nvSpPr>
        <p:spPr>
          <a:xfrm>
            <a:off x="627062" y="3117850"/>
            <a:ext cx="81057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npm nos ayudará a administrar nuestros módulos, distribuir paquetes y agregar dependencias de una manera sencilla.</a:t>
            </a:r>
            <a:endParaRPr/>
          </a:p>
        </p:txBody>
      </p:sp>
      <p:sp>
        <p:nvSpPr>
          <p:cNvPr id="506" name="Google Shape;506;p24"/>
          <p:cNvSpPr txBox="1"/>
          <p:nvPr/>
        </p:nvSpPr>
        <p:spPr>
          <a:xfrm>
            <a:off x="627062" y="1716087"/>
            <a:ext cx="54133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Utilizado como parte de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NODE.JS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5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512" name="Google Shape;512;p2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5"/>
          <p:cNvSpPr txBox="1"/>
          <p:nvPr/>
        </p:nvSpPr>
        <p:spPr>
          <a:xfrm>
            <a:off x="1144587" y="185737"/>
            <a:ext cx="11826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/>
          </a:p>
        </p:txBody>
      </p:sp>
      <p:cxnSp>
        <p:nvCxnSpPr>
          <p:cNvPr id="514" name="Google Shape;514;p2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15" name="Google Shape;515;p25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5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25/29</a:t>
            </a:r>
            <a:endParaRPr/>
          </a:p>
        </p:txBody>
      </p:sp>
      <p:sp>
        <p:nvSpPr>
          <p:cNvPr id="517" name="Google Shape;517;p25"/>
          <p:cNvSpPr txBox="1"/>
          <p:nvPr/>
        </p:nvSpPr>
        <p:spPr>
          <a:xfrm>
            <a:off x="627062" y="1165225"/>
            <a:ext cx="66373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sigla en inglés de </a:t>
            </a:r>
            <a:r>
              <a:rPr b="0" i="0" lang="en-US" sz="180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HyperText Markup Language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(lenguaje de marcas de hipertexto).</a:t>
            </a:r>
            <a:endParaRPr/>
          </a:p>
        </p:txBody>
      </p:sp>
      <p:pic>
        <p:nvPicPr>
          <p:cNvPr descr="Resultado de imagen para html" id="518" name="Google Shape;51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4400" y="1200150"/>
            <a:ext cx="1652587" cy="16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5"/>
          <p:cNvSpPr txBox="1"/>
          <p:nvPr/>
        </p:nvSpPr>
        <p:spPr>
          <a:xfrm>
            <a:off x="627062" y="1898650"/>
            <a:ext cx="67595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432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1B2432"/>
                </a:solidFill>
                <a:latin typeface="Arial"/>
                <a:ea typeface="Arial"/>
                <a:cs typeface="Arial"/>
                <a:sym typeface="Arial"/>
              </a:rPr>
              <a:t>Es un lenguaje que interpreta el navegador web para mostrar los sitios o aplicaciones web.</a:t>
            </a:r>
            <a:endParaRPr/>
          </a:p>
        </p:txBody>
      </p:sp>
      <p:sp>
        <p:nvSpPr>
          <p:cNvPr id="520" name="Google Shape;520;p25"/>
          <p:cNvSpPr txBox="1"/>
          <p:nvPr/>
        </p:nvSpPr>
        <p:spPr>
          <a:xfrm>
            <a:off x="1192212" y="5440362"/>
            <a:ext cx="8429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HTML 1</a:t>
            </a:r>
            <a:endParaRPr/>
          </a:p>
        </p:txBody>
      </p:sp>
      <p:cxnSp>
        <p:nvCxnSpPr>
          <p:cNvPr id="521" name="Google Shape;521;p25"/>
          <p:cNvCxnSpPr/>
          <p:nvPr/>
        </p:nvCxnSpPr>
        <p:spPr>
          <a:xfrm>
            <a:off x="1262062" y="5081587"/>
            <a:ext cx="586105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22" name="Google Shape;522;p25"/>
          <p:cNvSpPr txBox="1"/>
          <p:nvPr/>
        </p:nvSpPr>
        <p:spPr>
          <a:xfrm>
            <a:off x="2503487" y="5183187"/>
            <a:ext cx="59372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1995</a:t>
            </a:r>
            <a:endParaRPr/>
          </a:p>
        </p:txBody>
      </p:sp>
      <p:sp>
        <p:nvSpPr>
          <p:cNvPr id="523" name="Google Shape;523;p25"/>
          <p:cNvSpPr txBox="1"/>
          <p:nvPr/>
        </p:nvSpPr>
        <p:spPr>
          <a:xfrm>
            <a:off x="3594100" y="5448300"/>
            <a:ext cx="844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HTML 3</a:t>
            </a:r>
            <a:endParaRPr/>
          </a:p>
        </p:txBody>
      </p:sp>
      <p:sp>
        <p:nvSpPr>
          <p:cNvPr id="524" name="Google Shape;524;p25"/>
          <p:cNvSpPr txBox="1"/>
          <p:nvPr/>
        </p:nvSpPr>
        <p:spPr>
          <a:xfrm>
            <a:off x="3703637" y="5210175"/>
            <a:ext cx="5953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1997</a:t>
            </a:r>
            <a:endParaRPr/>
          </a:p>
        </p:txBody>
      </p:sp>
      <p:sp>
        <p:nvSpPr>
          <p:cNvPr id="525" name="Google Shape;525;p25"/>
          <p:cNvSpPr txBox="1"/>
          <p:nvPr/>
        </p:nvSpPr>
        <p:spPr>
          <a:xfrm>
            <a:off x="4995862" y="5448300"/>
            <a:ext cx="844550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HTML 4</a:t>
            </a:r>
            <a:endParaRPr/>
          </a:p>
        </p:txBody>
      </p:sp>
      <p:sp>
        <p:nvSpPr>
          <p:cNvPr id="526" name="Google Shape;526;p25"/>
          <p:cNvSpPr txBox="1"/>
          <p:nvPr/>
        </p:nvSpPr>
        <p:spPr>
          <a:xfrm>
            <a:off x="5108575" y="5194300"/>
            <a:ext cx="5953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1999</a:t>
            </a:r>
            <a:endParaRPr/>
          </a:p>
        </p:txBody>
      </p:sp>
      <p:sp>
        <p:nvSpPr>
          <p:cNvPr id="527" name="Google Shape;527;p25"/>
          <p:cNvSpPr txBox="1"/>
          <p:nvPr/>
        </p:nvSpPr>
        <p:spPr>
          <a:xfrm>
            <a:off x="6280150" y="5410200"/>
            <a:ext cx="8429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HTML 5</a:t>
            </a:r>
            <a:endParaRPr/>
          </a:p>
        </p:txBody>
      </p:sp>
      <p:sp>
        <p:nvSpPr>
          <p:cNvPr id="528" name="Google Shape;528;p25"/>
          <p:cNvSpPr txBox="1"/>
          <p:nvPr/>
        </p:nvSpPr>
        <p:spPr>
          <a:xfrm>
            <a:off x="6380162" y="5183187"/>
            <a:ext cx="595312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2014</a:t>
            </a:r>
            <a:endParaRPr/>
          </a:p>
        </p:txBody>
      </p:sp>
      <p:cxnSp>
        <p:nvCxnSpPr>
          <p:cNvPr id="529" name="Google Shape;529;p25"/>
          <p:cNvCxnSpPr/>
          <p:nvPr/>
        </p:nvCxnSpPr>
        <p:spPr>
          <a:xfrm rot="10800000">
            <a:off x="1568450" y="4897437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30" name="Google Shape;530;p25"/>
          <p:cNvCxnSpPr/>
          <p:nvPr/>
        </p:nvCxnSpPr>
        <p:spPr>
          <a:xfrm rot="10800000">
            <a:off x="2792412" y="4897437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31" name="Google Shape;531;p25"/>
          <p:cNvCxnSpPr/>
          <p:nvPr/>
        </p:nvCxnSpPr>
        <p:spPr>
          <a:xfrm rot="10800000">
            <a:off x="4016375" y="4916487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32" name="Google Shape;532;p25"/>
          <p:cNvCxnSpPr/>
          <p:nvPr/>
        </p:nvCxnSpPr>
        <p:spPr>
          <a:xfrm rot="10800000">
            <a:off x="5424487" y="4897437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33" name="Google Shape;533;p25"/>
          <p:cNvCxnSpPr/>
          <p:nvPr/>
        </p:nvCxnSpPr>
        <p:spPr>
          <a:xfrm rot="10800000">
            <a:off x="6646862" y="4897437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34" name="Google Shape;534;p25"/>
          <p:cNvSpPr txBox="1"/>
          <p:nvPr/>
        </p:nvSpPr>
        <p:spPr>
          <a:xfrm>
            <a:off x="1287462" y="5203825"/>
            <a:ext cx="595312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1991</a:t>
            </a:r>
            <a:endParaRPr/>
          </a:p>
        </p:txBody>
      </p:sp>
      <p:sp>
        <p:nvSpPr>
          <p:cNvPr id="535" name="Google Shape;535;p25"/>
          <p:cNvSpPr txBox="1"/>
          <p:nvPr/>
        </p:nvSpPr>
        <p:spPr>
          <a:xfrm>
            <a:off x="2335212" y="5446712"/>
            <a:ext cx="8429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HTML 2</a:t>
            </a:r>
            <a:endParaRPr/>
          </a:p>
        </p:txBody>
      </p:sp>
      <p:sp>
        <p:nvSpPr>
          <p:cNvPr id="536" name="Google Shape;536;p25"/>
          <p:cNvSpPr txBox="1"/>
          <p:nvPr/>
        </p:nvSpPr>
        <p:spPr>
          <a:xfrm>
            <a:off x="627062" y="2633662"/>
            <a:ext cx="6759575" cy="1138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432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1B2432"/>
                </a:solidFill>
                <a:latin typeface="Arial"/>
                <a:ea typeface="Arial"/>
                <a:cs typeface="Arial"/>
                <a:sym typeface="Arial"/>
              </a:rPr>
              <a:t>Las etiquetas nos sirven para delimitar el inicio y el fin de un elemento.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rgbClr val="1B24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432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1B2432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/>
          </a:p>
        </p:txBody>
      </p:sp>
      <p:pic>
        <p:nvPicPr>
          <p:cNvPr id="537" name="Google Shape;53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3112" y="3503612"/>
            <a:ext cx="52863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5"/>
          <p:cNvSpPr txBox="1"/>
          <p:nvPr/>
        </p:nvSpPr>
        <p:spPr>
          <a:xfrm>
            <a:off x="627062" y="4286250"/>
            <a:ext cx="21288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Evolución: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6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544" name="Google Shape;544;p2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26"/>
          <p:cNvSpPr txBox="1"/>
          <p:nvPr/>
        </p:nvSpPr>
        <p:spPr>
          <a:xfrm>
            <a:off x="1144587" y="185737"/>
            <a:ext cx="52974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CSS - Cascading Style Sheets</a:t>
            </a:r>
            <a:endParaRPr/>
          </a:p>
        </p:txBody>
      </p:sp>
      <p:cxnSp>
        <p:nvCxnSpPr>
          <p:cNvPr id="546" name="Google Shape;546;p2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47" name="Google Shape;547;p26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6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26/29</a:t>
            </a:r>
            <a:endParaRPr/>
          </a:p>
        </p:txBody>
      </p:sp>
      <p:sp>
        <p:nvSpPr>
          <p:cNvPr id="549" name="Google Shape;549;p26"/>
          <p:cNvSpPr txBox="1"/>
          <p:nvPr/>
        </p:nvSpPr>
        <p:spPr>
          <a:xfrm>
            <a:off x="627062" y="1165225"/>
            <a:ext cx="66373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lenguaje de hojas de estilo en cascada.</a:t>
            </a:r>
            <a:endParaRPr/>
          </a:p>
        </p:txBody>
      </p:sp>
      <p:sp>
        <p:nvSpPr>
          <p:cNvPr id="550" name="Google Shape;550;p26"/>
          <p:cNvSpPr txBox="1"/>
          <p:nvPr/>
        </p:nvSpPr>
        <p:spPr>
          <a:xfrm>
            <a:off x="1287462" y="5683250"/>
            <a:ext cx="6524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CSS 1</a:t>
            </a:r>
            <a:endParaRPr/>
          </a:p>
        </p:txBody>
      </p:sp>
      <p:cxnSp>
        <p:nvCxnSpPr>
          <p:cNvPr id="551" name="Google Shape;551;p26"/>
          <p:cNvCxnSpPr/>
          <p:nvPr/>
        </p:nvCxnSpPr>
        <p:spPr>
          <a:xfrm>
            <a:off x="1262062" y="5324475"/>
            <a:ext cx="3309937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52" name="Google Shape;552;p26"/>
          <p:cNvSpPr txBox="1"/>
          <p:nvPr/>
        </p:nvSpPr>
        <p:spPr>
          <a:xfrm>
            <a:off x="2503487" y="5426075"/>
            <a:ext cx="593725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1998</a:t>
            </a:r>
            <a:endParaRPr/>
          </a:p>
        </p:txBody>
      </p:sp>
      <p:sp>
        <p:nvSpPr>
          <p:cNvPr id="553" name="Google Shape;553;p26"/>
          <p:cNvSpPr txBox="1"/>
          <p:nvPr/>
        </p:nvSpPr>
        <p:spPr>
          <a:xfrm>
            <a:off x="3690937" y="5691187"/>
            <a:ext cx="6508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CSS 3</a:t>
            </a:r>
            <a:endParaRPr/>
          </a:p>
        </p:txBody>
      </p:sp>
      <p:sp>
        <p:nvSpPr>
          <p:cNvPr id="554" name="Google Shape;554;p26"/>
          <p:cNvSpPr txBox="1"/>
          <p:nvPr/>
        </p:nvSpPr>
        <p:spPr>
          <a:xfrm>
            <a:off x="3703637" y="5453062"/>
            <a:ext cx="5953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1999</a:t>
            </a:r>
            <a:endParaRPr/>
          </a:p>
        </p:txBody>
      </p:sp>
      <p:cxnSp>
        <p:nvCxnSpPr>
          <p:cNvPr id="555" name="Google Shape;555;p26"/>
          <p:cNvCxnSpPr/>
          <p:nvPr/>
        </p:nvCxnSpPr>
        <p:spPr>
          <a:xfrm rot="10800000">
            <a:off x="1568450" y="5140325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56" name="Google Shape;556;p26"/>
          <p:cNvCxnSpPr/>
          <p:nvPr/>
        </p:nvCxnSpPr>
        <p:spPr>
          <a:xfrm rot="10800000">
            <a:off x="2792412" y="5140325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57" name="Google Shape;557;p26"/>
          <p:cNvCxnSpPr/>
          <p:nvPr/>
        </p:nvCxnSpPr>
        <p:spPr>
          <a:xfrm rot="10800000">
            <a:off x="4016375" y="5159375"/>
            <a:ext cx="0" cy="34766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58" name="Google Shape;558;p26"/>
          <p:cNvSpPr txBox="1"/>
          <p:nvPr/>
        </p:nvSpPr>
        <p:spPr>
          <a:xfrm>
            <a:off x="1287462" y="5446712"/>
            <a:ext cx="595312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1996</a:t>
            </a:r>
            <a:endParaRPr/>
          </a:p>
        </p:txBody>
      </p:sp>
      <p:sp>
        <p:nvSpPr>
          <p:cNvPr id="559" name="Google Shape;559;p26"/>
          <p:cNvSpPr txBox="1"/>
          <p:nvPr/>
        </p:nvSpPr>
        <p:spPr>
          <a:xfrm>
            <a:off x="2430462" y="5689600"/>
            <a:ext cx="6524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1" i="0" lang="en-US" sz="140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CSS 2</a:t>
            </a:r>
            <a:endParaRPr/>
          </a:p>
        </p:txBody>
      </p:sp>
      <p:pic>
        <p:nvPicPr>
          <p:cNvPr descr="Resultado de imagen para css" id="560" name="Google Shape;56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2975" y="1160462"/>
            <a:ext cx="1389062" cy="1389062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26"/>
          <p:cNvSpPr txBox="1"/>
          <p:nvPr/>
        </p:nvSpPr>
        <p:spPr>
          <a:xfrm>
            <a:off x="647700" y="4476750"/>
            <a:ext cx="66373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Evolución del lenguaje</a:t>
            </a:r>
            <a:endParaRPr/>
          </a:p>
        </p:txBody>
      </p:sp>
      <p:sp>
        <p:nvSpPr>
          <p:cNvPr id="562" name="Google Shape;562;p26"/>
          <p:cNvSpPr txBox="1"/>
          <p:nvPr/>
        </p:nvSpPr>
        <p:spPr>
          <a:xfrm>
            <a:off x="627062" y="1649412"/>
            <a:ext cx="66373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lenguaje que define la apariencia de un documento escrito en un lenguaje de marcado (por ejemplo, HTML).</a:t>
            </a:r>
            <a:endParaRPr/>
          </a:p>
        </p:txBody>
      </p:sp>
      <p:sp>
        <p:nvSpPr>
          <p:cNvPr id="563" name="Google Shape;563;p26"/>
          <p:cNvSpPr txBox="1"/>
          <p:nvPr/>
        </p:nvSpPr>
        <p:spPr>
          <a:xfrm>
            <a:off x="627062" y="2713037"/>
            <a:ext cx="7923212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 separación entre la estructura y la presentación es muy importante, ya que permite que sólo cambiando los CSS se modifique completamente el aspecto de una página web.  </a:t>
            </a:r>
            <a:endParaRPr/>
          </a:p>
        </p:txBody>
      </p:sp>
      <p:sp>
        <p:nvSpPr>
          <p:cNvPr id="564" name="Google Shape;564;p26"/>
          <p:cNvSpPr txBox="1"/>
          <p:nvPr/>
        </p:nvSpPr>
        <p:spPr>
          <a:xfrm>
            <a:off x="6270625" y="3795712"/>
            <a:ext cx="21717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http://css3test.com/</a:t>
            </a:r>
            <a:endParaRPr/>
          </a:p>
        </p:txBody>
      </p:sp>
      <p:sp>
        <p:nvSpPr>
          <p:cNvPr id="565" name="Google Shape;565;p26"/>
          <p:cNvSpPr txBox="1"/>
          <p:nvPr/>
        </p:nvSpPr>
        <p:spPr>
          <a:xfrm>
            <a:off x="647700" y="3795712"/>
            <a:ext cx="66373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Verificar compatibilidad de un navegador con CSS3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7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571" name="Google Shape;571;p2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7"/>
          <p:cNvSpPr txBox="1"/>
          <p:nvPr/>
        </p:nvSpPr>
        <p:spPr>
          <a:xfrm>
            <a:off x="1144587" y="185737"/>
            <a:ext cx="2438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BOOTSTRAP</a:t>
            </a:r>
            <a:endParaRPr/>
          </a:p>
        </p:txBody>
      </p:sp>
      <p:cxnSp>
        <p:nvCxnSpPr>
          <p:cNvPr id="573" name="Google Shape;573;p2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74" name="Google Shape;574;p27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7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27/29</a:t>
            </a:r>
            <a:endParaRPr/>
          </a:p>
        </p:txBody>
      </p:sp>
      <p:sp>
        <p:nvSpPr>
          <p:cNvPr id="576" name="Google Shape;576;p27"/>
          <p:cNvSpPr txBox="1"/>
          <p:nvPr/>
        </p:nvSpPr>
        <p:spPr>
          <a:xfrm>
            <a:off x="627062" y="1165225"/>
            <a:ext cx="66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 de Twitter para desarrollo de aplicaciones web. </a:t>
            </a:r>
            <a:endParaRPr/>
          </a:p>
        </p:txBody>
      </p:sp>
      <p:sp>
        <p:nvSpPr>
          <p:cNvPr id="577" name="Google Shape;577;p27"/>
          <p:cNvSpPr txBox="1"/>
          <p:nvPr/>
        </p:nvSpPr>
        <p:spPr>
          <a:xfrm>
            <a:off x="647700" y="4711700"/>
            <a:ext cx="346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Liberado el 2011 con licencia Apache</a:t>
            </a:r>
            <a:endParaRPr/>
          </a:p>
        </p:txBody>
      </p:sp>
      <p:sp>
        <p:nvSpPr>
          <p:cNvPr id="578" name="Google Shape;578;p27"/>
          <p:cNvSpPr txBox="1"/>
          <p:nvPr/>
        </p:nvSpPr>
        <p:spPr>
          <a:xfrm>
            <a:off x="627062" y="1654175"/>
            <a:ext cx="60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Sencillo y ligero: basta un css y un js</a:t>
            </a:r>
            <a:endParaRPr/>
          </a:p>
        </p:txBody>
      </p:sp>
      <p:sp>
        <p:nvSpPr>
          <p:cNvPr id="579" name="Google Shape;579;p27"/>
          <p:cNvSpPr txBox="1"/>
          <p:nvPr/>
        </p:nvSpPr>
        <p:spPr>
          <a:xfrm>
            <a:off x="627062" y="3181350"/>
            <a:ext cx="223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Open Source.</a:t>
            </a:r>
            <a:endParaRPr/>
          </a:p>
        </p:txBody>
      </p:sp>
      <p:pic>
        <p:nvPicPr>
          <p:cNvPr descr="Resultado de imagen para que es bootstrap" id="580" name="Google Shape;58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1487" y="1746250"/>
            <a:ext cx="1868487" cy="1497012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7"/>
          <p:cNvSpPr txBox="1"/>
          <p:nvPr/>
        </p:nvSpPr>
        <p:spPr>
          <a:xfrm>
            <a:off x="627062" y="2141537"/>
            <a:ext cx="60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Basado en HTML5, CSS y jQuery</a:t>
            </a:r>
            <a:endParaRPr/>
          </a:p>
        </p:txBody>
      </p:sp>
      <p:sp>
        <p:nvSpPr>
          <p:cNvPr id="582" name="Google Shape;582;p27"/>
          <p:cNvSpPr txBox="1"/>
          <p:nvPr/>
        </p:nvSpPr>
        <p:spPr>
          <a:xfrm>
            <a:off x="627062" y="2643187"/>
            <a:ext cx="60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Compatible con todos los navegadores</a:t>
            </a:r>
            <a:endParaRPr/>
          </a:p>
        </p:txBody>
      </p:sp>
      <p:sp>
        <p:nvSpPr>
          <p:cNvPr id="583" name="Google Shape;583;p27"/>
          <p:cNvSpPr txBox="1"/>
          <p:nvPr/>
        </p:nvSpPr>
        <p:spPr>
          <a:xfrm>
            <a:off x="627062" y="3673475"/>
            <a:ext cx="348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Plugins jQuery para validar datos de entrada, tablas, gráficos y formularios.</a:t>
            </a:r>
            <a:endParaRPr/>
          </a:p>
        </p:txBody>
      </p:sp>
      <p:pic>
        <p:nvPicPr>
          <p:cNvPr descr="Resultado de imagen para bootstrap elements" id="584" name="Google Shape;58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5612" y="3746500"/>
            <a:ext cx="4552950" cy="2252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8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590" name="Google Shape;590;p2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8"/>
          <p:cNvSpPr txBox="1"/>
          <p:nvPr/>
        </p:nvSpPr>
        <p:spPr>
          <a:xfrm>
            <a:off x="1144587" y="185737"/>
            <a:ext cx="27971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BOOTSTRAP…</a:t>
            </a:r>
            <a:endParaRPr/>
          </a:p>
        </p:txBody>
      </p:sp>
      <p:cxnSp>
        <p:nvCxnSpPr>
          <p:cNvPr id="592" name="Google Shape;592;p2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93" name="Google Shape;593;p28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8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28/29</a:t>
            </a:r>
            <a:endParaRPr/>
          </a:p>
        </p:txBody>
      </p:sp>
      <p:sp>
        <p:nvSpPr>
          <p:cNvPr id="595" name="Google Shape;595;p28"/>
          <p:cNvSpPr txBox="1"/>
          <p:nvPr/>
        </p:nvSpPr>
        <p:spPr>
          <a:xfrm>
            <a:off x="627062" y="1165225"/>
            <a:ext cx="66373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adapta a todos los tipos de dispositivos → Responsivo</a:t>
            </a:r>
            <a:endParaRPr/>
          </a:p>
        </p:txBody>
      </p:sp>
      <p:pic>
        <p:nvPicPr>
          <p:cNvPr id="596" name="Google Shape;59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1784350"/>
            <a:ext cx="6637337" cy="4519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9"/>
          <p:cNvSpPr txBox="1"/>
          <p:nvPr/>
        </p:nvSpPr>
        <p:spPr>
          <a:xfrm>
            <a:off x="0" y="6537325"/>
            <a:ext cx="8550275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angular logos" id="602" name="Google Shape;602;p2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9"/>
          <p:cNvSpPr txBox="1"/>
          <p:nvPr/>
        </p:nvSpPr>
        <p:spPr>
          <a:xfrm>
            <a:off x="1144587" y="185737"/>
            <a:ext cx="34829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MATERIAL DESIGN</a:t>
            </a:r>
            <a:endParaRPr/>
          </a:p>
        </p:txBody>
      </p:sp>
      <p:cxnSp>
        <p:nvCxnSpPr>
          <p:cNvPr id="604" name="Google Shape;604;p2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05" name="Google Shape;605;p29"/>
          <p:cNvSpPr/>
          <p:nvPr/>
        </p:nvSpPr>
        <p:spPr>
          <a:xfrm>
            <a:off x="8421687" y="6418262"/>
            <a:ext cx="795337" cy="4318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9"/>
          <p:cNvSpPr txBox="1"/>
          <p:nvPr/>
        </p:nvSpPr>
        <p:spPr>
          <a:xfrm>
            <a:off x="8459787" y="6453187"/>
            <a:ext cx="665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29/29</a:t>
            </a:r>
            <a:endParaRPr/>
          </a:p>
        </p:txBody>
      </p:sp>
      <p:sp>
        <p:nvSpPr>
          <p:cNvPr id="607" name="Google Shape;607;p29"/>
          <p:cNvSpPr txBox="1"/>
          <p:nvPr/>
        </p:nvSpPr>
        <p:spPr>
          <a:xfrm>
            <a:off x="627062" y="1165225"/>
            <a:ext cx="60261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 Design es un lenguaje visual que sintetiza los principios clásicos de buen diseño (usabilidad).</a:t>
            </a:r>
            <a:endParaRPr/>
          </a:p>
        </p:txBody>
      </p:sp>
      <p:sp>
        <p:nvSpPr>
          <p:cNvPr id="608" name="Google Shape;608;p29"/>
          <p:cNvSpPr txBox="1"/>
          <p:nvPr/>
        </p:nvSpPr>
        <p:spPr>
          <a:xfrm>
            <a:off x="627062" y="1962150"/>
            <a:ext cx="54133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Fue desarrollado por Google y presentado en el año 2014.</a:t>
            </a:r>
            <a:endParaRPr/>
          </a:p>
        </p:txBody>
      </p:sp>
      <p:pic>
        <p:nvPicPr>
          <p:cNvPr descr="Resultado de imagen para Material Design logo" id="609" name="Google Shape;609;p29"/>
          <p:cNvPicPr preferRelativeResize="0"/>
          <p:nvPr/>
        </p:nvPicPr>
        <p:blipFill rotWithShape="1">
          <a:blip r:embed="rId4">
            <a:alphaModFix/>
          </a:blip>
          <a:srcRect b="38525" l="19212" r="18544" t="38526"/>
          <a:stretch/>
        </p:blipFill>
        <p:spPr>
          <a:xfrm>
            <a:off x="6283325" y="2114550"/>
            <a:ext cx="2509837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2162" y="1109662"/>
            <a:ext cx="903287" cy="9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9"/>
          <p:cNvSpPr txBox="1"/>
          <p:nvPr/>
        </p:nvSpPr>
        <p:spPr>
          <a:xfrm>
            <a:off x="4970462" y="3067050"/>
            <a:ext cx="22923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Características:</a:t>
            </a:r>
            <a:endParaRPr/>
          </a:p>
        </p:txBody>
      </p:sp>
      <p:sp>
        <p:nvSpPr>
          <p:cNvPr id="612" name="Google Shape;612;p29"/>
          <p:cNvSpPr txBox="1"/>
          <p:nvPr/>
        </p:nvSpPr>
        <p:spPr>
          <a:xfrm>
            <a:off x="5122862" y="3540125"/>
            <a:ext cx="3671887" cy="2646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Minimalismo y colores planos.</a:t>
            </a:r>
            <a:endParaRPr/>
          </a:p>
          <a:p>
            <a:pPr indent="-234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Sombreado simulando niveles</a:t>
            </a:r>
            <a:endParaRPr/>
          </a:p>
          <a:p>
            <a:pPr indent="-234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Iconos vectoriales</a:t>
            </a:r>
            <a:endParaRPr/>
          </a:p>
          <a:p>
            <a:pPr indent="-234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Animación de elementos</a:t>
            </a:r>
            <a:endParaRPr/>
          </a:p>
          <a:p>
            <a:pPr indent="-234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Concepto espacial 3D</a:t>
            </a:r>
            <a:endParaRPr/>
          </a:p>
          <a:p>
            <a:pPr indent="-234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Homogeneidad de todas las plataformas</a:t>
            </a:r>
            <a:endParaRPr/>
          </a:p>
        </p:txBody>
      </p:sp>
      <p:pic>
        <p:nvPicPr>
          <p:cNvPr descr="Resultado de imagen para Material Design elements" id="613" name="Google Shape;613;p29"/>
          <p:cNvPicPr preferRelativeResize="0"/>
          <p:nvPr/>
        </p:nvPicPr>
        <p:blipFill rotWithShape="1">
          <a:blip r:embed="rId6">
            <a:alphaModFix/>
          </a:blip>
          <a:srcRect b="25521" l="0" r="21052" t="0"/>
          <a:stretch/>
        </p:blipFill>
        <p:spPr>
          <a:xfrm>
            <a:off x="506412" y="3073400"/>
            <a:ext cx="434340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