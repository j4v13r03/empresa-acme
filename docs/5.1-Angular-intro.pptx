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086600" cy="8686800"/>
  <p:embeddedFontLst>
    <p:embeddedFont>
      <p:font typeface="Arimo"/>
      <p:regular r:id="rId18"/>
      <p:bold r:id="rId19"/>
      <p:italic r:id="rId20"/>
      <p:boldItalic r:id="rId21"/>
    </p:embeddedFont>
    <p:embeddedFont>
      <p:font typeface="Arial Black"/>
      <p:regular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RCsYnpVBX2x6nF3Qg/d6d1TB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ArialBlack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React → 🏎️ flexible, rápido, muchas opciones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Angular → 🚛 estructurado, fuerte, para proyectos grandes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Vue → 🚗 simple, fácil de manejar</a:t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a437e393_0_116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React → 🏎️ flexible, rápido, muchas opciones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Angular → 🚛 estructurado, fuerte, para proyectos grandes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Vue → 🚗 simple, fácil de manejar</a:t>
            </a:r>
            <a:endParaRPr/>
          </a:p>
        </p:txBody>
      </p:sp>
      <p:sp>
        <p:nvSpPr>
          <p:cNvPr id="124" name="Google Shape;124;g3d1a437e393_0_11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latin typeface="Arial"/>
                <a:ea typeface="Arial"/>
                <a:cs typeface="Arial"/>
                <a:sym typeface="Arial"/>
              </a:rPr>
              <a:t>TypeScript Avanzado: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Uso de decoradores modernos y tipado estricto para máxima seguridad.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latin typeface="Arial"/>
                <a:ea typeface="Arial"/>
                <a:cs typeface="Arial"/>
                <a:sym typeface="Arial"/>
              </a:rPr>
              <a:t>Rendimiento Reactivo (Signals):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Actualizaciones granulares del DOM sin sobrecarga de procesamiento. – velocidad y rendimiento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latin typeface="Arial"/>
                <a:ea typeface="Arial"/>
                <a:cs typeface="Arial"/>
                <a:sym typeface="Arial"/>
              </a:rPr>
              <a:t>Arquitectura Standalone: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Eliminación de la burocracia de los módulos para un desarrollo ágil y ligero.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latin typeface="Arial"/>
                <a:ea typeface="Arial"/>
                <a:cs typeface="Arial"/>
                <a:sym typeface="Arial"/>
              </a:rPr>
              <a:t>Optimización Multi-plataforma: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SSR nativo y carga progresiva para cualquier dispositivo.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L" sz="1100">
                <a:latin typeface="Arial"/>
                <a:ea typeface="Arial"/>
                <a:cs typeface="Arial"/>
                <a:sym typeface="Arial"/>
              </a:rPr>
              <a:t>“Angular no está pasado de moda… evolucionó hacia lo moderno”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AngularJS (2010) → antiguo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Angular 2 (2016) → nuevo inicio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Angular moderno → actualizaciones cada 6 meses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/>
              <a:t>Angular 21 → versión actual</a:t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65a4abc05_0_32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65a4abc05_0_3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1a437e393_0_66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app.ts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→ lógica del componente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app.html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→ vista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app.css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→ estilos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app.config.ts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→ configuración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app.routes.ts</a:t>
            </a:r>
            <a:r>
              <a:rPr lang="es-CL" sz="1100">
                <a:latin typeface="Arial"/>
                <a:ea typeface="Arial"/>
                <a:cs typeface="Arial"/>
                <a:sym typeface="Arial"/>
              </a:rPr>
              <a:t> → navegación</a:t>
            </a:r>
            <a:endParaRPr/>
          </a:p>
        </p:txBody>
      </p:sp>
      <p:sp>
        <p:nvSpPr>
          <p:cNvPr id="276" name="Google Shape;276;g3d1a437e393_0_6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73796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3267075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¿Qué es Angular?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631475" y="1205550"/>
            <a:ext cx="8101500" cy="3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Angular es un framework de frontend basado en </a:t>
            </a:r>
            <a:r>
              <a:rPr lang="es-CL" sz="2000"/>
              <a:t>TypeScript</a:t>
            </a:r>
            <a:endParaRPr sz="2000"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de código abierto (open source)</a:t>
            </a:r>
            <a:endParaRPr sz="2000"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mantenido por   Google</a:t>
            </a:r>
            <a:endParaRPr sz="2000"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crear aplicaciones de una sola página o </a:t>
            </a:r>
            <a:r>
              <a:rPr b="1"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</a:t>
            </a:r>
            <a:endParaRPr sz="20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</a:rPr>
              <a:t>Usa componentes Reutilizables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CL" sz="2000">
                <a:solidFill>
                  <a:schemeClr val="dk1"/>
                </a:solidFill>
              </a:rPr>
              <a:t>Competidores de Angular: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Introducción a Vue.js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1010" y="5012878"/>
            <a:ext cx="1994274" cy="1115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 Backend a Frontend con ReactJS - Betabeers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1989" y="5012867"/>
            <a:ext cx="3100533" cy="1041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monía es la clave detrás de nuevo logo de Google" id="109" name="Google Shape;109;p2"/>
          <p:cNvPicPr preferRelativeResize="0"/>
          <p:nvPr/>
        </p:nvPicPr>
        <p:blipFill rotWithShape="1">
          <a:blip r:embed="rId6">
            <a:alphaModFix/>
          </a:blip>
          <a:srcRect b="27572" l="0" r="0" t="31103"/>
          <a:stretch/>
        </p:blipFill>
        <p:spPr>
          <a:xfrm>
            <a:off x="3100084" y="2426717"/>
            <a:ext cx="1226470" cy="437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4588" y="185738"/>
            <a:ext cx="79768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¿Cuál es la tendencia de uso de frameworks?</a:t>
            </a:r>
            <a:endParaRPr/>
          </a:p>
        </p:txBody>
      </p:sp>
      <p:cxnSp>
        <p:nvCxnSpPr>
          <p:cNvPr id="116" name="Google Shape;116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3"/>
          <p:cNvSpPr/>
          <p:nvPr/>
        </p:nvSpPr>
        <p:spPr>
          <a:xfrm>
            <a:off x="631474" y="1382713"/>
            <a:ext cx="810136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Tendencia de uso de los diferentes frameworks frontend a lo largo del tiempo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descr="Imagen 2 en Frameworks para Frontend más populares en 2020" id="119" name="Google Shape;119;p3"/>
          <p:cNvSpPr/>
          <p:nvPr/>
        </p:nvSpPr>
        <p:spPr>
          <a:xfrm>
            <a:off x="4419600" y="3276600"/>
            <a:ext cx="3100530" cy="31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 title="front_end_frameworks_ratios.png"/>
          <p:cNvPicPr preferRelativeResize="0"/>
          <p:nvPr/>
        </p:nvPicPr>
        <p:blipFill rotWithShape="1">
          <a:blip r:embed="rId4">
            <a:alphaModFix/>
          </a:blip>
          <a:srcRect b="7047" l="0" r="0" t="11387"/>
          <a:stretch/>
        </p:blipFill>
        <p:spPr>
          <a:xfrm>
            <a:off x="1692075" y="2362200"/>
            <a:ext cx="5759877" cy="3695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692075" y="6057900"/>
            <a:ext cx="314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State of Javascript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6" name="Google Shape;126;g3d1a437e393_0_11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d1a437e393_0_116"/>
          <p:cNvSpPr txBox="1"/>
          <p:nvPr/>
        </p:nvSpPr>
        <p:spPr>
          <a:xfrm>
            <a:off x="1144588" y="185738"/>
            <a:ext cx="797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</a:rPr>
              <a:t>¿Hacia </a:t>
            </a:r>
            <a:r>
              <a:rPr b="1" lang="es-CL" sz="2800">
                <a:solidFill>
                  <a:srgbClr val="2E75B5"/>
                </a:solidFill>
              </a:rPr>
              <a:t>dónde</a:t>
            </a:r>
            <a:r>
              <a:rPr b="1" lang="es-CL" sz="2800">
                <a:solidFill>
                  <a:srgbClr val="2E75B5"/>
                </a:solidFill>
              </a:rPr>
              <a:t> va el Frontend?</a:t>
            </a:r>
            <a:endParaRPr/>
          </a:p>
        </p:txBody>
      </p:sp>
      <p:cxnSp>
        <p:nvCxnSpPr>
          <p:cNvPr id="128" name="Google Shape;128;g3d1a437e393_0_11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g3d1a437e393_0_11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0" name="Google Shape;130;g3d1a437e393_0_116"/>
          <p:cNvSpPr txBox="1"/>
          <p:nvPr/>
        </p:nvSpPr>
        <p:spPr>
          <a:xfrm>
            <a:off x="808800" y="1276350"/>
            <a:ext cx="75264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chemeClr val="dk1"/>
                </a:solidFill>
              </a:rPr>
              <a:t>Tendencias 2025–2026:</a:t>
            </a:r>
            <a:endParaRPr b="1"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⚡ Más rendimiento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🧠 TypeScript por defecto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🧩 Componentes reutilizables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🔄 Reactividad más fina (signals, etc.)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🤖 Uso de IA en desarrollo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🌐 Mezcla frontend + backend (fullstack frameworks)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16101" l="72569" r="11211" t="72367"/>
          <a:stretch/>
        </p:blipFill>
        <p:spPr>
          <a:xfrm>
            <a:off x="6841237" y="4788893"/>
            <a:ext cx="1529975" cy="611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36" name="Google Shape;136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1144607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Características de Angular Mode</a:t>
            </a:r>
            <a:r>
              <a:rPr b="1" lang="es-CL" sz="2800">
                <a:solidFill>
                  <a:srgbClr val="2E75B5"/>
                </a:solidFill>
              </a:rPr>
              <a:t>rno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77662" y="2694612"/>
            <a:ext cx="1591173" cy="1529967"/>
          </a:xfrm>
          <a:prstGeom prst="ellipse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900060" y="2843838"/>
            <a:ext cx="1316376" cy="1249480"/>
          </a:xfrm>
          <a:prstGeom prst="ellipse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1206500" y="3053446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2980826" y="1478659"/>
            <a:ext cx="795587" cy="755157"/>
          </a:xfrm>
          <a:prstGeom prst="ellipse">
            <a:avLst/>
          </a:prstGeom>
          <a:solidFill>
            <a:srgbClr val="70889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3509169" y="2511015"/>
            <a:ext cx="795587" cy="755157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509168" y="3630413"/>
            <a:ext cx="795587" cy="755157"/>
          </a:xfrm>
          <a:prstGeom prst="ellipse">
            <a:avLst/>
          </a:prstGeom>
          <a:solidFill>
            <a:srgbClr val="12EEBA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2980825" y="4735563"/>
            <a:ext cx="795587" cy="755157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47" name="Google Shape;147;p4"/>
          <p:cNvCxnSpPr>
            <a:stCxn id="140" idx="0"/>
            <a:endCxn id="143" idx="2"/>
          </p:cNvCxnSpPr>
          <p:nvPr/>
        </p:nvCxnSpPr>
        <p:spPr>
          <a:xfrm flipH="1" rot="10800000">
            <a:off x="1573249" y="1856112"/>
            <a:ext cx="1407600" cy="83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4"/>
          <p:cNvCxnSpPr>
            <a:stCxn id="140" idx="7"/>
            <a:endCxn id="144" idx="2"/>
          </p:cNvCxnSpPr>
          <p:nvPr/>
        </p:nvCxnSpPr>
        <p:spPr>
          <a:xfrm flipH="1" rot="10800000">
            <a:off x="2135813" y="2888670"/>
            <a:ext cx="1373400" cy="30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4"/>
          <p:cNvCxnSpPr>
            <a:stCxn id="140" idx="5"/>
            <a:endCxn id="145" idx="2"/>
          </p:cNvCxnSpPr>
          <p:nvPr/>
        </p:nvCxnSpPr>
        <p:spPr>
          <a:xfrm>
            <a:off x="2135813" y="4000521"/>
            <a:ext cx="1373400" cy="7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4"/>
          <p:cNvCxnSpPr>
            <a:stCxn id="140" idx="4"/>
            <a:endCxn id="146" idx="2"/>
          </p:cNvCxnSpPr>
          <p:nvPr/>
        </p:nvCxnSpPr>
        <p:spPr>
          <a:xfrm>
            <a:off x="1573249" y="4224579"/>
            <a:ext cx="1407600" cy="888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4"/>
          <p:cNvSpPr/>
          <p:nvPr/>
        </p:nvSpPr>
        <p:spPr>
          <a:xfrm rot="5400000">
            <a:off x="4922354" y="409150"/>
            <a:ext cx="749014" cy="2714134"/>
          </a:xfrm>
          <a:prstGeom prst="flowChartOffpageConnector">
            <a:avLst/>
          </a:prstGeom>
          <a:solidFill>
            <a:srgbClr val="70889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 rot="5400000">
            <a:off x="5459062" y="1504301"/>
            <a:ext cx="749014" cy="2714134"/>
          </a:xfrm>
          <a:prstGeom prst="flowChartOffpageConnector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5019317" y="2486860"/>
            <a:ext cx="2171307" cy="749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Rendimiento Reactivo (Signals)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 rot="5400000">
            <a:off x="5486646" y="2701926"/>
            <a:ext cx="749014" cy="2714134"/>
          </a:xfrm>
          <a:prstGeom prst="flowChartOffpageConnector">
            <a:avLst/>
          </a:prstGeom>
          <a:solidFill>
            <a:srgbClr val="12EEBA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5046892" y="3684485"/>
            <a:ext cx="2171307" cy="749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Arquitectura Standalone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 rot="5400000">
            <a:off x="4919018" y="3725633"/>
            <a:ext cx="749014" cy="2714134"/>
          </a:xfrm>
          <a:prstGeom prst="flowChartOffpageConnector">
            <a:avLst/>
          </a:prstGeom>
          <a:solidFill>
            <a:schemeClr val="accent4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4479267" y="4708185"/>
            <a:ext cx="2171307" cy="749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Optimización Multi-plataforma</a:t>
            </a:r>
            <a:endParaRPr/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69116" l="70247" r="7235" t="19469"/>
          <a:stretch/>
        </p:blipFill>
        <p:spPr>
          <a:xfrm>
            <a:off x="6817309" y="1463325"/>
            <a:ext cx="2124040" cy="605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52892" l="77938" r="9419" t="36339"/>
          <a:stretch/>
        </p:blipFill>
        <p:spPr>
          <a:xfrm>
            <a:off x="7515209" y="2531622"/>
            <a:ext cx="1192560" cy="571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60" name="Google Shape;160;p4"/>
          <p:cNvPicPr preferRelativeResize="0"/>
          <p:nvPr/>
        </p:nvPicPr>
        <p:blipFill rotWithShape="1">
          <a:blip r:embed="rId5">
            <a:alphaModFix/>
          </a:blip>
          <a:srcRect b="25533" l="18324" r="18196" t="18259"/>
          <a:stretch/>
        </p:blipFill>
        <p:spPr>
          <a:xfrm>
            <a:off x="7515209" y="3608684"/>
            <a:ext cx="941977" cy="90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4482617" y="1391710"/>
            <a:ext cx="2171307" cy="749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TypeScript </a:t>
            </a:r>
            <a:r>
              <a:rPr lang="es-CL" sz="1800">
                <a:solidFill>
                  <a:schemeClr val="lt1"/>
                </a:solidFill>
              </a:rPr>
              <a:t>por Defecto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1025633" y="1604963"/>
            <a:ext cx="54467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Angular.js o Angular JS 1.x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Octubre 2010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1144588" y="185738"/>
            <a:ext cx="38465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Versiones de Angular</a:t>
            </a:r>
            <a:endParaRPr/>
          </a:p>
        </p:txBody>
      </p:sp>
      <p:cxnSp>
        <p:nvCxnSpPr>
          <p:cNvPr id="169" name="Google Shape;169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1022458" y="2047925"/>
            <a:ext cx="41005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Angular 2 </a:t>
            </a:r>
            <a:r>
              <a:rPr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Septiembre 2016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22450" y="244767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3 </a:t>
            </a:r>
            <a:r>
              <a:rPr lang="es-CL" sz="1800">
                <a:solidFill>
                  <a:srgbClr val="FF6699"/>
                </a:solidFill>
                <a:latin typeface="Arial"/>
                <a:ea typeface="Arial"/>
                <a:cs typeface="Arial"/>
                <a:sym typeface="Arial"/>
              </a:rPr>
              <a:t>se saltó.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022450" y="2856850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4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Marzo 2017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022450" y="325597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5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2017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022450" y="365682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6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Marzo 2018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022450" y="4061950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7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Septiembre 2018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38200" y="1119188"/>
            <a:ext cx="78946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CL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 predecible, transparente e incremental</a:t>
            </a:r>
            <a:endParaRPr/>
          </a:p>
        </p:txBody>
      </p:sp>
      <p:pic>
        <p:nvPicPr>
          <p:cNvPr descr="Resultado de imagen para angular framework versions" id="177" name="Google Shape;177;p5"/>
          <p:cNvPicPr preferRelativeResize="0"/>
          <p:nvPr/>
        </p:nvPicPr>
        <p:blipFill rotWithShape="1">
          <a:blip r:embed="rId4">
            <a:alphaModFix/>
          </a:blip>
          <a:srcRect b="63004" l="26724" r="32487" t="10966"/>
          <a:stretch/>
        </p:blipFill>
        <p:spPr>
          <a:xfrm>
            <a:off x="6044356" y="1531934"/>
            <a:ext cx="1774826" cy="48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78" name="Google Shape;178;p5"/>
          <p:cNvPicPr preferRelativeResize="0"/>
          <p:nvPr/>
        </p:nvPicPr>
        <p:blipFill rotWithShape="1">
          <a:blip r:embed="rId5">
            <a:alphaModFix/>
          </a:blip>
          <a:srcRect b="32904" l="12476" r="12993" t="7343"/>
          <a:stretch/>
        </p:blipFill>
        <p:spPr>
          <a:xfrm>
            <a:off x="4715555" y="2025184"/>
            <a:ext cx="401876" cy="42941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0" y="6497200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022447" y="4464950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8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Octubre 2019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22447" y="486792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9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Febrero 2020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022447" y="526052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10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Junio 2020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22448" y="565312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11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2020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022446" y="6045725"/>
            <a:ext cx="39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12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Julio 2021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5"/>
          <p:cNvCxnSpPr/>
          <p:nvPr/>
        </p:nvCxnSpPr>
        <p:spPr>
          <a:xfrm>
            <a:off x="4969669" y="2645044"/>
            <a:ext cx="21300" cy="36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5"/>
          <p:cNvSpPr/>
          <p:nvPr/>
        </p:nvSpPr>
        <p:spPr>
          <a:xfrm>
            <a:off x="5416955" y="2448141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13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2021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428775" y="2844350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14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Junio 2022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28786" y="3244716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15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2022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428736" y="3645091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</a:t>
            </a:r>
            <a:r>
              <a:rPr lang="es-CL" sz="1800">
                <a:solidFill>
                  <a:schemeClr val="dk1"/>
                </a:solidFill>
              </a:rPr>
              <a:t>16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</a:rPr>
              <a:t>Mayo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i="1" lang="es-CL" sz="1800">
                <a:solidFill>
                  <a:srgbClr val="0070C0"/>
                </a:solidFill>
              </a:rPr>
              <a:t>3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16911" y="4045441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</a:t>
            </a:r>
            <a:r>
              <a:rPr lang="es-CL" sz="1800">
                <a:solidFill>
                  <a:schemeClr val="dk1"/>
                </a:solidFill>
              </a:rPr>
              <a:t>7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202</a:t>
            </a:r>
            <a:r>
              <a:rPr i="1" lang="es-CL" sz="1800">
                <a:solidFill>
                  <a:srgbClr val="0070C0"/>
                </a:solidFill>
              </a:rPr>
              <a:t>3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16911" y="4445803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</a:t>
            </a:r>
            <a:r>
              <a:rPr lang="es-CL" sz="1800">
                <a:solidFill>
                  <a:schemeClr val="dk1"/>
                </a:solidFill>
              </a:rPr>
              <a:t>8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</a:rPr>
              <a:t>Mayo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i="1" lang="es-CL" sz="1800">
                <a:solidFill>
                  <a:srgbClr val="0070C0"/>
                </a:solidFill>
              </a:rPr>
              <a:t>4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5416911" y="4846153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1</a:t>
            </a:r>
            <a:r>
              <a:rPr lang="es-CL" sz="1800">
                <a:solidFill>
                  <a:schemeClr val="dk1"/>
                </a:solidFill>
              </a:rPr>
              <a:t>9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Noviembre 202</a:t>
            </a:r>
            <a:r>
              <a:rPr i="1" lang="es-CL" sz="1800">
                <a:solidFill>
                  <a:srgbClr val="0070C0"/>
                </a:solidFill>
              </a:rPr>
              <a:t>4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428736" y="5246503"/>
            <a:ext cx="334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</a:t>
            </a:r>
            <a:r>
              <a:rPr lang="es-CL" sz="1800">
                <a:solidFill>
                  <a:schemeClr val="dk1"/>
                </a:solidFill>
              </a:rPr>
              <a:t>20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</a:rPr>
              <a:t>Mayo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i="1" lang="es-CL" sz="1800">
                <a:solidFill>
                  <a:srgbClr val="0070C0"/>
                </a:solidFill>
              </a:rPr>
              <a:t>5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28774" y="5646850"/>
            <a:ext cx="358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Angular 21</a:t>
            </a:r>
            <a:r>
              <a:rPr lang="es-CL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s-CL" sz="1800">
                <a:solidFill>
                  <a:srgbClr val="0070C0"/>
                </a:solidFill>
              </a:rPr>
              <a:t>Noviembre</a:t>
            </a:r>
            <a:r>
              <a:rPr i="1"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i="1" lang="es-CL" sz="1800">
                <a:solidFill>
                  <a:srgbClr val="0070C0"/>
                </a:solidFill>
              </a:rPr>
              <a:t>5</a:t>
            </a:r>
            <a:endParaRPr i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antic-version" id="200" name="Google Shape;2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3025" y="4510088"/>
            <a:ext cx="37401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996950" y="1192213"/>
            <a:ext cx="7735888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Angular adoptó el sistema de </a:t>
            </a:r>
            <a:r>
              <a:rPr lang="es-CL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versionamiento semántico 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llamado </a:t>
            </a:r>
            <a:r>
              <a:rPr b="1"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SEMVER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 junto con la versión 4.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63613" y="2792413"/>
            <a:ext cx="7800975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Se compone de 3 números, siguiendo la estructura </a:t>
            </a:r>
            <a:r>
              <a:rPr b="1"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X.Y.Z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, donde:</a:t>
            </a:r>
            <a:endParaRPr/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X se denomina </a:t>
            </a:r>
            <a:r>
              <a:rPr b="1" i="1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: indica cambios rupturistas</a:t>
            </a:r>
            <a:endParaRPr/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Y se denomina </a:t>
            </a:r>
            <a:r>
              <a:rPr b="1" i="1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Minor</a:t>
            </a: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: indica cambios compatibles con la versión anterior</a:t>
            </a:r>
            <a:endParaRPr/>
          </a:p>
          <a:p>
            <a:pPr indent="-285750" lvl="1" marL="102870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Z se denomina </a:t>
            </a:r>
            <a:r>
              <a:rPr b="1" i="1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Patch</a:t>
            </a: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: indica resoluciones de </a:t>
            </a:r>
            <a:r>
              <a:rPr b="0" i="1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bugs</a:t>
            </a:r>
            <a:r>
              <a:rPr b="0" i="0" lang="es-CL" sz="1800" u="none" cap="none" strike="noStrike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 (compatibles)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1144588" y="185738"/>
            <a:ext cx="4778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Versionamiento Semántico</a:t>
            </a:r>
            <a:endParaRPr/>
          </a:p>
        </p:txBody>
      </p:sp>
      <p:cxnSp>
        <p:nvCxnSpPr>
          <p:cNvPr id="204" name="Google Shape;204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6"/>
          <p:cNvSpPr/>
          <p:nvPr/>
        </p:nvSpPr>
        <p:spPr>
          <a:xfrm>
            <a:off x="996950" y="2035175"/>
            <a:ext cx="7735888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7292B"/>
              </a:buClr>
              <a:buSzPts val="1800"/>
              <a:buFont typeface="Arial"/>
              <a:buChar char="•"/>
            </a:pPr>
            <a:r>
              <a:rPr i="1"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SEMVER</a:t>
            </a:r>
            <a:r>
              <a:rPr lang="es-CL" sz="1800">
                <a:solidFill>
                  <a:srgbClr val="27292B"/>
                </a:solidFill>
                <a:latin typeface="Arial"/>
                <a:ea typeface="Arial"/>
                <a:cs typeface="Arial"/>
                <a:sym typeface="Arial"/>
              </a:rPr>
              <a:t> es un conjunto de reglas para proporcionar un significado claro y definido a las versiones de proyecto de software.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1" name="Google Shape;211;g3965a4abc05_0_3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965a4abc05_0_32"/>
          <p:cNvSpPr txBox="1"/>
          <p:nvPr/>
        </p:nvSpPr>
        <p:spPr>
          <a:xfrm>
            <a:off x="1144707" y="300763"/>
            <a:ext cx="758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2000">
                <a:solidFill>
                  <a:srgbClr val="2E75B5"/>
                </a:solidFill>
              </a:rPr>
              <a:t>Angular organiza la aplicación en componentes reutilizables</a:t>
            </a:r>
            <a:endParaRPr b="1" sz="2000">
              <a:solidFill>
                <a:srgbClr val="2E75B5"/>
              </a:solidFill>
            </a:endParaRPr>
          </a:p>
        </p:txBody>
      </p:sp>
      <p:cxnSp>
        <p:nvCxnSpPr>
          <p:cNvPr id="213" name="Google Shape;213;g3965a4abc05_0_3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4" name="Google Shape;214;g3965a4abc05_0_3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5" name="Google Shape;215;g3965a4abc05_0_32"/>
          <p:cNvSpPr txBox="1"/>
          <p:nvPr/>
        </p:nvSpPr>
        <p:spPr>
          <a:xfrm>
            <a:off x="808800" y="1276350"/>
            <a:ext cx="75264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Cada componente es una parte de la interfaz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Cada componente se puede reutilizar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Los componentes s</a:t>
            </a:r>
            <a:r>
              <a:rPr lang="es-CL" sz="2000">
                <a:solidFill>
                  <a:schemeClr val="dk1"/>
                </a:solidFill>
              </a:rPr>
              <a:t>e combinan para formar la aplicación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Todo gira en torno a componentes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Angular piensa en componentes</a:t>
            </a:r>
            <a:endParaRPr sz="2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s-CL" sz="2000">
                <a:solidFill>
                  <a:schemeClr val="dk1"/>
                </a:solidFill>
              </a:rPr>
              <a:t>La unidad básica es el componente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/>
        </p:nvSpPr>
        <p:spPr>
          <a:xfrm>
            <a:off x="1144588" y="185738"/>
            <a:ext cx="4286250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Arquitectura de Angular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38200" y="1119188"/>
            <a:ext cx="78946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</a:rPr>
              <a:t>Vista simplificada basada en componentes (Angular moderno)</a:t>
            </a:r>
            <a:endParaRPr/>
          </a:p>
        </p:txBody>
      </p:sp>
      <p:pic>
        <p:nvPicPr>
          <p:cNvPr id="225" name="Google Shape;225;p7" title="ChatGPT Image 22 mar 2026, 11_19_03 p.m..png"/>
          <p:cNvPicPr preferRelativeResize="0"/>
          <p:nvPr/>
        </p:nvPicPr>
        <p:blipFill rotWithShape="1">
          <a:blip r:embed="rId4">
            <a:alphaModFix/>
          </a:blip>
          <a:srcRect b="10016" l="0" r="0" t="13875"/>
          <a:stretch/>
        </p:blipFill>
        <p:spPr>
          <a:xfrm>
            <a:off x="1022350" y="2030275"/>
            <a:ext cx="7526350" cy="381865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30" name="Google Shape;230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8"/>
          <p:cNvSpPr txBox="1"/>
          <p:nvPr/>
        </p:nvSpPr>
        <p:spPr>
          <a:xfrm>
            <a:off x="1144609" y="185750"/>
            <a:ext cx="7526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Bootstrapping de Angular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15801" y="1158068"/>
            <a:ext cx="79551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bootstrapping es </a:t>
            </a:r>
            <a:r>
              <a:rPr lang="es-CL" sz="1800">
                <a:solidFill>
                  <a:schemeClr val="dk1"/>
                </a:solidFill>
              </a:rPr>
              <a:t>el proceso donde Angular inicia la aplicación.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8" title="ChatGPT Image 22 mar 2026, 11_54_04 p.m..png"/>
          <p:cNvPicPr preferRelativeResize="0"/>
          <p:nvPr/>
        </p:nvPicPr>
        <p:blipFill rotWithShape="1">
          <a:blip r:embed="rId4">
            <a:alphaModFix/>
          </a:blip>
          <a:srcRect b="3417" l="0" r="0" t="11585"/>
          <a:stretch/>
        </p:blipFill>
        <p:spPr>
          <a:xfrm>
            <a:off x="1211095" y="1956175"/>
            <a:ext cx="6995793" cy="431675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 txBox="1"/>
          <p:nvPr/>
        </p:nvSpPr>
        <p:spPr>
          <a:xfrm>
            <a:off x="3220450" y="3862932"/>
            <a:ext cx="18186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de estilo de código para formatear archivos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9" title="Captura de pantalla 2026-03-22 a la(s) 20.19.39.png"/>
          <p:cNvPicPr preferRelativeResize="0"/>
          <p:nvPr/>
        </p:nvPicPr>
        <p:blipFill rotWithShape="1">
          <a:blip r:embed="rId3">
            <a:alphaModFix/>
          </a:blip>
          <a:srcRect b="0" l="0" r="28156" t="0"/>
          <a:stretch/>
        </p:blipFill>
        <p:spPr>
          <a:xfrm>
            <a:off x="715800" y="1839569"/>
            <a:ext cx="2256000" cy="43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3229975" y="2805944"/>
            <a:ext cx="20853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los recursos activos estáticos de la aplicación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506150" y="3617669"/>
            <a:ext cx="18186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que se quieren ignorar del repositorio de git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7026225" y="4629125"/>
            <a:ext cx="1986000" cy="93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una aplicación node, son instrucciones de ejecución, 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aplicación, sus dependencias de desarrollo y ejecución.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29950" y="4936650"/>
            <a:ext cx="19146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 markdown que contiene generalidades del proyecto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angular logos" id="246" name="Google Shape;246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 txBox="1"/>
          <p:nvPr/>
        </p:nvSpPr>
        <p:spPr>
          <a:xfrm>
            <a:off x="1144587" y="185738"/>
            <a:ext cx="77723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Estructura de un proyecto Angular</a:t>
            </a:r>
            <a:endParaRPr/>
          </a:p>
        </p:txBody>
      </p:sp>
      <p:cxnSp>
        <p:nvCxnSpPr>
          <p:cNvPr id="248" name="Google Shape;248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0" y="6610594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15801" y="1158068"/>
            <a:ext cx="79551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proyecto Angular posee una estructura de directorios claramente identificable (seg</a:t>
            </a:r>
            <a:r>
              <a:rPr lang="es-CL" sz="1800">
                <a:solidFill>
                  <a:schemeClr val="dk1"/>
                </a:solidFill>
              </a:rPr>
              <a:t>ún la versión)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También llamado </a:t>
            </a:r>
            <a:r>
              <a:rPr b="1" i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scaffolding</a:t>
            </a:r>
            <a:endParaRPr b="1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3220350" y="5478475"/>
            <a:ext cx="16122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para el compilador de typescript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5244000" y="5739919"/>
            <a:ext cx="17346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de typescript para modo testing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5244000" y="5207111"/>
            <a:ext cx="17346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de typescript corriendo en desarrollo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3229950" y="4375036"/>
            <a:ext cx="19146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 utilizado para reconstruir nuestros m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ódulos de node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5506200" y="4105244"/>
            <a:ext cx="25959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de Angular para modos de desarrollo, test o producción o construcción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3220450" y="3328469"/>
            <a:ext cx="20853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recomendadas por Angular para el editor de código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5506150" y="2559199"/>
            <a:ext cx="25602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todos los 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paquetes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librerías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node usados en la aplicaci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ón (ref. package)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3220438" y="2267892"/>
            <a:ext cx="1818600" cy="47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Configuraciones del editor de c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ódigo de Visual Studio Code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6874325" y="1981282"/>
            <a:ext cx="1818600" cy="52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Utilizada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almacenar algún tipo de caché de la aplicación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>
            <a:endCxn id="259" idx="1"/>
          </p:cNvCxnSpPr>
          <p:nvPr/>
        </p:nvCxnSpPr>
        <p:spPr>
          <a:xfrm>
            <a:off x="2180525" y="2238982"/>
            <a:ext cx="4693800" cy="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1" name="Google Shape;261;p9"/>
          <p:cNvCxnSpPr>
            <a:stCxn id="258" idx="1"/>
          </p:cNvCxnSpPr>
          <p:nvPr/>
        </p:nvCxnSpPr>
        <p:spPr>
          <a:xfrm rot="10800000">
            <a:off x="2171638" y="2506692"/>
            <a:ext cx="104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2" name="Google Shape;262;p9"/>
          <p:cNvCxnSpPr>
            <a:endCxn id="257" idx="1"/>
          </p:cNvCxnSpPr>
          <p:nvPr/>
        </p:nvCxnSpPr>
        <p:spPr>
          <a:xfrm>
            <a:off x="2324050" y="2779849"/>
            <a:ext cx="3182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3" name="Google Shape;263;p9"/>
          <p:cNvCxnSpPr>
            <a:endCxn id="242" idx="1"/>
          </p:cNvCxnSpPr>
          <p:nvPr/>
        </p:nvCxnSpPr>
        <p:spPr>
          <a:xfrm>
            <a:off x="1733575" y="3044744"/>
            <a:ext cx="1496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4" name="Google Shape;264;p9"/>
          <p:cNvCxnSpPr>
            <a:endCxn id="256" idx="1"/>
          </p:cNvCxnSpPr>
          <p:nvPr/>
        </p:nvCxnSpPr>
        <p:spPr>
          <a:xfrm>
            <a:off x="2190850" y="3567269"/>
            <a:ext cx="1029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5" name="Google Shape;265;p9"/>
          <p:cNvCxnSpPr>
            <a:endCxn id="243" idx="1"/>
          </p:cNvCxnSpPr>
          <p:nvPr/>
        </p:nvCxnSpPr>
        <p:spPr>
          <a:xfrm>
            <a:off x="2171650" y="3838319"/>
            <a:ext cx="3334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6" name="Google Shape;266;p9"/>
          <p:cNvCxnSpPr>
            <a:endCxn id="255" idx="1"/>
          </p:cNvCxnSpPr>
          <p:nvPr/>
        </p:nvCxnSpPr>
        <p:spPr>
          <a:xfrm>
            <a:off x="2209800" y="4344044"/>
            <a:ext cx="3296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7" name="Google Shape;267;p9"/>
          <p:cNvCxnSpPr>
            <a:endCxn id="254" idx="1"/>
          </p:cNvCxnSpPr>
          <p:nvPr/>
        </p:nvCxnSpPr>
        <p:spPr>
          <a:xfrm>
            <a:off x="2571750" y="4613836"/>
            <a:ext cx="658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68" name="Google Shape;268;p9"/>
          <p:cNvCxnSpPr>
            <a:stCxn id="245" idx="1"/>
          </p:cNvCxnSpPr>
          <p:nvPr/>
        </p:nvCxnSpPr>
        <p:spPr>
          <a:xfrm rot="10800000">
            <a:off x="2276550" y="5175450"/>
            <a:ext cx="953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9" name="Google Shape;269;p9"/>
          <p:cNvCxnSpPr>
            <a:endCxn id="253" idx="1"/>
          </p:cNvCxnSpPr>
          <p:nvPr/>
        </p:nvCxnSpPr>
        <p:spPr>
          <a:xfrm>
            <a:off x="2514600" y="5445911"/>
            <a:ext cx="272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70" name="Google Shape;270;p9"/>
          <p:cNvCxnSpPr>
            <a:stCxn id="251" idx="1"/>
          </p:cNvCxnSpPr>
          <p:nvPr/>
        </p:nvCxnSpPr>
        <p:spPr>
          <a:xfrm rot="10800000">
            <a:off x="2228850" y="5699125"/>
            <a:ext cx="991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1" name="Google Shape;271;p9"/>
          <p:cNvCxnSpPr>
            <a:endCxn id="252" idx="1"/>
          </p:cNvCxnSpPr>
          <p:nvPr/>
        </p:nvCxnSpPr>
        <p:spPr>
          <a:xfrm flipH="1" rot="10800000">
            <a:off x="2552700" y="5960569"/>
            <a:ext cx="2691300" cy="2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72" name="Google Shape;272;p9"/>
          <p:cNvCxnSpPr>
            <a:stCxn id="240" idx="1"/>
          </p:cNvCxnSpPr>
          <p:nvPr/>
        </p:nvCxnSpPr>
        <p:spPr>
          <a:xfrm rot="10800000">
            <a:off x="2152750" y="4076682"/>
            <a:ext cx="1067700" cy="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73" name="Google Shape;273;p9"/>
          <p:cNvCxnSpPr>
            <a:endCxn id="244" idx="1"/>
          </p:cNvCxnSpPr>
          <p:nvPr/>
        </p:nvCxnSpPr>
        <p:spPr>
          <a:xfrm>
            <a:off x="2352525" y="4895975"/>
            <a:ext cx="4673700" cy="201600"/>
          </a:xfrm>
          <a:prstGeom prst="bentConnector3">
            <a:avLst>
              <a:gd fmla="val 62162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1a437e393_0_66"/>
          <p:cNvSpPr txBox="1"/>
          <p:nvPr/>
        </p:nvSpPr>
        <p:spPr>
          <a:xfrm>
            <a:off x="4748550" y="2488788"/>
            <a:ext cx="21264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de la app, 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registran los servicios globales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1a437e393_0_66"/>
          <p:cNvSpPr txBox="1"/>
          <p:nvPr/>
        </p:nvSpPr>
        <p:spPr>
          <a:xfrm>
            <a:off x="3045675" y="2217788"/>
            <a:ext cx="15930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Directorio del componente principal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1a437e393_0_66"/>
          <p:cNvSpPr txBox="1"/>
          <p:nvPr/>
        </p:nvSpPr>
        <p:spPr>
          <a:xfrm>
            <a:off x="4512525" y="4502875"/>
            <a:ext cx="14025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hoja de estilos css general del proyecto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d1a437e393_0_66"/>
          <p:cNvSpPr txBox="1"/>
          <p:nvPr/>
        </p:nvSpPr>
        <p:spPr>
          <a:xfrm>
            <a:off x="3045675" y="4244125"/>
            <a:ext cx="14025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 que carga el componente inicial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1a437e393_0_66"/>
          <p:cNvSpPr/>
          <p:nvPr/>
        </p:nvSpPr>
        <p:spPr>
          <a:xfrm>
            <a:off x="715800" y="1158073"/>
            <a:ext cx="795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structura de </a:t>
            </a:r>
            <a:r>
              <a:rPr lang="es-CL" sz="1800">
                <a:solidFill>
                  <a:schemeClr val="dk1"/>
                </a:solidFill>
              </a:rPr>
              <a:t>archivos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del directorio src (source):</a:t>
            </a:r>
            <a:endParaRPr b="1"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283" name="Google Shape;283;g3d1a437e393_0_6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d1a437e393_0_66"/>
          <p:cNvSpPr txBox="1"/>
          <p:nvPr/>
        </p:nvSpPr>
        <p:spPr>
          <a:xfrm>
            <a:off x="1144587" y="185738"/>
            <a:ext cx="777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Estructura de un proyecto Angular</a:t>
            </a:r>
            <a:endParaRPr/>
          </a:p>
        </p:txBody>
      </p:sp>
      <p:cxnSp>
        <p:nvCxnSpPr>
          <p:cNvPr id="285" name="Google Shape;285;g3d1a437e393_0_6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6" name="Google Shape;286;g3d1a437e393_0_66" title="Captura de pantalla 2026-03-22 a la(s) 20.40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050325"/>
            <a:ext cx="2220950" cy="27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d1a437e393_0_66"/>
          <p:cNvSpPr txBox="1"/>
          <p:nvPr/>
        </p:nvSpPr>
        <p:spPr>
          <a:xfrm>
            <a:off x="4512525" y="3977425"/>
            <a:ext cx="21264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donde se carga toda la aplicación y el componente principal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d1a437e393_0_66"/>
          <p:cNvCxnSpPr>
            <a:endCxn id="287" idx="1"/>
          </p:cNvCxnSpPr>
          <p:nvPr/>
        </p:nvCxnSpPr>
        <p:spPr>
          <a:xfrm>
            <a:off x="1833525" y="4198075"/>
            <a:ext cx="267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89" name="Google Shape;289;g3d1a437e393_0_66"/>
          <p:cNvCxnSpPr>
            <a:endCxn id="281" idx="1"/>
          </p:cNvCxnSpPr>
          <p:nvPr/>
        </p:nvCxnSpPr>
        <p:spPr>
          <a:xfrm>
            <a:off x="1743075" y="4464775"/>
            <a:ext cx="1302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0" name="Google Shape;290;g3d1a437e393_0_66"/>
          <p:cNvCxnSpPr>
            <a:endCxn id="280" idx="1"/>
          </p:cNvCxnSpPr>
          <p:nvPr/>
        </p:nvCxnSpPr>
        <p:spPr>
          <a:xfrm>
            <a:off x="1943025" y="4723525"/>
            <a:ext cx="2569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1" name="Google Shape;291;g3d1a437e393_0_66"/>
          <p:cNvCxnSpPr>
            <a:endCxn id="279" idx="1"/>
          </p:cNvCxnSpPr>
          <p:nvPr/>
        </p:nvCxnSpPr>
        <p:spPr>
          <a:xfrm>
            <a:off x="1743075" y="2438438"/>
            <a:ext cx="1302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2" name="Google Shape;292;g3d1a437e393_0_66"/>
          <p:cNvCxnSpPr>
            <a:endCxn id="278" idx="1"/>
          </p:cNvCxnSpPr>
          <p:nvPr/>
        </p:nvCxnSpPr>
        <p:spPr>
          <a:xfrm>
            <a:off x="2104950" y="2709438"/>
            <a:ext cx="2643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293" name="Google Shape;293;g3d1a437e393_0_66"/>
          <p:cNvCxnSpPr>
            <a:endCxn id="294" idx="1"/>
          </p:cNvCxnSpPr>
          <p:nvPr/>
        </p:nvCxnSpPr>
        <p:spPr>
          <a:xfrm>
            <a:off x="1723950" y="2957225"/>
            <a:ext cx="1312200" cy="7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4" name="Google Shape;294;g3d1a437e393_0_66"/>
          <p:cNvSpPr txBox="1"/>
          <p:nvPr/>
        </p:nvSpPr>
        <p:spPr>
          <a:xfrm>
            <a:off x="3036150" y="2814275"/>
            <a:ext cx="1402500" cy="300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Estilos del componente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g3d1a437e393_0_66"/>
          <p:cNvCxnSpPr>
            <a:endCxn id="296" idx="1"/>
          </p:cNvCxnSpPr>
          <p:nvPr/>
        </p:nvCxnSpPr>
        <p:spPr>
          <a:xfrm>
            <a:off x="1926050" y="3196718"/>
            <a:ext cx="3294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6" name="Google Shape;296;g3d1a437e393_0_66"/>
          <p:cNvSpPr txBox="1"/>
          <p:nvPr/>
        </p:nvSpPr>
        <p:spPr>
          <a:xfrm>
            <a:off x="5220050" y="3046567"/>
            <a:ext cx="1402500" cy="300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Estilos del componente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d1a437e393_0_66"/>
          <p:cNvSpPr txBox="1"/>
          <p:nvPr/>
        </p:nvSpPr>
        <p:spPr>
          <a:xfrm>
            <a:off x="3045675" y="3238675"/>
            <a:ext cx="21264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la navegación, o sea, qué componente se muestra según URL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g3d1a437e393_0_66"/>
          <p:cNvCxnSpPr>
            <a:endCxn id="297" idx="1"/>
          </p:cNvCxnSpPr>
          <p:nvPr/>
        </p:nvCxnSpPr>
        <p:spPr>
          <a:xfrm>
            <a:off x="2103075" y="3459325"/>
            <a:ext cx="942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9" name="Google Shape;299;g3d1a437e393_0_66"/>
          <p:cNvSpPr txBox="1"/>
          <p:nvPr/>
        </p:nvSpPr>
        <p:spPr>
          <a:xfrm>
            <a:off x="3045675" y="3800780"/>
            <a:ext cx="1402500" cy="300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componente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g3d1a437e393_0_66"/>
          <p:cNvCxnSpPr>
            <a:endCxn id="299" idx="1"/>
          </p:cNvCxnSpPr>
          <p:nvPr/>
        </p:nvCxnSpPr>
        <p:spPr>
          <a:xfrm>
            <a:off x="1683975" y="3947030"/>
            <a:ext cx="1361700" cy="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01" name="Google Shape;301;g3d1a437e393_0_66"/>
          <p:cNvSpPr txBox="1"/>
          <p:nvPr/>
        </p:nvSpPr>
        <p:spPr>
          <a:xfrm>
            <a:off x="5220050" y="3493282"/>
            <a:ext cx="1402500" cy="44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 para pruebas del componente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g3d1a437e393_0_66"/>
          <p:cNvCxnSpPr>
            <a:endCxn id="301" idx="1"/>
          </p:cNvCxnSpPr>
          <p:nvPr/>
        </p:nvCxnSpPr>
        <p:spPr>
          <a:xfrm>
            <a:off x="2047850" y="3713932"/>
            <a:ext cx="3172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