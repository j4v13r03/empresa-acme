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7086600" cy="8686800"/>
  <p:embeddedFontLst>
    <p:embeddedFont>
      <p:font typeface="Arimo"/>
      <p:regular r:id="rId17"/>
      <p:bold r:id="rId18"/>
      <p:italic r:id="rId19"/>
      <p:boldItalic r:id="rId20"/>
    </p:embeddedFon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kDyyUYXKzDe+ftv88kEIJDkaY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m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mo-italic.fntdata"/><Relationship Id="rId6" Type="http://schemas.openxmlformats.org/officeDocument/2006/relationships/slide" Target="slides/slide1.xml"/><Relationship Id="rId18" Type="http://schemas.openxmlformats.org/officeDocument/2006/relationships/font" Target="fonts/Arim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e5ba2a35b_0_13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e5ba2a35b_0_13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e5ba2a35b_0_37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de5ba2a35b_0_37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Servicios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Inyección de Dependencia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4056152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7945074" y="1859571"/>
            <a:ext cx="81304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/>
          </a:p>
        </p:txBody>
      </p:sp>
      <p:pic>
        <p:nvPicPr>
          <p:cNvPr descr="Logotipo&#10;&#10;Descripción generada automáticamente con confianza media"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363" y="287338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8" y="185738"/>
            <a:ext cx="38587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un Servicio?</a:t>
            </a:r>
            <a:endParaRPr/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service"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4907" y="1308236"/>
            <a:ext cx="3916042" cy="22027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/>
          <p:nvPr/>
        </p:nvSpPr>
        <p:spPr>
          <a:xfrm>
            <a:off x="874766" y="1191631"/>
            <a:ext cx="4431621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problema: </a:t>
            </a:r>
            <a:endParaRPr/>
          </a:p>
          <a:p>
            <a:pPr indent="-2349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54133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¿Cómo trabajamos con datos que no tienen relación directa con un componente?</a:t>
            </a:r>
            <a:endParaRPr/>
          </a:p>
          <a:p>
            <a:pPr indent="0" lvl="1" marL="2555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54133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¿Cómo compartimos datos para varios componentes?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74766" y="3511010"/>
            <a:ext cx="7858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Nuestros componentes necesitan de ciertos servicios, como la carga de datos de la BD, el sistema de registro o el logging.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74765" y="4382864"/>
            <a:ext cx="785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solución de Angular es utilizar Servicios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874765" y="4977718"/>
            <a:ext cx="7858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servicio es una clase con un propósito, independiente de cualquier componente, aportando datos o lógica compartida entre componentes y que encapsula la comunicación con elementos externos.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1144588" y="185738"/>
            <a:ext cx="53751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¿Cómo Funciona un Servicio?</a:t>
            </a:r>
            <a:endParaRPr/>
          </a:p>
        </p:txBody>
      </p:sp>
      <p:cxnSp>
        <p:nvCxnSpPr>
          <p:cNvPr id="117" name="Google Shape;117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838200" y="1212850"/>
            <a:ext cx="79565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idea es </a:t>
            </a:r>
            <a:r>
              <a:rPr lang="es-CL" sz="1800">
                <a:solidFill>
                  <a:schemeClr val="dk1"/>
                </a:solidFill>
              </a:rPr>
              <a:t>instanciar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 servicio en angular para que éste se encargue de crear una sola instancia del servicio (singleton)</a:t>
            </a:r>
            <a:endParaRPr/>
          </a:p>
        </p:txBody>
      </p:sp>
      <p:pic>
        <p:nvPicPr>
          <p:cNvPr id="120" name="Google Shape;120;p3" title="Gemini_Generated_Image_8ui2r78ui2r78ui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0113" y="2232139"/>
            <a:ext cx="7203775" cy="29890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/>
        </p:nvSpPr>
        <p:spPr>
          <a:xfrm>
            <a:off x="1144588" y="185738"/>
            <a:ext cx="49616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Inyección de Dependencias </a:t>
            </a:r>
            <a:endParaRPr/>
          </a:p>
        </p:txBody>
      </p:sp>
      <p:cxnSp>
        <p:nvCxnSpPr>
          <p:cNvPr id="127" name="Google Shape;127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841750" y="1225825"/>
            <a:ext cx="7953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7292B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Es un patrón de diseño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que se utiliza para proporcionar instancias de servicios u otras dependencias a una clase o componente que la requiera.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836812" y="2724186"/>
            <a:ext cx="526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7292B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La mayoría de las dependencias son servicios.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41418" y="2225056"/>
            <a:ext cx="789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7292B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Facilita la modularidad, flexibilidad y testeabilidad del código.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841418" y="4775378"/>
            <a:ext cx="7891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92B"/>
              </a:buClr>
              <a:buSzPts val="1800"/>
              <a:buFont typeface="Arial"/>
              <a:buChar char="•"/>
            </a:pPr>
            <a:r>
              <a:rPr i="0" lang="es-CL" sz="1800" u="none" cap="none" strike="noStrike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Usamos el decorador </a:t>
            </a:r>
            <a:r>
              <a:rPr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@Injectable</a:t>
            </a:r>
            <a:r>
              <a:rPr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indicar que un servicio es inyectable.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841743" y="3223317"/>
            <a:ext cx="7891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7292B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La primera vez que se inyecta un servicio, el inyector lo instancia y lo guarda en un contenedor.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841419" y="3999347"/>
            <a:ext cx="7891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7292B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Las siguientes inyecciones de ese mismo servicio utilizan la misma instancia ya creada del servicio, por eso los servicios son </a:t>
            </a:r>
            <a:r>
              <a:rPr b="1" i="1"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singletons</a:t>
            </a:r>
            <a:r>
              <a:rPr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838200" y="1225827"/>
            <a:ext cx="78945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Registrar el servicio es decirle a Angular que el </a:t>
            </a:r>
            <a:r>
              <a:rPr lang="es-CL" sz="1800">
                <a:solidFill>
                  <a:schemeClr val="dk1"/>
                </a:solidFill>
              </a:rPr>
              <a:t>servicio</a:t>
            </a:r>
            <a:r>
              <a:rPr lang="es-CL" sz="1800">
                <a:solidFill>
                  <a:schemeClr val="dk1"/>
                </a:solidFill>
              </a:rPr>
              <a:t> existe y la forma en que se entrega.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1144588" y="185738"/>
            <a:ext cx="36599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Registrar el Servicio</a:t>
            </a:r>
            <a:endParaRPr/>
          </a:p>
        </p:txBody>
      </p:sp>
      <p:cxnSp>
        <p:nvCxnSpPr>
          <p:cNvPr id="142" name="Google Shape;142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844646" y="5045638"/>
            <a:ext cx="788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lo registramos en un componente, todos sus hijos lo tienen disponible.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38200" y="2133897"/>
            <a:ext cx="7894500" cy="15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En Angular moderno, normalmente se registra por defecto con </a:t>
            </a:r>
            <a:r>
              <a:rPr b="1" lang="es-CL" sz="1800">
                <a:solidFill>
                  <a:schemeClr val="dk1"/>
                </a:solidFill>
              </a:rPr>
              <a:t>providedIn: 'root'</a:t>
            </a:r>
            <a:r>
              <a:rPr lang="es-CL" sz="1800">
                <a:solidFill>
                  <a:schemeClr val="dk1"/>
                </a:solidFill>
              </a:rPr>
              <a:t>, para indicar que: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Angular crea una sola instancia del servicio.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Está disponible en toda la aplicación.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No necesitas registrarlo en otro lugar.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44650" y="3878368"/>
            <a:ext cx="78816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También puede limitarse a un componente si queremos una instancia local, configurando el servicio en la lista de providers del componente. (p.e. providers: [Service])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1" name="Google Shape;151;g3de5ba2a35b_0_13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de5ba2a35b_0_13"/>
          <p:cNvSpPr txBox="1"/>
          <p:nvPr/>
        </p:nvSpPr>
        <p:spPr>
          <a:xfrm>
            <a:off x="1144612" y="185750"/>
            <a:ext cx="741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Servicios en Angular</a:t>
            </a:r>
            <a:endParaRPr/>
          </a:p>
        </p:txBody>
      </p:sp>
      <p:cxnSp>
        <p:nvCxnSpPr>
          <p:cNvPr id="153" name="Google Shape;153;g3de5ba2a35b_0_13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" name="Google Shape;154;g3de5ba2a35b_0_13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155" name="Google Shape;155;g3de5ba2a35b_0_13" title="ChatGPT Image 12 abr 2026, 12_24_40 p.m..png"/>
          <p:cNvPicPr preferRelativeResize="0"/>
          <p:nvPr/>
        </p:nvPicPr>
        <p:blipFill rotWithShape="1">
          <a:blip r:embed="rId4">
            <a:alphaModFix/>
          </a:blip>
          <a:srcRect b="0" l="0" r="0" t="14104"/>
          <a:stretch/>
        </p:blipFill>
        <p:spPr>
          <a:xfrm>
            <a:off x="1078113" y="1132752"/>
            <a:ext cx="6987775" cy="400134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de5ba2a35b_0_13"/>
          <p:cNvSpPr/>
          <p:nvPr/>
        </p:nvSpPr>
        <p:spPr>
          <a:xfrm>
            <a:off x="836812" y="5243982"/>
            <a:ext cx="526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7292B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7292B"/>
                </a:solidFill>
              </a:rPr>
              <a:t>El componente no cocina</a:t>
            </a:r>
            <a:r>
              <a:rPr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de5ba2a35b_0_13"/>
          <p:cNvSpPr/>
          <p:nvPr/>
        </p:nvSpPr>
        <p:spPr>
          <a:xfrm>
            <a:off x="836796" y="5723150"/>
            <a:ext cx="722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7292B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7292B"/>
                </a:solidFill>
              </a:rPr>
              <a:t>El servicio hace el trabajo (traer dato, aplicar l</a:t>
            </a:r>
            <a:r>
              <a:rPr lang="es-CL" sz="1800">
                <a:solidFill>
                  <a:srgbClr val="27292B"/>
                </a:solidFill>
              </a:rPr>
              <a:t>ógica)</a:t>
            </a:r>
            <a:r>
              <a:rPr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6" title="Captura de pantalla 2026-04-12 a la(s) 11.26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9625" y="3716699"/>
            <a:ext cx="4805100" cy="1861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6" title="Captura de pantalla 2026-04-12 a la(s) 11.25.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2448" y="3379036"/>
            <a:ext cx="2227400" cy="2170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64" name="Google Shape;164;p6"/>
          <p:cNvPicPr preferRelativeResize="0"/>
          <p:nvPr/>
        </p:nvPicPr>
        <p:blipFill rotWithShape="1">
          <a:blip r:embed="rId5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 txBox="1"/>
          <p:nvPr/>
        </p:nvSpPr>
        <p:spPr>
          <a:xfrm>
            <a:off x="1144588" y="185738"/>
            <a:ext cx="55547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Ejercicio: Construir un Servicio</a:t>
            </a:r>
            <a:endParaRPr/>
          </a:p>
        </p:txBody>
      </p:sp>
      <p:cxnSp>
        <p:nvCxnSpPr>
          <p:cNvPr id="166" name="Google Shape;166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838200" y="2021423"/>
            <a:ext cx="79565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primero es generar el esqueleto del servicio usando Angular CLI: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1252446" y="4944932"/>
            <a:ext cx="2227500" cy="252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38199" y="1214607"/>
            <a:ext cx="79565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Practicaremos creando un servicio, llamado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Product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entregue la lista de productos.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 rot="10800000">
            <a:off x="838300" y="4914844"/>
            <a:ext cx="306300" cy="312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175857" y="2449816"/>
            <a:ext cx="50795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ng generate service ./product/product</a:t>
            </a:r>
            <a:endParaRPr sz="14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255379" y="5847458"/>
            <a:ext cx="2450100" cy="591600"/>
          </a:xfrm>
          <a:prstGeom prst="wedgeRectCallout">
            <a:avLst>
              <a:gd fmla="val -42390" name="adj1"/>
              <a:gd fmla="val -101518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Agregaremos un método para obtener la lista de productos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3917021" y="3373681"/>
            <a:ext cx="18517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product.ts</a:t>
            </a:r>
            <a:endParaRPr i="1" sz="16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625424" y="3823301"/>
            <a:ext cx="1894800" cy="591600"/>
          </a:xfrm>
          <a:prstGeom prst="wedgeRectCallout">
            <a:avLst>
              <a:gd fmla="val -67132" name="adj1"/>
              <a:gd fmla="val 6931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Registra el servicio de manera global</a:t>
            </a:r>
            <a:endParaRPr/>
          </a:p>
        </p:txBody>
      </p:sp>
      <p:pic>
        <p:nvPicPr>
          <p:cNvPr id="176" name="Google Shape;176;p6" title="Captura de pantalla 2026-04-12 a la(s) 11.24.27.png"/>
          <p:cNvPicPr preferRelativeResize="0"/>
          <p:nvPr/>
        </p:nvPicPr>
        <p:blipFill rotWithShape="1">
          <a:blip r:embed="rId6">
            <a:alphaModFix/>
          </a:blip>
          <a:srcRect b="4988" l="0" r="0" t="0"/>
          <a:stretch/>
        </p:blipFill>
        <p:spPr>
          <a:xfrm>
            <a:off x="1237300" y="2767225"/>
            <a:ext cx="5388125" cy="462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7" title="Captura de pantalla 2026-04-12 a la(s) 11.31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112" y="2253647"/>
            <a:ext cx="4367017" cy="295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7" title="Captura de pantalla 2026-04-12 a la(s) 11.32.53.png"/>
          <p:cNvPicPr preferRelativeResize="0"/>
          <p:nvPr/>
        </p:nvPicPr>
        <p:blipFill rotWithShape="1">
          <a:blip r:embed="rId4">
            <a:alphaModFix/>
          </a:blip>
          <a:srcRect b="33862" l="0" r="16051" t="0"/>
          <a:stretch/>
        </p:blipFill>
        <p:spPr>
          <a:xfrm>
            <a:off x="4682200" y="3234184"/>
            <a:ext cx="4017525" cy="2634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83" name="Google Shape;183;p7"/>
          <p:cNvPicPr preferRelativeResize="0"/>
          <p:nvPr/>
        </p:nvPicPr>
        <p:blipFill rotWithShape="1">
          <a:blip r:embed="rId5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 txBox="1"/>
          <p:nvPr/>
        </p:nvSpPr>
        <p:spPr>
          <a:xfrm>
            <a:off x="1144588" y="185738"/>
            <a:ext cx="59137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Ejercicio: Construir un Servicio…</a:t>
            </a:r>
            <a:endParaRPr/>
          </a:p>
        </p:txBody>
      </p:sp>
      <p:cxnSp>
        <p:nvCxnSpPr>
          <p:cNvPr id="185" name="Google Shape;185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6" name="Google Shape;186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838200" y="1212850"/>
            <a:ext cx="79565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Creamos la funcionalidad de nuestro servicio. Implementamos el método </a:t>
            </a:r>
            <a:r>
              <a:rPr i="1"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getProducts()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retorna la lista de productos completa: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1581880" y="4157276"/>
            <a:ext cx="2757000" cy="7938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1239504" y="1915097"/>
            <a:ext cx="185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product.ts</a:t>
            </a:r>
            <a:endParaRPr i="1" sz="16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7"/>
          <p:cNvCxnSpPr/>
          <p:nvPr/>
        </p:nvCxnSpPr>
        <p:spPr>
          <a:xfrm flipH="1" rot="10800000">
            <a:off x="2752950" y="3348634"/>
            <a:ext cx="1928700" cy="1200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1" name="Google Shape;191;p7"/>
          <p:cNvSpPr/>
          <p:nvPr/>
        </p:nvSpPr>
        <p:spPr>
          <a:xfrm>
            <a:off x="1452774" y="2465059"/>
            <a:ext cx="3881700" cy="3009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682200" y="3210334"/>
            <a:ext cx="4017600" cy="26346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068850" y="2253651"/>
            <a:ext cx="2631000" cy="783900"/>
          </a:xfrm>
          <a:prstGeom prst="wedgeRectCallout">
            <a:avLst>
              <a:gd fmla="val -34065" name="adj1"/>
              <a:gd fmla="val 10928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Mover los datos de los productos ubicados en </a:t>
            </a:r>
            <a:r>
              <a:rPr i="1"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app.ts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i="1"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product.ts</a:t>
            </a:r>
            <a:endParaRPr i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8" title="Captura de pantalla 2026-04-12 a la(s) 11.36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500" y="4515880"/>
            <a:ext cx="5157801" cy="153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99" name="Google Shape;199;p8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/>
        </p:nvSpPr>
        <p:spPr>
          <a:xfrm>
            <a:off x="1144588" y="185738"/>
            <a:ext cx="56973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Ejercicio: Inyectando el Servicio</a:t>
            </a:r>
            <a:endParaRPr/>
          </a:p>
        </p:txBody>
      </p:sp>
      <p:cxnSp>
        <p:nvCxnSpPr>
          <p:cNvPr id="201" name="Google Shape;201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" name="Google Shape;202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838200" y="1212850"/>
            <a:ext cx="7956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Necesitamos definir nuestro servicio como una dependencia del componente que la usa,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1154700" y="2371000"/>
            <a:ext cx="75780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Creamos una variable, y le asignamos la instancia del servicio en el constructor.</a:t>
            </a:r>
            <a:endParaRPr/>
          </a:p>
          <a:p>
            <a:pPr indent="-241300" lvl="0" marL="28575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TypeScript nos provee una forma abreviada de hacer esto:</a:t>
            </a:r>
            <a:endParaRPr/>
          </a:p>
        </p:txBody>
      </p:sp>
      <p:sp>
        <p:nvSpPr>
          <p:cNvPr id="205" name="Google Shape;205;p8"/>
          <p:cNvSpPr txBox="1"/>
          <p:nvPr/>
        </p:nvSpPr>
        <p:spPr>
          <a:xfrm>
            <a:off x="1052204" y="3585562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</a:t>
            </a:r>
            <a:endParaRPr i="1" sz="16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206500" y="5654018"/>
            <a:ext cx="4785000" cy="3117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838200" y="1930426"/>
            <a:ext cx="78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nos provee un mecanismo para inyectar dependencias:</a:t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5991512" y="4515874"/>
            <a:ext cx="1897200" cy="569100"/>
          </a:xfrm>
          <a:prstGeom prst="wedgeRectCallout">
            <a:avLst>
              <a:gd fmla="val -122767" name="adj1"/>
              <a:gd fmla="val 14472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Inyección de dependencia</a:t>
            </a:r>
            <a:endParaRPr/>
          </a:p>
        </p:txBody>
      </p:sp>
      <p:cxnSp>
        <p:nvCxnSpPr>
          <p:cNvPr id="209" name="Google Shape;209;p8"/>
          <p:cNvCxnSpPr/>
          <p:nvPr/>
        </p:nvCxnSpPr>
        <p:spPr>
          <a:xfrm>
            <a:off x="1144588" y="4391451"/>
            <a:ext cx="245100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dot"/>
            <a:miter lim="800000"/>
            <a:headEnd len="sm" w="sm" type="none"/>
            <a:tailEnd len="sm" w="sm" type="none"/>
          </a:ln>
        </p:spPr>
      </p:cxnSp>
      <p:pic>
        <p:nvPicPr>
          <p:cNvPr id="210" name="Google Shape;210;p8" title="Captura de pantalla 2026-04-12 a la(s) 11.36.2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4600" y="3902618"/>
            <a:ext cx="37719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/>
          <p:nvPr/>
        </p:nvSpPr>
        <p:spPr>
          <a:xfrm>
            <a:off x="1144588" y="3910418"/>
            <a:ext cx="3771900" cy="3693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6456900" y="5395950"/>
            <a:ext cx="23379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El componente NO </a:t>
            </a:r>
            <a:r>
              <a:rPr lang="es-CL" sz="1800">
                <a:solidFill>
                  <a:schemeClr val="dk1"/>
                </a:solidFill>
              </a:rPr>
              <a:t>debería</a:t>
            </a:r>
            <a:r>
              <a:rPr lang="es-CL" sz="1800">
                <a:solidFill>
                  <a:schemeClr val="dk1"/>
                </a:solidFill>
              </a:rPr>
              <a:t> tener datos!!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17" name="Google Shape;217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 txBox="1"/>
          <p:nvPr/>
        </p:nvSpPr>
        <p:spPr>
          <a:xfrm>
            <a:off x="1144588" y="185738"/>
            <a:ext cx="745428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Ejercicio: Usar el Servicio Product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" name="Google Shape;220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838200" y="1212850"/>
            <a:ext cx="79565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Luego llamamos al método </a:t>
            </a:r>
            <a:r>
              <a:rPr i="1"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getProducts()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servicio. </a:t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1144856" y="2481294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</a:t>
            </a:r>
            <a:endParaRPr i="1" sz="16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843873" y="1737661"/>
            <a:ext cx="79509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Necesitamos usar el hook </a:t>
            </a:r>
            <a:r>
              <a:rPr i="1"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ngOnInit()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componente para que la lista se obtenga cuando se inicialice el componente:</a:t>
            </a:r>
            <a:endParaRPr/>
          </a:p>
        </p:txBody>
      </p:sp>
      <p:pic>
        <p:nvPicPr>
          <p:cNvPr id="224" name="Google Shape;224;p9" title="Captura de pantalla 2026-04-12 a la(s) 11.40.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6497" y="2780887"/>
            <a:ext cx="5978025" cy="262987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/>
          <p:nvPr/>
        </p:nvSpPr>
        <p:spPr>
          <a:xfrm>
            <a:off x="1406525" y="4390355"/>
            <a:ext cx="5637300" cy="9165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838200" y="5567233"/>
            <a:ext cx="78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</a:rPr>
              <a:t>Ojo</a:t>
            </a:r>
            <a:r>
              <a:rPr lang="es-CL" sz="1800">
                <a:solidFill>
                  <a:schemeClr val="dk1"/>
                </a:solidFill>
              </a:rPr>
              <a:t>: </a:t>
            </a:r>
            <a:r>
              <a:rPr lang="es-CL" sz="1800">
                <a:solidFill>
                  <a:schemeClr val="dk1"/>
                </a:solidFill>
              </a:rPr>
              <a:t>Aquí usamos hooks porque estamos llamando algo externo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31" name="Google Shape;231;g3de5ba2a35b_0_37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de5ba2a35b_0_37"/>
          <p:cNvSpPr txBox="1"/>
          <p:nvPr/>
        </p:nvSpPr>
        <p:spPr>
          <a:xfrm>
            <a:off x="1144588" y="185738"/>
            <a:ext cx="745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Consideraciones importantes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g3de5ba2a35b_0_37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4" name="Google Shape;234;g3de5ba2a35b_0_3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35" name="Google Shape;235;g3de5ba2a35b_0_37"/>
          <p:cNvSpPr/>
          <p:nvPr/>
        </p:nvSpPr>
        <p:spPr>
          <a:xfrm>
            <a:off x="838200" y="1212850"/>
            <a:ext cx="795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El componente NO debería tener los datos.</a:t>
            </a:r>
            <a:endParaRPr/>
          </a:p>
        </p:txBody>
      </p:sp>
      <p:sp>
        <p:nvSpPr>
          <p:cNvPr id="236" name="Google Shape;236;g3de5ba2a35b_0_37"/>
          <p:cNvSpPr/>
          <p:nvPr/>
        </p:nvSpPr>
        <p:spPr>
          <a:xfrm>
            <a:off x="843873" y="1754924"/>
            <a:ext cx="79509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Usamos hooks cuando necesitamos inyectar datos externos y/o compartidos.</a:t>
            </a:r>
            <a:endParaRPr/>
          </a:p>
        </p:txBody>
      </p:sp>
      <p:sp>
        <p:nvSpPr>
          <p:cNvPr id="237" name="Google Shape;237;g3de5ba2a35b_0_37"/>
          <p:cNvSpPr/>
          <p:nvPr/>
        </p:nvSpPr>
        <p:spPr>
          <a:xfrm>
            <a:off x="869238" y="2573899"/>
            <a:ext cx="78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Para datos internos usamos </a:t>
            </a:r>
            <a:r>
              <a:rPr b="1" lang="es-CL" sz="1800">
                <a:solidFill>
                  <a:schemeClr val="dk1"/>
                </a:solidFill>
              </a:rPr>
              <a:t>Signal.</a:t>
            </a:r>
            <a:endParaRPr/>
          </a:p>
        </p:txBody>
      </p:sp>
      <p:sp>
        <p:nvSpPr>
          <p:cNvPr id="238" name="Google Shape;238;g3de5ba2a35b_0_37"/>
          <p:cNvSpPr/>
          <p:nvPr/>
        </p:nvSpPr>
        <p:spPr>
          <a:xfrm>
            <a:off x="869238" y="3115973"/>
            <a:ext cx="78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El servicio NO mantiene el estado… el componente sí.</a:t>
            </a:r>
            <a:endParaRPr/>
          </a:p>
        </p:txBody>
      </p:sp>
      <p:sp>
        <p:nvSpPr>
          <p:cNvPr id="239" name="Google Shape;239;g3de5ba2a35b_0_37"/>
          <p:cNvSpPr/>
          <p:nvPr/>
        </p:nvSpPr>
        <p:spPr>
          <a:xfrm>
            <a:off x="869250" y="3658047"/>
            <a:ext cx="78945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El componente pide… el servicio responde… y el signal mantiene todo actualizado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