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9144000"/>
  <p:notesSz cx="7086600" cy="8686800"/>
  <p:embeddedFontLst>
    <p:embeddedFont>
      <p:font typeface="Arimo"/>
      <p:regular r:id="rId16"/>
      <p:bold r:id="rId17"/>
      <p:italic r:id="rId18"/>
      <p:boldItalic r:id="rId19"/>
    </p:embeddedFont>
    <p:embeddedFont>
      <p:font typeface="Arial Black"/>
      <p:regular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1" roundtripDataSignature="AMtx7mgr4M+h5D5GvGOKB3PJXreRqNgbd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ArialBlack-regular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Arimo-bold.fntdata"/><Relationship Id="rId16" Type="http://schemas.openxmlformats.org/officeDocument/2006/relationships/font" Target="fonts/Arim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Arimo-boldItalic.fntdata"/><Relationship Id="rId6" Type="http://schemas.openxmlformats.org/officeDocument/2006/relationships/slide" Target="slides/slide1.xml"/><Relationship Id="rId18" Type="http://schemas.openxmlformats.org/officeDocument/2006/relationships/font" Target="fonts/Arim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2"/>
            <a:ext cx="3071502" cy="436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013494" y="2"/>
            <a:ext cx="3071502" cy="436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250680"/>
            <a:ext cx="3071502" cy="4361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013494" y="8250680"/>
            <a:ext cx="3071502" cy="4361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CL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4013494" y="8250680"/>
            <a:ext cx="3071502" cy="4361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CL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3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5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7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e64088493f_0_0:notes"/>
          <p:cNvSpPr txBox="1"/>
          <p:nvPr>
            <p:ph idx="1" type="body"/>
          </p:nvPr>
        </p:nvSpPr>
        <p:spPr>
          <a:xfrm>
            <a:off x="709302" y="4180227"/>
            <a:ext cx="5667900" cy="342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g3e64088493f_0_0:notes"/>
          <p:cNvSpPr/>
          <p:nvPr>
            <p:ph idx="2" type="sldImg"/>
          </p:nvPr>
        </p:nvSpPr>
        <p:spPr>
          <a:xfrm>
            <a:off x="1589088" y="1085850"/>
            <a:ext cx="3908400" cy="2930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8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9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9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0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s-CL"/>
              <a:t>Un modal abierto o cerrado también es estado de la aplicación.</a:t>
            </a:r>
            <a:endParaRPr/>
          </a:p>
        </p:txBody>
      </p:sp>
      <p:sp>
        <p:nvSpPr>
          <p:cNvPr id="230" name="Google Shape;230;p10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1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1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/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5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3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8" name="Google Shape;18;p13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4"/>
          <p:cNvSpPr txBox="1"/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4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4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5"/>
          <p:cNvSpPr txBox="1"/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5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15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5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5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6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5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6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16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6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6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7"/>
          <p:cNvSpPr txBox="1"/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7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17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7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7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7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8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8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8" name="Google Shape;48;p18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18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0" name="Google Shape;50;p18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18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8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9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9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0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0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61" name="Google Shape;61;p20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2" name="Google Shape;62;p20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0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1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1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1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9" name="Google Shape;69;p21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1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2"/>
          <p:cNvSpPr txBox="1"/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2"/>
          <p:cNvSpPr txBox="1"/>
          <p:nvPr>
            <p:ph idx="1" type="body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2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2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2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3"/>
          <p:cNvSpPr txBox="1"/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3"/>
          <p:cNvSpPr txBox="1"/>
          <p:nvPr>
            <p:ph idx="1" type="body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3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3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3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 txBox="1"/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12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115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115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2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2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2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jp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22.png"/><Relationship Id="rId5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1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11.png"/><Relationship Id="rId11" Type="http://schemas.openxmlformats.org/officeDocument/2006/relationships/image" Target="../media/image13.png"/><Relationship Id="rId10" Type="http://schemas.openxmlformats.org/officeDocument/2006/relationships/image" Target="../media/image5.png"/><Relationship Id="rId9" Type="http://schemas.openxmlformats.org/officeDocument/2006/relationships/image" Target="../media/image16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19.png"/><Relationship Id="rId8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6.png"/><Relationship Id="rId4" Type="http://schemas.openxmlformats.org/officeDocument/2006/relationships/image" Target="../media/image4.png"/><Relationship Id="rId5" Type="http://schemas.openxmlformats.org/officeDocument/2006/relationships/image" Target="../media/image2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2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4.png"/><Relationship Id="rId4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8.png"/><Relationship Id="rId4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14.gif"/><Relationship Id="rId5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5.png"/><Relationship Id="rId4" Type="http://schemas.openxmlformats.org/officeDocument/2006/relationships/image" Target="../media/image4.png"/><Relationship Id="rId5" Type="http://schemas.openxmlformats.org/officeDocument/2006/relationships/image" Target="../media/image15.png"/><Relationship Id="rId6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/>
          <p:nvPr>
            <p:ph type="ctrTitle"/>
          </p:nvPr>
        </p:nvSpPr>
        <p:spPr>
          <a:xfrm>
            <a:off x="3352800" y="2157413"/>
            <a:ext cx="5567363" cy="965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4800">
                <a:solidFill>
                  <a:srgbClr val="D20000"/>
                </a:solidFill>
                <a:latin typeface="Arial Black"/>
                <a:ea typeface="Arial Black"/>
                <a:cs typeface="Arial Black"/>
                <a:sym typeface="Arial Black"/>
              </a:rPr>
              <a:t>ANGULAR</a:t>
            </a:r>
            <a:endParaRPr b="1">
              <a:solidFill>
                <a:srgbClr val="D2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90" name="Google Shape;90;p1"/>
          <p:cNvSpPr txBox="1"/>
          <p:nvPr>
            <p:ph idx="1" type="subTitle"/>
          </p:nvPr>
        </p:nvSpPr>
        <p:spPr>
          <a:xfrm>
            <a:off x="762000" y="5095875"/>
            <a:ext cx="7848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000"/>
              <a:buFont typeface="Arial"/>
              <a:buNone/>
            </a:pPr>
            <a:r>
              <a:rPr lang="es-CL" sz="2000">
                <a:solidFill>
                  <a:srgbClr val="404040"/>
                </a:solidFill>
              </a:rPr>
              <a:t>César Aguilera Sepúlveda</a:t>
            </a:r>
            <a:endParaRPr/>
          </a:p>
          <a:p>
            <a:pPr indent="0" lvl="0" marL="0" rtl="0" algn="ctr">
              <a:spcBef>
                <a:spcPts val="700"/>
              </a:spcBef>
              <a:spcAft>
                <a:spcPts val="0"/>
              </a:spcAft>
              <a:buClr>
                <a:srgbClr val="0033CC"/>
              </a:buClr>
              <a:buSzPts val="2000"/>
              <a:buFont typeface="Arial"/>
              <a:buNone/>
            </a:pPr>
            <a:r>
              <a:rPr i="1" lang="es-CL" sz="2000">
                <a:solidFill>
                  <a:srgbClr val="0033CC"/>
                </a:solidFill>
              </a:rPr>
              <a:t>caguilsepulveda@gmail.com</a:t>
            </a:r>
            <a:endParaRPr sz="2000">
              <a:solidFill>
                <a:srgbClr val="3F3F3F"/>
              </a:solidFill>
            </a:endParaRPr>
          </a:p>
        </p:txBody>
      </p:sp>
      <p:pic>
        <p:nvPicPr>
          <p:cNvPr descr="escudo_color" id="91" name="Google Shape;91;p1"/>
          <p:cNvPicPr preferRelativeResize="0"/>
          <p:nvPr/>
        </p:nvPicPr>
        <p:blipFill rotWithShape="1">
          <a:blip r:embed="rId3">
            <a:alphaModFix/>
          </a:blip>
          <a:srcRect b="0" l="0" r="2507" t="0"/>
          <a:stretch/>
        </p:blipFill>
        <p:spPr>
          <a:xfrm>
            <a:off x="304800" y="304800"/>
            <a:ext cx="1600200" cy="1019175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"/>
          <p:cNvSpPr/>
          <p:nvPr/>
        </p:nvSpPr>
        <p:spPr>
          <a:xfrm>
            <a:off x="3352800" y="3090863"/>
            <a:ext cx="507841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28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Ventanas Modales</a:t>
            </a:r>
            <a:endParaRPr b="1" i="0" sz="28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"/>
          <p:cNvSpPr/>
          <p:nvPr/>
        </p:nvSpPr>
        <p:spPr>
          <a:xfrm>
            <a:off x="190500" y="6477000"/>
            <a:ext cx="8724900" cy="312738"/>
          </a:xfrm>
          <a:prstGeom prst="roundRect">
            <a:avLst>
              <a:gd fmla="val 16667" name="adj"/>
            </a:avLst>
          </a:prstGeom>
          <a:solidFill>
            <a:srgbClr val="0070C0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94" name="Google Shape;94;p1"/>
          <p:cNvSpPr/>
          <p:nvPr/>
        </p:nvSpPr>
        <p:spPr>
          <a:xfrm>
            <a:off x="3429000" y="3673796"/>
            <a:ext cx="5181600" cy="46037"/>
          </a:xfrm>
          <a:prstGeom prst="rect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5" name="Google Shape;95;p1"/>
          <p:cNvPicPr preferRelativeResize="0"/>
          <p:nvPr/>
        </p:nvPicPr>
        <p:blipFill rotWithShape="1">
          <a:blip r:embed="rId4">
            <a:alphaModFix/>
          </a:blip>
          <a:srcRect b="0" l="6232" r="5907" t="0"/>
          <a:stretch/>
        </p:blipFill>
        <p:spPr>
          <a:xfrm>
            <a:off x="762000" y="2206625"/>
            <a:ext cx="2386013" cy="2593975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"/>
          <p:cNvSpPr txBox="1"/>
          <p:nvPr/>
        </p:nvSpPr>
        <p:spPr>
          <a:xfrm>
            <a:off x="7448353" y="1859571"/>
            <a:ext cx="1425390" cy="144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8800" u="none" cap="none" strike="noStrike">
                <a:solidFill>
                  <a:srgbClr val="7F7F7F"/>
                </a:solidFill>
                <a:latin typeface="Consolas"/>
                <a:ea typeface="Consolas"/>
                <a:cs typeface="Consolas"/>
                <a:sym typeface="Consolas"/>
              </a:rPr>
              <a:t>12</a:t>
            </a:r>
            <a:endParaRPr/>
          </a:p>
        </p:txBody>
      </p:sp>
      <p:pic>
        <p:nvPicPr>
          <p:cNvPr id="97" name="Google Shape;97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33668" y="228150"/>
            <a:ext cx="1897170" cy="11084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102" name="Google Shape;102;p2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2"/>
          <p:cNvSpPr txBox="1"/>
          <p:nvPr/>
        </p:nvSpPr>
        <p:spPr>
          <a:xfrm>
            <a:off x="1144588" y="185738"/>
            <a:ext cx="517904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¿Qué es una Ventana Modal?</a:t>
            </a:r>
            <a:endParaRPr/>
          </a:p>
        </p:txBody>
      </p:sp>
      <p:cxnSp>
        <p:nvCxnSpPr>
          <p:cNvPr id="104" name="Google Shape;104;p2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5" name="Google Shape;105;p2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pic>
        <p:nvPicPr>
          <p:cNvPr id="106" name="Google Shape;106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5179" y="1689299"/>
            <a:ext cx="6346771" cy="4640996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"/>
          <p:cNvSpPr/>
          <p:nvPr/>
        </p:nvSpPr>
        <p:spPr>
          <a:xfrm>
            <a:off x="627062" y="1164637"/>
            <a:ext cx="810577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Código Bootstrap 4 para diseñar una ventana modal.</a:t>
            </a:r>
            <a:endParaRPr/>
          </a:p>
        </p:txBody>
      </p:sp>
      <p:pic>
        <p:nvPicPr>
          <p:cNvPr id="108" name="Google Shape;108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44834" y="3620980"/>
            <a:ext cx="3300628" cy="1282986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109" name="Google Shape;109;p2"/>
          <p:cNvSpPr txBox="1"/>
          <p:nvPr/>
        </p:nvSpPr>
        <p:spPr>
          <a:xfrm>
            <a:off x="636867" y="3036282"/>
            <a:ext cx="76174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Título</a:t>
            </a:r>
            <a:endParaRPr/>
          </a:p>
        </p:txBody>
      </p:sp>
      <p:sp>
        <p:nvSpPr>
          <p:cNvPr id="110" name="Google Shape;110;p2"/>
          <p:cNvSpPr txBox="1"/>
          <p:nvPr/>
        </p:nvSpPr>
        <p:spPr>
          <a:xfrm>
            <a:off x="532866" y="4984035"/>
            <a:ext cx="85151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  <a:endParaRPr sz="18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2"/>
          <p:cNvSpPr txBox="1"/>
          <p:nvPr/>
        </p:nvSpPr>
        <p:spPr>
          <a:xfrm>
            <a:off x="471667" y="4047699"/>
            <a:ext cx="94128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Cuerpo</a:t>
            </a:r>
            <a:endParaRPr/>
          </a:p>
        </p:txBody>
      </p:sp>
      <p:sp>
        <p:nvSpPr>
          <p:cNvPr id="112" name="Google Shape;112;p2"/>
          <p:cNvSpPr/>
          <p:nvPr/>
        </p:nvSpPr>
        <p:spPr>
          <a:xfrm>
            <a:off x="1459813" y="2939408"/>
            <a:ext cx="235834" cy="611990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2"/>
          <p:cNvSpPr/>
          <p:nvPr/>
        </p:nvSpPr>
        <p:spPr>
          <a:xfrm>
            <a:off x="1461305" y="3936844"/>
            <a:ext cx="235834" cy="611990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2"/>
          <p:cNvSpPr/>
          <p:nvPr/>
        </p:nvSpPr>
        <p:spPr>
          <a:xfrm>
            <a:off x="1459813" y="4934280"/>
            <a:ext cx="235834" cy="611990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2"/>
          <p:cNvSpPr/>
          <p:nvPr/>
        </p:nvSpPr>
        <p:spPr>
          <a:xfrm>
            <a:off x="4021209" y="1645051"/>
            <a:ext cx="4767341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Una ventana modal  es una capa que se superpone a las demás quedando en primer plano de nuestra web y dejando en un segundo plano el resto de la página.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120" name="Google Shape;120;p3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3"/>
          <p:cNvSpPr txBox="1"/>
          <p:nvPr/>
        </p:nvSpPr>
        <p:spPr>
          <a:xfrm>
            <a:off x="1144588" y="185738"/>
            <a:ext cx="7741735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Crear Ventana Modal para Agregar Producto</a:t>
            </a:r>
            <a:endParaRPr/>
          </a:p>
        </p:txBody>
      </p:sp>
      <p:cxnSp>
        <p:nvCxnSpPr>
          <p:cNvPr id="122" name="Google Shape;122;p3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3" name="Google Shape;123;p3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124" name="Google Shape;124;p3"/>
          <p:cNvSpPr/>
          <p:nvPr/>
        </p:nvSpPr>
        <p:spPr>
          <a:xfrm>
            <a:off x="627062" y="1164637"/>
            <a:ext cx="8105775" cy="9694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Crearemos la ventana modal como un </a:t>
            </a:r>
            <a:r>
              <a:rPr lang="es-CL" sz="1800">
                <a:solidFill>
                  <a:schemeClr val="dk1"/>
                </a:solidFill>
              </a:rPr>
              <a:t>componente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219075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</a:pPr>
            <a:r>
              <a:t/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9075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</a:pPr>
            <a:r>
              <a:t/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C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reamos el </a:t>
            </a:r>
            <a:r>
              <a:rPr lang="es-CL" sz="1800">
                <a:solidFill>
                  <a:schemeClr val="dk1"/>
                </a:solidFill>
              </a:rPr>
              <a:t>componente</a:t>
            </a:r>
            <a:endParaRPr/>
          </a:p>
        </p:txBody>
      </p:sp>
      <p:sp>
        <p:nvSpPr>
          <p:cNvPr id="125" name="Google Shape;125;p3"/>
          <p:cNvSpPr/>
          <p:nvPr/>
        </p:nvSpPr>
        <p:spPr>
          <a:xfrm>
            <a:off x="749727" y="2292875"/>
            <a:ext cx="4150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030A0"/>
                </a:solidFill>
                <a:latin typeface="Consolas"/>
                <a:ea typeface="Consolas"/>
                <a:cs typeface="Consolas"/>
                <a:sym typeface="Consolas"/>
              </a:rPr>
              <a:t>&gt; </a:t>
            </a:r>
            <a:r>
              <a:rPr lang="es-CL" sz="1800">
                <a:solidFill>
                  <a:srgbClr val="7030A0"/>
                </a:solidFill>
                <a:latin typeface="Consolas"/>
                <a:ea typeface="Consolas"/>
                <a:cs typeface="Consolas"/>
                <a:sym typeface="Consolas"/>
              </a:rPr>
              <a:t>ng g c ./services/modal-add</a:t>
            </a:r>
            <a:endParaRPr sz="1800">
              <a:solidFill>
                <a:srgbClr val="7030A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26" name="Google Shape;126;p3" title="Captura de pantalla 2026-04-24 a la(s) 14.27.0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98295" y="2950063"/>
            <a:ext cx="3947406" cy="2771337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3"/>
          <p:cNvSpPr/>
          <p:nvPr/>
        </p:nvSpPr>
        <p:spPr>
          <a:xfrm>
            <a:off x="2985075" y="4160200"/>
            <a:ext cx="2444100" cy="15612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3"/>
          <p:cNvSpPr/>
          <p:nvPr/>
        </p:nvSpPr>
        <p:spPr>
          <a:xfrm>
            <a:off x="541362" y="5242599"/>
            <a:ext cx="1952100" cy="573600"/>
          </a:xfrm>
          <a:prstGeom prst="wedgeRectCallout">
            <a:avLst>
              <a:gd fmla="val 75968" name="adj1"/>
              <a:gd fmla="val -166910" name="adj2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12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dk1"/>
                </a:solidFill>
              </a:rPr>
              <a:t>Componente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"/>
          <p:cNvSpPr/>
          <p:nvPr/>
        </p:nvSpPr>
        <p:spPr>
          <a:xfrm>
            <a:off x="408500" y="3411262"/>
            <a:ext cx="4035600" cy="3016500"/>
          </a:xfrm>
          <a:prstGeom prst="rect">
            <a:avLst/>
          </a:prstGeom>
          <a:solidFill>
            <a:srgbClr val="DDEAF6"/>
          </a:solidFill>
          <a:ln cap="flat" cmpd="sng" w="28575">
            <a:solidFill>
              <a:srgbClr val="00B0F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Resultado de imagen para angular logos" id="134" name="Google Shape;134;p5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5"/>
          <p:cNvSpPr txBox="1"/>
          <p:nvPr/>
        </p:nvSpPr>
        <p:spPr>
          <a:xfrm>
            <a:off x="1144588" y="185738"/>
            <a:ext cx="517802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Esquema de Funcionamiento</a:t>
            </a:r>
            <a:endParaRPr/>
          </a:p>
        </p:txBody>
      </p:sp>
      <p:cxnSp>
        <p:nvCxnSpPr>
          <p:cNvPr id="136" name="Google Shape;136;p5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7" name="Google Shape;137;p5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138" name="Google Shape;138;p5"/>
          <p:cNvSpPr/>
          <p:nvPr/>
        </p:nvSpPr>
        <p:spPr>
          <a:xfrm>
            <a:off x="627062" y="1164637"/>
            <a:ext cx="810577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Esquema que muestra la interacción entre componentes y servicios.</a:t>
            </a:r>
            <a:endParaRPr/>
          </a:p>
        </p:txBody>
      </p:sp>
      <p:sp>
        <p:nvSpPr>
          <p:cNvPr id="139" name="Google Shape;139;p5"/>
          <p:cNvSpPr/>
          <p:nvPr/>
        </p:nvSpPr>
        <p:spPr>
          <a:xfrm>
            <a:off x="1809750" y="1692800"/>
            <a:ext cx="5783400" cy="1608900"/>
          </a:xfrm>
          <a:prstGeom prst="rect">
            <a:avLst/>
          </a:prstGeom>
          <a:solidFill>
            <a:srgbClr val="DDEAF6"/>
          </a:solidFill>
          <a:ln cap="flat" cmpd="sng" w="28575">
            <a:solidFill>
              <a:srgbClr val="00B0F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768325" y="3554875"/>
            <a:ext cx="2958600" cy="21126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809104" y="3629701"/>
            <a:ext cx="1818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app.ts</a:t>
            </a:r>
            <a:endParaRPr sz="1400">
              <a:solidFill>
                <a:schemeClr val="dk1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2200275" y="1789675"/>
            <a:ext cx="5017800" cy="13602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5"/>
          <p:cNvSpPr/>
          <p:nvPr/>
        </p:nvSpPr>
        <p:spPr>
          <a:xfrm>
            <a:off x="2275962" y="1839742"/>
            <a:ext cx="2001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app.html</a:t>
            </a:r>
            <a:endParaRPr/>
          </a:p>
        </p:txBody>
      </p:sp>
      <p:sp>
        <p:nvSpPr>
          <p:cNvPr id="144" name="Google Shape;144;p5"/>
          <p:cNvSpPr/>
          <p:nvPr/>
        </p:nvSpPr>
        <p:spPr>
          <a:xfrm>
            <a:off x="4636650" y="3460524"/>
            <a:ext cx="4035600" cy="3016500"/>
          </a:xfrm>
          <a:prstGeom prst="rect">
            <a:avLst/>
          </a:prstGeom>
          <a:solidFill>
            <a:srgbClr val="DDEAF6"/>
          </a:solidFill>
          <a:ln cap="flat" cmpd="sng" w="28575">
            <a:solidFill>
              <a:srgbClr val="00B0F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4755600" y="3592802"/>
            <a:ext cx="3816600" cy="14226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4761725" y="3672025"/>
            <a:ext cx="3094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modal-add.html (componente</a:t>
            </a:r>
            <a:r>
              <a:rPr lang="es-CL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</p:txBody>
      </p:sp>
      <p:sp>
        <p:nvSpPr>
          <p:cNvPr id="147" name="Google Shape;147;p5"/>
          <p:cNvSpPr/>
          <p:nvPr/>
        </p:nvSpPr>
        <p:spPr>
          <a:xfrm>
            <a:off x="4984824" y="5126200"/>
            <a:ext cx="2958600" cy="12561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4990953" y="5169019"/>
            <a:ext cx="2676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modal-add.ts</a:t>
            </a:r>
            <a:r>
              <a:rPr lang="es-CL" sz="140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 (componente)</a:t>
            </a:r>
            <a:endParaRPr sz="1400">
              <a:solidFill>
                <a:schemeClr val="dk1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5619746" y="2158438"/>
            <a:ext cx="367200" cy="367200"/>
          </a:xfrm>
          <a:prstGeom prst="ellipse">
            <a:avLst/>
          </a:prstGeom>
          <a:solidFill>
            <a:srgbClr val="FFC000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pic>
        <p:nvPicPr>
          <p:cNvPr id="150" name="Google Shape;150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83295" y="4581711"/>
            <a:ext cx="509899" cy="312738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5"/>
          <p:cNvSpPr/>
          <p:nvPr/>
        </p:nvSpPr>
        <p:spPr>
          <a:xfrm>
            <a:off x="7667842" y="4554476"/>
            <a:ext cx="367200" cy="367200"/>
          </a:xfrm>
          <a:prstGeom prst="ellipse">
            <a:avLst/>
          </a:prstGeom>
          <a:solidFill>
            <a:srgbClr val="00B050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lt1"/>
                </a:solidFill>
              </a:rPr>
              <a:t>4</a:t>
            </a:r>
            <a:endParaRPr/>
          </a:p>
        </p:txBody>
      </p:sp>
      <p:pic>
        <p:nvPicPr>
          <p:cNvPr id="152" name="Google Shape;152;p5" title="Captura de pantalla 2026-04-24 a la(s) 13.34.11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07425" y="4520225"/>
            <a:ext cx="1959282" cy="312750"/>
          </a:xfrm>
          <a:prstGeom prst="rect">
            <a:avLst/>
          </a:prstGeom>
          <a:noFill/>
          <a:ln cap="flat" cmpd="sng" w="38100">
            <a:solidFill>
              <a:srgbClr val="42719B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pic>
        <p:nvPicPr>
          <p:cNvPr id="153" name="Google Shape;153;p5" title="Captura de pantalla 2026-04-24 a la(s) 13.41.20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42350" y="2180263"/>
            <a:ext cx="2001750" cy="321525"/>
          </a:xfrm>
          <a:prstGeom prst="rect">
            <a:avLst/>
          </a:prstGeom>
          <a:noFill/>
          <a:ln cap="flat" cmpd="sng" w="38100">
            <a:solidFill>
              <a:srgbClr val="42719B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pic>
        <p:nvPicPr>
          <p:cNvPr id="154" name="Google Shape;154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571989" y="2090757"/>
            <a:ext cx="986646" cy="4349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5" title="Captura de pantalla 2026-04-24 a la(s) 14.32.26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442350" y="2615738"/>
            <a:ext cx="4533646" cy="36935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rgbClr val="42719B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pic>
        <p:nvPicPr>
          <p:cNvPr id="156" name="Google Shape;156;p5" title="Captura de pantalla 2026-04-24 a la(s) 14.33.59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942700" y="3934488"/>
            <a:ext cx="2609850" cy="1653450"/>
          </a:xfrm>
          <a:prstGeom prst="rect">
            <a:avLst/>
          </a:prstGeom>
          <a:noFill/>
          <a:ln cap="flat" cmpd="sng" w="38100">
            <a:solidFill>
              <a:srgbClr val="42719B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cxnSp>
        <p:nvCxnSpPr>
          <p:cNvPr id="157" name="Google Shape;157;p5"/>
          <p:cNvCxnSpPr>
            <a:stCxn id="153" idx="1"/>
          </p:cNvCxnSpPr>
          <p:nvPr/>
        </p:nvCxnSpPr>
        <p:spPr>
          <a:xfrm flipH="1">
            <a:off x="1419350" y="2341025"/>
            <a:ext cx="1023000" cy="1659600"/>
          </a:xfrm>
          <a:prstGeom prst="curvedConnector2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8" name="Google Shape;158;p5"/>
          <p:cNvCxnSpPr>
            <a:stCxn id="155" idx="2"/>
          </p:cNvCxnSpPr>
          <p:nvPr/>
        </p:nvCxnSpPr>
        <p:spPr>
          <a:xfrm rot="5400000">
            <a:off x="2466073" y="2690788"/>
            <a:ext cx="1948800" cy="2537400"/>
          </a:xfrm>
          <a:prstGeom prst="curvedConnector2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59" name="Google Shape;159;p5" title="Captura de pantalla 2026-04-24 a la(s) 14.36.21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907425" y="4060188"/>
            <a:ext cx="2958600" cy="307525"/>
          </a:xfrm>
          <a:prstGeom prst="rect">
            <a:avLst/>
          </a:prstGeom>
          <a:noFill/>
          <a:ln cap="flat" cmpd="sng" w="38100">
            <a:solidFill>
              <a:srgbClr val="42719B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160" name="Google Shape;160;p5"/>
          <p:cNvSpPr/>
          <p:nvPr/>
        </p:nvSpPr>
        <p:spPr>
          <a:xfrm>
            <a:off x="7593148" y="3744489"/>
            <a:ext cx="367200" cy="367200"/>
          </a:xfrm>
          <a:prstGeom prst="ellipse">
            <a:avLst/>
          </a:prstGeom>
          <a:solidFill>
            <a:srgbClr val="FFC000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lt1"/>
                </a:solidFill>
              </a:rPr>
              <a:t>3</a:t>
            </a:r>
            <a:endParaRPr/>
          </a:p>
        </p:txBody>
      </p:sp>
      <p:pic>
        <p:nvPicPr>
          <p:cNvPr id="161" name="Google Shape;161;p5" title="Captura de pantalla 2026-04-24 a la(s) 14.37.21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427225" y="5458325"/>
            <a:ext cx="2073789" cy="857025"/>
          </a:xfrm>
          <a:prstGeom prst="rect">
            <a:avLst/>
          </a:prstGeom>
          <a:noFill/>
          <a:ln cap="flat" cmpd="sng" w="38100">
            <a:solidFill>
              <a:srgbClr val="42719B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162" name="Google Shape;162;p5"/>
          <p:cNvSpPr/>
          <p:nvPr/>
        </p:nvSpPr>
        <p:spPr>
          <a:xfrm>
            <a:off x="7347618" y="5948158"/>
            <a:ext cx="367200" cy="367200"/>
          </a:xfrm>
          <a:prstGeom prst="ellipse">
            <a:avLst/>
          </a:prstGeom>
          <a:solidFill>
            <a:srgbClr val="00B050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lt1"/>
                </a:solidFill>
              </a:rPr>
              <a:t>5</a:t>
            </a:r>
            <a:endParaRPr/>
          </a:p>
        </p:txBody>
      </p:sp>
      <p:cxnSp>
        <p:nvCxnSpPr>
          <p:cNvPr id="163" name="Google Shape;163;p5"/>
          <p:cNvCxnSpPr>
            <a:stCxn id="150" idx="2"/>
          </p:cNvCxnSpPr>
          <p:nvPr/>
        </p:nvCxnSpPr>
        <p:spPr>
          <a:xfrm rot="5400000">
            <a:off x="6668794" y="4978899"/>
            <a:ext cx="753900" cy="5850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4" name="Google Shape;164;p5"/>
          <p:cNvCxnSpPr/>
          <p:nvPr/>
        </p:nvCxnSpPr>
        <p:spPr>
          <a:xfrm flipH="1" rot="5400000">
            <a:off x="3310050" y="3595800"/>
            <a:ext cx="2990700" cy="1628700"/>
          </a:xfrm>
          <a:prstGeom prst="curvedConnector3">
            <a:avLst>
              <a:gd fmla="val 7007" name="adj1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5" name="Google Shape;165;p5"/>
          <p:cNvSpPr/>
          <p:nvPr/>
        </p:nvSpPr>
        <p:spPr>
          <a:xfrm>
            <a:off x="3549993" y="2844733"/>
            <a:ext cx="367200" cy="367200"/>
          </a:xfrm>
          <a:prstGeom prst="ellipse">
            <a:avLst/>
          </a:prstGeom>
          <a:solidFill>
            <a:srgbClr val="00B050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lt1"/>
                </a:solidFill>
              </a:rPr>
              <a:t>6</a:t>
            </a:r>
            <a:endParaRPr/>
          </a:p>
        </p:txBody>
      </p:sp>
      <p:sp>
        <p:nvSpPr>
          <p:cNvPr id="166" name="Google Shape;166;p5"/>
          <p:cNvSpPr/>
          <p:nvPr/>
        </p:nvSpPr>
        <p:spPr>
          <a:xfrm>
            <a:off x="2171779" y="3775891"/>
            <a:ext cx="367200" cy="367200"/>
          </a:xfrm>
          <a:prstGeom prst="ellipse">
            <a:avLst/>
          </a:prstGeom>
          <a:solidFill>
            <a:srgbClr val="FFC000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167" name="Google Shape;167;p5"/>
          <p:cNvSpPr/>
          <p:nvPr/>
        </p:nvSpPr>
        <p:spPr>
          <a:xfrm>
            <a:off x="3093143" y="5300283"/>
            <a:ext cx="367200" cy="367200"/>
          </a:xfrm>
          <a:prstGeom prst="ellipse">
            <a:avLst/>
          </a:prstGeom>
          <a:solidFill>
            <a:srgbClr val="00B050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lt1"/>
                </a:solidFill>
              </a:rPr>
              <a:t>7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7" title="Captura de pantalla 2026-04-24 a la(s) 14.44.0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7125" y="1989650"/>
            <a:ext cx="5887201" cy="44372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angular logos" id="173" name="Google Shape;173;p7"/>
          <p:cNvPicPr preferRelativeResize="0"/>
          <p:nvPr/>
        </p:nvPicPr>
        <p:blipFill rotWithShape="1">
          <a:blip r:embed="rId4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7"/>
          <p:cNvSpPr txBox="1"/>
          <p:nvPr/>
        </p:nvSpPr>
        <p:spPr>
          <a:xfrm>
            <a:off x="1144588" y="185738"/>
            <a:ext cx="707174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Diseñar el Template de la Ventana Modal</a:t>
            </a:r>
            <a:endParaRPr/>
          </a:p>
        </p:txBody>
      </p:sp>
      <p:cxnSp>
        <p:nvCxnSpPr>
          <p:cNvPr id="175" name="Google Shape;175;p7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76" name="Google Shape;176;p7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177" name="Google Shape;177;p7"/>
          <p:cNvSpPr/>
          <p:nvPr/>
        </p:nvSpPr>
        <p:spPr>
          <a:xfrm>
            <a:off x="627062" y="1164637"/>
            <a:ext cx="810577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Definir el template de la ventana modal</a:t>
            </a:r>
            <a:endParaRPr/>
          </a:p>
        </p:txBody>
      </p:sp>
      <p:sp>
        <p:nvSpPr>
          <p:cNvPr id="178" name="Google Shape;178;p7"/>
          <p:cNvSpPr/>
          <p:nvPr/>
        </p:nvSpPr>
        <p:spPr>
          <a:xfrm>
            <a:off x="917290" y="1701854"/>
            <a:ext cx="2859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modal-add.html (componente)</a:t>
            </a:r>
            <a:endParaRPr/>
          </a:p>
        </p:txBody>
      </p:sp>
      <p:sp>
        <p:nvSpPr>
          <p:cNvPr id="179" name="Google Shape;179;p7"/>
          <p:cNvSpPr/>
          <p:nvPr/>
        </p:nvSpPr>
        <p:spPr>
          <a:xfrm>
            <a:off x="1496349" y="2015825"/>
            <a:ext cx="2466000" cy="252000"/>
          </a:xfrm>
          <a:prstGeom prst="rect">
            <a:avLst/>
          </a:prstGeom>
          <a:solidFill>
            <a:srgbClr val="FFFF00">
              <a:alpha val="10196"/>
            </a:srgbClr>
          </a:solidFill>
          <a:ln cap="flat" cmpd="sng" w="285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7"/>
          <p:cNvSpPr/>
          <p:nvPr/>
        </p:nvSpPr>
        <p:spPr>
          <a:xfrm>
            <a:off x="1895050" y="3377200"/>
            <a:ext cx="1829100" cy="193200"/>
          </a:xfrm>
          <a:prstGeom prst="rect">
            <a:avLst/>
          </a:prstGeom>
          <a:solidFill>
            <a:srgbClr val="FFFF00">
              <a:alpha val="10196"/>
            </a:srgbClr>
          </a:solidFill>
          <a:ln cap="flat" cmpd="sng" w="285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7"/>
          <p:cNvSpPr/>
          <p:nvPr/>
        </p:nvSpPr>
        <p:spPr>
          <a:xfrm>
            <a:off x="5241837" y="1375561"/>
            <a:ext cx="1952100" cy="573600"/>
          </a:xfrm>
          <a:prstGeom prst="wedgeRectCallout">
            <a:avLst>
              <a:gd fmla="val -115054" name="adj1"/>
              <a:gd fmla="val 60567" name="adj2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dk1"/>
                </a:solidFill>
              </a:rPr>
              <a:t>Conectar la vista con Signals</a:t>
            </a:r>
            <a:endParaRPr/>
          </a:p>
        </p:txBody>
      </p:sp>
      <p:pic>
        <p:nvPicPr>
          <p:cNvPr id="182" name="Google Shape;182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99535" y="3417788"/>
            <a:ext cx="3153025" cy="123573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183" name="Google Shape;183;p7"/>
          <p:cNvSpPr/>
          <p:nvPr/>
        </p:nvSpPr>
        <p:spPr>
          <a:xfrm>
            <a:off x="1870475" y="5200900"/>
            <a:ext cx="1905900" cy="252000"/>
          </a:xfrm>
          <a:prstGeom prst="rect">
            <a:avLst/>
          </a:prstGeom>
          <a:solidFill>
            <a:srgbClr val="FFFF00">
              <a:alpha val="10196"/>
            </a:srgbClr>
          </a:solidFill>
          <a:ln cap="flat" cmpd="sng" w="285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188" name="Google Shape;188;g3e64088493f_0_0"/>
          <p:cNvPicPr preferRelativeResize="0"/>
          <p:nvPr/>
        </p:nvPicPr>
        <p:blipFill rotWithShape="1">
          <a:blip r:embed="rId3">
            <a:alphaModFix/>
          </a:blip>
          <a:srcRect b="0" l="51972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9" name="Google Shape;189;g3e64088493f_0_0"/>
          <p:cNvCxnSpPr/>
          <p:nvPr/>
        </p:nvCxnSpPr>
        <p:spPr>
          <a:xfrm>
            <a:off x="1206500" y="858838"/>
            <a:ext cx="7526400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90" name="Google Shape;190;g3e64088493f_0_0"/>
          <p:cNvSpPr/>
          <p:nvPr/>
        </p:nvSpPr>
        <p:spPr>
          <a:xfrm>
            <a:off x="0" y="6537325"/>
            <a:ext cx="9144000" cy="312600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191" name="Google Shape;191;g3e64088493f_0_0"/>
          <p:cNvSpPr/>
          <p:nvPr/>
        </p:nvSpPr>
        <p:spPr>
          <a:xfrm>
            <a:off x="627062" y="1164637"/>
            <a:ext cx="81057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Implementar </a:t>
            </a:r>
            <a:r>
              <a:rPr lang="es-CL" sz="1800">
                <a:solidFill>
                  <a:schemeClr val="dk1"/>
                </a:solidFill>
              </a:rPr>
              <a:t>la lógica del componente modal-add</a:t>
            </a:r>
            <a:r>
              <a:rPr lang="es-CL" sz="1800">
                <a:solidFill>
                  <a:schemeClr val="dk1"/>
                </a:solidFill>
              </a:rPr>
              <a:t>.</a:t>
            </a:r>
            <a:endParaRPr/>
          </a:p>
        </p:txBody>
      </p:sp>
      <p:sp>
        <p:nvSpPr>
          <p:cNvPr id="192" name="Google Shape;192;g3e64088493f_0_0"/>
          <p:cNvSpPr/>
          <p:nvPr/>
        </p:nvSpPr>
        <p:spPr>
          <a:xfrm>
            <a:off x="1753990" y="1853425"/>
            <a:ext cx="2859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modal-add</a:t>
            </a:r>
            <a:r>
              <a:rPr lang="es-CL" sz="1400"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.ts</a:t>
            </a:r>
            <a:r>
              <a:rPr lang="es-CL" sz="140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 (component</a:t>
            </a:r>
            <a:r>
              <a:rPr lang="es-CL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e)</a:t>
            </a:r>
            <a:endParaRPr sz="1400">
              <a:solidFill>
                <a:schemeClr val="dk1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3" name="Google Shape;193;g3e64088493f_0_0"/>
          <p:cNvSpPr txBox="1"/>
          <p:nvPr/>
        </p:nvSpPr>
        <p:spPr>
          <a:xfrm>
            <a:off x="1144602" y="185750"/>
            <a:ext cx="7588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Implementar la Apertura de la Modal…</a:t>
            </a:r>
            <a:endParaRPr/>
          </a:p>
        </p:txBody>
      </p:sp>
      <p:pic>
        <p:nvPicPr>
          <p:cNvPr id="194" name="Google Shape;194;g3e64088493f_0_0" title="Captura de pantalla 2026-04-24 a la(s) 17.30.0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54000" y="2161225"/>
            <a:ext cx="5635980" cy="4025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g3e64088493f_0_0"/>
          <p:cNvSpPr/>
          <p:nvPr/>
        </p:nvSpPr>
        <p:spPr>
          <a:xfrm>
            <a:off x="5063294" y="4159925"/>
            <a:ext cx="2205300" cy="704700"/>
          </a:xfrm>
          <a:prstGeom prst="wedgeRectCallout">
            <a:avLst>
              <a:gd fmla="val -71131" name="adj1"/>
              <a:gd fmla="val 27136" name="adj2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12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dk1"/>
                </a:solidFill>
              </a:rPr>
              <a:t>output con información del componente padre</a:t>
            </a:r>
            <a:endParaRPr/>
          </a:p>
        </p:txBody>
      </p:sp>
      <p:sp>
        <p:nvSpPr>
          <p:cNvPr id="196" name="Google Shape;196;g3e64088493f_0_0"/>
          <p:cNvSpPr/>
          <p:nvPr/>
        </p:nvSpPr>
        <p:spPr>
          <a:xfrm>
            <a:off x="5063294" y="5025450"/>
            <a:ext cx="2205300" cy="704700"/>
          </a:xfrm>
          <a:prstGeom prst="wedgeRectCallout">
            <a:avLst>
              <a:gd fmla="val -95900" name="adj1"/>
              <a:gd fmla="val -28941" name="adj2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12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dk1"/>
                </a:solidFill>
              </a:rPr>
              <a:t>método para ocultar el modar emitiendo el evento hacia el padre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8" title="Captura de pantalla 2026-04-24 a la(s) 14.45.5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7125" y="2334450"/>
            <a:ext cx="6577047" cy="3663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angular logos" id="202" name="Google Shape;202;p8"/>
          <p:cNvPicPr preferRelativeResize="0"/>
          <p:nvPr/>
        </p:nvPicPr>
        <p:blipFill rotWithShape="1">
          <a:blip r:embed="rId4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8"/>
          <p:cNvSpPr txBox="1"/>
          <p:nvPr/>
        </p:nvSpPr>
        <p:spPr>
          <a:xfrm>
            <a:off x="1144588" y="185738"/>
            <a:ext cx="636212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Implementar la Apertura de la Modal</a:t>
            </a:r>
            <a:endParaRPr/>
          </a:p>
        </p:txBody>
      </p:sp>
      <p:cxnSp>
        <p:nvCxnSpPr>
          <p:cNvPr id="204" name="Google Shape;204;p8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05" name="Google Shape;205;p8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206" name="Google Shape;206;p8"/>
          <p:cNvSpPr/>
          <p:nvPr/>
        </p:nvSpPr>
        <p:spPr>
          <a:xfrm>
            <a:off x="627062" y="1164637"/>
            <a:ext cx="810577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Agregar la directiva </a:t>
            </a:r>
            <a:r>
              <a:rPr lang="es-CL" sz="1800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&lt;app-modal-add&gt;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incluir la ventana modal en el template principal.</a:t>
            </a:r>
            <a:endParaRPr/>
          </a:p>
        </p:txBody>
      </p:sp>
      <p:sp>
        <p:nvSpPr>
          <p:cNvPr id="207" name="Google Shape;207;p8"/>
          <p:cNvSpPr/>
          <p:nvPr/>
        </p:nvSpPr>
        <p:spPr>
          <a:xfrm>
            <a:off x="917290" y="2021423"/>
            <a:ext cx="285912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app.html</a:t>
            </a:r>
            <a:endParaRPr/>
          </a:p>
        </p:txBody>
      </p:sp>
      <p:sp>
        <p:nvSpPr>
          <p:cNvPr id="208" name="Google Shape;208;p8"/>
          <p:cNvSpPr/>
          <p:nvPr/>
        </p:nvSpPr>
        <p:spPr>
          <a:xfrm>
            <a:off x="1349375" y="5222875"/>
            <a:ext cx="5823000" cy="252000"/>
          </a:xfrm>
          <a:prstGeom prst="rect">
            <a:avLst/>
          </a:prstGeom>
          <a:solidFill>
            <a:srgbClr val="FFFF00">
              <a:alpha val="10196"/>
            </a:srgbClr>
          </a:solidFill>
          <a:ln cap="flat" cmpd="sng" w="285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8"/>
          <p:cNvSpPr/>
          <p:nvPr/>
        </p:nvSpPr>
        <p:spPr>
          <a:xfrm>
            <a:off x="5154611" y="5846349"/>
            <a:ext cx="1952100" cy="573600"/>
          </a:xfrm>
          <a:prstGeom prst="wedgeRectCallout">
            <a:avLst>
              <a:gd fmla="val -79357" name="adj1"/>
              <a:gd fmla="val -95317" name="adj2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Agregar fuera del &lt;div&gt; principal</a:t>
            </a:r>
            <a:endParaRPr/>
          </a:p>
        </p:txBody>
      </p:sp>
      <p:sp>
        <p:nvSpPr>
          <p:cNvPr id="210" name="Google Shape;210;p8"/>
          <p:cNvSpPr/>
          <p:nvPr/>
        </p:nvSpPr>
        <p:spPr>
          <a:xfrm>
            <a:off x="5673582" y="3885819"/>
            <a:ext cx="1952125" cy="573571"/>
          </a:xfrm>
          <a:prstGeom prst="wedgeRectCallout">
            <a:avLst>
              <a:gd fmla="val -21803" name="adj1"/>
              <a:gd fmla="val -89479" name="adj2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Invocar la función para abrir la modal</a:t>
            </a:r>
            <a:endParaRPr/>
          </a:p>
        </p:txBody>
      </p:sp>
      <p:sp>
        <p:nvSpPr>
          <p:cNvPr id="211" name="Google Shape;211;p8"/>
          <p:cNvSpPr/>
          <p:nvPr/>
        </p:nvSpPr>
        <p:spPr>
          <a:xfrm>
            <a:off x="5029200" y="3304850"/>
            <a:ext cx="2362200" cy="376500"/>
          </a:xfrm>
          <a:prstGeom prst="rect">
            <a:avLst/>
          </a:prstGeom>
          <a:solidFill>
            <a:srgbClr val="FFFF00">
              <a:alpha val="10196"/>
            </a:srgbClr>
          </a:solidFill>
          <a:ln cap="flat" cmpd="sng" w="285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8"/>
          <p:cNvSpPr/>
          <p:nvPr/>
        </p:nvSpPr>
        <p:spPr>
          <a:xfrm>
            <a:off x="1144600" y="4915100"/>
            <a:ext cx="2322600" cy="307800"/>
          </a:xfrm>
          <a:prstGeom prst="rect">
            <a:avLst/>
          </a:prstGeom>
          <a:solidFill>
            <a:srgbClr val="FFFF00">
              <a:alpha val="10200"/>
            </a:srgbClr>
          </a:solidFill>
          <a:ln cap="flat" cmpd="sng" w="285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8"/>
          <p:cNvSpPr/>
          <p:nvPr/>
        </p:nvSpPr>
        <p:spPr>
          <a:xfrm>
            <a:off x="2968482" y="4076319"/>
            <a:ext cx="1952100" cy="573600"/>
          </a:xfrm>
          <a:prstGeom prst="wedgeRectCallout">
            <a:avLst>
              <a:gd fmla="val -28361" name="adj1"/>
              <a:gd fmla="val 97857" name="adj2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12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dk1"/>
                </a:solidFill>
              </a:rPr>
              <a:t>Controla la apertura del modal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Google Shape;218;p9" title="Captura de pantalla 2026-04-24 a la(s) 14.48.4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7125" y="2190263"/>
            <a:ext cx="4983150" cy="3967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angular logos" id="219" name="Google Shape;219;p9"/>
          <p:cNvPicPr preferRelativeResize="0"/>
          <p:nvPr/>
        </p:nvPicPr>
        <p:blipFill rotWithShape="1">
          <a:blip r:embed="rId4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0" name="Google Shape;220;p9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21" name="Google Shape;221;p9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222" name="Google Shape;222;p9"/>
          <p:cNvSpPr/>
          <p:nvPr/>
        </p:nvSpPr>
        <p:spPr>
          <a:xfrm>
            <a:off x="627062" y="1164637"/>
            <a:ext cx="810577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Implementar </a:t>
            </a:r>
            <a:r>
              <a:rPr lang="es-CL" sz="1800">
                <a:solidFill>
                  <a:schemeClr val="dk1"/>
                </a:solidFill>
              </a:rPr>
              <a:t>los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métodos </a:t>
            </a:r>
            <a:r>
              <a:rPr lang="es-CL" sz="1800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abrirModal() y cerrar</a:t>
            </a:r>
            <a:r>
              <a:rPr lang="es-CL" sz="1800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Modal()</a:t>
            </a:r>
            <a:r>
              <a:rPr lang="es-CL" sz="1800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1800">
                <a:solidFill>
                  <a:schemeClr val="dk1"/>
                </a:solidFill>
              </a:rPr>
              <a:t>en el componente principal.</a:t>
            </a:r>
            <a:endParaRPr/>
          </a:p>
        </p:txBody>
      </p:sp>
      <p:sp>
        <p:nvSpPr>
          <p:cNvPr id="223" name="Google Shape;223;p9"/>
          <p:cNvSpPr/>
          <p:nvPr/>
        </p:nvSpPr>
        <p:spPr>
          <a:xfrm>
            <a:off x="917290" y="1899025"/>
            <a:ext cx="285912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app.ts</a:t>
            </a:r>
            <a:endParaRPr sz="1400">
              <a:solidFill>
                <a:schemeClr val="dk1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24" name="Google Shape;224;p9"/>
          <p:cNvSpPr txBox="1"/>
          <p:nvPr/>
        </p:nvSpPr>
        <p:spPr>
          <a:xfrm>
            <a:off x="1144602" y="185750"/>
            <a:ext cx="7588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Implementar la Apertura de la Modal…</a:t>
            </a:r>
            <a:endParaRPr/>
          </a:p>
        </p:txBody>
      </p:sp>
      <p:sp>
        <p:nvSpPr>
          <p:cNvPr id="225" name="Google Shape;225;p9"/>
          <p:cNvSpPr/>
          <p:nvPr/>
        </p:nvSpPr>
        <p:spPr>
          <a:xfrm>
            <a:off x="5756925" y="4766825"/>
            <a:ext cx="2205300" cy="704700"/>
          </a:xfrm>
          <a:prstGeom prst="wedgeRectCallout">
            <a:avLst>
              <a:gd fmla="val -67735" name="adj1"/>
              <a:gd fmla="val -19828" name="adj2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dk1"/>
                </a:solidFill>
              </a:rPr>
              <a:t>Activa la señal para cerrar el modal</a:t>
            </a:r>
            <a:endParaRPr/>
          </a:p>
        </p:txBody>
      </p:sp>
      <p:sp>
        <p:nvSpPr>
          <p:cNvPr id="226" name="Google Shape;226;p9"/>
          <p:cNvSpPr/>
          <p:nvPr/>
        </p:nvSpPr>
        <p:spPr>
          <a:xfrm>
            <a:off x="5756925" y="2266650"/>
            <a:ext cx="2325600" cy="646500"/>
          </a:xfrm>
          <a:prstGeom prst="wedgeRectCallout">
            <a:avLst>
              <a:gd fmla="val -67735" name="adj1"/>
              <a:gd fmla="val -19828" name="adj2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12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dk1"/>
                </a:solidFill>
              </a:rPr>
              <a:t>Señal de apertura en modo false (cerrada)</a:t>
            </a:r>
            <a:endParaRPr/>
          </a:p>
        </p:txBody>
      </p:sp>
      <p:sp>
        <p:nvSpPr>
          <p:cNvPr id="227" name="Google Shape;227;p9"/>
          <p:cNvSpPr/>
          <p:nvPr/>
        </p:nvSpPr>
        <p:spPr>
          <a:xfrm>
            <a:off x="5756925" y="3054525"/>
            <a:ext cx="2325600" cy="646500"/>
          </a:xfrm>
          <a:prstGeom prst="wedgeRectCallout">
            <a:avLst>
              <a:gd fmla="val -67735" name="adj1"/>
              <a:gd fmla="val -19828" name="adj2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dk1"/>
                </a:solidFill>
              </a:rPr>
              <a:t>Activa la señal para abrir el modal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232" name="Google Shape;232;p10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10"/>
          <p:cNvSpPr txBox="1"/>
          <p:nvPr/>
        </p:nvSpPr>
        <p:spPr>
          <a:xfrm>
            <a:off x="1144588" y="185738"/>
            <a:ext cx="622792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Controlar Visualización de la Modal</a:t>
            </a:r>
            <a:endParaRPr/>
          </a:p>
        </p:txBody>
      </p:sp>
      <p:cxnSp>
        <p:nvCxnSpPr>
          <p:cNvPr id="234" name="Google Shape;234;p10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35" name="Google Shape;235;p10"/>
          <p:cNvSpPr/>
          <p:nvPr/>
        </p:nvSpPr>
        <p:spPr>
          <a:xfrm>
            <a:off x="627050" y="1164629"/>
            <a:ext cx="8105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Clases que Bootstrap necesita para mostrarlo manualmente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236" name="Google Shape;236;p10"/>
          <p:cNvSpPr/>
          <p:nvPr/>
        </p:nvSpPr>
        <p:spPr>
          <a:xfrm>
            <a:off x="848386" y="1617747"/>
            <a:ext cx="2590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modal-add.html</a:t>
            </a:r>
            <a:endParaRPr/>
          </a:p>
        </p:txBody>
      </p:sp>
      <p:sp>
        <p:nvSpPr>
          <p:cNvPr id="237" name="Google Shape;237;p10"/>
          <p:cNvSpPr/>
          <p:nvPr/>
        </p:nvSpPr>
        <p:spPr>
          <a:xfrm>
            <a:off x="627003" y="2642571"/>
            <a:ext cx="8105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Probar la aplicación. Presionar el botón crear producto y cerrar ventana</a:t>
            </a:r>
            <a:endParaRPr/>
          </a:p>
        </p:txBody>
      </p:sp>
      <p:pic>
        <p:nvPicPr>
          <p:cNvPr descr="Una captura de pantalla de una red social&#10;&#10;Descripción generada automáticamente" id="238" name="Google Shape;23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3453" y="3095196"/>
            <a:ext cx="7624791" cy="5090849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10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pic>
        <p:nvPicPr>
          <p:cNvPr id="240" name="Google Shape;240;p10" title="Captura de pantalla 2026-04-24 a la(s) 14.52.26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33450" y="1999450"/>
            <a:ext cx="6933803" cy="369325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10"/>
          <p:cNvSpPr/>
          <p:nvPr/>
        </p:nvSpPr>
        <p:spPr>
          <a:xfrm>
            <a:off x="1561800" y="2030225"/>
            <a:ext cx="3258000" cy="307800"/>
          </a:xfrm>
          <a:prstGeom prst="rect">
            <a:avLst/>
          </a:prstGeom>
          <a:solidFill>
            <a:srgbClr val="FFFF00">
              <a:alpha val="10196"/>
            </a:srgbClr>
          </a:solidFill>
          <a:ln cap="flat" cmpd="sng" w="285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" name="Google Shape;246;p11" title="Captura de pantalla 2026-04-24 a la(s) 14.03.5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9412" y="1872174"/>
            <a:ext cx="5956001" cy="42411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angular logos" id="247" name="Google Shape;247;p11"/>
          <p:cNvPicPr preferRelativeResize="0"/>
          <p:nvPr/>
        </p:nvPicPr>
        <p:blipFill rotWithShape="1">
          <a:blip r:embed="rId4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11"/>
          <p:cNvSpPr txBox="1"/>
          <p:nvPr/>
        </p:nvSpPr>
        <p:spPr>
          <a:xfrm>
            <a:off x="1144588" y="185738"/>
            <a:ext cx="661751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Agregar Campos de Ingreso de Datos</a:t>
            </a:r>
            <a:endParaRPr/>
          </a:p>
        </p:txBody>
      </p:sp>
      <p:cxnSp>
        <p:nvCxnSpPr>
          <p:cNvPr id="249" name="Google Shape;249;p11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50" name="Google Shape;250;p11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251" name="Google Shape;251;p11"/>
          <p:cNvSpPr/>
          <p:nvPr/>
        </p:nvSpPr>
        <p:spPr>
          <a:xfrm>
            <a:off x="627062" y="1225836"/>
            <a:ext cx="559731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Modificar el template de la ventana para agregar label e inputs:</a:t>
            </a:r>
            <a:endParaRPr/>
          </a:p>
        </p:txBody>
      </p:sp>
      <p:pic>
        <p:nvPicPr>
          <p:cNvPr id="252" name="Google Shape;252;p11"/>
          <p:cNvPicPr preferRelativeResize="0"/>
          <p:nvPr/>
        </p:nvPicPr>
        <p:blipFill rotWithShape="1">
          <a:blip r:embed="rId5">
            <a:alphaModFix/>
          </a:blip>
          <a:srcRect b="19739" l="0" r="16012" t="14001"/>
          <a:stretch/>
        </p:blipFill>
        <p:spPr>
          <a:xfrm>
            <a:off x="6381254" y="3986398"/>
            <a:ext cx="2664445" cy="2080755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53" name="Google Shape;253;p11"/>
          <p:cNvSpPr/>
          <p:nvPr/>
        </p:nvSpPr>
        <p:spPr>
          <a:xfrm>
            <a:off x="6964701" y="3559343"/>
            <a:ext cx="1713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Completar:</a:t>
            </a:r>
            <a:endParaRPr/>
          </a:p>
        </p:txBody>
      </p:sp>
      <p:sp>
        <p:nvSpPr>
          <p:cNvPr id="254" name="Google Shape;254;p11"/>
          <p:cNvSpPr/>
          <p:nvPr/>
        </p:nvSpPr>
        <p:spPr>
          <a:xfrm>
            <a:off x="549050" y="2081625"/>
            <a:ext cx="5503200" cy="1276500"/>
          </a:xfrm>
          <a:prstGeom prst="rect">
            <a:avLst/>
          </a:prstGeom>
          <a:solidFill>
            <a:srgbClr val="FFFF00">
              <a:alpha val="10196"/>
            </a:srgbClr>
          </a:solidFill>
          <a:ln cap="flat" cmpd="sng" w="285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11"/>
          <p:cNvSpPr/>
          <p:nvPr/>
        </p:nvSpPr>
        <p:spPr>
          <a:xfrm>
            <a:off x="549050" y="3354425"/>
            <a:ext cx="5503200" cy="1276500"/>
          </a:xfrm>
          <a:prstGeom prst="rect">
            <a:avLst/>
          </a:prstGeom>
          <a:solidFill>
            <a:srgbClr val="FFFF00">
              <a:alpha val="10196"/>
            </a:srgbClr>
          </a:solidFill>
          <a:ln cap="flat" cmpd="sng" w="285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11"/>
          <p:cNvSpPr/>
          <p:nvPr/>
        </p:nvSpPr>
        <p:spPr>
          <a:xfrm>
            <a:off x="549049" y="4626650"/>
            <a:ext cx="5503200" cy="1276500"/>
          </a:xfrm>
          <a:prstGeom prst="rect">
            <a:avLst/>
          </a:prstGeom>
          <a:solidFill>
            <a:srgbClr val="FFFF00">
              <a:alpha val="10196"/>
            </a:srgbClr>
          </a:solidFill>
          <a:ln cap="flat" cmpd="sng" w="285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7" name="Google Shape;257;p11" title="Captura de pantalla 2026-04-24 a la(s) 14.05.52.png"/>
          <p:cNvPicPr preferRelativeResize="0"/>
          <p:nvPr/>
        </p:nvPicPr>
        <p:blipFill rotWithShape="1">
          <a:blip r:embed="rId6">
            <a:alphaModFix/>
          </a:blip>
          <a:srcRect b="2884" l="0" r="0" t="0"/>
          <a:stretch/>
        </p:blipFill>
        <p:spPr>
          <a:xfrm>
            <a:off x="6381250" y="1872175"/>
            <a:ext cx="2461400" cy="139127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1601-01-01T00:00:00Z</dcterms:created>
  <dc:creator>Luis Gajardo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