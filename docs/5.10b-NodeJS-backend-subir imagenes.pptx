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7086600" cy="8686800"/>
  <p:embeddedFontLst>
    <p:embeddedFont>
      <p:font typeface="Arimo"/>
      <p:regular r:id="rId14"/>
      <p:bold r:id="rId15"/>
      <p:italic r:id="rId16"/>
      <p:boldItalic r:id="rId17"/>
    </p:embeddedFon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hhyt4BYHEz6X802Cmbu8LQ8Hc3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rimo-bold.fntdata"/><Relationship Id="rId14" Type="http://schemas.openxmlformats.org/officeDocument/2006/relationships/font" Target="fonts/Arimo-regular.fntdata"/><Relationship Id="rId17" Type="http://schemas.openxmlformats.org/officeDocument/2006/relationships/font" Target="fonts/Arimo-boldItalic.fntdata"/><Relationship Id="rId16" Type="http://schemas.openxmlformats.org/officeDocument/2006/relationships/font" Target="fonts/Arimo-italic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3494" y="2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4013494" y="8250680"/>
            <a:ext cx="3071502" cy="43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709302" y="4180227"/>
            <a:ext cx="5667996" cy="3420724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589088" y="1085850"/>
            <a:ext cx="3908425" cy="29305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1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79407" y="3122613"/>
            <a:ext cx="51816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Desarrollo del Backend</a:t>
            </a:r>
            <a:endParaRPr b="1" i="0" sz="3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Subir archivos al servidor</a:t>
            </a:r>
            <a:endParaRPr b="1" i="0" sz="32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4224587"/>
            <a:ext cx="5181600" cy="46037"/>
          </a:xfrm>
          <a:prstGeom prst="rect">
            <a:avLst/>
          </a:prstGeom>
          <a:solidFill>
            <a:srgbClr val="008000"/>
          </a:solidFill>
          <a:ln cap="flat" cmpd="sng" w="127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897562" y="1859571"/>
            <a:ext cx="204575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10b</a:t>
            </a:r>
            <a:endParaRPr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725" y="1899630"/>
            <a:ext cx="2459557" cy="2783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3668" y="228150"/>
            <a:ext cx="1897170" cy="1108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46821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Subir Archivos al Servidor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635953" y="1348234"/>
            <a:ext cx="8097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Subir archivos al servidor es una operación muy común.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Aunque es posible usar cualquier operación de carga en HTTP (</a:t>
            </a:r>
            <a:r>
              <a:rPr lang="es-CL" sz="1800">
                <a:solidFill>
                  <a:srgbClr val="0033CC"/>
                </a:solidFill>
              </a:rPr>
              <a:t>PATH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PUT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…) para </a:t>
            </a:r>
            <a:r>
              <a:rPr lang="es-CL" sz="1800">
                <a:solidFill>
                  <a:schemeClr val="dk1"/>
                </a:solidFill>
              </a:rPr>
              <a:t>subirlos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usaremos PUT suponiendo que es solo una actualización.</a:t>
            </a:r>
            <a:endParaRPr/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3965" y="2846728"/>
            <a:ext cx="1676400" cy="110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635953" y="2824141"/>
            <a:ext cx="58944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Crearemos una carpeta dentro de nuestro proyecto destinada a almacenar los archivos subidos.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6775163" y="3382516"/>
            <a:ext cx="1407577" cy="56911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38230" y="3745919"/>
            <a:ext cx="558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URL de la petición tendrá la siguiente forma: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1634448" y="4247504"/>
            <a:ext cx="52854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rgbClr val="0033CC"/>
                </a:solidFill>
                <a:latin typeface="Courier New"/>
                <a:ea typeface="Courier New"/>
                <a:cs typeface="Courier New"/>
                <a:sym typeface="Courier New"/>
              </a:rPr>
              <a:t>localhost:3000/upload/producto/abc765</a:t>
            </a:r>
            <a:endParaRPr i="1" sz="1800">
              <a:solidFill>
                <a:srgbClr val="0033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606994" y="4912712"/>
            <a:ext cx="2336337" cy="795587"/>
          </a:xfrm>
          <a:prstGeom prst="wedgeRectCallout">
            <a:avLst>
              <a:gd fmla="val -16963" name="adj1"/>
              <a:gd fmla="val -9064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Ejemplo de un parámetro que identifica al usuario dueño del archivo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1144588" y="185738"/>
            <a:ext cx="50412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Subir Archivos al Servidor…</a:t>
            </a:r>
            <a:endParaRPr/>
          </a:p>
        </p:txBody>
      </p:sp>
      <p:cxnSp>
        <p:nvCxnSpPr>
          <p:cNvPr id="119" name="Google Shape;119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635953" y="1348234"/>
            <a:ext cx="809688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a instalar un middleware llamado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express-fileupload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nos ayudará a hacer más sencillo el proceso.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716463" y="4081287"/>
            <a:ext cx="809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Importar la librería en nuestro proyecto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1602308" y="4602963"/>
            <a:ext cx="80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app.js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1039803" y="2097550"/>
            <a:ext cx="618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npm install --save express-fileupload</a:t>
            </a:r>
            <a:endParaRPr sz="1800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5" name="Google Shape;125;p3" title="Captura de pantalla 2026-04-17 a la(s) 16.41.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6900" y="2616650"/>
            <a:ext cx="5210176" cy="1349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" title="Captura de pantalla 2026-04-17 a la(s) 16.42.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77146" y="4602987"/>
            <a:ext cx="4189727" cy="178193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"/>
          <p:cNvSpPr/>
          <p:nvPr/>
        </p:nvSpPr>
        <p:spPr>
          <a:xfrm>
            <a:off x="2577949" y="4766325"/>
            <a:ext cx="3607800" cy="2565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577950" y="5723925"/>
            <a:ext cx="1879800" cy="2565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5" title="Captura de pantalla 2026-04-17 a la(s) 17.08.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4288" y="1637423"/>
            <a:ext cx="7195425" cy="454741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 txBox="1"/>
          <p:nvPr/>
        </p:nvSpPr>
        <p:spPr>
          <a:xfrm>
            <a:off x="1144588" y="185738"/>
            <a:ext cx="50412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Subir Archivos al Servidor…</a:t>
            </a:r>
            <a:endParaRPr/>
          </a:p>
        </p:txBody>
      </p:sp>
      <p:cxnSp>
        <p:nvCxnSpPr>
          <p:cNvPr id="136" name="Google Shape;136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p5"/>
          <p:cNvSpPr/>
          <p:nvPr/>
        </p:nvSpPr>
        <p:spPr>
          <a:xfrm>
            <a:off x="635953" y="1164637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el método PUT que reciba y guarde el archivo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6472176" y="3040727"/>
            <a:ext cx="1853700" cy="570000"/>
          </a:xfrm>
          <a:prstGeom prst="wedgeRectCallout">
            <a:avLst>
              <a:gd fmla="val -214663" name="adj1"/>
              <a:gd fmla="val -7207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 cuando no se adjunta algún archivo</a:t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659973" y="4422309"/>
            <a:ext cx="2213700" cy="524100"/>
          </a:xfrm>
          <a:prstGeom prst="wedgeRectCallout">
            <a:avLst>
              <a:gd fmla="val -102636" name="adj1"/>
              <a:gd fmla="val -11208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Separar el nombre y la extensión del archivo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6472186" y="5311387"/>
            <a:ext cx="2401500" cy="524100"/>
          </a:xfrm>
          <a:prstGeom prst="wedgeRectCallout">
            <a:avLst>
              <a:gd fmla="val -67194" name="adj1"/>
              <a:gd fmla="val -22917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y filtrar solo los tipos de archivos permitidos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4978100" y="2211550"/>
            <a:ext cx="4041900" cy="523200"/>
          </a:xfrm>
          <a:prstGeom prst="wedgeRectCallout">
            <a:avLst>
              <a:gd fmla="val -72086" name="adj1"/>
              <a:gd fmla="val -10859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 parámetros pasados por URL se declaran anteponiendo “:” y el nombre del parámetro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6" title="Captura de pantalla 2026-04-17 a la(s) 17.11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550" y="1610450"/>
            <a:ext cx="6258899" cy="4544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148" name="Google Shape;148;p6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1144588" y="185738"/>
            <a:ext cx="50412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Subir Archivos al Servidor…</a:t>
            </a:r>
            <a:endParaRPr/>
          </a:p>
        </p:txBody>
      </p:sp>
      <p:cxnSp>
        <p:nvCxnSpPr>
          <p:cNvPr id="150" name="Google Shape;150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p6"/>
          <p:cNvSpPr/>
          <p:nvPr/>
        </p:nvSpPr>
        <p:spPr>
          <a:xfrm>
            <a:off x="635953" y="1164637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el método PUT que reciba y guarde el archivo (continuación)</a:t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6879166" y="2143821"/>
            <a:ext cx="2099162" cy="1285175"/>
          </a:xfrm>
          <a:prstGeom prst="wedgeRectCallout">
            <a:avLst>
              <a:gd fmla="val -91245" name="adj1"/>
              <a:gd fmla="val -5965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Generamos un nombre conformado por el id del usuario y la fecha (en milisegundos). Esto evita sobreescrituras.</a:t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489975" y="3606849"/>
            <a:ext cx="3488400" cy="638100"/>
          </a:xfrm>
          <a:prstGeom prst="wedgeRectCallout">
            <a:avLst>
              <a:gd fmla="val -77434" name="adj1"/>
              <a:gd fmla="val -10449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 el archivo desde la ubicación temporal del servidor a la carpeta definitiva</a:t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204800" y="2513220"/>
            <a:ext cx="2099100" cy="638100"/>
          </a:xfrm>
          <a:prstGeom prst="wedgeRectCallout">
            <a:avLst>
              <a:gd fmla="val -110358" name="adj1"/>
              <a:gd fmla="val -93163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Construir un PATH definitivo para el archivo</a:t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962293" y="4805695"/>
            <a:ext cx="2401500" cy="524100"/>
          </a:xfrm>
          <a:prstGeom prst="wedgeRectCallout">
            <a:avLst>
              <a:gd fmla="val -90336" name="adj1"/>
              <a:gd fmla="val -131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OK, el archivo se “subió” correctamente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7" title="Captura de pantalla 2026-04-17 a la(s) 17.13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51" y="1720813"/>
            <a:ext cx="8096900" cy="433242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162" name="Google Shape;162;p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/>
        </p:nvSpPr>
        <p:spPr>
          <a:xfrm>
            <a:off x="1144588" y="185738"/>
            <a:ext cx="50412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Subir Archivos al Servidor…</a:t>
            </a:r>
            <a:endParaRPr/>
          </a:p>
        </p:txBody>
      </p:sp>
      <p:cxnSp>
        <p:nvCxnSpPr>
          <p:cNvPr id="164" name="Google Shape;164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7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 el servicio desde postman adjuntando un archivo válido.</a:t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523550" y="2205025"/>
            <a:ext cx="4048500" cy="345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592796" y="3714475"/>
            <a:ext cx="1285200" cy="345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439051" y="2094737"/>
            <a:ext cx="1181400" cy="565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510801" y="1966636"/>
            <a:ext cx="367194" cy="367194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7348434" y="1928449"/>
            <a:ext cx="367194" cy="367194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764905" y="3549486"/>
            <a:ext cx="367194" cy="367194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5677503" y="3549486"/>
            <a:ext cx="2336337" cy="675101"/>
          </a:xfrm>
          <a:prstGeom prst="wedgeRectCallout">
            <a:avLst>
              <a:gd fmla="val -77380" name="adj1"/>
              <a:gd fmla="val 1850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 de imagen válido: PNG, GIF, JPG, JPEG</a:t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3481620" y="2660524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1080275" y="2962723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9" title="Captura de pantalla 2026-04-17 a la(s) 17.16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50" y="1680263"/>
            <a:ext cx="8309889" cy="438246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Resultado de imagen para angular logos" id="181" name="Google Shape;181;p9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9"/>
          <p:cNvSpPr txBox="1"/>
          <p:nvPr/>
        </p:nvSpPr>
        <p:spPr>
          <a:xfrm>
            <a:off x="1144588" y="185738"/>
            <a:ext cx="50412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Subir Archivos al Servidor…</a:t>
            </a:r>
            <a:endParaRPr/>
          </a:p>
        </p:txBody>
      </p:sp>
      <p:cxnSp>
        <p:nvCxnSpPr>
          <p:cNvPr id="183" name="Google Shape;183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4" name="Google Shape;184;p9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 el servicio desde postman sin seleccionar un archivo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09650" y="2112050"/>
            <a:ext cx="3656100" cy="498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522402" y="2082613"/>
            <a:ext cx="1101600" cy="569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92947" y="3736875"/>
            <a:ext cx="5208900" cy="345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389826" y="2651722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2</a:t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659937" y="3002110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3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5634665" y="3514489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4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7338710" y="1962142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5</a:t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989784" y="1962147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1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1313226" y="5371775"/>
            <a:ext cx="3736200" cy="5496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 txBox="1"/>
          <p:nvPr/>
        </p:nvSpPr>
        <p:spPr>
          <a:xfrm>
            <a:off x="1144588" y="185738"/>
            <a:ext cx="50412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Subir Archivos al Servidor…</a:t>
            </a:r>
            <a:endParaRPr/>
          </a:p>
        </p:txBody>
      </p:sp>
      <p:cxnSp>
        <p:nvCxnSpPr>
          <p:cNvPr id="201" name="Google Shape;201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2" name="Google Shape;202;p10"/>
          <p:cNvSpPr/>
          <p:nvPr/>
        </p:nvSpPr>
        <p:spPr>
          <a:xfrm>
            <a:off x="635953" y="1225836"/>
            <a:ext cx="8096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Probar el servicio desde postman seleccionando un archivo no válido</a:t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pic>
        <p:nvPicPr>
          <p:cNvPr id="204" name="Google Shape;204;p10" title="Captura de pantalla 2026-04-17 a la(s) 17.16.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175" y="1731787"/>
            <a:ext cx="8355649" cy="435518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" name="Google Shape;205;p10"/>
          <p:cNvSpPr/>
          <p:nvPr/>
        </p:nvSpPr>
        <p:spPr>
          <a:xfrm>
            <a:off x="441075" y="2191725"/>
            <a:ext cx="3915900" cy="424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556725" y="2191724"/>
            <a:ext cx="1101600" cy="498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94575" y="3736875"/>
            <a:ext cx="5208900" cy="345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3412781" y="2679818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2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792962" y="3030160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3</a:t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5416615" y="3439527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4</a:t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7315741" y="2030992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5</a:t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081591" y="1962147"/>
            <a:ext cx="367200" cy="367200"/>
          </a:xfrm>
          <a:prstGeom prst="ellipse">
            <a:avLst/>
          </a:prstGeom>
          <a:solidFill>
            <a:srgbClr val="FFC00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1</a:t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1230926" y="5371775"/>
            <a:ext cx="3736200" cy="549600"/>
          </a:xfrm>
          <a:prstGeom prst="rect">
            <a:avLst/>
          </a:prstGeom>
          <a:solidFill>
            <a:srgbClr val="FFFF00">
              <a:alpha val="10200"/>
            </a:srgbClr>
          </a:solidFill>
          <a:ln cap="flat" cmpd="sng" w="28575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