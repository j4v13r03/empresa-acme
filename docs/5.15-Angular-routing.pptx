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6858000" cx="9144000"/>
  <p:notesSz cx="7086600" cy="8686800"/>
  <p:embeddedFontLst>
    <p:embeddedFont>
      <p:font typeface="Arimo"/>
      <p:regular r:id="rId19"/>
      <p:bold r:id="rId20"/>
      <p:italic r:id="rId21"/>
      <p:boldItalic r:id="rId22"/>
    </p:embeddedFont>
    <p:embeddedFont>
      <p:font typeface="Arial Black"/>
      <p:regular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24" roundtripDataSignature="AMtx7miDeX4XIrPtJ5ZybuQQyTRKAyIos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Arimo-bold.fntdata"/><Relationship Id="rId11" Type="http://schemas.openxmlformats.org/officeDocument/2006/relationships/slide" Target="slides/slide6.xml"/><Relationship Id="rId22" Type="http://schemas.openxmlformats.org/officeDocument/2006/relationships/font" Target="fonts/Arimo-boldItalic.fntdata"/><Relationship Id="rId10" Type="http://schemas.openxmlformats.org/officeDocument/2006/relationships/slide" Target="slides/slide5.xml"/><Relationship Id="rId21" Type="http://schemas.openxmlformats.org/officeDocument/2006/relationships/font" Target="fonts/Arimo-italic.fntdata"/><Relationship Id="rId13" Type="http://schemas.openxmlformats.org/officeDocument/2006/relationships/slide" Target="slides/slide8.xml"/><Relationship Id="rId24" Type="http://customschemas.google.com/relationships/presentationmetadata" Target="metadata"/><Relationship Id="rId12" Type="http://schemas.openxmlformats.org/officeDocument/2006/relationships/slide" Target="slides/slide7.xml"/><Relationship Id="rId23" Type="http://schemas.openxmlformats.org/officeDocument/2006/relationships/font" Target="fonts/ArialBlack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Arimo-regular.fntdata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2"/>
            <a:ext cx="3071502" cy="436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4013494" y="2"/>
            <a:ext cx="3071502" cy="436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589088" y="1085850"/>
            <a:ext cx="3908425" cy="29305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709302" y="4180227"/>
            <a:ext cx="5667996" cy="34207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250680"/>
            <a:ext cx="3071502" cy="4361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4013494" y="8250680"/>
            <a:ext cx="3071502" cy="4361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s-CL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/>
          <p:nvPr>
            <p:ph idx="2" type="sldImg"/>
          </p:nvPr>
        </p:nvSpPr>
        <p:spPr>
          <a:xfrm>
            <a:off x="1589088" y="1085850"/>
            <a:ext cx="3908425" cy="29305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86" name="Google Shape;86;p1:notes"/>
          <p:cNvSpPr txBox="1"/>
          <p:nvPr>
            <p:ph idx="1" type="body"/>
          </p:nvPr>
        </p:nvSpPr>
        <p:spPr>
          <a:xfrm>
            <a:off x="709302" y="4180227"/>
            <a:ext cx="5667996" cy="34207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:notes"/>
          <p:cNvSpPr txBox="1"/>
          <p:nvPr>
            <p:ph idx="12" type="sldNum"/>
          </p:nvPr>
        </p:nvSpPr>
        <p:spPr>
          <a:xfrm>
            <a:off x="4013494" y="8250680"/>
            <a:ext cx="3071502" cy="4361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s-CL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:notes"/>
          <p:cNvSpPr txBox="1"/>
          <p:nvPr>
            <p:ph idx="1" type="body"/>
          </p:nvPr>
        </p:nvSpPr>
        <p:spPr>
          <a:xfrm>
            <a:off x="709302" y="4180227"/>
            <a:ext cx="5667996" cy="3420724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2:notes"/>
          <p:cNvSpPr/>
          <p:nvPr>
            <p:ph idx="2" type="sldImg"/>
          </p:nvPr>
        </p:nvSpPr>
        <p:spPr>
          <a:xfrm>
            <a:off x="1589088" y="1085850"/>
            <a:ext cx="3908425" cy="29305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dbc86f6ba9_0_157:notes"/>
          <p:cNvSpPr txBox="1"/>
          <p:nvPr>
            <p:ph idx="1" type="body"/>
          </p:nvPr>
        </p:nvSpPr>
        <p:spPr>
          <a:xfrm>
            <a:off x="709302" y="4180227"/>
            <a:ext cx="5667900" cy="342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g3dbc86f6ba9_0_157:notes"/>
          <p:cNvSpPr/>
          <p:nvPr>
            <p:ph idx="2" type="sldImg"/>
          </p:nvPr>
        </p:nvSpPr>
        <p:spPr>
          <a:xfrm>
            <a:off x="1589088" y="1085850"/>
            <a:ext cx="3908400" cy="2930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3:notes"/>
          <p:cNvSpPr txBox="1"/>
          <p:nvPr>
            <p:ph idx="1" type="body"/>
          </p:nvPr>
        </p:nvSpPr>
        <p:spPr>
          <a:xfrm>
            <a:off x="709302" y="4180227"/>
            <a:ext cx="5667996" cy="3420724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3:notes"/>
          <p:cNvSpPr/>
          <p:nvPr>
            <p:ph idx="2" type="sldImg"/>
          </p:nvPr>
        </p:nvSpPr>
        <p:spPr>
          <a:xfrm>
            <a:off x="1589088" y="1085850"/>
            <a:ext cx="3908425" cy="29305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4:notes"/>
          <p:cNvSpPr txBox="1"/>
          <p:nvPr>
            <p:ph idx="1" type="body"/>
          </p:nvPr>
        </p:nvSpPr>
        <p:spPr>
          <a:xfrm>
            <a:off x="709302" y="4180227"/>
            <a:ext cx="5667996" cy="3420724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4:notes"/>
          <p:cNvSpPr/>
          <p:nvPr>
            <p:ph idx="2" type="sldImg"/>
          </p:nvPr>
        </p:nvSpPr>
        <p:spPr>
          <a:xfrm>
            <a:off x="1589088" y="1085850"/>
            <a:ext cx="3908425" cy="29305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dbc86f6ba9_0_10:notes"/>
          <p:cNvSpPr txBox="1"/>
          <p:nvPr>
            <p:ph idx="1" type="body"/>
          </p:nvPr>
        </p:nvSpPr>
        <p:spPr>
          <a:xfrm>
            <a:off x="709302" y="4180227"/>
            <a:ext cx="5667900" cy="342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g3dbc86f6ba9_0_10:notes"/>
          <p:cNvSpPr/>
          <p:nvPr>
            <p:ph idx="2" type="sldImg"/>
          </p:nvPr>
        </p:nvSpPr>
        <p:spPr>
          <a:xfrm>
            <a:off x="1589088" y="1085850"/>
            <a:ext cx="3908400" cy="2930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5:notes"/>
          <p:cNvSpPr txBox="1"/>
          <p:nvPr>
            <p:ph idx="1" type="body"/>
          </p:nvPr>
        </p:nvSpPr>
        <p:spPr>
          <a:xfrm>
            <a:off x="709302" y="4180227"/>
            <a:ext cx="5667996" cy="3420724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5:notes"/>
          <p:cNvSpPr/>
          <p:nvPr>
            <p:ph idx="2" type="sldImg"/>
          </p:nvPr>
        </p:nvSpPr>
        <p:spPr>
          <a:xfrm>
            <a:off x="1589088" y="1085850"/>
            <a:ext cx="3908425" cy="29305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dbc86f6ba9_0_111:notes"/>
          <p:cNvSpPr txBox="1"/>
          <p:nvPr>
            <p:ph idx="1" type="body"/>
          </p:nvPr>
        </p:nvSpPr>
        <p:spPr>
          <a:xfrm>
            <a:off x="709302" y="4180227"/>
            <a:ext cx="5667900" cy="342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g3dbc86f6ba9_0_111:notes"/>
          <p:cNvSpPr/>
          <p:nvPr>
            <p:ph idx="2" type="sldImg"/>
          </p:nvPr>
        </p:nvSpPr>
        <p:spPr>
          <a:xfrm>
            <a:off x="1589088" y="1085850"/>
            <a:ext cx="3908400" cy="2930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dbc86f6ba9_0_134:notes"/>
          <p:cNvSpPr txBox="1"/>
          <p:nvPr>
            <p:ph idx="1" type="body"/>
          </p:nvPr>
        </p:nvSpPr>
        <p:spPr>
          <a:xfrm>
            <a:off x="709302" y="4180227"/>
            <a:ext cx="5667900" cy="342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g3dbc86f6ba9_0_134:notes"/>
          <p:cNvSpPr/>
          <p:nvPr>
            <p:ph idx="2" type="sldImg"/>
          </p:nvPr>
        </p:nvSpPr>
        <p:spPr>
          <a:xfrm>
            <a:off x="1589088" y="1085850"/>
            <a:ext cx="3908400" cy="2930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7:notes"/>
          <p:cNvSpPr txBox="1"/>
          <p:nvPr>
            <p:ph idx="1" type="body"/>
          </p:nvPr>
        </p:nvSpPr>
        <p:spPr>
          <a:xfrm>
            <a:off x="709302" y="4180227"/>
            <a:ext cx="5667996" cy="3420724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7:notes"/>
          <p:cNvSpPr/>
          <p:nvPr>
            <p:ph idx="2" type="sldImg"/>
          </p:nvPr>
        </p:nvSpPr>
        <p:spPr>
          <a:xfrm>
            <a:off x="1589088" y="1085850"/>
            <a:ext cx="3908425" cy="29305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dbc86f6ba9_0_37:notes"/>
          <p:cNvSpPr txBox="1"/>
          <p:nvPr>
            <p:ph idx="1" type="body"/>
          </p:nvPr>
        </p:nvSpPr>
        <p:spPr>
          <a:xfrm>
            <a:off x="709302" y="4180227"/>
            <a:ext cx="5667900" cy="342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g3dbc86f6ba9_0_37:notes"/>
          <p:cNvSpPr/>
          <p:nvPr>
            <p:ph idx="2" type="sldImg"/>
          </p:nvPr>
        </p:nvSpPr>
        <p:spPr>
          <a:xfrm>
            <a:off x="1589088" y="1085850"/>
            <a:ext cx="3908400" cy="2930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3dbc86f6ba9_0_60:notes"/>
          <p:cNvSpPr txBox="1"/>
          <p:nvPr>
            <p:ph idx="1" type="body"/>
          </p:nvPr>
        </p:nvSpPr>
        <p:spPr>
          <a:xfrm>
            <a:off x="709302" y="4180227"/>
            <a:ext cx="5667900" cy="342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g3dbc86f6ba9_0_60:notes"/>
          <p:cNvSpPr/>
          <p:nvPr>
            <p:ph idx="2" type="sldImg"/>
          </p:nvPr>
        </p:nvSpPr>
        <p:spPr>
          <a:xfrm>
            <a:off x="1589088" y="1085850"/>
            <a:ext cx="3908400" cy="2930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3dbc86f6ba9_0_85:notes"/>
          <p:cNvSpPr txBox="1"/>
          <p:nvPr>
            <p:ph idx="1" type="body"/>
          </p:nvPr>
        </p:nvSpPr>
        <p:spPr>
          <a:xfrm>
            <a:off x="709302" y="4180227"/>
            <a:ext cx="5667900" cy="342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g3dbc86f6ba9_0_85:notes"/>
          <p:cNvSpPr/>
          <p:nvPr>
            <p:ph idx="2" type="sldImg"/>
          </p:nvPr>
        </p:nvSpPr>
        <p:spPr>
          <a:xfrm>
            <a:off x="1589088" y="1085850"/>
            <a:ext cx="3908400" cy="2930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0"/>
          <p:cNvSpPr txBox="1"/>
          <p:nvPr>
            <p:ph type="ctrTitle"/>
          </p:nvPr>
        </p:nvSpPr>
        <p:spPr>
          <a:xfrm>
            <a:off x="1143000" y="1122363"/>
            <a:ext cx="6858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5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0"/>
          <p:cNvSpPr txBox="1"/>
          <p:nvPr>
            <p:ph idx="1" type="subTitle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8" name="Google Shape;18;p10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0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0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1"/>
          <p:cNvSpPr txBox="1"/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1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1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1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2"/>
          <p:cNvSpPr txBox="1"/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2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p12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2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2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3"/>
          <p:cNvSpPr txBox="1"/>
          <p:nvPr>
            <p:ph type="title"/>
          </p:nvPr>
        </p:nvSpPr>
        <p:spPr>
          <a:xfrm>
            <a:off x="623888" y="1709739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5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3"/>
          <p:cNvSpPr txBox="1"/>
          <p:nvPr>
            <p:ph idx="1" type="body"/>
          </p:nvPr>
        </p:nvSpPr>
        <p:spPr>
          <a:xfrm>
            <a:off x="623888" y="4589464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5" name="Google Shape;35;p13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3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13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4"/>
          <p:cNvSpPr txBox="1"/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4"/>
          <p:cNvSpPr txBox="1"/>
          <p:nvPr>
            <p:ph idx="1" type="body"/>
          </p:nvPr>
        </p:nvSpPr>
        <p:spPr>
          <a:xfrm>
            <a:off x="6286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14"/>
          <p:cNvSpPr txBox="1"/>
          <p:nvPr>
            <p:ph idx="2" type="body"/>
          </p:nvPr>
        </p:nvSpPr>
        <p:spPr>
          <a:xfrm>
            <a:off x="46291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14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4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4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5"/>
          <p:cNvSpPr txBox="1"/>
          <p:nvPr>
            <p:ph type="title"/>
          </p:nvPr>
        </p:nvSpPr>
        <p:spPr>
          <a:xfrm>
            <a:off x="629841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5"/>
          <p:cNvSpPr txBox="1"/>
          <p:nvPr>
            <p:ph idx="1" type="body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8" name="Google Shape;48;p15"/>
          <p:cNvSpPr txBox="1"/>
          <p:nvPr>
            <p:ph idx="2" type="body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" name="Google Shape;49;p15"/>
          <p:cNvSpPr txBox="1"/>
          <p:nvPr>
            <p:ph idx="3" type="body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50" name="Google Shape;50;p15"/>
          <p:cNvSpPr txBox="1"/>
          <p:nvPr>
            <p:ph idx="4" type="body"/>
          </p:nvPr>
        </p:nvSpPr>
        <p:spPr>
          <a:xfrm>
            <a:off x="4629150" y="2505075"/>
            <a:ext cx="3887391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1" name="Google Shape;51;p15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5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5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6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6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6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7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7"/>
          <p:cNvSpPr txBox="1"/>
          <p:nvPr>
            <p:ph idx="1" type="body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61" name="Google Shape;61;p17"/>
          <p:cNvSpPr txBox="1"/>
          <p:nvPr>
            <p:ph idx="2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62" name="Google Shape;62;p17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7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7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8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8"/>
          <p:cNvSpPr/>
          <p:nvPr>
            <p:ph idx="2" type="pic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8"/>
          <p:cNvSpPr txBox="1"/>
          <p:nvPr>
            <p:ph idx="1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69" name="Google Shape;69;p18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8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8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9"/>
          <p:cNvSpPr txBox="1"/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9"/>
          <p:cNvSpPr txBox="1"/>
          <p:nvPr>
            <p:ph idx="1" type="body"/>
          </p:nvPr>
        </p:nvSpPr>
        <p:spPr>
          <a:xfrm rot="5400000">
            <a:off x="2396331" y="57944"/>
            <a:ext cx="4351338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9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9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9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0"/>
          <p:cNvSpPr txBox="1"/>
          <p:nvPr>
            <p:ph type="title"/>
          </p:nvPr>
        </p:nvSpPr>
        <p:spPr>
          <a:xfrm rot="5400000">
            <a:off x="4623594" y="2285207"/>
            <a:ext cx="5811838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0"/>
          <p:cNvSpPr txBox="1"/>
          <p:nvPr>
            <p:ph idx="1" type="body"/>
          </p:nvPr>
        </p:nvSpPr>
        <p:spPr>
          <a:xfrm rot="5400000">
            <a:off x="623094" y="370681"/>
            <a:ext cx="5811838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20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0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0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9"/>
          <p:cNvSpPr txBox="1"/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" name="Google Shape;11;p9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1150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1150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9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9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9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jp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25.gif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21.jpg"/><Relationship Id="rId10" Type="http://schemas.openxmlformats.org/officeDocument/2006/relationships/image" Target="../media/image14.png"/><Relationship Id="rId9" Type="http://schemas.openxmlformats.org/officeDocument/2006/relationships/image" Target="../media/image11.png"/><Relationship Id="rId5" Type="http://schemas.openxmlformats.org/officeDocument/2006/relationships/image" Target="../media/image32.jpg"/><Relationship Id="rId6" Type="http://schemas.openxmlformats.org/officeDocument/2006/relationships/image" Target="../media/image28.jpg"/><Relationship Id="rId7" Type="http://schemas.openxmlformats.org/officeDocument/2006/relationships/image" Target="../media/image31.jpg"/><Relationship Id="rId8" Type="http://schemas.openxmlformats.org/officeDocument/2006/relationships/image" Target="../media/image30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29.png"/><Relationship Id="rId5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2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Relationship Id="rId4" Type="http://schemas.openxmlformats.org/officeDocument/2006/relationships/image" Target="../media/image4.png"/><Relationship Id="rId5" Type="http://schemas.openxmlformats.org/officeDocument/2006/relationships/image" Target="../media/image12.png"/><Relationship Id="rId6" Type="http://schemas.openxmlformats.org/officeDocument/2006/relationships/image" Target="../media/image10.png"/><Relationship Id="rId7" Type="http://schemas.openxmlformats.org/officeDocument/2006/relationships/image" Target="../media/image14.png"/><Relationship Id="rId8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Relationship Id="rId4" Type="http://schemas.openxmlformats.org/officeDocument/2006/relationships/image" Target="../media/image2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4.png"/><Relationship Id="rId4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6.png"/><Relationship Id="rId4" Type="http://schemas.openxmlformats.org/officeDocument/2006/relationships/image" Target="../media/image4.png"/><Relationship Id="rId5" Type="http://schemas.openxmlformats.org/officeDocument/2006/relationships/image" Target="../media/image1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Relationship Id="rId4" Type="http://schemas.openxmlformats.org/officeDocument/2006/relationships/image" Target="../media/image2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Relationship Id="rId4" Type="http://schemas.openxmlformats.org/officeDocument/2006/relationships/image" Target="../media/image18.png"/><Relationship Id="rId5" Type="http://schemas.openxmlformats.org/officeDocument/2006/relationships/image" Target="../media/image17.png"/><Relationship Id="rId6" Type="http://schemas.openxmlformats.org/officeDocument/2006/relationships/image" Target="../media/image16.png"/><Relationship Id="rId7" Type="http://schemas.openxmlformats.org/officeDocument/2006/relationships/image" Target="../media/image19.png"/><Relationship Id="rId8" Type="http://schemas.openxmlformats.org/officeDocument/2006/relationships/image" Target="../media/image2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"/>
          <p:cNvSpPr txBox="1"/>
          <p:nvPr>
            <p:ph type="ctrTitle"/>
          </p:nvPr>
        </p:nvSpPr>
        <p:spPr>
          <a:xfrm>
            <a:off x="3352800" y="2157413"/>
            <a:ext cx="5567363" cy="965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4800">
                <a:solidFill>
                  <a:srgbClr val="D20000"/>
                </a:solidFill>
                <a:latin typeface="Arial Black"/>
                <a:ea typeface="Arial Black"/>
                <a:cs typeface="Arial Black"/>
                <a:sym typeface="Arial Black"/>
              </a:rPr>
              <a:t>ANGULAR</a:t>
            </a:r>
            <a:endParaRPr b="1">
              <a:solidFill>
                <a:srgbClr val="D20000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90" name="Google Shape;90;p1"/>
          <p:cNvSpPr txBox="1"/>
          <p:nvPr>
            <p:ph idx="1" type="subTitle"/>
          </p:nvPr>
        </p:nvSpPr>
        <p:spPr>
          <a:xfrm>
            <a:off x="762000" y="5095875"/>
            <a:ext cx="78486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2000"/>
              <a:buFont typeface="Arial"/>
              <a:buNone/>
            </a:pPr>
            <a:r>
              <a:rPr lang="es-CL" sz="2000">
                <a:solidFill>
                  <a:srgbClr val="404040"/>
                </a:solidFill>
              </a:rPr>
              <a:t>César Aguilera Sepúlveda</a:t>
            </a:r>
            <a:endParaRPr/>
          </a:p>
          <a:p>
            <a:pPr indent="0" lvl="0" marL="0" rtl="0" algn="ctr">
              <a:spcBef>
                <a:spcPts val="700"/>
              </a:spcBef>
              <a:spcAft>
                <a:spcPts val="0"/>
              </a:spcAft>
              <a:buClr>
                <a:srgbClr val="0033CC"/>
              </a:buClr>
              <a:buSzPts val="2000"/>
              <a:buFont typeface="Arial"/>
              <a:buNone/>
            </a:pPr>
            <a:r>
              <a:rPr i="1" lang="es-CL" sz="2000">
                <a:solidFill>
                  <a:srgbClr val="0033CC"/>
                </a:solidFill>
              </a:rPr>
              <a:t>caguilsepulveda@gmail.com</a:t>
            </a:r>
            <a:endParaRPr sz="2000">
              <a:solidFill>
                <a:srgbClr val="3F3F3F"/>
              </a:solidFill>
            </a:endParaRPr>
          </a:p>
        </p:txBody>
      </p:sp>
      <p:pic>
        <p:nvPicPr>
          <p:cNvPr descr="escudo_color" id="91" name="Google Shape;91;p1"/>
          <p:cNvPicPr preferRelativeResize="0"/>
          <p:nvPr/>
        </p:nvPicPr>
        <p:blipFill rotWithShape="1">
          <a:blip r:embed="rId3">
            <a:alphaModFix/>
          </a:blip>
          <a:srcRect b="0" l="0" r="2507" t="0"/>
          <a:stretch/>
        </p:blipFill>
        <p:spPr>
          <a:xfrm>
            <a:off x="304800" y="304800"/>
            <a:ext cx="1600200" cy="1019175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"/>
          <p:cNvSpPr/>
          <p:nvPr/>
        </p:nvSpPr>
        <p:spPr>
          <a:xfrm>
            <a:off x="3352800" y="3090863"/>
            <a:ext cx="5078413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28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Routing Simple</a:t>
            </a:r>
            <a:endParaRPr b="1" i="0" sz="2800" u="none" cap="none" strike="noStrik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1"/>
          <p:cNvSpPr/>
          <p:nvPr/>
        </p:nvSpPr>
        <p:spPr>
          <a:xfrm>
            <a:off x="190500" y="6477000"/>
            <a:ext cx="8724900" cy="312738"/>
          </a:xfrm>
          <a:prstGeom prst="roundRect">
            <a:avLst>
              <a:gd fmla="val 16667" name="adj"/>
            </a:avLst>
          </a:prstGeom>
          <a:solidFill>
            <a:srgbClr val="0070C0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/>
          </a:p>
        </p:txBody>
      </p:sp>
      <p:sp>
        <p:nvSpPr>
          <p:cNvPr id="94" name="Google Shape;94;p1"/>
          <p:cNvSpPr/>
          <p:nvPr/>
        </p:nvSpPr>
        <p:spPr>
          <a:xfrm>
            <a:off x="3429000" y="4224587"/>
            <a:ext cx="5181600" cy="46037"/>
          </a:xfrm>
          <a:prstGeom prst="rect">
            <a:avLst/>
          </a:prstGeom>
          <a:solidFill>
            <a:srgbClr val="FF0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5" name="Google Shape;95;p1"/>
          <p:cNvPicPr preferRelativeResize="0"/>
          <p:nvPr/>
        </p:nvPicPr>
        <p:blipFill rotWithShape="1">
          <a:blip r:embed="rId4">
            <a:alphaModFix/>
          </a:blip>
          <a:srcRect b="0" l="6232" r="5907" t="0"/>
          <a:stretch/>
        </p:blipFill>
        <p:spPr>
          <a:xfrm>
            <a:off x="762000" y="2206625"/>
            <a:ext cx="2386013" cy="2593975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"/>
          <p:cNvSpPr txBox="1"/>
          <p:nvPr/>
        </p:nvSpPr>
        <p:spPr>
          <a:xfrm>
            <a:off x="7448353" y="1859571"/>
            <a:ext cx="1425390" cy="144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8800" u="none" cap="none" strike="noStrike">
                <a:solidFill>
                  <a:srgbClr val="7F7F7F"/>
                </a:solidFill>
                <a:latin typeface="Consolas"/>
                <a:ea typeface="Consolas"/>
                <a:cs typeface="Consolas"/>
                <a:sym typeface="Consolas"/>
              </a:rPr>
              <a:t>15</a:t>
            </a:r>
            <a:endParaRPr/>
          </a:p>
        </p:txBody>
      </p:sp>
      <p:pic>
        <p:nvPicPr>
          <p:cNvPr id="97" name="Google Shape;97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033668" y="228150"/>
            <a:ext cx="1897170" cy="11084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102" name="Google Shape;102;p2"/>
          <p:cNvPicPr preferRelativeResize="0"/>
          <p:nvPr/>
        </p:nvPicPr>
        <p:blipFill rotWithShape="1">
          <a:blip r:embed="rId3">
            <a:alphaModFix/>
          </a:blip>
          <a:srcRect b="0" l="51971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2"/>
          <p:cNvSpPr txBox="1"/>
          <p:nvPr/>
        </p:nvSpPr>
        <p:spPr>
          <a:xfrm>
            <a:off x="1144588" y="185738"/>
            <a:ext cx="3679212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¿Qué es el Routing?</a:t>
            </a:r>
            <a:endParaRPr/>
          </a:p>
        </p:txBody>
      </p:sp>
      <p:cxnSp>
        <p:nvCxnSpPr>
          <p:cNvPr id="104" name="Google Shape;104;p2"/>
          <p:cNvCxnSpPr/>
          <p:nvPr/>
        </p:nvCxnSpPr>
        <p:spPr>
          <a:xfrm>
            <a:off x="1206500" y="858838"/>
            <a:ext cx="7526338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05" name="Google Shape;105;p2"/>
          <p:cNvSpPr/>
          <p:nvPr/>
        </p:nvSpPr>
        <p:spPr>
          <a:xfrm>
            <a:off x="0" y="6537325"/>
            <a:ext cx="9144000" cy="312738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/>
          </a:p>
        </p:txBody>
      </p:sp>
      <p:pic>
        <p:nvPicPr>
          <p:cNvPr descr="Captura de pantalla de un celular&#10;&#10;Descripción generada automáticamente" id="106" name="Google Shape;106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153450" y="3429000"/>
            <a:ext cx="4837091" cy="3023174"/>
          </a:xfrm>
          <a:prstGeom prst="rect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07" name="Google Shape;107;p2"/>
          <p:cNvSpPr/>
          <p:nvPr/>
        </p:nvSpPr>
        <p:spPr>
          <a:xfrm>
            <a:off x="627062" y="1164637"/>
            <a:ext cx="8228868" cy="14157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</a:rPr>
              <a:t>Angular usa algo llamado routing para simular páginas dentro de una misma aplicación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s-CL" sz="1800">
                <a:solidFill>
                  <a:schemeClr val="dk1"/>
                </a:solidFill>
              </a:rPr>
              <a:t>En Angular, no cambiamos de página… cambiamos lo que se muestra en pantalla</a:t>
            </a:r>
            <a:endParaRPr sz="1800">
              <a:solidFill>
                <a:schemeClr val="dk1"/>
              </a:solidFill>
            </a:endParaRPr>
          </a:p>
          <a:p>
            <a:pPr indent="-2095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 objetivo es permitir que el sitio web tenga rutas internas (rutas "virtuales“) como las que existen en los sitios web tradicionales.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112" name="Google Shape;112;g3dbc86f6ba9_0_157"/>
          <p:cNvPicPr preferRelativeResize="0"/>
          <p:nvPr/>
        </p:nvPicPr>
        <p:blipFill rotWithShape="1">
          <a:blip r:embed="rId3">
            <a:alphaModFix/>
          </a:blip>
          <a:srcRect b="0" l="51972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g3dbc86f6ba9_0_157"/>
          <p:cNvSpPr txBox="1"/>
          <p:nvPr/>
        </p:nvSpPr>
        <p:spPr>
          <a:xfrm>
            <a:off x="1144588" y="185738"/>
            <a:ext cx="5336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800">
                <a:solidFill>
                  <a:srgbClr val="0070C0"/>
                </a:solidFill>
              </a:rPr>
              <a:t>Routing: Conexión con REST</a:t>
            </a:r>
            <a:endParaRPr/>
          </a:p>
        </p:txBody>
      </p:sp>
      <p:cxnSp>
        <p:nvCxnSpPr>
          <p:cNvPr id="114" name="Google Shape;114;g3dbc86f6ba9_0_157"/>
          <p:cNvCxnSpPr/>
          <p:nvPr/>
        </p:nvCxnSpPr>
        <p:spPr>
          <a:xfrm>
            <a:off x="1206500" y="858838"/>
            <a:ext cx="7526400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15" name="Google Shape;115;g3dbc86f6ba9_0_157"/>
          <p:cNvSpPr/>
          <p:nvPr/>
        </p:nvSpPr>
        <p:spPr>
          <a:xfrm>
            <a:off x="0" y="6537325"/>
            <a:ext cx="9144000" cy="312600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/>
          </a:p>
        </p:txBody>
      </p:sp>
      <p:sp>
        <p:nvSpPr>
          <p:cNvPr id="116" name="Google Shape;116;g3dbc86f6ba9_0_157"/>
          <p:cNvSpPr/>
          <p:nvPr/>
        </p:nvSpPr>
        <p:spPr>
          <a:xfrm>
            <a:off x="627050" y="1164613"/>
            <a:ext cx="8105700" cy="7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s-CL" sz="1800">
                <a:solidFill>
                  <a:schemeClr val="dk1"/>
                </a:solidFill>
              </a:rPr>
              <a:t>Si en el backend trabajamos con recursos, entonces en el frontend representamos esos recursos con rutas: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117" name="Google Shape;117;g3dbc86f6ba9_0_157"/>
          <p:cNvSpPr/>
          <p:nvPr/>
        </p:nvSpPr>
        <p:spPr>
          <a:xfrm>
            <a:off x="1144588" y="5793856"/>
            <a:ext cx="1224300" cy="1134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8" name="Google Shape;118;g3dbc86f6ba9_0_157" title="rutas.png"/>
          <p:cNvPicPr preferRelativeResize="0"/>
          <p:nvPr/>
        </p:nvPicPr>
        <p:blipFill rotWithShape="1">
          <a:blip r:embed="rId4">
            <a:alphaModFix/>
          </a:blip>
          <a:srcRect b="31994" l="0" r="0" t="15958"/>
          <a:stretch/>
        </p:blipFill>
        <p:spPr>
          <a:xfrm>
            <a:off x="719188" y="1922823"/>
            <a:ext cx="7705624" cy="267371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19" name="Google Shape;119;g3dbc86f6ba9_0_157" title="rutas.png"/>
          <p:cNvPicPr preferRelativeResize="0"/>
          <p:nvPr/>
        </p:nvPicPr>
        <p:blipFill rotWithShape="1">
          <a:blip r:embed="rId4">
            <a:alphaModFix/>
          </a:blip>
          <a:srcRect b="14583" l="0" r="0" t="68030"/>
          <a:stretch/>
        </p:blipFill>
        <p:spPr>
          <a:xfrm>
            <a:off x="990588" y="5363387"/>
            <a:ext cx="7162836" cy="830275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g3dbc86f6ba9_0_157"/>
          <p:cNvSpPr txBox="1"/>
          <p:nvPr/>
        </p:nvSpPr>
        <p:spPr>
          <a:xfrm>
            <a:off x="519150" y="4994075"/>
            <a:ext cx="8105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</a:rPr>
              <a:t>Flujo: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g3dbc86f6ba9_0_157"/>
          <p:cNvSpPr txBox="1"/>
          <p:nvPr/>
        </p:nvSpPr>
        <p:spPr>
          <a:xfrm>
            <a:off x="2338063" y="4596525"/>
            <a:ext cx="4467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</a:rPr>
              <a:t>La URL representa lo que estamos viendo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126" name="Google Shape;126;p3"/>
          <p:cNvPicPr preferRelativeResize="0"/>
          <p:nvPr/>
        </p:nvPicPr>
        <p:blipFill rotWithShape="1">
          <a:blip r:embed="rId3">
            <a:alphaModFix/>
          </a:blip>
          <a:srcRect b="0" l="51971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3"/>
          <p:cNvSpPr txBox="1"/>
          <p:nvPr/>
        </p:nvSpPr>
        <p:spPr>
          <a:xfrm>
            <a:off x="1144588" y="185738"/>
            <a:ext cx="5678157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Crear una Página de Bienvenida</a:t>
            </a:r>
            <a:endParaRPr/>
          </a:p>
        </p:txBody>
      </p:sp>
      <p:cxnSp>
        <p:nvCxnSpPr>
          <p:cNvPr id="128" name="Google Shape;128;p3"/>
          <p:cNvCxnSpPr/>
          <p:nvPr/>
        </p:nvCxnSpPr>
        <p:spPr>
          <a:xfrm>
            <a:off x="1206500" y="858838"/>
            <a:ext cx="7526338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29" name="Google Shape;129;p3"/>
          <p:cNvSpPr/>
          <p:nvPr/>
        </p:nvSpPr>
        <p:spPr>
          <a:xfrm>
            <a:off x="0" y="6537325"/>
            <a:ext cx="9144000" cy="312738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/>
          </a:p>
        </p:txBody>
      </p:sp>
      <p:sp>
        <p:nvSpPr>
          <p:cNvPr id="130" name="Google Shape;130;p3"/>
          <p:cNvSpPr/>
          <p:nvPr/>
        </p:nvSpPr>
        <p:spPr>
          <a:xfrm>
            <a:off x="627062" y="1164637"/>
            <a:ext cx="8105775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Crearemos una página de bienvenida, en la cual pondremos un carrusel de Bootstrap </a:t>
            </a:r>
            <a:r>
              <a:rPr lang="es-CL" sz="1800">
                <a:solidFill>
                  <a:schemeClr val="dk1"/>
                </a:solidFill>
              </a:rPr>
              <a:t>– Esta será nuestra pantalla inicial</a:t>
            </a: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800">
              <a:solidFill>
                <a:srgbClr val="0033CC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1" name="Google Shape;131;p3"/>
          <p:cNvSpPr/>
          <p:nvPr/>
        </p:nvSpPr>
        <p:spPr>
          <a:xfrm>
            <a:off x="961259" y="2327418"/>
            <a:ext cx="5079517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>
                <a:solidFill>
                  <a:srgbClr val="7030A0"/>
                </a:solidFill>
                <a:latin typeface="Consolas"/>
                <a:ea typeface="Consolas"/>
                <a:cs typeface="Consolas"/>
                <a:sym typeface="Consolas"/>
              </a:rPr>
              <a:t>&gt; ng g c </a:t>
            </a:r>
            <a:r>
              <a:rPr lang="es-CL">
                <a:solidFill>
                  <a:srgbClr val="7030A0"/>
                </a:solidFill>
                <a:latin typeface="Consolas"/>
                <a:ea typeface="Consolas"/>
                <a:cs typeface="Consolas"/>
                <a:sym typeface="Consolas"/>
              </a:rPr>
              <a:t>features/home/welcome</a:t>
            </a:r>
            <a:endParaRPr sz="1400">
              <a:solidFill>
                <a:srgbClr val="7030A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2" name="Google Shape;132;p3"/>
          <p:cNvSpPr/>
          <p:nvPr/>
        </p:nvSpPr>
        <p:spPr>
          <a:xfrm>
            <a:off x="627757" y="1837826"/>
            <a:ext cx="810577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Crear un componente llamado </a:t>
            </a:r>
            <a:r>
              <a:rPr lang="es-CL" sz="1800">
                <a:solidFill>
                  <a:srgbClr val="0033CC"/>
                </a:solidFill>
                <a:latin typeface="Consolas"/>
                <a:ea typeface="Consolas"/>
                <a:cs typeface="Consolas"/>
                <a:sym typeface="Consolas"/>
              </a:rPr>
              <a:t>Welcome</a:t>
            </a:r>
            <a:endParaRPr sz="1800">
              <a:solidFill>
                <a:srgbClr val="0033CC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133" name="Google Shape;133;p3" title="img0.jpg"/>
          <p:cNvPicPr preferRelativeResize="0"/>
          <p:nvPr/>
        </p:nvPicPr>
        <p:blipFill rotWithShape="1">
          <a:blip r:embed="rId4">
            <a:alphaModFix/>
          </a:blip>
          <a:srcRect b="0" l="3445" r="3454" t="0"/>
          <a:stretch/>
        </p:blipFill>
        <p:spPr>
          <a:xfrm>
            <a:off x="838863" y="3061806"/>
            <a:ext cx="1959977" cy="770923"/>
          </a:xfrm>
          <a:prstGeom prst="rect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34" name="Google Shape;134;p3" title="img1.jpg"/>
          <p:cNvPicPr preferRelativeResize="0"/>
          <p:nvPr/>
        </p:nvPicPr>
        <p:blipFill rotWithShape="1">
          <a:blip r:embed="rId5">
            <a:alphaModFix/>
          </a:blip>
          <a:srcRect b="20490" l="0" r="0" t="20496"/>
          <a:stretch/>
        </p:blipFill>
        <p:spPr>
          <a:xfrm>
            <a:off x="3146507" y="3061806"/>
            <a:ext cx="1959977" cy="770925"/>
          </a:xfrm>
          <a:prstGeom prst="rect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35" name="Google Shape;135;p3" title="img2.jpg"/>
          <p:cNvPicPr preferRelativeResize="0"/>
          <p:nvPr/>
        </p:nvPicPr>
        <p:blipFill rotWithShape="1">
          <a:blip r:embed="rId6">
            <a:alphaModFix/>
          </a:blip>
          <a:srcRect b="20490" l="0" r="0" t="20496"/>
          <a:stretch/>
        </p:blipFill>
        <p:spPr>
          <a:xfrm>
            <a:off x="838861" y="4291550"/>
            <a:ext cx="1959977" cy="770925"/>
          </a:xfrm>
          <a:prstGeom prst="rect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36" name="Google Shape;136;p3" title="img3.jpg"/>
          <p:cNvPicPr preferRelativeResize="0"/>
          <p:nvPr/>
        </p:nvPicPr>
        <p:blipFill rotWithShape="1">
          <a:blip r:embed="rId7">
            <a:alphaModFix/>
          </a:blip>
          <a:srcRect b="20536" l="0" r="0" t="20536"/>
          <a:stretch/>
        </p:blipFill>
        <p:spPr>
          <a:xfrm>
            <a:off x="3098458" y="4272651"/>
            <a:ext cx="2056074" cy="808721"/>
          </a:xfrm>
          <a:prstGeom prst="rect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37" name="Google Shape;137;p3" title="img4.jpg"/>
          <p:cNvPicPr preferRelativeResize="0"/>
          <p:nvPr/>
        </p:nvPicPr>
        <p:blipFill rotWithShape="1">
          <a:blip r:embed="rId8">
            <a:alphaModFix/>
          </a:blip>
          <a:srcRect b="20490" l="0" r="0" t="20496"/>
          <a:stretch/>
        </p:blipFill>
        <p:spPr>
          <a:xfrm>
            <a:off x="838860" y="5509766"/>
            <a:ext cx="1959977" cy="770925"/>
          </a:xfrm>
          <a:prstGeom prst="rect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38" name="Google Shape;138;p3"/>
          <p:cNvSpPr txBox="1"/>
          <p:nvPr/>
        </p:nvSpPr>
        <p:spPr>
          <a:xfrm>
            <a:off x="766315" y="2754029"/>
            <a:ext cx="979755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>
                <a:solidFill>
                  <a:srgbClr val="0033CC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img0.jpg</a:t>
            </a:r>
            <a:endParaRPr/>
          </a:p>
        </p:txBody>
      </p:sp>
      <p:sp>
        <p:nvSpPr>
          <p:cNvPr id="139" name="Google Shape;139;p3"/>
          <p:cNvSpPr txBox="1"/>
          <p:nvPr/>
        </p:nvSpPr>
        <p:spPr>
          <a:xfrm>
            <a:off x="3102653" y="2748281"/>
            <a:ext cx="979755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>
                <a:solidFill>
                  <a:srgbClr val="0033CC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img1.jpg</a:t>
            </a:r>
            <a:endParaRPr/>
          </a:p>
        </p:txBody>
      </p:sp>
      <p:sp>
        <p:nvSpPr>
          <p:cNvPr id="140" name="Google Shape;140;p3"/>
          <p:cNvSpPr txBox="1"/>
          <p:nvPr/>
        </p:nvSpPr>
        <p:spPr>
          <a:xfrm>
            <a:off x="766315" y="3978009"/>
            <a:ext cx="979755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>
                <a:solidFill>
                  <a:srgbClr val="0033CC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img2.jpg</a:t>
            </a:r>
            <a:endParaRPr/>
          </a:p>
        </p:txBody>
      </p:sp>
      <p:sp>
        <p:nvSpPr>
          <p:cNvPr id="141" name="Google Shape;141;p3"/>
          <p:cNvSpPr txBox="1"/>
          <p:nvPr/>
        </p:nvSpPr>
        <p:spPr>
          <a:xfrm>
            <a:off x="3102653" y="3972261"/>
            <a:ext cx="979755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>
                <a:solidFill>
                  <a:srgbClr val="0033CC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img3.jpg</a:t>
            </a:r>
            <a:endParaRPr/>
          </a:p>
        </p:txBody>
      </p:sp>
      <p:sp>
        <p:nvSpPr>
          <p:cNvPr id="142" name="Google Shape;142;p3"/>
          <p:cNvSpPr txBox="1"/>
          <p:nvPr/>
        </p:nvSpPr>
        <p:spPr>
          <a:xfrm>
            <a:off x="777091" y="5201989"/>
            <a:ext cx="979755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>
                <a:solidFill>
                  <a:srgbClr val="0033CC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img4.jpg</a:t>
            </a:r>
            <a:endParaRPr/>
          </a:p>
        </p:txBody>
      </p:sp>
      <p:sp>
        <p:nvSpPr>
          <p:cNvPr id="143" name="Google Shape;143;p3"/>
          <p:cNvSpPr/>
          <p:nvPr/>
        </p:nvSpPr>
        <p:spPr>
          <a:xfrm>
            <a:off x="3146507" y="5506237"/>
            <a:ext cx="1854690" cy="770923"/>
          </a:xfrm>
          <a:prstGeom prst="wedgeRoundRectCallout">
            <a:avLst>
              <a:gd fmla="val 96852" name="adj1"/>
              <a:gd fmla="val -82185" name="adj2"/>
              <a:gd fmla="val 16667" name="adj3"/>
            </a:avLst>
          </a:prstGeom>
          <a:solidFill>
            <a:srgbClr val="F4B081"/>
          </a:solidFill>
          <a:ln cap="flat" cmpd="sng" w="12700">
            <a:solidFill>
              <a:srgbClr val="833C0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Copiar estas imágenes en la carpeta </a:t>
            </a:r>
            <a:r>
              <a:rPr b="1" lang="es-CL">
                <a:solidFill>
                  <a:schemeClr val="dk1"/>
                </a:solidFill>
              </a:rPr>
              <a:t>public</a:t>
            </a:r>
            <a:endParaRPr b="1" sz="1400">
              <a:solidFill>
                <a:schemeClr val="dk1"/>
              </a:solidFill>
            </a:endParaRPr>
          </a:p>
        </p:txBody>
      </p:sp>
      <p:pic>
        <p:nvPicPr>
          <p:cNvPr id="144" name="Google Shape;144;p3" title="Captura de pantalla 2026-05-03 a la(s) 23.44.14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749852" y="2109286"/>
            <a:ext cx="2647500" cy="22937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5" name="Google Shape;145;p3"/>
          <p:cNvGrpSpPr/>
          <p:nvPr/>
        </p:nvGrpSpPr>
        <p:grpSpPr>
          <a:xfrm>
            <a:off x="5749850" y="4568000"/>
            <a:ext cx="2647500" cy="1713765"/>
            <a:chOff x="5749850" y="4253675"/>
            <a:chExt cx="2647500" cy="1713765"/>
          </a:xfrm>
        </p:grpSpPr>
        <p:pic>
          <p:nvPicPr>
            <p:cNvPr id="146" name="Google Shape;146;p3" title="Captura de pantalla 2026-05-03 a la(s) 23.44.29.png"/>
            <p:cNvPicPr preferRelativeResize="0"/>
            <p:nvPr/>
          </p:nvPicPr>
          <p:blipFill rotWithShape="1">
            <a:blip r:embed="rId10">
              <a:alphaModFix/>
            </a:blip>
            <a:srcRect b="91303" l="0" r="0" t="0"/>
            <a:stretch/>
          </p:blipFill>
          <p:spPr>
            <a:xfrm>
              <a:off x="5749850" y="4253675"/>
              <a:ext cx="2647500" cy="31274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7" name="Google Shape;147;p3" title="Captura de pantalla 2026-05-03 a la(s) 23.44.29.png"/>
            <p:cNvPicPr preferRelativeResize="0"/>
            <p:nvPr/>
          </p:nvPicPr>
          <p:blipFill rotWithShape="1">
            <a:blip r:embed="rId10">
              <a:alphaModFix/>
            </a:blip>
            <a:srcRect b="0" l="0" r="0" t="60642"/>
            <a:stretch/>
          </p:blipFill>
          <p:spPr>
            <a:xfrm>
              <a:off x="5749850" y="4552140"/>
              <a:ext cx="2647500" cy="14153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152" name="Google Shape;152;p4"/>
          <p:cNvPicPr preferRelativeResize="0"/>
          <p:nvPr/>
        </p:nvPicPr>
        <p:blipFill rotWithShape="1">
          <a:blip r:embed="rId3">
            <a:alphaModFix/>
          </a:blip>
          <a:srcRect b="0" l="51971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4"/>
          <p:cNvSpPr txBox="1"/>
          <p:nvPr/>
        </p:nvSpPr>
        <p:spPr>
          <a:xfrm>
            <a:off x="1144588" y="185738"/>
            <a:ext cx="603723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Crear una Página de Bienvenida…</a:t>
            </a:r>
            <a:endParaRPr/>
          </a:p>
        </p:txBody>
      </p:sp>
      <p:cxnSp>
        <p:nvCxnSpPr>
          <p:cNvPr id="154" name="Google Shape;154;p4"/>
          <p:cNvCxnSpPr/>
          <p:nvPr/>
        </p:nvCxnSpPr>
        <p:spPr>
          <a:xfrm>
            <a:off x="1206500" y="858838"/>
            <a:ext cx="7526338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55" name="Google Shape;155;p4"/>
          <p:cNvSpPr/>
          <p:nvPr/>
        </p:nvSpPr>
        <p:spPr>
          <a:xfrm>
            <a:off x="0" y="6537325"/>
            <a:ext cx="9144000" cy="312738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/>
          </a:p>
        </p:txBody>
      </p:sp>
      <p:sp>
        <p:nvSpPr>
          <p:cNvPr id="156" name="Google Shape;156;p4"/>
          <p:cNvSpPr/>
          <p:nvPr/>
        </p:nvSpPr>
        <p:spPr>
          <a:xfrm>
            <a:off x="627062" y="1164637"/>
            <a:ext cx="810577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Definir el HTML del carrusel de Bootstrap.</a:t>
            </a:r>
            <a:endParaRPr sz="1800">
              <a:solidFill>
                <a:srgbClr val="0033CC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57" name="Google Shape;157;p4"/>
          <p:cNvSpPr txBox="1"/>
          <p:nvPr/>
        </p:nvSpPr>
        <p:spPr>
          <a:xfrm>
            <a:off x="536564" y="1603379"/>
            <a:ext cx="2371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>
                <a:solidFill>
                  <a:srgbClr val="0033CC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welcome.html</a:t>
            </a:r>
            <a:endParaRPr/>
          </a:p>
        </p:txBody>
      </p:sp>
      <p:pic>
        <p:nvPicPr>
          <p:cNvPr id="158" name="Google Shape;158;p4" title="Captura de pantalla 2026-05-03 a la(s) 23.50.20.png"/>
          <p:cNvPicPr preferRelativeResize="0"/>
          <p:nvPr/>
        </p:nvPicPr>
        <p:blipFill rotWithShape="1">
          <a:blip r:embed="rId4">
            <a:alphaModFix/>
          </a:blip>
          <a:srcRect b="69460" l="0" r="0" t="0"/>
          <a:stretch/>
        </p:blipFill>
        <p:spPr>
          <a:xfrm>
            <a:off x="579438" y="1911187"/>
            <a:ext cx="6870701" cy="1917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4" title="Captura de pantalla 2026-05-03 a la(s) 23.50.20.png"/>
          <p:cNvPicPr preferRelativeResize="0"/>
          <p:nvPr/>
        </p:nvPicPr>
        <p:blipFill rotWithShape="1">
          <a:blip r:embed="rId4">
            <a:alphaModFix/>
          </a:blip>
          <a:srcRect b="0" l="0" r="0" t="62475"/>
          <a:stretch/>
        </p:blipFill>
        <p:spPr>
          <a:xfrm>
            <a:off x="579438" y="4063407"/>
            <a:ext cx="6870701" cy="2356551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4"/>
          <p:cNvSpPr txBox="1"/>
          <p:nvPr/>
        </p:nvSpPr>
        <p:spPr>
          <a:xfrm>
            <a:off x="452176" y="3601694"/>
            <a:ext cx="492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4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…</a:t>
            </a:r>
            <a:endParaRPr/>
          </a:p>
        </p:txBody>
      </p:sp>
      <p:pic>
        <p:nvPicPr>
          <p:cNvPr id="161" name="Google Shape;161;p4" title="Captura de pantalla 2026-05-04 a la(s) 00.04.18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854575" y="3276600"/>
            <a:ext cx="2081964" cy="1917875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62" name="Google Shape;162;p4"/>
          <p:cNvSpPr txBox="1"/>
          <p:nvPr/>
        </p:nvSpPr>
        <p:spPr>
          <a:xfrm>
            <a:off x="6772789" y="2968804"/>
            <a:ext cx="2371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>
                <a:solidFill>
                  <a:srgbClr val="0033CC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CL" sz="1400">
                <a:solidFill>
                  <a:srgbClr val="0033CC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welcome.</a:t>
            </a:r>
            <a:r>
              <a:rPr lang="es-CL">
                <a:solidFill>
                  <a:srgbClr val="0033CC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css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167" name="Google Shape;167;g3dbc86f6ba9_0_10"/>
          <p:cNvPicPr preferRelativeResize="0"/>
          <p:nvPr/>
        </p:nvPicPr>
        <p:blipFill rotWithShape="1">
          <a:blip r:embed="rId3">
            <a:alphaModFix/>
          </a:blip>
          <a:srcRect b="0" l="51972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g3dbc86f6ba9_0_10"/>
          <p:cNvSpPr txBox="1"/>
          <p:nvPr/>
        </p:nvSpPr>
        <p:spPr>
          <a:xfrm>
            <a:off x="1144588" y="185738"/>
            <a:ext cx="60372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Crear una Página de Bienvenida…</a:t>
            </a:r>
            <a:endParaRPr/>
          </a:p>
        </p:txBody>
      </p:sp>
      <p:cxnSp>
        <p:nvCxnSpPr>
          <p:cNvPr id="169" name="Google Shape;169;g3dbc86f6ba9_0_10"/>
          <p:cNvCxnSpPr/>
          <p:nvPr/>
        </p:nvCxnSpPr>
        <p:spPr>
          <a:xfrm>
            <a:off x="1206500" y="858838"/>
            <a:ext cx="7526400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70" name="Google Shape;170;g3dbc86f6ba9_0_10"/>
          <p:cNvSpPr/>
          <p:nvPr/>
        </p:nvSpPr>
        <p:spPr>
          <a:xfrm>
            <a:off x="0" y="6537325"/>
            <a:ext cx="9144000" cy="312600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/>
          </a:p>
        </p:txBody>
      </p:sp>
      <p:sp>
        <p:nvSpPr>
          <p:cNvPr id="171" name="Google Shape;171;g3dbc86f6ba9_0_10"/>
          <p:cNvSpPr/>
          <p:nvPr/>
        </p:nvSpPr>
        <p:spPr>
          <a:xfrm>
            <a:off x="627062" y="1164637"/>
            <a:ext cx="8105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</a:rPr>
              <a:t>Integrar Bootstrap JS con Angular para activar el comportamiento del carrusel</a:t>
            </a:r>
            <a:endParaRPr sz="1800">
              <a:solidFill>
                <a:srgbClr val="0033CC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72" name="Google Shape;172;g3dbc86f6ba9_0_10"/>
          <p:cNvSpPr txBox="1"/>
          <p:nvPr/>
        </p:nvSpPr>
        <p:spPr>
          <a:xfrm>
            <a:off x="1144602" y="1839704"/>
            <a:ext cx="2371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>
                <a:solidFill>
                  <a:srgbClr val="0033CC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index</a:t>
            </a:r>
            <a:r>
              <a:rPr lang="es-CL" sz="1400">
                <a:solidFill>
                  <a:srgbClr val="0033CC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.html</a:t>
            </a:r>
            <a:endParaRPr/>
          </a:p>
        </p:txBody>
      </p:sp>
      <p:pic>
        <p:nvPicPr>
          <p:cNvPr id="173" name="Google Shape;173;g3dbc86f6ba9_0_10" title="Captura de pantalla 2026-05-03 a la(s) 23.55.31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2171317"/>
            <a:ext cx="8839201" cy="3001993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g3dbc86f6ba9_0_10"/>
          <p:cNvSpPr/>
          <p:nvPr/>
        </p:nvSpPr>
        <p:spPr>
          <a:xfrm>
            <a:off x="349449" y="3935588"/>
            <a:ext cx="8580300" cy="267300"/>
          </a:xfrm>
          <a:prstGeom prst="rect">
            <a:avLst/>
          </a:prstGeom>
          <a:solidFill>
            <a:srgbClr val="FFFF00">
              <a:alpha val="10200"/>
            </a:srgbClr>
          </a:solidFill>
          <a:ln cap="flat" cmpd="sng" w="28575">
            <a:solidFill>
              <a:srgbClr val="FFFF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g3dbc86f6ba9_0_10"/>
          <p:cNvSpPr/>
          <p:nvPr/>
        </p:nvSpPr>
        <p:spPr>
          <a:xfrm>
            <a:off x="4214825" y="5320488"/>
            <a:ext cx="3257700" cy="771000"/>
          </a:xfrm>
          <a:prstGeom prst="wedgeRoundRectCallout">
            <a:avLst>
              <a:gd fmla="val 63591" name="adj1"/>
              <a:gd fmla="val -187847" name="adj2"/>
              <a:gd fmla="val 16667" name="adj3"/>
            </a:avLst>
          </a:prstGeom>
          <a:solidFill>
            <a:srgbClr val="F4B081"/>
          </a:solidFill>
          <a:ln cap="flat" cmpd="sng" w="12700">
            <a:solidFill>
              <a:srgbClr val="833C0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>
                <a:solidFill>
                  <a:schemeClr val="dk1"/>
                </a:solidFill>
              </a:rPr>
              <a:t>defer</a:t>
            </a:r>
            <a:r>
              <a:rPr lang="es-CL">
                <a:solidFill>
                  <a:schemeClr val="dk1"/>
                </a:solidFill>
              </a:rPr>
              <a:t> permite descargar javascript luego de que el DOM se encuentre completamente cargado en la página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0" name="Google Shape;180;p5" title="Captura de pantalla 2026-05-04 a la(s) 01.03.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00525" y="3683900"/>
            <a:ext cx="2047875" cy="10626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esultado de imagen para angular logos" id="181" name="Google Shape;181;p5"/>
          <p:cNvPicPr preferRelativeResize="0"/>
          <p:nvPr/>
        </p:nvPicPr>
        <p:blipFill rotWithShape="1">
          <a:blip r:embed="rId4">
            <a:alphaModFix/>
          </a:blip>
          <a:srcRect b="0" l="51971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5"/>
          <p:cNvSpPr txBox="1"/>
          <p:nvPr/>
        </p:nvSpPr>
        <p:spPr>
          <a:xfrm>
            <a:off x="1144588" y="185738"/>
            <a:ext cx="5336717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Crear una Página de Error 404</a:t>
            </a:r>
            <a:endParaRPr/>
          </a:p>
        </p:txBody>
      </p:sp>
      <p:cxnSp>
        <p:nvCxnSpPr>
          <p:cNvPr id="183" name="Google Shape;183;p5"/>
          <p:cNvCxnSpPr/>
          <p:nvPr/>
        </p:nvCxnSpPr>
        <p:spPr>
          <a:xfrm>
            <a:off x="1206500" y="858838"/>
            <a:ext cx="7526338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84" name="Google Shape;184;p5"/>
          <p:cNvSpPr/>
          <p:nvPr/>
        </p:nvSpPr>
        <p:spPr>
          <a:xfrm>
            <a:off x="0" y="6537325"/>
            <a:ext cx="9144000" cy="312738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/>
          </a:p>
        </p:txBody>
      </p:sp>
      <p:sp>
        <p:nvSpPr>
          <p:cNvPr id="185" name="Google Shape;185;p5"/>
          <p:cNvSpPr/>
          <p:nvPr/>
        </p:nvSpPr>
        <p:spPr>
          <a:xfrm>
            <a:off x="627062" y="1164637"/>
            <a:ext cx="810577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Crear un segundo componente llamado </a:t>
            </a:r>
            <a:r>
              <a:rPr b="0" lang="es-CL" sz="1800">
                <a:solidFill>
                  <a:srgbClr val="0033CC"/>
                </a:solidFill>
                <a:latin typeface="Consolas"/>
                <a:ea typeface="Consolas"/>
                <a:cs typeface="Consolas"/>
                <a:sym typeface="Consolas"/>
              </a:rPr>
              <a:t>PageNotFound</a:t>
            </a:r>
            <a:endParaRPr b="0" sz="1800">
              <a:solidFill>
                <a:srgbClr val="0033CC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86" name="Google Shape;186;p5"/>
          <p:cNvSpPr/>
          <p:nvPr/>
        </p:nvSpPr>
        <p:spPr>
          <a:xfrm>
            <a:off x="914226" y="2529625"/>
            <a:ext cx="4323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>
                <a:solidFill>
                  <a:srgbClr val="7030A0"/>
                </a:solidFill>
                <a:latin typeface="Consolas"/>
                <a:ea typeface="Consolas"/>
                <a:cs typeface="Consolas"/>
                <a:sym typeface="Consolas"/>
              </a:rPr>
              <a:t>&gt; ng g c </a:t>
            </a:r>
            <a:r>
              <a:rPr lang="es-CL">
                <a:solidFill>
                  <a:srgbClr val="7030A0"/>
                </a:solidFill>
                <a:latin typeface="Consolas"/>
                <a:ea typeface="Consolas"/>
                <a:cs typeface="Consolas"/>
                <a:sym typeface="Consolas"/>
              </a:rPr>
              <a:t>features</a:t>
            </a:r>
            <a:r>
              <a:rPr lang="es-CL" sz="1400">
                <a:solidFill>
                  <a:srgbClr val="7030A0"/>
                </a:solidFill>
                <a:latin typeface="Consolas"/>
                <a:ea typeface="Consolas"/>
                <a:cs typeface="Consolas"/>
                <a:sym typeface="Consolas"/>
              </a:rPr>
              <a:t>/</a:t>
            </a:r>
            <a:r>
              <a:rPr lang="es-CL">
                <a:solidFill>
                  <a:srgbClr val="7030A0"/>
                </a:solidFill>
                <a:latin typeface="Consolas"/>
                <a:ea typeface="Consolas"/>
                <a:cs typeface="Consolas"/>
                <a:sym typeface="Consolas"/>
              </a:rPr>
              <a:t>not-found</a:t>
            </a:r>
            <a:r>
              <a:rPr lang="es-CL" sz="1400">
                <a:solidFill>
                  <a:srgbClr val="7030A0"/>
                </a:solidFill>
                <a:latin typeface="Consolas"/>
                <a:ea typeface="Consolas"/>
                <a:cs typeface="Consolas"/>
                <a:sym typeface="Consolas"/>
              </a:rPr>
              <a:t>/page-not-found</a:t>
            </a:r>
            <a:endParaRPr>
              <a:solidFill>
                <a:srgbClr val="7030A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87" name="Google Shape;187;p5"/>
          <p:cNvSpPr txBox="1"/>
          <p:nvPr/>
        </p:nvSpPr>
        <p:spPr>
          <a:xfrm>
            <a:off x="5237514" y="2529637"/>
            <a:ext cx="3066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>
                <a:solidFill>
                  <a:srgbClr val="0033CC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page-not-found.html</a:t>
            </a:r>
            <a:endParaRPr/>
          </a:p>
        </p:txBody>
      </p:sp>
      <p:pic>
        <p:nvPicPr>
          <p:cNvPr id="188" name="Google Shape;188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300530" y="4906406"/>
            <a:ext cx="3268003" cy="1499657"/>
          </a:xfrm>
          <a:prstGeom prst="rect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89" name="Google Shape;189;p5"/>
          <p:cNvSpPr txBox="1"/>
          <p:nvPr/>
        </p:nvSpPr>
        <p:spPr>
          <a:xfrm>
            <a:off x="7688016" y="4533474"/>
            <a:ext cx="880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>
                <a:solidFill>
                  <a:srgbClr val="0033CC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404.jpg</a:t>
            </a:r>
            <a:endParaRPr/>
          </a:p>
        </p:txBody>
      </p:sp>
      <p:sp>
        <p:nvSpPr>
          <p:cNvPr id="190" name="Google Shape;190;p5"/>
          <p:cNvSpPr/>
          <p:nvPr/>
        </p:nvSpPr>
        <p:spPr>
          <a:xfrm>
            <a:off x="1144588" y="5793856"/>
            <a:ext cx="1224248" cy="113255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5"/>
          <p:cNvSpPr txBox="1"/>
          <p:nvPr/>
        </p:nvSpPr>
        <p:spPr>
          <a:xfrm>
            <a:off x="622925" y="1715550"/>
            <a:ext cx="81057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</a:rPr>
              <a:t>Si alguien escribe una dirección que no existe, mostramos una pantalla especial</a:t>
            </a: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2" name="Google Shape;192;p5" title="Captura de pantalla 2026-05-03 a la(s) 23.59.51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27125" y="2918400"/>
            <a:ext cx="2737225" cy="2457281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5" title="Captura de pantalla 2026-05-03 a la(s) 23.44.29.png"/>
          <p:cNvPicPr preferRelativeResize="0"/>
          <p:nvPr/>
        </p:nvPicPr>
        <p:blipFill rotWithShape="1">
          <a:blip r:embed="rId7">
            <a:alphaModFix/>
          </a:blip>
          <a:srcRect b="83523" l="0" r="0" t="0"/>
          <a:stretch/>
        </p:blipFill>
        <p:spPr>
          <a:xfrm>
            <a:off x="1027125" y="5650200"/>
            <a:ext cx="2737225" cy="612599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5"/>
          <p:cNvSpPr/>
          <p:nvPr/>
        </p:nvSpPr>
        <p:spPr>
          <a:xfrm>
            <a:off x="2819800" y="5650205"/>
            <a:ext cx="1986300" cy="612600"/>
          </a:xfrm>
          <a:prstGeom prst="wedgeRoundRectCallout">
            <a:avLst>
              <a:gd fmla="val -80470" name="adj1"/>
              <a:gd fmla="val 25881" name="adj2"/>
              <a:gd fmla="val 16667" name="adj3"/>
            </a:avLst>
          </a:prstGeom>
          <a:solidFill>
            <a:srgbClr val="F4B081"/>
          </a:solidFill>
          <a:ln cap="flat" cmpd="sng" w="12700">
            <a:solidFill>
              <a:srgbClr val="833C0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Copiar esta imagen en la carpeta </a:t>
            </a:r>
            <a:r>
              <a:rPr b="1" lang="es-CL">
                <a:solidFill>
                  <a:schemeClr val="dk1"/>
                </a:solidFill>
              </a:rPr>
              <a:t>public</a:t>
            </a:r>
            <a:endParaRPr b="1" sz="1400">
              <a:solidFill>
                <a:schemeClr val="dk1"/>
              </a:solidFill>
            </a:endParaRPr>
          </a:p>
        </p:txBody>
      </p:sp>
      <p:pic>
        <p:nvPicPr>
          <p:cNvPr id="195" name="Google Shape;195;p5" title="Captura de pantalla 2026-05-04 a la(s) 01.03.08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300525" y="2837425"/>
            <a:ext cx="2627349" cy="499050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5"/>
          <p:cNvSpPr txBox="1"/>
          <p:nvPr/>
        </p:nvSpPr>
        <p:spPr>
          <a:xfrm>
            <a:off x="5237527" y="3368662"/>
            <a:ext cx="3066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>
                <a:solidFill>
                  <a:srgbClr val="0033CC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page-not-found.</a:t>
            </a:r>
            <a:r>
              <a:rPr lang="es-CL">
                <a:solidFill>
                  <a:srgbClr val="0033CC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css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201" name="Google Shape;201;g3dbc86f6ba9_0_111"/>
          <p:cNvPicPr preferRelativeResize="0"/>
          <p:nvPr/>
        </p:nvPicPr>
        <p:blipFill rotWithShape="1">
          <a:blip r:embed="rId3">
            <a:alphaModFix/>
          </a:blip>
          <a:srcRect b="0" l="51972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g3dbc86f6ba9_0_111"/>
          <p:cNvSpPr txBox="1"/>
          <p:nvPr/>
        </p:nvSpPr>
        <p:spPr>
          <a:xfrm>
            <a:off x="1144588" y="185738"/>
            <a:ext cx="5336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800">
                <a:solidFill>
                  <a:srgbClr val="0070C0"/>
                </a:solidFill>
              </a:rPr>
              <a:t>Añadir las Rutas</a:t>
            </a:r>
            <a:endParaRPr/>
          </a:p>
        </p:txBody>
      </p:sp>
      <p:cxnSp>
        <p:nvCxnSpPr>
          <p:cNvPr id="203" name="Google Shape;203;g3dbc86f6ba9_0_111"/>
          <p:cNvCxnSpPr/>
          <p:nvPr/>
        </p:nvCxnSpPr>
        <p:spPr>
          <a:xfrm>
            <a:off x="1206500" y="858838"/>
            <a:ext cx="7526400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04" name="Google Shape;204;g3dbc86f6ba9_0_111"/>
          <p:cNvSpPr/>
          <p:nvPr/>
        </p:nvSpPr>
        <p:spPr>
          <a:xfrm>
            <a:off x="0" y="6537325"/>
            <a:ext cx="9144000" cy="312600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/>
          </a:p>
        </p:txBody>
      </p:sp>
      <p:sp>
        <p:nvSpPr>
          <p:cNvPr id="205" name="Google Shape;205;g3dbc86f6ba9_0_111"/>
          <p:cNvSpPr/>
          <p:nvPr/>
        </p:nvSpPr>
        <p:spPr>
          <a:xfrm>
            <a:off x="627062" y="1164637"/>
            <a:ext cx="8105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s-CL" sz="1800">
                <a:solidFill>
                  <a:schemeClr val="dk1"/>
                </a:solidFill>
              </a:rPr>
              <a:t>Angular no sabe navegar por sí solo. Nosotros definimos las reglas de navegación.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206" name="Google Shape;206;g3dbc86f6ba9_0_111"/>
          <p:cNvSpPr/>
          <p:nvPr/>
        </p:nvSpPr>
        <p:spPr>
          <a:xfrm>
            <a:off x="1144588" y="5793856"/>
            <a:ext cx="1224300" cy="1134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g3dbc86f6ba9_0_111"/>
          <p:cNvSpPr txBox="1"/>
          <p:nvPr/>
        </p:nvSpPr>
        <p:spPr>
          <a:xfrm>
            <a:off x="627050" y="1979850"/>
            <a:ext cx="8105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</a:rPr>
              <a:t>Primero definimos las rutas en</a:t>
            </a: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s-CL" sz="1800">
                <a:solidFill>
                  <a:srgbClr val="0033CC"/>
                </a:solidFill>
                <a:latin typeface="Consolas"/>
                <a:ea typeface="Consolas"/>
                <a:cs typeface="Consolas"/>
                <a:sym typeface="Consolas"/>
              </a:rPr>
              <a:t>app.routes.ts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8" name="Google Shape;208;g3dbc86f6ba9_0_111" title="Captura de pantalla 2026-05-04 a la(s) 00.49.53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36838" y="2415825"/>
            <a:ext cx="6470311" cy="3768423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g3dbc86f6ba9_0_111"/>
          <p:cNvSpPr/>
          <p:nvPr/>
        </p:nvSpPr>
        <p:spPr>
          <a:xfrm>
            <a:off x="5436225" y="3513435"/>
            <a:ext cx="1986300" cy="369300"/>
          </a:xfrm>
          <a:prstGeom prst="wedgeRoundRectCallout">
            <a:avLst>
              <a:gd fmla="val -93766" name="adj1"/>
              <a:gd fmla="val 28994" name="adj2"/>
              <a:gd fmla="val 16667" name="adj3"/>
            </a:avLst>
          </a:prstGeom>
          <a:solidFill>
            <a:srgbClr val="F4B081"/>
          </a:solidFill>
          <a:ln cap="flat" cmpd="sng" w="12700">
            <a:solidFill>
              <a:srgbClr val="833C0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>
                <a:solidFill>
                  <a:schemeClr val="dk1"/>
                </a:solidFill>
              </a:rPr>
              <a:t>/home: pantalla inicial</a:t>
            </a:r>
            <a:endParaRPr b="1" sz="1400">
              <a:solidFill>
                <a:schemeClr val="dk1"/>
              </a:solidFill>
            </a:endParaRPr>
          </a:p>
        </p:txBody>
      </p:sp>
      <p:sp>
        <p:nvSpPr>
          <p:cNvPr id="210" name="Google Shape;210;g3dbc86f6ba9_0_111"/>
          <p:cNvSpPr/>
          <p:nvPr/>
        </p:nvSpPr>
        <p:spPr>
          <a:xfrm>
            <a:off x="6145825" y="4136925"/>
            <a:ext cx="2512500" cy="369300"/>
          </a:xfrm>
          <a:prstGeom prst="wedgeRoundRectCallout">
            <a:avLst>
              <a:gd fmla="val -109094" name="adj1"/>
              <a:gd fmla="val -58277" name="adj2"/>
              <a:gd fmla="val 16667" name="adj3"/>
            </a:avLst>
          </a:prstGeom>
          <a:solidFill>
            <a:srgbClr val="F4B081"/>
          </a:solidFill>
          <a:ln cap="flat" cmpd="sng" w="12700">
            <a:solidFill>
              <a:srgbClr val="833C0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>
                <a:solidFill>
                  <a:schemeClr val="dk1"/>
                </a:solidFill>
              </a:rPr>
              <a:t>/products: lista de productos</a:t>
            </a:r>
            <a:endParaRPr b="1" sz="14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" name="Google Shape;215;g3dbc86f6ba9_0_134" title="Captura de pantalla 2026-05-04 a la(s) 00.53.2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4750" y="2760363"/>
            <a:ext cx="7674504" cy="2899475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g3dbc86f6ba9_0_134"/>
          <p:cNvSpPr/>
          <p:nvPr/>
        </p:nvSpPr>
        <p:spPr>
          <a:xfrm>
            <a:off x="4374175" y="5181250"/>
            <a:ext cx="2241000" cy="612600"/>
          </a:xfrm>
          <a:prstGeom prst="wedgeRoundRectCallout">
            <a:avLst>
              <a:gd fmla="val -142542" name="adj1"/>
              <a:gd fmla="val -46833" name="adj2"/>
              <a:gd fmla="val 16667" name="adj3"/>
            </a:avLst>
          </a:prstGeom>
          <a:solidFill>
            <a:srgbClr val="F4B081"/>
          </a:solidFill>
          <a:ln cap="flat" cmpd="sng" w="12700">
            <a:solidFill>
              <a:srgbClr val="833C0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>
                <a:solidFill>
                  <a:schemeClr val="dk1"/>
                </a:solidFill>
              </a:rPr>
              <a:t>provideRouter</a:t>
            </a:r>
            <a:r>
              <a:rPr lang="es-CL">
                <a:solidFill>
                  <a:schemeClr val="dk1"/>
                </a:solidFill>
              </a:rPr>
              <a:t> para configurar la navegaci</a:t>
            </a:r>
            <a:r>
              <a:rPr lang="es-CL">
                <a:solidFill>
                  <a:schemeClr val="dk1"/>
                </a:solidFill>
              </a:rPr>
              <a:t>ón</a:t>
            </a:r>
            <a:endParaRPr b="1" sz="1400">
              <a:solidFill>
                <a:schemeClr val="dk1"/>
              </a:solidFill>
            </a:endParaRPr>
          </a:p>
        </p:txBody>
      </p:sp>
      <p:pic>
        <p:nvPicPr>
          <p:cNvPr descr="Resultado de imagen para angular logos" id="217" name="Google Shape;217;g3dbc86f6ba9_0_134"/>
          <p:cNvPicPr preferRelativeResize="0"/>
          <p:nvPr/>
        </p:nvPicPr>
        <p:blipFill rotWithShape="1">
          <a:blip r:embed="rId4">
            <a:alphaModFix/>
          </a:blip>
          <a:srcRect b="0" l="51972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g3dbc86f6ba9_0_134"/>
          <p:cNvSpPr txBox="1"/>
          <p:nvPr/>
        </p:nvSpPr>
        <p:spPr>
          <a:xfrm>
            <a:off x="1144588" y="185738"/>
            <a:ext cx="5336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800">
                <a:solidFill>
                  <a:srgbClr val="0070C0"/>
                </a:solidFill>
              </a:rPr>
              <a:t>Añadir las Rutas</a:t>
            </a:r>
            <a:endParaRPr/>
          </a:p>
        </p:txBody>
      </p:sp>
      <p:cxnSp>
        <p:nvCxnSpPr>
          <p:cNvPr id="219" name="Google Shape;219;g3dbc86f6ba9_0_134"/>
          <p:cNvCxnSpPr/>
          <p:nvPr/>
        </p:nvCxnSpPr>
        <p:spPr>
          <a:xfrm>
            <a:off x="1206500" y="858838"/>
            <a:ext cx="7526400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20" name="Google Shape;220;g3dbc86f6ba9_0_134"/>
          <p:cNvSpPr/>
          <p:nvPr/>
        </p:nvSpPr>
        <p:spPr>
          <a:xfrm>
            <a:off x="0" y="6537325"/>
            <a:ext cx="9144000" cy="312600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/>
          </a:p>
        </p:txBody>
      </p:sp>
      <p:sp>
        <p:nvSpPr>
          <p:cNvPr id="221" name="Google Shape;221;g3dbc86f6ba9_0_134"/>
          <p:cNvSpPr/>
          <p:nvPr/>
        </p:nvSpPr>
        <p:spPr>
          <a:xfrm>
            <a:off x="627062" y="1164637"/>
            <a:ext cx="8105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s-CL" sz="1800">
                <a:solidFill>
                  <a:schemeClr val="dk1"/>
                </a:solidFill>
              </a:rPr>
              <a:t>Angular no sabe navegar por sí solo. </a:t>
            </a:r>
            <a:r>
              <a:rPr lang="es-CL" sz="1800">
                <a:solidFill>
                  <a:schemeClr val="dk1"/>
                </a:solidFill>
              </a:rPr>
              <a:t>Nosotros definimos las reglas de navegación</a:t>
            </a:r>
            <a:r>
              <a:rPr lang="es-CL" sz="1800">
                <a:solidFill>
                  <a:schemeClr val="dk1"/>
                </a:solidFill>
              </a:rPr>
              <a:t>.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222" name="Google Shape;222;g3dbc86f6ba9_0_134"/>
          <p:cNvSpPr/>
          <p:nvPr/>
        </p:nvSpPr>
        <p:spPr>
          <a:xfrm>
            <a:off x="1144588" y="5793856"/>
            <a:ext cx="1224300" cy="1134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g3dbc86f6ba9_0_134"/>
          <p:cNvSpPr txBox="1"/>
          <p:nvPr/>
        </p:nvSpPr>
        <p:spPr>
          <a:xfrm>
            <a:off x="627050" y="1979850"/>
            <a:ext cx="81057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</a:rPr>
              <a:t>Ahora </a:t>
            </a:r>
            <a:r>
              <a:rPr b="1" lang="es-CL" sz="1800">
                <a:solidFill>
                  <a:schemeClr val="dk1"/>
                </a:solidFill>
              </a:rPr>
              <a:t>le entregamos a Angular el mapa de navegación</a:t>
            </a:r>
            <a:r>
              <a:rPr lang="es-CL" sz="1800">
                <a:solidFill>
                  <a:schemeClr val="dk1"/>
                </a:solidFill>
              </a:rPr>
              <a:t> de nuestra aplicación en</a:t>
            </a: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s-CL" sz="1800">
                <a:solidFill>
                  <a:srgbClr val="0033CC"/>
                </a:solidFill>
                <a:latin typeface="Consolas"/>
                <a:ea typeface="Consolas"/>
                <a:cs typeface="Consolas"/>
                <a:sym typeface="Consolas"/>
              </a:rPr>
              <a:t>app.config.ts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8" name="Google Shape;228;p7" title="Captura de pantalla 2026-05-04 a la(s) 00.59.2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2425" y="1775659"/>
            <a:ext cx="6191500" cy="465372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esultado de imagen para angular logos" id="229" name="Google Shape;229;p7"/>
          <p:cNvPicPr preferRelativeResize="0"/>
          <p:nvPr/>
        </p:nvPicPr>
        <p:blipFill rotWithShape="1">
          <a:blip r:embed="rId4">
            <a:alphaModFix/>
          </a:blip>
          <a:srcRect b="0" l="51971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7"/>
          <p:cNvSpPr txBox="1"/>
          <p:nvPr/>
        </p:nvSpPr>
        <p:spPr>
          <a:xfrm>
            <a:off x="1144588" y="185738"/>
            <a:ext cx="4547527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Enlazar Rutas y Acciones</a:t>
            </a:r>
            <a:endParaRPr/>
          </a:p>
        </p:txBody>
      </p:sp>
      <p:cxnSp>
        <p:nvCxnSpPr>
          <p:cNvPr id="231" name="Google Shape;231;p7"/>
          <p:cNvCxnSpPr/>
          <p:nvPr/>
        </p:nvCxnSpPr>
        <p:spPr>
          <a:xfrm>
            <a:off x="1206500" y="858838"/>
            <a:ext cx="7526338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32" name="Google Shape;232;p7"/>
          <p:cNvSpPr/>
          <p:nvPr/>
        </p:nvSpPr>
        <p:spPr>
          <a:xfrm>
            <a:off x="0" y="6537325"/>
            <a:ext cx="9144000" cy="312738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/>
          </a:p>
        </p:txBody>
      </p:sp>
      <p:sp>
        <p:nvSpPr>
          <p:cNvPr id="233" name="Google Shape;233;p7"/>
          <p:cNvSpPr/>
          <p:nvPr/>
        </p:nvSpPr>
        <p:spPr>
          <a:xfrm>
            <a:off x="627062" y="1164637"/>
            <a:ext cx="810577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Para enlazar las rutas de la manera más simple utilizamos </a:t>
            </a:r>
            <a:r>
              <a:rPr lang="es-CL" sz="1800">
                <a:solidFill>
                  <a:srgbClr val="0033CC"/>
                </a:solidFill>
                <a:latin typeface="Consolas"/>
                <a:ea typeface="Consolas"/>
                <a:cs typeface="Consolas"/>
                <a:sym typeface="Consolas"/>
              </a:rPr>
              <a:t>[routerLink]</a:t>
            </a: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/>
          </a:p>
        </p:txBody>
      </p:sp>
      <p:sp>
        <p:nvSpPr>
          <p:cNvPr id="234" name="Google Shape;234;p7"/>
          <p:cNvSpPr/>
          <p:nvPr/>
        </p:nvSpPr>
        <p:spPr>
          <a:xfrm>
            <a:off x="898875" y="5023988"/>
            <a:ext cx="5445900" cy="267300"/>
          </a:xfrm>
          <a:prstGeom prst="rect">
            <a:avLst/>
          </a:prstGeom>
          <a:solidFill>
            <a:srgbClr val="FFFF00">
              <a:alpha val="10196"/>
            </a:srgbClr>
          </a:solidFill>
          <a:ln cap="flat" cmpd="sng" w="28575">
            <a:solidFill>
              <a:srgbClr val="FFFF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7"/>
          <p:cNvSpPr/>
          <p:nvPr/>
        </p:nvSpPr>
        <p:spPr>
          <a:xfrm>
            <a:off x="858822" y="4407075"/>
            <a:ext cx="4756200" cy="267300"/>
          </a:xfrm>
          <a:prstGeom prst="rect">
            <a:avLst/>
          </a:prstGeom>
          <a:solidFill>
            <a:srgbClr val="FFFF00">
              <a:alpha val="10196"/>
            </a:srgbClr>
          </a:solidFill>
          <a:ln cap="flat" cmpd="sng" w="28575">
            <a:solidFill>
              <a:srgbClr val="FFFF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7"/>
          <p:cNvSpPr txBox="1"/>
          <p:nvPr/>
        </p:nvSpPr>
        <p:spPr>
          <a:xfrm>
            <a:off x="270409" y="1477243"/>
            <a:ext cx="1973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>
                <a:solidFill>
                  <a:srgbClr val="0033CC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app.html</a:t>
            </a:r>
            <a:endParaRPr/>
          </a:p>
        </p:txBody>
      </p:sp>
      <p:sp>
        <p:nvSpPr>
          <p:cNvPr id="237" name="Google Shape;237;p7"/>
          <p:cNvSpPr/>
          <p:nvPr/>
        </p:nvSpPr>
        <p:spPr>
          <a:xfrm>
            <a:off x="3385638" y="5743738"/>
            <a:ext cx="3001500" cy="612600"/>
          </a:xfrm>
          <a:prstGeom prst="wedgeRoundRectCallout">
            <a:avLst>
              <a:gd fmla="val -59934" name="adj1"/>
              <a:gd fmla="val 33937" name="adj2"/>
              <a:gd fmla="val 16667" name="adj3"/>
            </a:avLst>
          </a:prstGeom>
          <a:solidFill>
            <a:srgbClr val="F4B081"/>
          </a:solidFill>
          <a:ln cap="flat" cmpd="sng" w="12700">
            <a:solidFill>
              <a:srgbClr val="833C0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>
                <a:solidFill>
                  <a:schemeClr val="dk1"/>
                </a:solidFill>
              </a:rPr>
              <a:t>Para mostrar el template solicitado en la ruta anterior se utiliza</a:t>
            </a:r>
            <a:endParaRPr/>
          </a:p>
        </p:txBody>
      </p:sp>
      <p:grpSp>
        <p:nvGrpSpPr>
          <p:cNvPr id="238" name="Google Shape;238;p7"/>
          <p:cNvGrpSpPr/>
          <p:nvPr/>
        </p:nvGrpSpPr>
        <p:grpSpPr>
          <a:xfrm>
            <a:off x="4563390" y="2884545"/>
            <a:ext cx="3347412" cy="1128864"/>
            <a:chOff x="5692115" y="2798820"/>
            <a:chExt cx="3347412" cy="1128864"/>
          </a:xfrm>
        </p:grpSpPr>
        <p:pic>
          <p:nvPicPr>
            <p:cNvPr id="239" name="Google Shape;239;p7"/>
            <p:cNvPicPr preferRelativeResize="0"/>
            <p:nvPr/>
          </p:nvPicPr>
          <p:blipFill rotWithShape="1">
            <a:blip r:embed="rId5">
              <a:alphaModFix/>
            </a:blip>
            <a:srcRect b="81388" l="422" r="65544" t="340"/>
            <a:stretch/>
          </p:blipFill>
          <p:spPr>
            <a:xfrm>
              <a:off x="5692115" y="2798820"/>
              <a:ext cx="3347412" cy="1128864"/>
            </a:xfrm>
            <a:prstGeom prst="rect">
              <a:avLst/>
            </a:prstGeom>
            <a:noFill/>
            <a:ln cap="flat" cmpd="sng" w="9525">
              <a:solidFill>
                <a:srgbClr val="BFBFBF"/>
              </a:solidFill>
              <a:prstDash val="solid"/>
              <a:round/>
              <a:headEnd len="sm" w="sm" type="none"/>
              <a:tailEnd len="sm" w="sm" type="none"/>
            </a:ln>
          </p:spPr>
        </p:pic>
        <p:pic>
          <p:nvPicPr>
            <p:cNvPr id="240" name="Google Shape;240;p7"/>
            <p:cNvPicPr preferRelativeResize="0"/>
            <p:nvPr/>
          </p:nvPicPr>
          <p:blipFill rotWithShape="1">
            <a:blip r:embed="rId5">
              <a:alphaModFix/>
            </a:blip>
            <a:srcRect b="81388" l="21706" r="65544" t="12634"/>
            <a:stretch/>
          </p:blipFill>
          <p:spPr>
            <a:xfrm>
              <a:off x="6918487" y="3558338"/>
              <a:ext cx="1253983" cy="369333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241" name="Google Shape;241;p7"/>
          <p:cNvCxnSpPr/>
          <p:nvPr/>
        </p:nvCxnSpPr>
        <p:spPr>
          <a:xfrm flipH="1" rot="-5400000">
            <a:off x="4665000" y="4107525"/>
            <a:ext cx="442800" cy="57300"/>
          </a:xfrm>
          <a:prstGeom prst="curvedConnector3">
            <a:avLst>
              <a:gd fmla="val 50000" name="adj1"/>
            </a:avLst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242" name="Google Shape;242;p7"/>
          <p:cNvCxnSpPr>
            <a:endCxn id="234" idx="3"/>
          </p:cNvCxnSpPr>
          <p:nvPr/>
        </p:nvCxnSpPr>
        <p:spPr>
          <a:xfrm flipH="1" rot="-5400000">
            <a:off x="5414775" y="4227638"/>
            <a:ext cx="1214400" cy="645600"/>
          </a:xfrm>
          <a:prstGeom prst="curvedConnector4">
            <a:avLst>
              <a:gd fmla="val 44497" name="adj1"/>
              <a:gd fmla="val 136884" name="adj2"/>
            </a:avLst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243" name="Google Shape;243;p7"/>
          <p:cNvSpPr txBox="1"/>
          <p:nvPr/>
        </p:nvSpPr>
        <p:spPr>
          <a:xfrm>
            <a:off x="6629400" y="4686050"/>
            <a:ext cx="22575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RouterLink</a:t>
            </a: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no cambia de página… le dice a Angular que cambie el componente que se muestra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248" name="Google Shape;248;g3dbc86f6ba9_0_37"/>
          <p:cNvPicPr preferRelativeResize="0"/>
          <p:nvPr/>
        </p:nvPicPr>
        <p:blipFill rotWithShape="1">
          <a:blip r:embed="rId3">
            <a:alphaModFix/>
          </a:blip>
          <a:srcRect b="0" l="51972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g3dbc86f6ba9_0_37"/>
          <p:cNvSpPr txBox="1"/>
          <p:nvPr/>
        </p:nvSpPr>
        <p:spPr>
          <a:xfrm>
            <a:off x="1144588" y="185738"/>
            <a:ext cx="4547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Enlazar Rutas y Acciones</a:t>
            </a:r>
            <a:endParaRPr/>
          </a:p>
        </p:txBody>
      </p:sp>
      <p:cxnSp>
        <p:nvCxnSpPr>
          <p:cNvPr id="250" name="Google Shape;250;g3dbc86f6ba9_0_37"/>
          <p:cNvCxnSpPr/>
          <p:nvPr/>
        </p:nvCxnSpPr>
        <p:spPr>
          <a:xfrm>
            <a:off x="1206500" y="858838"/>
            <a:ext cx="7526400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51" name="Google Shape;251;g3dbc86f6ba9_0_37"/>
          <p:cNvSpPr/>
          <p:nvPr/>
        </p:nvSpPr>
        <p:spPr>
          <a:xfrm>
            <a:off x="0" y="6537325"/>
            <a:ext cx="9144000" cy="312600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/>
          </a:p>
        </p:txBody>
      </p:sp>
      <p:sp>
        <p:nvSpPr>
          <p:cNvPr id="252" name="Google Shape;252;g3dbc86f6ba9_0_37"/>
          <p:cNvSpPr/>
          <p:nvPr/>
        </p:nvSpPr>
        <p:spPr>
          <a:xfrm>
            <a:off x="627062" y="1164637"/>
            <a:ext cx="8105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Para enlazar rutas de la manera más simple utilizamos </a:t>
            </a:r>
            <a:r>
              <a:rPr lang="es-CL" sz="1800">
                <a:solidFill>
                  <a:srgbClr val="0033CC"/>
                </a:solidFill>
                <a:latin typeface="Consolas"/>
                <a:ea typeface="Consolas"/>
                <a:cs typeface="Consolas"/>
                <a:sym typeface="Consolas"/>
              </a:rPr>
              <a:t>[routerLink]</a:t>
            </a: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/>
          </a:p>
        </p:txBody>
      </p:sp>
      <p:sp>
        <p:nvSpPr>
          <p:cNvPr id="253" name="Google Shape;253;g3dbc86f6ba9_0_37"/>
          <p:cNvSpPr txBox="1"/>
          <p:nvPr/>
        </p:nvSpPr>
        <p:spPr>
          <a:xfrm>
            <a:off x="1364384" y="1519693"/>
            <a:ext cx="1973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>
                <a:solidFill>
                  <a:srgbClr val="0033CC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app.</a:t>
            </a:r>
            <a:r>
              <a:rPr lang="es-CL">
                <a:solidFill>
                  <a:srgbClr val="0033CC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ts</a:t>
            </a:r>
            <a:endParaRPr/>
          </a:p>
        </p:txBody>
      </p:sp>
      <p:pic>
        <p:nvPicPr>
          <p:cNvPr id="254" name="Google Shape;254;g3dbc86f6ba9_0_37" title="Captura de pantalla 2026-05-04 a la(s) 00.15.06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11998" y="1848875"/>
            <a:ext cx="6520005" cy="4487776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g3dbc86f6ba9_0_37"/>
          <p:cNvSpPr/>
          <p:nvPr/>
        </p:nvSpPr>
        <p:spPr>
          <a:xfrm>
            <a:off x="3843350" y="3529175"/>
            <a:ext cx="3914700" cy="612600"/>
          </a:xfrm>
          <a:prstGeom prst="wedgeRoundRectCallout">
            <a:avLst>
              <a:gd fmla="val -73723" name="adj1"/>
              <a:gd fmla="val -31366" name="adj2"/>
              <a:gd fmla="val 16667" name="adj3"/>
            </a:avLst>
          </a:prstGeom>
          <a:solidFill>
            <a:srgbClr val="F4B081"/>
          </a:solidFill>
          <a:ln cap="flat" cmpd="sng" w="12700">
            <a:solidFill>
              <a:srgbClr val="833C0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>
                <a:solidFill>
                  <a:schemeClr val="dk1"/>
                </a:solidFill>
              </a:rPr>
              <a:t>Declaramos la dependencia con los componentes </a:t>
            </a:r>
            <a:r>
              <a:rPr b="1" lang="es-CL">
                <a:solidFill>
                  <a:schemeClr val="dk1"/>
                </a:solidFill>
              </a:rPr>
              <a:t>RouterOutlet y RouterLink</a:t>
            </a:r>
            <a:endParaRPr b="1"/>
          </a:p>
        </p:txBody>
      </p:sp>
      <p:sp>
        <p:nvSpPr>
          <p:cNvPr id="256" name="Google Shape;256;g3dbc86f6ba9_0_37"/>
          <p:cNvSpPr/>
          <p:nvPr/>
        </p:nvSpPr>
        <p:spPr>
          <a:xfrm>
            <a:off x="1630350" y="3429000"/>
            <a:ext cx="1870200" cy="1043100"/>
          </a:xfrm>
          <a:prstGeom prst="rect">
            <a:avLst/>
          </a:prstGeom>
          <a:solidFill>
            <a:srgbClr val="FFFF00">
              <a:alpha val="102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261" name="Google Shape;261;g3dbc86f6ba9_0_60"/>
          <p:cNvPicPr preferRelativeResize="0"/>
          <p:nvPr/>
        </p:nvPicPr>
        <p:blipFill rotWithShape="1">
          <a:blip r:embed="rId3">
            <a:alphaModFix/>
          </a:blip>
          <a:srcRect b="0" l="51972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g3dbc86f6ba9_0_60"/>
          <p:cNvSpPr txBox="1"/>
          <p:nvPr/>
        </p:nvSpPr>
        <p:spPr>
          <a:xfrm>
            <a:off x="1144588" y="185738"/>
            <a:ext cx="3543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Navegar a una Ruta</a:t>
            </a:r>
            <a:endParaRPr/>
          </a:p>
        </p:txBody>
      </p:sp>
      <p:cxnSp>
        <p:nvCxnSpPr>
          <p:cNvPr id="263" name="Google Shape;263;g3dbc86f6ba9_0_60"/>
          <p:cNvCxnSpPr/>
          <p:nvPr/>
        </p:nvCxnSpPr>
        <p:spPr>
          <a:xfrm>
            <a:off x="1206500" y="858838"/>
            <a:ext cx="7526400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64" name="Google Shape;264;g3dbc86f6ba9_0_60"/>
          <p:cNvSpPr/>
          <p:nvPr/>
        </p:nvSpPr>
        <p:spPr>
          <a:xfrm>
            <a:off x="0" y="6537325"/>
            <a:ext cx="9144000" cy="312600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/>
          </a:p>
        </p:txBody>
      </p:sp>
      <p:sp>
        <p:nvSpPr>
          <p:cNvPr id="265" name="Google Shape;265;g3dbc86f6ba9_0_60"/>
          <p:cNvSpPr/>
          <p:nvPr/>
        </p:nvSpPr>
        <p:spPr>
          <a:xfrm>
            <a:off x="627062" y="1164637"/>
            <a:ext cx="8105700" cy="6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 necesitamos redireccionar la navegación a alguna ruta desde la lógica utilizamos </a:t>
            </a:r>
            <a:r>
              <a:rPr lang="es-CL" sz="1800">
                <a:solidFill>
                  <a:srgbClr val="0033CC"/>
                </a:solidFill>
                <a:latin typeface="Consolas"/>
                <a:ea typeface="Consolas"/>
                <a:cs typeface="Consolas"/>
                <a:sym typeface="Consolas"/>
              </a:rPr>
              <a:t>router.navigate()</a:t>
            </a:r>
            <a:endParaRPr/>
          </a:p>
        </p:txBody>
      </p:sp>
      <p:pic>
        <p:nvPicPr>
          <p:cNvPr id="266" name="Google Shape;266;g3dbc86f6ba9_0_6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61259" y="5095910"/>
            <a:ext cx="4600575" cy="781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7" name="Google Shape;267;g3dbc86f6ba9_0_6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88642" y="2710808"/>
            <a:ext cx="58483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8" name="Google Shape;268;g3dbc86f6ba9_0_6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90605" y="4418904"/>
            <a:ext cx="3629025" cy="295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9" name="Google Shape;269;g3dbc86f6ba9_0_6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63271" y="3762777"/>
            <a:ext cx="3724275" cy="333375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g3dbc86f6ba9_0_60"/>
          <p:cNvSpPr txBox="1"/>
          <p:nvPr/>
        </p:nvSpPr>
        <p:spPr>
          <a:xfrm>
            <a:off x="990605" y="3941034"/>
            <a:ext cx="492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4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…</a:t>
            </a:r>
            <a:endParaRPr/>
          </a:p>
        </p:txBody>
      </p:sp>
      <p:sp>
        <p:nvSpPr>
          <p:cNvPr id="271" name="Google Shape;271;g3dbc86f6ba9_0_60"/>
          <p:cNvSpPr txBox="1"/>
          <p:nvPr/>
        </p:nvSpPr>
        <p:spPr>
          <a:xfrm>
            <a:off x="994977" y="4632058"/>
            <a:ext cx="492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4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…</a:t>
            </a:r>
            <a:endParaRPr/>
          </a:p>
        </p:txBody>
      </p:sp>
      <p:sp>
        <p:nvSpPr>
          <p:cNvPr id="272" name="Google Shape;272;g3dbc86f6ba9_0_60"/>
          <p:cNvSpPr txBox="1"/>
          <p:nvPr/>
        </p:nvSpPr>
        <p:spPr>
          <a:xfrm>
            <a:off x="961259" y="2082622"/>
            <a:ext cx="1973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>
                <a:solidFill>
                  <a:srgbClr val="0033CC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app.html</a:t>
            </a:r>
            <a:endParaRPr/>
          </a:p>
        </p:txBody>
      </p:sp>
      <p:sp>
        <p:nvSpPr>
          <p:cNvPr id="273" name="Google Shape;273;g3dbc86f6ba9_0_60"/>
          <p:cNvSpPr txBox="1"/>
          <p:nvPr/>
        </p:nvSpPr>
        <p:spPr>
          <a:xfrm>
            <a:off x="957114" y="3442995"/>
            <a:ext cx="1774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>
                <a:solidFill>
                  <a:srgbClr val="0033CC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app.ts</a:t>
            </a:r>
            <a:endParaRPr sz="1400">
              <a:solidFill>
                <a:srgbClr val="0033CC"/>
              </a:solidFill>
              <a:highlight>
                <a:srgbClr val="FFFF00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74" name="Google Shape;274;g3dbc86f6ba9_0_60"/>
          <p:cNvSpPr txBox="1"/>
          <p:nvPr/>
        </p:nvSpPr>
        <p:spPr>
          <a:xfrm>
            <a:off x="960278" y="2235249"/>
            <a:ext cx="492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4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…</a:t>
            </a:r>
            <a:endParaRPr/>
          </a:p>
        </p:txBody>
      </p:sp>
      <p:pic>
        <p:nvPicPr>
          <p:cNvPr id="275" name="Google Shape;275;g3dbc86f6ba9_0_6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2307637" y="5996504"/>
            <a:ext cx="379095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g3dbc86f6ba9_0_60"/>
          <p:cNvSpPr/>
          <p:nvPr/>
        </p:nvSpPr>
        <p:spPr>
          <a:xfrm>
            <a:off x="5918374" y="5074250"/>
            <a:ext cx="1774800" cy="612600"/>
          </a:xfrm>
          <a:prstGeom prst="wedgeRoundRectCallout">
            <a:avLst>
              <a:gd fmla="val -59898" name="adj1"/>
              <a:gd fmla="val 92960" name="adj2"/>
              <a:gd fmla="val 16667" name="adj3"/>
            </a:avLst>
          </a:prstGeom>
          <a:solidFill>
            <a:srgbClr val="F4B081"/>
          </a:solidFill>
          <a:ln cap="flat" cmpd="sng" w="12700">
            <a:solidFill>
              <a:srgbClr val="833C0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Parámetro pasado a la ruta</a:t>
            </a:r>
            <a:endParaRPr/>
          </a:p>
        </p:txBody>
      </p:sp>
      <p:sp>
        <p:nvSpPr>
          <p:cNvPr id="277" name="Google Shape;277;g3dbc86f6ba9_0_60"/>
          <p:cNvSpPr/>
          <p:nvPr/>
        </p:nvSpPr>
        <p:spPr>
          <a:xfrm>
            <a:off x="957114" y="2683996"/>
            <a:ext cx="5880000" cy="297600"/>
          </a:xfrm>
          <a:prstGeom prst="rect">
            <a:avLst/>
          </a:prstGeom>
          <a:solidFill>
            <a:srgbClr val="FFFF00">
              <a:alpha val="10200"/>
            </a:srgbClr>
          </a:solidFill>
          <a:ln cap="flat" cmpd="sng" w="28575">
            <a:solidFill>
              <a:srgbClr val="FFFF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g3dbc86f6ba9_0_60"/>
          <p:cNvSpPr/>
          <p:nvPr/>
        </p:nvSpPr>
        <p:spPr>
          <a:xfrm>
            <a:off x="1005437" y="3786708"/>
            <a:ext cx="3614100" cy="286800"/>
          </a:xfrm>
          <a:prstGeom prst="rect">
            <a:avLst/>
          </a:prstGeom>
          <a:solidFill>
            <a:srgbClr val="FFFF00">
              <a:alpha val="10200"/>
            </a:srgbClr>
          </a:solidFill>
          <a:ln cap="flat" cmpd="sng" w="28575">
            <a:solidFill>
              <a:srgbClr val="FFFF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g3dbc86f6ba9_0_60"/>
          <p:cNvSpPr/>
          <p:nvPr/>
        </p:nvSpPr>
        <p:spPr>
          <a:xfrm>
            <a:off x="984537" y="5085194"/>
            <a:ext cx="4600500" cy="696000"/>
          </a:xfrm>
          <a:prstGeom prst="rect">
            <a:avLst/>
          </a:prstGeom>
          <a:solidFill>
            <a:srgbClr val="FFFF00">
              <a:alpha val="10200"/>
            </a:srgbClr>
          </a:solidFill>
          <a:ln cap="flat" cmpd="sng" w="28575">
            <a:solidFill>
              <a:srgbClr val="FFFF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g3dbc86f6ba9_0_60"/>
          <p:cNvSpPr/>
          <p:nvPr/>
        </p:nvSpPr>
        <p:spPr>
          <a:xfrm>
            <a:off x="2124041" y="4443982"/>
            <a:ext cx="1958400" cy="255300"/>
          </a:xfrm>
          <a:prstGeom prst="rect">
            <a:avLst/>
          </a:prstGeom>
          <a:solidFill>
            <a:srgbClr val="FFFF00">
              <a:alpha val="10200"/>
            </a:srgbClr>
          </a:solidFill>
          <a:ln cap="flat" cmpd="sng" w="28575">
            <a:solidFill>
              <a:srgbClr val="FFFF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285" name="Google Shape;285;g3dbc86f6ba9_0_85"/>
          <p:cNvPicPr preferRelativeResize="0"/>
          <p:nvPr/>
        </p:nvPicPr>
        <p:blipFill rotWithShape="1">
          <a:blip r:embed="rId3">
            <a:alphaModFix/>
          </a:blip>
          <a:srcRect b="0" l="51972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sp>
        <p:nvSpPr>
          <p:cNvPr id="286" name="Google Shape;286;g3dbc86f6ba9_0_85"/>
          <p:cNvSpPr txBox="1"/>
          <p:nvPr/>
        </p:nvSpPr>
        <p:spPr>
          <a:xfrm>
            <a:off x="1144588" y="185738"/>
            <a:ext cx="3543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800">
                <a:solidFill>
                  <a:srgbClr val="0070C0"/>
                </a:solidFill>
              </a:rPr>
              <a:t>Routing</a:t>
            </a:r>
            <a:endParaRPr/>
          </a:p>
        </p:txBody>
      </p:sp>
      <p:cxnSp>
        <p:nvCxnSpPr>
          <p:cNvPr id="287" name="Google Shape;287;g3dbc86f6ba9_0_85"/>
          <p:cNvCxnSpPr/>
          <p:nvPr/>
        </p:nvCxnSpPr>
        <p:spPr>
          <a:xfrm>
            <a:off x="1206500" y="858838"/>
            <a:ext cx="7526400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88" name="Google Shape;288;g3dbc86f6ba9_0_85"/>
          <p:cNvSpPr/>
          <p:nvPr/>
        </p:nvSpPr>
        <p:spPr>
          <a:xfrm>
            <a:off x="0" y="6537325"/>
            <a:ext cx="9144000" cy="312600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/>
          </a:p>
        </p:txBody>
      </p:sp>
      <p:sp>
        <p:nvSpPr>
          <p:cNvPr id="289" name="Google Shape;289;g3dbc86f6ba9_0_85"/>
          <p:cNvSpPr txBox="1"/>
          <p:nvPr>
            <p:ph type="ctrTitle"/>
          </p:nvPr>
        </p:nvSpPr>
        <p:spPr>
          <a:xfrm>
            <a:off x="1143000" y="1993888"/>
            <a:ext cx="6858000" cy="2387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/>
              <a:t>Routing es lo que hace que una aplicación Angular se sienta como una app real, no como una página web.</a:t>
            </a:r>
            <a:endParaRPr sz="36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1601-01-01T00:00:00Z</dcterms:created>
  <dc:creator>Luis Gajardo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