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7086600" cy="8526450"/>
  <p:embeddedFontLst>
    <p:embeddedFont>
      <p:font typeface="Teko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57u+cZQFe016d2M/yGC2/08c4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1BF0AB-884F-4557-872C-B8743E382727}">
  <a:tblStyle styleId="{891BF0AB-884F-4557-872C-B8743E3827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eko-regular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Tek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20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9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0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3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4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4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4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jp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6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9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50.png"/><Relationship Id="rId8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5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28837"/>
            <a:ext cx="52578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0"/>
              <a:buFont typeface="Teko"/>
              <a:buNone/>
            </a:pPr>
            <a:r>
              <a:rPr b="1" i="0" lang="en-US" sz="80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352800" y="3090862"/>
            <a:ext cx="50784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429000" y="3627437"/>
            <a:ext cx="5181600" cy="46037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404040"/>
              </a:solidFill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53607" r="0" t="17384"/>
          <a:stretch/>
        </p:blipFill>
        <p:spPr>
          <a:xfrm>
            <a:off x="530225" y="2170112"/>
            <a:ext cx="264318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2" y="287337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44587" y="185737"/>
            <a:ext cx="1744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cxnSp>
        <p:nvCxnSpPr>
          <p:cNvPr id="103" name="Google Shape;103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627062" y="2254250"/>
            <a:ext cx="8199437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 ofrece nuevas características (elementos, atributos, manejadores de eventos, y APIs) para desarrollos de páginas web.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33400" y="1347787"/>
            <a:ext cx="8199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HTML5, es la 5 revisión del estándar, la versión definitiva se publicó en Octubre de 2014.</a:t>
            </a:r>
            <a:endParaRPr/>
          </a:p>
        </p:txBody>
      </p:sp>
      <p:pic>
        <p:nvPicPr>
          <p:cNvPr descr="Introducción a html" id="108" name="Google Shape;108;p2"/>
          <p:cNvPicPr preferRelativeResize="0"/>
          <p:nvPr/>
        </p:nvPicPr>
        <p:blipFill rotWithShape="1">
          <a:blip r:embed="rId4">
            <a:alphaModFix/>
          </a:blip>
          <a:srcRect b="25036" l="0" r="27366" t="7128"/>
          <a:stretch/>
        </p:blipFill>
        <p:spPr>
          <a:xfrm>
            <a:off x="635000" y="3409950"/>
            <a:ext cx="3079750" cy="216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144587" y="185737"/>
            <a:ext cx="4622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Navegadores más usados</a:t>
            </a:r>
            <a:endParaRPr/>
          </a:p>
        </p:txBody>
      </p:sp>
      <p:cxnSp>
        <p:nvCxnSpPr>
          <p:cNvPr id="115" name="Google Shape;115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" name="Google Shape;116;p3"/>
          <p:cNvSpPr txBox="1"/>
          <p:nvPr/>
        </p:nvSpPr>
        <p:spPr>
          <a:xfrm>
            <a:off x="533400" y="1287462"/>
            <a:ext cx="81994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navegadores más usados hoy en día son Chrome y Firefox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pic>
        <p:nvPicPr>
          <p:cNvPr descr="Gráfico: Internet Explorer desaparece y Chrome arrasa en navegación web de  escritorio | Statista" id="119" name="Google Shape;119;p3"/>
          <p:cNvPicPr preferRelativeResize="0"/>
          <p:nvPr/>
        </p:nvPicPr>
        <p:blipFill rotWithShape="1">
          <a:blip r:embed="rId4">
            <a:alphaModFix/>
          </a:blip>
          <a:srcRect b="19772" l="0" r="2731" t="-4510"/>
          <a:stretch/>
        </p:blipFill>
        <p:spPr>
          <a:xfrm>
            <a:off x="838200" y="1706562"/>
            <a:ext cx="6670675" cy="429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66665" r="6666" t="51649"/>
          <a:stretch/>
        </p:blipFill>
        <p:spPr>
          <a:xfrm>
            <a:off x="7542212" y="4940300"/>
            <a:ext cx="306387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121" name="Google Shape;121;p3"/>
          <p:cNvPicPr preferRelativeResize="0"/>
          <p:nvPr/>
        </p:nvPicPr>
        <p:blipFill rotWithShape="1">
          <a:blip r:embed="rId5">
            <a:alphaModFix/>
          </a:blip>
          <a:srcRect b="49830" l="53332" r="16665" t="0"/>
          <a:stretch/>
        </p:blipFill>
        <p:spPr>
          <a:xfrm>
            <a:off x="7551737" y="2673350"/>
            <a:ext cx="333375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122" name="Google Shape;122;p3"/>
          <p:cNvPicPr preferRelativeResize="0"/>
          <p:nvPr/>
        </p:nvPicPr>
        <p:blipFill rotWithShape="1">
          <a:blip r:embed="rId5">
            <a:alphaModFix/>
          </a:blip>
          <a:srcRect b="47358" l="13073" r="50259" t="0"/>
          <a:stretch/>
        </p:blipFill>
        <p:spPr>
          <a:xfrm>
            <a:off x="7499350" y="4265612"/>
            <a:ext cx="385762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66667" t="51504"/>
          <a:stretch/>
        </p:blipFill>
        <p:spPr>
          <a:xfrm>
            <a:off x="7504112" y="4603750"/>
            <a:ext cx="373062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124" name="Google Shape;124;p3"/>
          <p:cNvPicPr preferRelativeResize="0"/>
          <p:nvPr/>
        </p:nvPicPr>
        <p:blipFill rotWithShape="1">
          <a:blip r:embed="rId5">
            <a:alphaModFix/>
          </a:blip>
          <a:srcRect b="-2398" l="36665" r="38543" t="55038"/>
          <a:stretch/>
        </p:blipFill>
        <p:spPr>
          <a:xfrm>
            <a:off x="7551737" y="3924300"/>
            <a:ext cx="290512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crosoft no quiere confusiones: el logo de Edge se parece mucho ..." id="125" name="Google Shape;125;p3"/>
          <p:cNvPicPr preferRelativeResize="0"/>
          <p:nvPr/>
        </p:nvPicPr>
        <p:blipFill rotWithShape="1">
          <a:blip r:embed="rId6">
            <a:alphaModFix/>
          </a:blip>
          <a:srcRect b="9695" l="21682" r="27542" t="9516"/>
          <a:stretch/>
        </p:blipFill>
        <p:spPr>
          <a:xfrm>
            <a:off x="7570787" y="3633787"/>
            <a:ext cx="249237" cy="268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>
            <a:off x="8621712" y="1323975"/>
            <a:ext cx="534987" cy="146050"/>
          </a:xfrm>
          <a:custGeom>
            <a:rect b="b" l="l" r="r" t="t"/>
            <a:pathLst>
              <a:path extrusionOk="0" h="146050" w="534851">
                <a:moveTo>
                  <a:pt x="0" y="25400"/>
                </a:moveTo>
                <a:cubicBezTo>
                  <a:pt x="31750" y="27517"/>
                  <a:pt x="63624" y="28236"/>
                  <a:pt x="95250" y="31750"/>
                </a:cubicBezTo>
                <a:cubicBezTo>
                  <a:pt x="101903" y="32489"/>
                  <a:pt x="107714" y="36903"/>
                  <a:pt x="114300" y="38100"/>
                </a:cubicBezTo>
                <a:cubicBezTo>
                  <a:pt x="131090" y="41153"/>
                  <a:pt x="148167" y="42333"/>
                  <a:pt x="165100" y="44450"/>
                </a:cubicBezTo>
                <a:cubicBezTo>
                  <a:pt x="171450" y="46567"/>
                  <a:pt x="178923" y="46619"/>
                  <a:pt x="184150" y="50800"/>
                </a:cubicBezTo>
                <a:cubicBezTo>
                  <a:pt x="190109" y="55568"/>
                  <a:pt x="191454" y="64454"/>
                  <a:pt x="196850" y="69850"/>
                </a:cubicBezTo>
                <a:cubicBezTo>
                  <a:pt x="202246" y="75246"/>
                  <a:pt x="209550" y="78317"/>
                  <a:pt x="215900" y="82550"/>
                </a:cubicBezTo>
                <a:cubicBezTo>
                  <a:pt x="232833" y="80433"/>
                  <a:pt x="250629" y="81940"/>
                  <a:pt x="266700" y="76200"/>
                </a:cubicBezTo>
                <a:cubicBezTo>
                  <a:pt x="309351" y="60967"/>
                  <a:pt x="290766" y="49540"/>
                  <a:pt x="323850" y="44450"/>
                </a:cubicBezTo>
                <a:cubicBezTo>
                  <a:pt x="344875" y="41215"/>
                  <a:pt x="366183" y="40217"/>
                  <a:pt x="387350" y="38100"/>
                </a:cubicBezTo>
                <a:cubicBezTo>
                  <a:pt x="391583" y="31750"/>
                  <a:pt x="394654" y="24446"/>
                  <a:pt x="400050" y="19050"/>
                </a:cubicBezTo>
                <a:cubicBezTo>
                  <a:pt x="414668" y="4432"/>
                  <a:pt x="425069" y="4858"/>
                  <a:pt x="444500" y="0"/>
                </a:cubicBezTo>
                <a:cubicBezTo>
                  <a:pt x="467783" y="2117"/>
                  <a:pt x="491206" y="3044"/>
                  <a:pt x="514350" y="6350"/>
                </a:cubicBezTo>
                <a:cubicBezTo>
                  <a:pt x="520976" y="7297"/>
                  <a:pt x="532087" y="6136"/>
                  <a:pt x="533400" y="12700"/>
                </a:cubicBezTo>
                <a:cubicBezTo>
                  <a:pt x="537159" y="31495"/>
                  <a:pt x="533111" y="51666"/>
                  <a:pt x="527050" y="69850"/>
                </a:cubicBezTo>
                <a:cubicBezTo>
                  <a:pt x="510375" y="119875"/>
                  <a:pt x="496458" y="108599"/>
                  <a:pt x="450850" y="114300"/>
                </a:cubicBezTo>
                <a:cubicBezTo>
                  <a:pt x="396672" y="132359"/>
                  <a:pt x="453369" y="115270"/>
                  <a:pt x="330200" y="127000"/>
                </a:cubicBezTo>
                <a:cubicBezTo>
                  <a:pt x="319456" y="128023"/>
                  <a:pt x="308921" y="130732"/>
                  <a:pt x="298450" y="133350"/>
                </a:cubicBezTo>
                <a:cubicBezTo>
                  <a:pt x="291956" y="134973"/>
                  <a:pt x="286063" y="139065"/>
                  <a:pt x="279400" y="139700"/>
                </a:cubicBezTo>
                <a:cubicBezTo>
                  <a:pt x="241413" y="143318"/>
                  <a:pt x="203200" y="143933"/>
                  <a:pt x="165100" y="146050"/>
                </a:cubicBezTo>
                <a:cubicBezTo>
                  <a:pt x="139700" y="143933"/>
                  <a:pt x="113893" y="144699"/>
                  <a:pt x="88900" y="139700"/>
                </a:cubicBezTo>
                <a:cubicBezTo>
                  <a:pt x="74060" y="136732"/>
                  <a:pt x="61500" y="115083"/>
                  <a:pt x="50800" y="107950"/>
                </a:cubicBezTo>
                <a:cubicBezTo>
                  <a:pt x="45231" y="104237"/>
                  <a:pt x="38100" y="103717"/>
                  <a:pt x="31750" y="101600"/>
                </a:cubicBezTo>
                <a:cubicBezTo>
                  <a:pt x="11624" y="71411"/>
                  <a:pt x="21463" y="89790"/>
                  <a:pt x="6350" y="4445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003425"/>
            <a:ext cx="6604000" cy="3995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1144587" y="185737"/>
            <a:ext cx="48990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Verificar una página HTML5</a:t>
            </a:r>
            <a:endParaRPr/>
          </a:p>
        </p:txBody>
      </p:sp>
      <p:cxnSp>
        <p:nvCxnSpPr>
          <p:cNvPr id="134" name="Google Shape;134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5" name="Google Shape;135;p4"/>
          <p:cNvSpPr txBox="1"/>
          <p:nvPr/>
        </p:nvSpPr>
        <p:spPr>
          <a:xfrm>
            <a:off x="533400" y="1247775"/>
            <a:ext cx="3833812" cy="138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esta versión hay más etiquetas y más opciones, lo que nos deja la duda de si desde nuestro navegador podemos acceder a todo lo que ofrece HTML5. 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533525" y="3369850"/>
            <a:ext cx="35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Antes:</a:t>
            </a:r>
            <a:r>
              <a:rPr lang="en-US" sz="18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http://html5test.com/</a:t>
            </a:r>
            <a:r>
              <a:rPr b="0" i="0" lang="en-US" sz="1800" u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4050" y="1347787"/>
            <a:ext cx="4268787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533525" y="4356800"/>
            <a:ext cx="40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Ahora:</a:t>
            </a:r>
            <a:r>
              <a:rPr lang="en-US" sz="18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https://html5test.opensuse.org/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144587" y="185737"/>
            <a:ext cx="50784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Estructura de un documento</a:t>
            </a:r>
            <a:endParaRPr/>
          </a:p>
        </p:txBody>
      </p:sp>
      <p:cxnSp>
        <p:nvCxnSpPr>
          <p:cNvPr id="147" name="Google Shape;147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" name="Google Shape;148;p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777875" y="1838325"/>
            <a:ext cx="21399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r>
              <a:rPr b="0" i="0" lang="en-US" sz="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533400" y="1222375"/>
            <a:ext cx="8199437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primera línea corresponde a la DTD (declaración de tipo de documento) y sirve para indicar qué versión de lenguaje HTML.</a:t>
            </a:r>
            <a:endParaRPr/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4">
            <a:alphaModFix/>
          </a:blip>
          <a:srcRect b="7098" l="18544" r="64054" t="54876"/>
          <a:stretch/>
        </p:blipFill>
        <p:spPr>
          <a:xfrm>
            <a:off x="6846887" y="1862137"/>
            <a:ext cx="1852612" cy="227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2797175" y="1860550"/>
            <a:ext cx="2014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&lt;!–- HTML5 --&gt;</a:t>
            </a:r>
            <a:r>
              <a:rPr b="0" i="0" lang="en-US" sz="800" u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1144587" y="185737"/>
            <a:ext cx="50784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Estructura de un documento</a:t>
            </a:r>
            <a:endParaRPr/>
          </a:p>
        </p:txBody>
      </p:sp>
      <p:cxnSp>
        <p:nvCxnSpPr>
          <p:cNvPr id="160" name="Google Shape;160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1" name="Google Shape;161;p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777875" y="1838325"/>
            <a:ext cx="21399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r>
              <a:rPr b="0" i="0" lang="en-US" sz="800" u="non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33400" y="1222375"/>
            <a:ext cx="8199437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primera línea corresponde a la DTD (declaración de tipo de documento) y sirve para indicar qué versión de lenguaje HTML.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804862" y="3059112"/>
            <a:ext cx="1957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&lt;html </a:t>
            </a:r>
            <a:r>
              <a:rPr b="0" i="0" lang="en-US" sz="18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8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es</a:t>
            </a:r>
            <a:r>
              <a:rPr b="0" i="0" lang="en-US" sz="18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2762250" y="3059112"/>
            <a:ext cx="1071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2797175" y="1860550"/>
            <a:ext cx="2014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&lt;!–- HTML5 --&gt;</a:t>
            </a:r>
            <a:r>
              <a:rPr b="0" i="0" lang="en-US" sz="800" u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 b="30961" l="23228" r="59370" t="29772"/>
          <a:stretch/>
        </p:blipFill>
        <p:spPr>
          <a:xfrm>
            <a:off x="6905625" y="1828800"/>
            <a:ext cx="1793875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444500" y="2389187"/>
            <a:ext cx="63912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elemento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 el inicio del contenido HTML en el formato especificado en DOCTYPE.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766762" y="3613150"/>
            <a:ext cx="55800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El atributo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en-US" sz="1800" u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indica el idioma en el que debería introducirse el texto,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el estándar ISO 639.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538162" y="4530725"/>
            <a:ext cx="7037387" cy="830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23E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3223E"/>
                </a:solidFill>
                <a:latin typeface="Arial"/>
                <a:ea typeface="Arial"/>
                <a:cs typeface="Arial"/>
                <a:sym typeface="Arial"/>
              </a:rPr>
              <a:t>Dentro de la etiqueta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&lt;html&gt;</a:t>
            </a:r>
            <a:r>
              <a:rPr b="0" i="0" lang="en-US" sz="1800" u="none">
                <a:solidFill>
                  <a:srgbClr val="23223E"/>
                </a:solidFill>
                <a:latin typeface="Arial"/>
                <a:ea typeface="Arial"/>
                <a:cs typeface="Arial"/>
                <a:sym typeface="Arial"/>
              </a:rPr>
              <a:t> hay otras dos etiquetas importantes:</a:t>
            </a:r>
            <a:endParaRPr/>
          </a:p>
          <a:p>
            <a:pPr indent="-4572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23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3223E"/>
                </a:solidFill>
                <a:latin typeface="Arial"/>
                <a:ea typeface="Arial"/>
                <a:cs typeface="Arial"/>
                <a:sym typeface="Arial"/>
              </a:rPr>
              <a:t>La etiqueta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/>
          </a:p>
          <a:p>
            <a:pPr indent="-4572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23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23223E"/>
                </a:solidFill>
                <a:latin typeface="Arial"/>
                <a:ea typeface="Arial"/>
                <a:cs typeface="Arial"/>
                <a:sym typeface="Arial"/>
              </a:rPr>
              <a:t>La etiqueta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1144587" y="185737"/>
            <a:ext cx="62595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Cabecera de un documento &lt;head&gt;</a:t>
            </a:r>
            <a:endParaRPr/>
          </a:p>
        </p:txBody>
      </p:sp>
      <p:cxnSp>
        <p:nvCxnSpPr>
          <p:cNvPr id="178" name="Google Shape;178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9" name="Google Shape;179;p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479425" y="2182812"/>
            <a:ext cx="6426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etiqueta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describe información del documento y su configuración (título, configuración,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scripts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estilos). 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471487" y="4360862"/>
            <a:ext cx="63436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&lt;title&gt;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 el título del documento. El navegador lo visualiza en la barra de título de su ventana. 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777875" y="5200650"/>
            <a:ext cx="63436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onsolas"/>
              <a:buNone/>
            </a:pPr>
            <a:r>
              <a:rPr b="0" i="0" lang="en-US" sz="18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&lt;title&gt;</a:t>
            </a:r>
            <a:r>
              <a:rPr b="0" i="0" lang="en-US" sz="18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El titulo de mi primer sitio</a:t>
            </a:r>
            <a:r>
              <a:rPr b="0" i="0" lang="en-US" sz="18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&lt;/title&gt; </a:t>
            </a:r>
            <a:endParaRPr/>
          </a:p>
        </p:txBody>
      </p:sp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b="29307" l="22117" r="58700" t="28582"/>
          <a:stretch/>
        </p:blipFill>
        <p:spPr>
          <a:xfrm>
            <a:off x="6897687" y="1101725"/>
            <a:ext cx="1982787" cy="24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479425" y="1252537"/>
            <a:ext cx="64182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bien el contenido de la etiqueta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r>
              <a:rPr b="0" i="0" lang="en-US" sz="1800" u="none">
                <a:solidFill>
                  <a:srgbClr val="2322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muestra poco a las personas, es importante para los bots.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 txBox="1"/>
          <p:nvPr/>
        </p:nvSpPr>
        <p:spPr>
          <a:xfrm>
            <a:off x="1144587" y="185737"/>
            <a:ext cx="62595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Cabecera de un documento &lt;head&gt;</a:t>
            </a:r>
            <a:endParaRPr/>
          </a:p>
        </p:txBody>
      </p:sp>
      <p:cxnSp>
        <p:nvCxnSpPr>
          <p:cNvPr id="192" name="Google Shape;192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3" name="Google Shape;193;p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471487" y="1225550"/>
            <a:ext cx="6426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&lt;meta&gt;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</a:t>
            </a:r>
            <a:r>
              <a:rPr b="0" i="0" lang="en-US" sz="1800" u="none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metadatos que proporcionan información sobre el documento (información procesable automáticamente por programas que analicen la página).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4">
            <a:alphaModFix/>
          </a:blip>
          <a:srcRect b="29307" l="22117" r="58700" t="28582"/>
          <a:stretch/>
        </p:blipFill>
        <p:spPr>
          <a:xfrm>
            <a:off x="6897687" y="1101725"/>
            <a:ext cx="1982787" cy="244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790575" y="2205037"/>
            <a:ext cx="25701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&lt;meta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"UTF-8" 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790575" y="2444750"/>
            <a:ext cx="629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&lt;meta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"author"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Cesar Aguilera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&lt;meta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"keywords"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"angular, html, javascript"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&lt;meta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"Curso de Angular"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415925" y="3622675"/>
            <a:ext cx="81994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&lt;link&gt;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 enlaces a otros archivos que queremos que se carguen junto con la página web. Generalmente, estos archivos serán hojas de estilo CSS y archivos JavaScript, ya sean librerías adicionales o nuestros propios archivos. 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661987" y="4999037"/>
            <a:ext cx="76438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&lt;link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"text/css"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"/css/formato.css"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/>
          <p:nvPr/>
        </p:nvSpPr>
        <p:spPr>
          <a:xfrm>
            <a:off x="1144587" y="185737"/>
            <a:ext cx="65579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Cabecera de un documento &lt;head&gt;…</a:t>
            </a:r>
            <a:endParaRPr/>
          </a:p>
        </p:txBody>
      </p:sp>
      <p:cxnSp>
        <p:nvCxnSpPr>
          <p:cNvPr id="207" name="Google Shape;207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8" name="Google Shape;208;p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476250" y="1225550"/>
            <a:ext cx="6421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&lt;style&gt;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definir propiedades de estilos que se aplicarán a lo largo del documento.   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1146175" y="2006600"/>
            <a:ext cx="4572000" cy="2370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&lt;style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"text/css"</a:t>
            </a: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p { font-family: Arial;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font-size: 10pt;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color: rgb(0,0,128);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text-indent: 15px;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text-align: justify;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margin-left: 10px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&lt;/style&gt; 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777875" y="4476750"/>
            <a:ext cx="13382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Alternativa: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879475" y="4840287"/>
            <a:ext cx="4241800" cy="5857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&lt;style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"text/css"</a:t>
            </a: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0" i="0" lang="en-US" sz="16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i="0" lang="en-US" sz="16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6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"/css/miEstilo.css"</a:t>
            </a:r>
            <a:r>
              <a:rPr b="0" i="0" lang="en-US" sz="16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4">
            <a:alphaModFix/>
          </a:blip>
          <a:srcRect b="29307" l="22117" r="58700" t="28582"/>
          <a:stretch/>
        </p:blipFill>
        <p:spPr>
          <a:xfrm>
            <a:off x="6897687" y="1101725"/>
            <a:ext cx="1982787" cy="244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 txBox="1"/>
          <p:nvPr/>
        </p:nvSpPr>
        <p:spPr>
          <a:xfrm>
            <a:off x="1144587" y="185737"/>
            <a:ext cx="65579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Cabecera de un documento &lt;head&gt;…</a:t>
            </a:r>
            <a:endParaRPr/>
          </a:p>
        </p:txBody>
      </p:sp>
      <p:cxnSp>
        <p:nvCxnSpPr>
          <p:cNvPr id="221" name="Google Shape;221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2" name="Google Shape;222;p1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003300" y="2216150"/>
            <a:ext cx="5691187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&lt;script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"text/javascript"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1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//Código JavaScript</a:t>
            </a:r>
            <a:br>
              <a:rPr b="0" i="1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b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&lt;noscript&gt;</a:t>
            </a:r>
            <a:b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Esta página requiere JavaScript.</a:t>
            </a:r>
            <a:b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Compruebe la configuración de su navegador.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b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&lt;/noscript&gt; 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476250" y="1220787"/>
            <a:ext cx="6557962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Etiqueta </a:t>
            </a:r>
            <a:r>
              <a:rPr b="0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&lt;script&gt;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incluir código ejecutable en nuestra página web. Aunque por defecto se espera JavaScript, conviene especificarlo.  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4022725" y="4298950"/>
            <a:ext cx="4344987" cy="739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400"/>
              <a:buFont typeface="Consolas"/>
              <a:buNone/>
            </a:pP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&lt;script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"text/javascript"</a:t>
            </a:r>
            <a:b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400" u="non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i="0" lang="en-US" sz="1400" u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400" u="non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"http://www.ss.com/js/miscript.js"</a:t>
            </a:r>
            <a: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en-US" sz="14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>
                <a:solidFill>
                  <a:srgbClr val="FF6600"/>
                </a:solidFill>
                <a:latin typeface="Consolas"/>
                <a:ea typeface="Consolas"/>
                <a:cs typeface="Consolas"/>
                <a:sym typeface="Consolas"/>
              </a:rPr>
              <a:t>&lt;/script&gt; 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777875" y="5326062"/>
            <a:ext cx="7954962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En muchas páginas web la inclusión de archivos externos JavaScript no se hace en la cabecera sino en la parte final del cuerpo </a:t>
            </a:r>
            <a:r>
              <a:rPr b="0" i="0" lang="en-US" sz="1800" u="none">
                <a:solidFill>
                  <a:srgbClr val="231F20"/>
                </a:solidFill>
                <a:latin typeface="Consolas"/>
                <a:ea typeface="Consolas"/>
                <a:cs typeface="Consolas"/>
                <a:sym typeface="Consolas"/>
              </a:rPr>
              <a:t>&lt;body&gt; </a:t>
            </a:r>
            <a:r>
              <a:rPr b="0" i="0" lang="en-US" sz="1800" u="none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del documento. La razón es que acelera la carga de la página. 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3902075" y="3951287"/>
            <a:ext cx="1339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Alternativa:</a:t>
            </a:r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4">
            <a:alphaModFix/>
          </a:blip>
          <a:srcRect b="29307" l="22117" r="58700" t="28582"/>
          <a:stretch/>
        </p:blipFill>
        <p:spPr>
          <a:xfrm>
            <a:off x="6897687" y="1101725"/>
            <a:ext cx="1982787" cy="244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 txBox="1"/>
          <p:nvPr/>
        </p:nvSpPr>
        <p:spPr>
          <a:xfrm>
            <a:off x="1144587" y="185737"/>
            <a:ext cx="5916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Cuerpo de un documento &lt;body&gt;</a:t>
            </a:r>
            <a:endParaRPr/>
          </a:p>
        </p:txBody>
      </p:sp>
      <p:cxnSp>
        <p:nvCxnSpPr>
          <p:cNvPr id="236" name="Google Shape;236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7" name="Google Shape;237;p11"/>
          <p:cNvSpPr txBox="1"/>
          <p:nvPr/>
        </p:nvSpPr>
        <p:spPr>
          <a:xfrm>
            <a:off x="533400" y="1250950"/>
            <a:ext cx="65278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etiqueta 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contiene todo lo visible de un documento HTML para el usuario, como textos, hipervínculos, imágenes, tablas, listas, etc. 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875" y="3295650"/>
            <a:ext cx="4100512" cy="3062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5048250" y="3429000"/>
            <a:ext cx="3305175" cy="301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&lt;header&gt;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encabezado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&lt;footer&gt;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pie de página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&lt;nav&gt;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navegación (menú)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&lt;section&gt;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 elementos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&lt;article&gt;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contenido autónomo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&lt;aside&gt;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sidebar (lateral)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&lt;main&gt;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contenido principal</a:t>
            </a:r>
            <a:endParaRPr/>
          </a:p>
        </p:txBody>
      </p:sp>
      <p:pic>
        <p:nvPicPr>
          <p:cNvPr id="242" name="Google Shape;242;p11"/>
          <p:cNvPicPr preferRelativeResize="0"/>
          <p:nvPr/>
        </p:nvPicPr>
        <p:blipFill rotWithShape="1">
          <a:blip r:embed="rId5">
            <a:alphaModFix/>
          </a:blip>
          <a:srcRect b="30839" l="23228" r="59370" t="30371"/>
          <a:stretch/>
        </p:blipFill>
        <p:spPr>
          <a:xfrm>
            <a:off x="7081837" y="1220787"/>
            <a:ext cx="1765300" cy="221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533400" y="2274887"/>
            <a:ext cx="6424612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5 propone nuevos elementos de estructura para mejorar la semántica. Esto es, dotar a estos elementos de un significado.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8" name="Google Shape;248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12"/>
          <p:cNvCxnSpPr/>
          <p:nvPr/>
        </p:nvCxnSpPr>
        <p:spPr>
          <a:xfrm>
            <a:off x="962025" y="2511425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0" name="Google Shape;250;p12"/>
          <p:cNvSpPr txBox="1"/>
          <p:nvPr/>
        </p:nvSpPr>
        <p:spPr>
          <a:xfrm>
            <a:off x="1266825" y="3059112"/>
            <a:ext cx="63658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MEJORAS DE HTML 5 </a:t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cxnSp>
        <p:nvCxnSpPr>
          <p:cNvPr id="253" name="Google Shape;253;p12"/>
          <p:cNvCxnSpPr/>
          <p:nvPr/>
        </p:nvCxnSpPr>
        <p:spPr>
          <a:xfrm>
            <a:off x="962025" y="4164012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1144587" y="185737"/>
            <a:ext cx="4959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atributos para Input</a:t>
            </a:r>
            <a:endParaRPr/>
          </a:p>
        </p:txBody>
      </p:sp>
      <p:cxnSp>
        <p:nvCxnSpPr>
          <p:cNvPr id="260" name="Google Shape;260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1" name="Google Shape;261;p13"/>
          <p:cNvSpPr txBox="1"/>
          <p:nvPr/>
        </p:nvSpPr>
        <p:spPr>
          <a:xfrm>
            <a:off x="533400" y="1287462"/>
            <a:ext cx="2263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533400" y="3189287"/>
            <a:ext cx="22637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Autocomplete</a:t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715962" y="3467100"/>
            <a:ext cx="4575175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al navegador que pueda apoyarse en información introducida en otros formularios en el pasado para intentar completar el contenido de un campo ofreciendo alternativas de texto.</a:t>
            </a:r>
            <a:endParaRPr/>
          </a:p>
        </p:txBody>
      </p:sp>
      <p:pic>
        <p:nvPicPr>
          <p:cNvPr id="266" name="Google Shape;2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441575"/>
            <a:ext cx="24288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 txBox="1"/>
          <p:nvPr/>
        </p:nvSpPr>
        <p:spPr>
          <a:xfrm>
            <a:off x="715962" y="1570037"/>
            <a:ext cx="80168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insertar texto dentro de un campo de texto. Usualmente sirve de ayuda al usuario para visualizar el formato requerido.  </a:t>
            </a:r>
            <a:endParaRPr/>
          </a:p>
        </p:txBody>
      </p:sp>
      <p:pic>
        <p:nvPicPr>
          <p:cNvPr id="268" name="Google Shape;2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237" y="2513012"/>
            <a:ext cx="51720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 txBox="1"/>
          <p:nvPr/>
        </p:nvSpPr>
        <p:spPr>
          <a:xfrm>
            <a:off x="5949950" y="2513012"/>
            <a:ext cx="2416175" cy="26670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270" name="Google Shape;27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1137" y="3359150"/>
            <a:ext cx="37338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5962" y="5135562"/>
            <a:ext cx="58959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4327525" y="5135562"/>
            <a:ext cx="1712912" cy="1698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4433887" y="5408612"/>
            <a:ext cx="1714500" cy="16827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8" name="Google Shape;278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1144587" y="185737"/>
            <a:ext cx="53197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atributos para Input…</a:t>
            </a:r>
            <a:endParaRPr/>
          </a:p>
        </p:txBody>
      </p:sp>
      <p:cxnSp>
        <p:nvCxnSpPr>
          <p:cNvPr id="280" name="Google Shape;280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1" name="Google Shape;281;p1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283" name="Google Shape;283;p14"/>
          <p:cNvSpPr txBox="1"/>
          <p:nvPr/>
        </p:nvSpPr>
        <p:spPr>
          <a:xfrm>
            <a:off x="571500" y="1225550"/>
            <a:ext cx="2263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Autofocus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715962" y="1514475"/>
            <a:ext cx="4651375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indicar cual de los elementos input de un formulario empieza a tener el foco. </a:t>
            </a:r>
            <a:endParaRPr/>
          </a:p>
        </p:txBody>
      </p:sp>
      <p:pic>
        <p:nvPicPr>
          <p:cNvPr descr="Captura de pantalla de un celular&#10;&#10;Descripción generada automáticamente"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8287" y="1514475"/>
            <a:ext cx="350520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875" y="2767012"/>
            <a:ext cx="34766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 txBox="1"/>
          <p:nvPr/>
        </p:nvSpPr>
        <p:spPr>
          <a:xfrm>
            <a:off x="2859087" y="2805112"/>
            <a:ext cx="917575" cy="16827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484187" y="3605212"/>
            <a:ext cx="1409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/>
          </a:p>
        </p:txBody>
      </p:sp>
      <p:pic>
        <p:nvPicPr>
          <p:cNvPr id="289" name="Google Shape;28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875" y="4543425"/>
            <a:ext cx="41243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a de pantalla de un celular&#10;&#10;Descripción generada automáticamente" id="290" name="Google Shape;29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19712" y="4543425"/>
            <a:ext cx="35337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749300" y="3817937"/>
            <a:ext cx="46513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indicar que el campo debe contener información.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 txBox="1"/>
          <p:nvPr/>
        </p:nvSpPr>
        <p:spPr>
          <a:xfrm>
            <a:off x="1144587" y="185737"/>
            <a:ext cx="53197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atributos para Input…</a:t>
            </a:r>
            <a:endParaRPr/>
          </a:p>
        </p:txBody>
      </p:sp>
      <p:cxnSp>
        <p:nvCxnSpPr>
          <p:cNvPr id="298" name="Google Shape;298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9" name="Google Shape;299;p1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715962" y="1155700"/>
            <a:ext cx="30003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Atributos para validación</a:t>
            </a:r>
            <a:endParaRPr/>
          </a:p>
        </p:txBody>
      </p:sp>
      <p:graphicFrame>
        <p:nvGraphicFramePr>
          <p:cNvPr id="302" name="Google Shape;302;p15"/>
          <p:cNvGraphicFramePr/>
          <p:nvPr/>
        </p:nvGraphicFramePr>
        <p:xfrm>
          <a:off x="1022350" y="160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{891BF0AB-884F-4557-872C-B8743E382727}</a:tableStyleId>
              </a:tblPr>
              <a:tblGrid>
                <a:gridCol w="917575"/>
                <a:gridCol w="735000"/>
                <a:gridCol w="1712900"/>
                <a:gridCol w="4406900"/>
              </a:tblGrid>
              <a:tr h="2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Atributo</a:t>
                      </a:r>
                      <a:endParaRPr/>
                    </a:p>
                  </a:txBody>
                  <a:tcPr marT="28725" marB="28725" marR="28725" marL="287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/>
                    </a:p>
                  </a:txBody>
                  <a:tcPr marT="28725" marB="28725" marR="28725" marL="287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Puede actuar sobre...</a:t>
                      </a:r>
                      <a:endParaRPr/>
                    </a:p>
                  </a:txBody>
                  <a:tcPr marT="28725" marB="28725" marR="28725" marL="287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/>
                    </a:p>
                  </a:txBody>
                  <a:tcPr marT="28725" marB="28725" marR="28725" marL="287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minlength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texto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la longitud mínima del texto requerida.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maxlength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texto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permite escribir textos superiores a </a:t>
                      </a:r>
                      <a:r>
                        <a:rPr b="0" i="1" lang="en-US" sz="1400" u="sng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caracteres.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sng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numéricos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el número mínimo permitido.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la fecha mínima permitida.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la hora mínima permitida.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numéricos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el número máximo permitido.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la fecha máxima permitida.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la hora máxima permitida.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numéricos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el salto de números permitido. Por defecto, 1.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fecha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el salto de días permitido. Por defecto, 1.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1400"/>
                        <a:buFont typeface="Calibri"/>
                        <a:buNone/>
                      </a:pPr>
                      <a:r>
                        <a:rPr b="0" i="1" lang="en-US" sz="1400" u="sng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de hora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Establece el salto de segundos permitido. Por defecto, 1.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en general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obligatorio. Se debe rellenar para enviar formulario.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disabled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en general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desactivado. No se puede modificar. No se envía.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readonly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Campos en general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de sólo lectura. No se puede modificar. Se envía.</a:t>
                      </a:r>
                      <a:endParaRPr/>
                    </a:p>
                  </a:txBody>
                  <a:tcPr marT="28725" marB="28725" marR="28725" marL="28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7" name="Google Shape;307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 txBox="1"/>
          <p:nvPr/>
        </p:nvSpPr>
        <p:spPr>
          <a:xfrm>
            <a:off x="1144587" y="185737"/>
            <a:ext cx="43418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elementos Input</a:t>
            </a:r>
            <a:endParaRPr/>
          </a:p>
        </p:txBody>
      </p:sp>
      <p:cxnSp>
        <p:nvCxnSpPr>
          <p:cNvPr id="309" name="Google Shape;309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0" name="Google Shape;310;p1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533400" y="1287462"/>
            <a:ext cx="2263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Email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533400" y="3595687"/>
            <a:ext cx="2263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URL</a:t>
            </a:r>
            <a:endParaRPr/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162" y="2382837"/>
            <a:ext cx="8050212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162" y="1984375"/>
            <a:ext cx="27146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 txBox="1"/>
          <p:nvPr/>
        </p:nvSpPr>
        <p:spPr>
          <a:xfrm>
            <a:off x="2001837" y="1250950"/>
            <a:ext cx="68405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validar automáticamente que el formato del texto ingresado corresponde a un email.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1962150" y="3549650"/>
            <a:ext cx="68405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validar automáticamente que el formato del texto ingresado corresponde a una URL.</a:t>
            </a:r>
            <a:endParaRPr/>
          </a:p>
        </p:txBody>
      </p:sp>
      <p:pic>
        <p:nvPicPr>
          <p:cNvPr descr="Captura de pantalla de un celular con letras&#10;&#10;Descripción generada automáticamente" id="318" name="Google Shape;3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162" y="4664075"/>
            <a:ext cx="51435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162" y="4318000"/>
            <a:ext cx="22669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6"/>
          <p:cNvSpPr txBox="1"/>
          <p:nvPr/>
        </p:nvSpPr>
        <p:spPr>
          <a:xfrm>
            <a:off x="2216150" y="2014537"/>
            <a:ext cx="1098550" cy="21272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958975" y="4306887"/>
            <a:ext cx="900112" cy="23812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1144587" y="185737"/>
            <a:ext cx="4700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elementos Input…</a:t>
            </a:r>
            <a:endParaRPr/>
          </a:p>
        </p:txBody>
      </p:sp>
      <p:cxnSp>
        <p:nvCxnSpPr>
          <p:cNvPr id="328" name="Google Shape;328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9" name="Google Shape;329;p1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515920" y="1204900"/>
            <a:ext cx="26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Number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538145" y="3184525"/>
            <a:ext cx="23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Range</a:t>
            </a:r>
            <a:endParaRPr/>
          </a:p>
        </p:txBody>
      </p:sp>
      <p:pic>
        <p:nvPicPr>
          <p:cNvPr id="333" name="Google Shape;3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62" y="2011362"/>
            <a:ext cx="41719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662" y="1644650"/>
            <a:ext cx="5581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tabla, dibujo&#10;&#10;Descripción generada automáticamente" id="335" name="Google Shape;3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7" y="4468812"/>
            <a:ext cx="27813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3627437"/>
            <a:ext cx="74485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7"/>
          <p:cNvSpPr txBox="1"/>
          <p:nvPr/>
        </p:nvSpPr>
        <p:spPr>
          <a:xfrm>
            <a:off x="1511300" y="1654175"/>
            <a:ext cx="1285875" cy="2333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3929062" y="1654175"/>
            <a:ext cx="2417762" cy="22860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2125662" y="3627437"/>
            <a:ext cx="1100137" cy="21431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4476750" y="3627437"/>
            <a:ext cx="3460750" cy="21431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5" name="Google Shape;345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8"/>
          <p:cNvSpPr txBox="1"/>
          <p:nvPr/>
        </p:nvSpPr>
        <p:spPr>
          <a:xfrm>
            <a:off x="1144587" y="185737"/>
            <a:ext cx="4700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elementos Input…</a:t>
            </a:r>
            <a:endParaRPr/>
          </a:p>
        </p:txBody>
      </p:sp>
      <p:cxnSp>
        <p:nvCxnSpPr>
          <p:cNvPr id="347" name="Google Shape;347;p1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8" name="Google Shape;348;p1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515937" y="1204912"/>
            <a:ext cx="133508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Tel</a:t>
            </a:r>
            <a:endParaRPr/>
          </a:p>
        </p:txBody>
      </p:sp>
      <p:pic>
        <p:nvPicPr>
          <p:cNvPr descr="Captura de pantalla de un celular&#10;&#10;Descripción generada automáticamente" id="351" name="Google Shape;3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" y="2389187"/>
            <a:ext cx="3733800" cy="89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" y="1611312"/>
            <a:ext cx="5140325" cy="65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8"/>
          <p:cNvPicPr preferRelativeResize="0"/>
          <p:nvPr/>
        </p:nvPicPr>
        <p:blipFill rotWithShape="1">
          <a:blip r:embed="rId6">
            <a:alphaModFix/>
          </a:blip>
          <a:srcRect b="14662" l="16535" r="16535" t="27337"/>
          <a:stretch/>
        </p:blipFill>
        <p:spPr>
          <a:xfrm>
            <a:off x="838200" y="3335337"/>
            <a:ext cx="6119812" cy="29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8"/>
          <p:cNvSpPr txBox="1"/>
          <p:nvPr/>
        </p:nvSpPr>
        <p:spPr>
          <a:xfrm>
            <a:off x="1450975" y="1620837"/>
            <a:ext cx="917575" cy="24130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1443037" y="2030412"/>
            <a:ext cx="4402137" cy="2333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9"/>
          <p:cNvSpPr txBox="1"/>
          <p:nvPr/>
        </p:nvSpPr>
        <p:spPr>
          <a:xfrm>
            <a:off x="1144587" y="185737"/>
            <a:ext cx="4700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elementos Input…</a:t>
            </a:r>
            <a:endParaRPr/>
          </a:p>
        </p:txBody>
      </p:sp>
      <p:cxnSp>
        <p:nvCxnSpPr>
          <p:cNvPr id="362" name="Google Shape;362;p1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3" name="Google Shape;363;p1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411145" y="1225550"/>
            <a:ext cx="2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Date</a:t>
            </a:r>
            <a:endParaRPr/>
          </a:p>
        </p:txBody>
      </p:sp>
      <p:pic>
        <p:nvPicPr>
          <p:cNvPr descr="Imagen que contiene captura de pantalla&#10;&#10;Descripción generada automáticamente" id="366" name="Google Shape;3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736850"/>
            <a:ext cx="443865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1654175"/>
            <a:ext cx="78009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9"/>
          <p:cNvSpPr txBox="1"/>
          <p:nvPr/>
        </p:nvSpPr>
        <p:spPr>
          <a:xfrm>
            <a:off x="2124075" y="1619250"/>
            <a:ext cx="1039812" cy="23177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4449762" y="1654175"/>
            <a:ext cx="2508250" cy="19685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2767012" y="1887537"/>
            <a:ext cx="3078162" cy="2333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371" name="Google Shape;3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8162" y="4383087"/>
            <a:ext cx="19526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9"/>
          <p:cNvSpPr txBox="1"/>
          <p:nvPr/>
        </p:nvSpPr>
        <p:spPr>
          <a:xfrm>
            <a:off x="5214937" y="3490912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Time</a:t>
            </a:r>
            <a:endParaRPr/>
          </a:p>
        </p:txBody>
      </p:sp>
      <p:pic>
        <p:nvPicPr>
          <p:cNvPr id="373" name="Google Shape;3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19750" y="3890962"/>
            <a:ext cx="18383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9"/>
          <p:cNvSpPr txBox="1"/>
          <p:nvPr/>
        </p:nvSpPr>
        <p:spPr>
          <a:xfrm>
            <a:off x="6284912" y="3898900"/>
            <a:ext cx="1041400" cy="2333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79" name="Google Shape;379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0"/>
          <p:cNvSpPr txBox="1"/>
          <p:nvPr/>
        </p:nvSpPr>
        <p:spPr>
          <a:xfrm>
            <a:off x="1144587" y="185737"/>
            <a:ext cx="47005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Nuevos elementos Input…</a:t>
            </a:r>
            <a:endParaRPr/>
          </a:p>
        </p:txBody>
      </p:sp>
      <p:cxnSp>
        <p:nvCxnSpPr>
          <p:cNvPr id="381" name="Google Shape;381;p2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2" name="Google Shape;382;p20"/>
          <p:cNvSpPr txBox="1"/>
          <p:nvPr/>
        </p:nvSpPr>
        <p:spPr>
          <a:xfrm>
            <a:off x="900112" y="1287462"/>
            <a:ext cx="22637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Input Color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pic>
        <p:nvPicPr>
          <p:cNvPr id="385" name="Google Shape;3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2000250"/>
            <a:ext cx="5751512" cy="41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587" y="1619250"/>
            <a:ext cx="3124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 txBox="1"/>
          <p:nvPr/>
        </p:nvSpPr>
        <p:spPr>
          <a:xfrm>
            <a:off x="1797050" y="1641475"/>
            <a:ext cx="1184275" cy="27305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2" name="Google Shape;392;p2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1"/>
          <p:cNvSpPr txBox="1"/>
          <p:nvPr/>
        </p:nvSpPr>
        <p:spPr>
          <a:xfrm>
            <a:off x="1144587" y="185737"/>
            <a:ext cx="3321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Elemento DataList</a:t>
            </a:r>
            <a:endParaRPr/>
          </a:p>
        </p:txBody>
      </p:sp>
      <p:cxnSp>
        <p:nvCxnSpPr>
          <p:cNvPr id="394" name="Google Shape;394;p2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5" name="Google Shape;395;p2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715962" y="1320800"/>
            <a:ext cx="40449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incluir opciones de selección.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715962" y="1747837"/>
            <a:ext cx="80168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idea es que mediante el elemento datalist podamos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una lista de valores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Esta lista de valores será posteriormente asociada a otro elemento del formulario mediante el atributo list. </a:t>
            </a:r>
            <a:endParaRPr/>
          </a:p>
        </p:txBody>
      </p:sp>
      <p:pic>
        <p:nvPicPr>
          <p:cNvPr id="399" name="Google Shape;3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700" y="3000375"/>
            <a:ext cx="3600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2687" y="3314700"/>
            <a:ext cx="28575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aptura de pantalla&#10;&#10;Descripción generada automáticamente" id="401" name="Google Shape;4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825" y="2924175"/>
            <a:ext cx="29432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/>
        </p:nvSpPr>
        <p:spPr>
          <a:xfrm>
            <a:off x="6767512" y="2982912"/>
            <a:ext cx="1538287" cy="23812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5022850" y="3321050"/>
            <a:ext cx="2827337" cy="140335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08" name="Google Shape;408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 txBox="1"/>
          <p:nvPr/>
        </p:nvSpPr>
        <p:spPr>
          <a:xfrm>
            <a:off x="1144587" y="185737"/>
            <a:ext cx="35210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Barras de Progreso</a:t>
            </a:r>
            <a:endParaRPr/>
          </a:p>
        </p:txBody>
      </p:sp>
      <p:cxnSp>
        <p:nvCxnSpPr>
          <p:cNvPr id="410" name="Google Shape;410;p2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1" name="Google Shape;411;p2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777875" y="1165225"/>
            <a:ext cx="1397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/>
          </a:p>
        </p:txBody>
      </p:sp>
      <p:pic>
        <p:nvPicPr>
          <p:cNvPr id="414" name="Google Shape;4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4416425"/>
            <a:ext cx="24765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2278062"/>
            <a:ext cx="5140325" cy="211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5550" y="1822450"/>
            <a:ext cx="2705100" cy="201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7112" y="1627187"/>
            <a:ext cx="628650" cy="17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625" y="2051050"/>
            <a:ext cx="592137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7112" y="2743200"/>
            <a:ext cx="5013325" cy="1193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22"/>
          <p:cNvCxnSpPr/>
          <p:nvPr/>
        </p:nvCxnSpPr>
        <p:spPr>
          <a:xfrm>
            <a:off x="1084262" y="2633662"/>
            <a:ext cx="550703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1" name="Google Shape;421;p22"/>
          <p:cNvSpPr txBox="1"/>
          <p:nvPr/>
        </p:nvSpPr>
        <p:spPr>
          <a:xfrm>
            <a:off x="1041400" y="2225675"/>
            <a:ext cx="5126037" cy="260350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6" name="Google Shape;426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3"/>
          <p:cNvSpPr txBox="1"/>
          <p:nvPr/>
        </p:nvSpPr>
        <p:spPr>
          <a:xfrm>
            <a:off x="1144587" y="185737"/>
            <a:ext cx="3879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Barras de Progreso…</a:t>
            </a:r>
            <a:endParaRPr/>
          </a:p>
        </p:txBody>
      </p:sp>
      <p:cxnSp>
        <p:nvCxnSpPr>
          <p:cNvPr id="428" name="Google Shape;428;p2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9" name="Google Shape;429;p2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30" name="Google Shape;430;p23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655637" y="1165225"/>
            <a:ext cx="1063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Meter</a:t>
            </a:r>
            <a:endParaRPr/>
          </a:p>
        </p:txBody>
      </p:sp>
      <p:sp>
        <p:nvSpPr>
          <p:cNvPr id="432" name="Google Shape;432;p23"/>
          <p:cNvSpPr txBox="1"/>
          <p:nvPr/>
        </p:nvSpPr>
        <p:spPr>
          <a:xfrm>
            <a:off x="900112" y="1550987"/>
            <a:ext cx="80279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elemento es utilizado para desplegar una medida en una escala conocida. El color de la barra depende de la medida a desplegar.</a:t>
            </a:r>
            <a:endParaRPr/>
          </a:p>
        </p:txBody>
      </p:sp>
      <p:pic>
        <p:nvPicPr>
          <p:cNvPr id="433" name="Google Shape;433;p23"/>
          <p:cNvPicPr preferRelativeResize="0"/>
          <p:nvPr/>
        </p:nvPicPr>
        <p:blipFill rotWithShape="1">
          <a:blip r:embed="rId4">
            <a:alphaModFix/>
          </a:blip>
          <a:srcRect b="0" l="0" r="0" t="65531"/>
          <a:stretch/>
        </p:blipFill>
        <p:spPr>
          <a:xfrm>
            <a:off x="1511300" y="5213350"/>
            <a:ext cx="1819275" cy="40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2779712"/>
            <a:ext cx="75438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3"/>
          <p:cNvPicPr preferRelativeResize="0"/>
          <p:nvPr/>
        </p:nvPicPr>
        <p:blipFill rotWithShape="1">
          <a:blip r:embed="rId4">
            <a:alphaModFix/>
          </a:blip>
          <a:srcRect b="39308" l="0" r="0" t="33998"/>
          <a:stretch/>
        </p:blipFill>
        <p:spPr>
          <a:xfrm>
            <a:off x="1511300" y="4156075"/>
            <a:ext cx="1819275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3"/>
          <p:cNvPicPr preferRelativeResize="0"/>
          <p:nvPr/>
        </p:nvPicPr>
        <p:blipFill rotWithShape="1">
          <a:blip r:embed="rId4">
            <a:alphaModFix/>
          </a:blip>
          <a:srcRect b="73306" l="0" r="0" t="0"/>
          <a:stretch/>
        </p:blipFill>
        <p:spPr>
          <a:xfrm>
            <a:off x="1511300" y="3141662"/>
            <a:ext cx="1819275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112" y="3787775"/>
            <a:ext cx="7810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7112" y="4857750"/>
            <a:ext cx="7620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3"/>
          <p:cNvSpPr txBox="1"/>
          <p:nvPr/>
        </p:nvSpPr>
        <p:spPr>
          <a:xfrm>
            <a:off x="1511300" y="2732087"/>
            <a:ext cx="7059612" cy="242887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1778000" y="3771900"/>
            <a:ext cx="7059612" cy="24447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1587500" y="4845050"/>
            <a:ext cx="7059612" cy="244475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46" name="Google Shape;446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4"/>
          <p:cNvSpPr txBox="1"/>
          <p:nvPr/>
        </p:nvSpPr>
        <p:spPr>
          <a:xfrm>
            <a:off x="1144587" y="185737"/>
            <a:ext cx="3021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Elemento output</a:t>
            </a:r>
            <a:endParaRPr/>
          </a:p>
        </p:txBody>
      </p:sp>
      <p:cxnSp>
        <p:nvCxnSpPr>
          <p:cNvPr id="448" name="Google Shape;448;p2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49" name="Google Shape;449;p2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627062" y="1287462"/>
            <a:ext cx="826135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Uno de los elementos nuevos que tenemos dentro de los formularios es el elemento output.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elemento output nos va a servir para mostrar resultados de cálculos dentro de un formulario. Y es que muchas veces los formularios son utilizados para calcular subtotales o totales.</a:t>
            </a:r>
            <a:endParaRPr/>
          </a:p>
        </p:txBody>
      </p:sp>
      <p:pic>
        <p:nvPicPr>
          <p:cNvPr id="452" name="Google Shape;4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737" y="4740275"/>
            <a:ext cx="46863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737" y="3457575"/>
            <a:ext cx="7620000" cy="1068387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4"/>
          <p:cNvSpPr txBox="1"/>
          <p:nvPr/>
        </p:nvSpPr>
        <p:spPr>
          <a:xfrm>
            <a:off x="1136650" y="4083050"/>
            <a:ext cx="2333625" cy="271462"/>
          </a:xfrm>
          <a:prstGeom prst="rect">
            <a:avLst/>
          </a:prstGeom>
          <a:solidFill>
            <a:srgbClr val="FFFF00">
              <a:alpha val="1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59" name="Google Shape;459;p2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5"/>
          <p:cNvSpPr txBox="1"/>
          <p:nvPr/>
        </p:nvSpPr>
        <p:spPr>
          <a:xfrm>
            <a:off x="1144587" y="185737"/>
            <a:ext cx="20621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Multimedia</a:t>
            </a:r>
            <a:endParaRPr/>
          </a:p>
        </p:txBody>
      </p:sp>
      <p:cxnSp>
        <p:nvCxnSpPr>
          <p:cNvPr id="461" name="Google Shape;461;p2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62" name="Google Shape;462;p2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63" name="Google Shape;463;p25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838200" y="1138237"/>
            <a:ext cx="10588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/>
          </a:p>
        </p:txBody>
      </p:sp>
      <p:sp>
        <p:nvSpPr>
          <p:cNvPr id="465" name="Google Shape;465;p25"/>
          <p:cNvSpPr txBox="1"/>
          <p:nvPr/>
        </p:nvSpPr>
        <p:spPr>
          <a:xfrm>
            <a:off x="1082675" y="1587500"/>
            <a:ext cx="7650162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 se estandariza el uso del vídeo mediante el elemento video del lenguaje. Algunos atributos del video son: nombre del archivo, alto y ancho, inicio automático, bucle, sin sonido, poster,  precarga, etc.</a:t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7026275" y="3238500"/>
            <a:ext cx="534987" cy="146050"/>
          </a:xfrm>
          <a:custGeom>
            <a:rect b="b" l="l" r="r" t="t"/>
            <a:pathLst>
              <a:path extrusionOk="0" h="146050" w="534851">
                <a:moveTo>
                  <a:pt x="0" y="25400"/>
                </a:moveTo>
                <a:cubicBezTo>
                  <a:pt x="31750" y="27517"/>
                  <a:pt x="63624" y="28236"/>
                  <a:pt x="95250" y="31750"/>
                </a:cubicBezTo>
                <a:cubicBezTo>
                  <a:pt x="101903" y="32489"/>
                  <a:pt x="107714" y="36903"/>
                  <a:pt x="114300" y="38100"/>
                </a:cubicBezTo>
                <a:cubicBezTo>
                  <a:pt x="131090" y="41153"/>
                  <a:pt x="148167" y="42333"/>
                  <a:pt x="165100" y="44450"/>
                </a:cubicBezTo>
                <a:cubicBezTo>
                  <a:pt x="171450" y="46567"/>
                  <a:pt x="178923" y="46619"/>
                  <a:pt x="184150" y="50800"/>
                </a:cubicBezTo>
                <a:cubicBezTo>
                  <a:pt x="190109" y="55568"/>
                  <a:pt x="191454" y="64454"/>
                  <a:pt x="196850" y="69850"/>
                </a:cubicBezTo>
                <a:cubicBezTo>
                  <a:pt x="202246" y="75246"/>
                  <a:pt x="209550" y="78317"/>
                  <a:pt x="215900" y="82550"/>
                </a:cubicBezTo>
                <a:cubicBezTo>
                  <a:pt x="232833" y="80433"/>
                  <a:pt x="250629" y="81940"/>
                  <a:pt x="266700" y="76200"/>
                </a:cubicBezTo>
                <a:cubicBezTo>
                  <a:pt x="309351" y="60967"/>
                  <a:pt x="290766" y="49540"/>
                  <a:pt x="323850" y="44450"/>
                </a:cubicBezTo>
                <a:cubicBezTo>
                  <a:pt x="344875" y="41215"/>
                  <a:pt x="366183" y="40217"/>
                  <a:pt x="387350" y="38100"/>
                </a:cubicBezTo>
                <a:cubicBezTo>
                  <a:pt x="391583" y="31750"/>
                  <a:pt x="394654" y="24446"/>
                  <a:pt x="400050" y="19050"/>
                </a:cubicBezTo>
                <a:cubicBezTo>
                  <a:pt x="414668" y="4432"/>
                  <a:pt x="425069" y="4858"/>
                  <a:pt x="444500" y="0"/>
                </a:cubicBezTo>
                <a:cubicBezTo>
                  <a:pt x="467783" y="2117"/>
                  <a:pt x="491206" y="3044"/>
                  <a:pt x="514350" y="6350"/>
                </a:cubicBezTo>
                <a:cubicBezTo>
                  <a:pt x="520976" y="7297"/>
                  <a:pt x="532087" y="6136"/>
                  <a:pt x="533400" y="12700"/>
                </a:cubicBezTo>
                <a:cubicBezTo>
                  <a:pt x="537159" y="31495"/>
                  <a:pt x="533111" y="51666"/>
                  <a:pt x="527050" y="69850"/>
                </a:cubicBezTo>
                <a:cubicBezTo>
                  <a:pt x="510375" y="119875"/>
                  <a:pt x="496458" y="108599"/>
                  <a:pt x="450850" y="114300"/>
                </a:cubicBezTo>
                <a:cubicBezTo>
                  <a:pt x="396672" y="132359"/>
                  <a:pt x="453369" y="115270"/>
                  <a:pt x="330200" y="127000"/>
                </a:cubicBezTo>
                <a:cubicBezTo>
                  <a:pt x="319456" y="128023"/>
                  <a:pt x="308921" y="130732"/>
                  <a:pt x="298450" y="133350"/>
                </a:cubicBezTo>
                <a:cubicBezTo>
                  <a:pt x="291956" y="134973"/>
                  <a:pt x="286063" y="139065"/>
                  <a:pt x="279400" y="139700"/>
                </a:cubicBezTo>
                <a:cubicBezTo>
                  <a:pt x="241413" y="143318"/>
                  <a:pt x="203200" y="143933"/>
                  <a:pt x="165100" y="146050"/>
                </a:cubicBezTo>
                <a:cubicBezTo>
                  <a:pt x="139700" y="143933"/>
                  <a:pt x="113893" y="144699"/>
                  <a:pt x="88900" y="139700"/>
                </a:cubicBezTo>
                <a:cubicBezTo>
                  <a:pt x="74060" y="136732"/>
                  <a:pt x="61500" y="115083"/>
                  <a:pt x="50800" y="107950"/>
                </a:cubicBezTo>
                <a:cubicBezTo>
                  <a:pt x="45231" y="104237"/>
                  <a:pt x="38100" y="103717"/>
                  <a:pt x="31750" y="101600"/>
                </a:cubicBezTo>
                <a:cubicBezTo>
                  <a:pt x="11624" y="71411"/>
                  <a:pt x="21463" y="89790"/>
                  <a:pt x="6350" y="4445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712" y="3238500"/>
            <a:ext cx="5060950" cy="2881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787" y="2716212"/>
            <a:ext cx="7567612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73" name="Google Shape;473;p2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6"/>
          <p:cNvSpPr txBox="1"/>
          <p:nvPr/>
        </p:nvSpPr>
        <p:spPr>
          <a:xfrm>
            <a:off x="1144587" y="185737"/>
            <a:ext cx="24209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Multimedia…</a:t>
            </a:r>
            <a:endParaRPr/>
          </a:p>
        </p:txBody>
      </p:sp>
      <p:cxnSp>
        <p:nvCxnSpPr>
          <p:cNvPr id="475" name="Google Shape;475;p2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6" name="Google Shape;476;p2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77" name="Google Shape;477;p26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78" name="Google Shape;478;p26"/>
          <p:cNvSpPr txBox="1"/>
          <p:nvPr/>
        </p:nvSpPr>
        <p:spPr>
          <a:xfrm>
            <a:off x="838200" y="1138237"/>
            <a:ext cx="1289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Video…</a:t>
            </a:r>
            <a:endParaRPr/>
          </a:p>
        </p:txBody>
      </p:sp>
      <p:pic>
        <p:nvPicPr>
          <p:cNvPr id="479" name="Google Shape;4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1300" y="1716087"/>
            <a:ext cx="6121400" cy="26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480" name="Google Shape;480;p26"/>
          <p:cNvPicPr preferRelativeResize="0"/>
          <p:nvPr/>
        </p:nvPicPr>
        <p:blipFill rotWithShape="1">
          <a:blip r:embed="rId5">
            <a:alphaModFix/>
          </a:blip>
          <a:srcRect b="0" l="66665" r="6666" t="51649"/>
          <a:stretch/>
        </p:blipFill>
        <p:spPr>
          <a:xfrm>
            <a:off x="1130300" y="2154237"/>
            <a:ext cx="346075" cy="35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481" name="Google Shape;481;p26"/>
          <p:cNvPicPr preferRelativeResize="0"/>
          <p:nvPr/>
        </p:nvPicPr>
        <p:blipFill rotWithShape="1">
          <a:blip r:embed="rId5">
            <a:alphaModFix/>
          </a:blip>
          <a:srcRect b="49830" l="53332" r="16665" t="0"/>
          <a:stretch/>
        </p:blipFill>
        <p:spPr>
          <a:xfrm>
            <a:off x="1117600" y="2532062"/>
            <a:ext cx="382587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482" name="Google Shape;482;p26"/>
          <p:cNvPicPr preferRelativeResize="0"/>
          <p:nvPr/>
        </p:nvPicPr>
        <p:blipFill rotWithShape="1">
          <a:blip r:embed="rId5">
            <a:alphaModFix/>
          </a:blip>
          <a:srcRect b="47358" l="13073" r="50259" t="0"/>
          <a:stretch/>
        </p:blipFill>
        <p:spPr>
          <a:xfrm>
            <a:off x="1095375" y="2952750"/>
            <a:ext cx="460375" cy="373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483" name="Google Shape;483;p26"/>
          <p:cNvPicPr preferRelativeResize="0"/>
          <p:nvPr/>
        </p:nvPicPr>
        <p:blipFill rotWithShape="1">
          <a:blip r:embed="rId5">
            <a:alphaModFix/>
          </a:blip>
          <a:srcRect b="0" l="0" r="66667" t="51504"/>
          <a:stretch/>
        </p:blipFill>
        <p:spPr>
          <a:xfrm>
            <a:off x="1095375" y="3808412"/>
            <a:ext cx="388937" cy="319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- Navegadores y Buscadores de Internet - TICS 1 SILABUS" id="484" name="Google Shape;484;p26"/>
          <p:cNvPicPr preferRelativeResize="0"/>
          <p:nvPr/>
        </p:nvPicPr>
        <p:blipFill rotWithShape="1">
          <a:blip r:embed="rId5">
            <a:alphaModFix/>
          </a:blip>
          <a:srcRect b="-2398" l="36665" r="38543" t="55038"/>
          <a:stretch/>
        </p:blipFill>
        <p:spPr>
          <a:xfrm>
            <a:off x="1144587" y="3330575"/>
            <a:ext cx="346075" cy="37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89" name="Google Shape;489;p2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7"/>
          <p:cNvSpPr txBox="1"/>
          <p:nvPr/>
        </p:nvSpPr>
        <p:spPr>
          <a:xfrm>
            <a:off x="1144587" y="185737"/>
            <a:ext cx="14652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Canvas</a:t>
            </a:r>
            <a:endParaRPr/>
          </a:p>
        </p:txBody>
      </p:sp>
      <p:cxnSp>
        <p:nvCxnSpPr>
          <p:cNvPr id="491" name="Google Shape;491;p2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2" name="Google Shape;492;p2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715962" y="1160462"/>
            <a:ext cx="50911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 HTML5 encontramos el elemento canvas.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733425" y="1773237"/>
            <a:ext cx="7999412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 usar para dibujar gráficos mediante scripting en JavaScript.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se puede usar para hacer gráficas, composiciones fotográficas, crear animaciones, o incluso procesado o renderizado de vídeo en tiempo real.</a:t>
            </a:r>
            <a:endParaRPr/>
          </a:p>
        </p:txBody>
      </p:sp>
      <p:pic>
        <p:nvPicPr>
          <p:cNvPr id="496" name="Google Shape;4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837" y="3435350"/>
            <a:ext cx="48196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7012" y="4614862"/>
            <a:ext cx="3157537" cy="164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02" name="Google Shape;502;p2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 txBox="1"/>
          <p:nvPr/>
        </p:nvSpPr>
        <p:spPr>
          <a:xfrm>
            <a:off x="1144587" y="185737"/>
            <a:ext cx="18240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Canvas…</a:t>
            </a:r>
            <a:endParaRPr/>
          </a:p>
        </p:txBody>
      </p:sp>
      <p:cxnSp>
        <p:nvCxnSpPr>
          <p:cNvPr id="504" name="Google Shape;504;p2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05" name="Google Shape;505;p2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06" name="Google Shape;506;p28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pic>
        <p:nvPicPr>
          <p:cNvPr id="507" name="Google Shape;5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6312" y="1798637"/>
            <a:ext cx="4357687" cy="326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12" name="Google Shape;512;p2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9"/>
          <p:cNvSpPr txBox="1"/>
          <p:nvPr/>
        </p:nvSpPr>
        <p:spPr>
          <a:xfrm>
            <a:off x="1144587" y="185737"/>
            <a:ext cx="2381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Modo Offline</a:t>
            </a:r>
            <a:endParaRPr/>
          </a:p>
        </p:txBody>
      </p:sp>
      <p:cxnSp>
        <p:nvCxnSpPr>
          <p:cNvPr id="514" name="Google Shape;514;p2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5" name="Google Shape;515;p2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16" name="Google Shape;516;p29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996950" y="1138237"/>
            <a:ext cx="773588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 tiene la capacidad de detectar si el usuario está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gestionar qué hacer en este caso.</a:t>
            </a:r>
            <a:endParaRPr/>
          </a:p>
        </p:txBody>
      </p:sp>
      <p:sp>
        <p:nvSpPr>
          <p:cNvPr id="518" name="Google Shape;518;p29"/>
          <p:cNvSpPr txBox="1"/>
          <p:nvPr/>
        </p:nvSpPr>
        <p:spPr>
          <a:xfrm>
            <a:off x="1757362" y="2619375"/>
            <a:ext cx="4824300" cy="15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1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(navigator.onLine)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console.log("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El usuario está online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1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console.log("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El usuario está offline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");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19" name="Google Shape;519;p29"/>
          <p:cNvSpPr txBox="1"/>
          <p:nvPr/>
        </p:nvSpPr>
        <p:spPr>
          <a:xfrm>
            <a:off x="996950" y="2030412"/>
            <a:ext cx="77358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propiedad 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indica si el usuario está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u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24" name="Google Shape;524;p3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0"/>
          <p:cNvSpPr txBox="1"/>
          <p:nvPr/>
        </p:nvSpPr>
        <p:spPr>
          <a:xfrm>
            <a:off x="1144587" y="185737"/>
            <a:ext cx="22748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WebStorage</a:t>
            </a:r>
            <a:endParaRPr/>
          </a:p>
        </p:txBody>
      </p:sp>
      <p:cxnSp>
        <p:nvCxnSpPr>
          <p:cNvPr id="526" name="Google Shape;526;p3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7" name="Google Shape;527;p3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28" name="Google Shape;528;p30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529" name="Google Shape;529;p30"/>
          <p:cNvSpPr txBox="1"/>
          <p:nvPr/>
        </p:nvSpPr>
        <p:spPr>
          <a:xfrm>
            <a:off x="871537" y="1165225"/>
            <a:ext cx="801687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API permite almacenar elementos clave/valor de una forma sencilla en la memoria del navegador.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elementos estarán disponibles a lo largo de la sesión de un usuario, evitando la necesidad de utilizar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30" name="Google Shape;530;p30"/>
          <p:cNvSpPr txBox="1"/>
          <p:nvPr/>
        </p:nvSpPr>
        <p:spPr>
          <a:xfrm>
            <a:off x="871537" y="2828925"/>
            <a:ext cx="78613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Tenemos dos tipos de almacenamiento en los navegadores: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sessionStorage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endParaRPr/>
          </a:p>
        </p:txBody>
      </p:sp>
      <p:sp>
        <p:nvSpPr>
          <p:cNvPr id="531" name="Google Shape;531;p30"/>
          <p:cNvSpPr txBox="1"/>
          <p:nvPr/>
        </p:nvSpPr>
        <p:spPr>
          <a:xfrm>
            <a:off x="1206500" y="4216400"/>
            <a:ext cx="4264025" cy="557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localStorage.setItem('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’);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localStorage.setItem('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ancho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n-US" sz="1600" u="none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32" name="Google Shape;532;p30"/>
          <p:cNvSpPr txBox="1"/>
          <p:nvPr/>
        </p:nvSpPr>
        <p:spPr>
          <a:xfrm>
            <a:off x="1181100" y="4826000"/>
            <a:ext cx="4937125" cy="555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console.log(localStorage.getItem('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'));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console.log(localStorage.getItem('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ancho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'));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33" name="Google Shape;533;p30"/>
          <p:cNvSpPr txBox="1"/>
          <p:nvPr/>
        </p:nvSpPr>
        <p:spPr>
          <a:xfrm>
            <a:off x="1176337" y="5427662"/>
            <a:ext cx="3768725" cy="3095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localStorage.removeItem('</a:t>
            </a:r>
            <a:r>
              <a:rPr b="0" i="0" lang="en-US" sz="1600" u="none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');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1176337" y="5667375"/>
            <a:ext cx="2468562" cy="3095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localStorage.clear();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39" name="Google Shape;539;p3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1"/>
          <p:cNvSpPr txBox="1"/>
          <p:nvPr/>
        </p:nvSpPr>
        <p:spPr>
          <a:xfrm>
            <a:off x="1144587" y="185737"/>
            <a:ext cx="2063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IndexedDB</a:t>
            </a:r>
            <a:endParaRPr/>
          </a:p>
        </p:txBody>
      </p:sp>
      <p:cxnSp>
        <p:nvCxnSpPr>
          <p:cNvPr id="541" name="Google Shape;541;p3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2" name="Google Shape;542;p3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544" name="Google Shape;544;p31"/>
          <p:cNvSpPr txBox="1"/>
          <p:nvPr/>
        </p:nvSpPr>
        <p:spPr>
          <a:xfrm>
            <a:off x="715962" y="1020762"/>
            <a:ext cx="8140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IndexedDB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 un API de bajo nivel para poder almacenar datos estructurados en la parte del cliente. </a:t>
            </a:r>
            <a:endParaRPr/>
          </a:p>
        </p:txBody>
      </p:sp>
      <p:sp>
        <p:nvSpPr>
          <p:cNvPr id="545" name="Google Shape;545;p31"/>
          <p:cNvSpPr txBox="1"/>
          <p:nvPr/>
        </p:nvSpPr>
        <p:spPr>
          <a:xfrm>
            <a:off x="715962" y="1830387"/>
            <a:ext cx="8016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datos pueden ser también ficheros o blobs. 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723900" y="2438400"/>
            <a:ext cx="80089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IndexedDB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utiliza índices para poder realizar búsquedas de alto rendimiento.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23900" y="3340100"/>
            <a:ext cx="8008937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 existen otros mecanismos de almacenamiento en el cliente, como pueden ser las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o la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WebStorage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estos presentan unas limitaciones de tamaño, unos 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4kb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en las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Cookies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 hasta los 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10Mb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en la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WebStorage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embargo la base de datos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IndexedDB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permite almacenar cantidades mayores de datos, llegando en algunas implementaciones a los 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250Mb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52" name="Google Shape;552;p3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2"/>
          <p:cNvSpPr txBox="1"/>
          <p:nvPr/>
        </p:nvSpPr>
        <p:spPr>
          <a:xfrm>
            <a:off x="1144587" y="185737"/>
            <a:ext cx="27193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API Fullscreen</a:t>
            </a:r>
            <a:endParaRPr/>
          </a:p>
        </p:txBody>
      </p:sp>
      <p:cxnSp>
        <p:nvCxnSpPr>
          <p:cNvPr id="554" name="Google Shape;554;p3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5" name="Google Shape;555;p3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56" name="Google Shape;556;p32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557" name="Google Shape;557;p32"/>
          <p:cNvSpPr txBox="1"/>
          <p:nvPr/>
        </p:nvSpPr>
        <p:spPr>
          <a:xfrm>
            <a:off x="715962" y="1181100"/>
            <a:ext cx="8016875" cy="230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que un elemento del DOM (y sus descendientes) puedan ser representados a pantalla completa.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permite es visualizar la página eliminando cualquier elemento del navegador (menús, pestañas,…).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ello podremos poner desde el propio documento a pantalla completa, elementos de vídeo, imágenes,…</a:t>
            </a:r>
            <a:endParaRPr/>
          </a:p>
        </p:txBody>
      </p:sp>
      <p:sp>
        <p:nvSpPr>
          <p:cNvPr id="558" name="Google Shape;558;p32"/>
          <p:cNvSpPr txBox="1"/>
          <p:nvPr/>
        </p:nvSpPr>
        <p:spPr>
          <a:xfrm>
            <a:off x="1027099" y="4164275"/>
            <a:ext cx="7705800" cy="55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element.requestFullscreen(); </a:t>
            </a:r>
            <a:r>
              <a:rPr lang="en-US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//Se llama sobre el elemento que quieres agrandar.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lang="en-US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document.exitFullscreen(); </a:t>
            </a:r>
            <a:r>
              <a:rPr lang="en-US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//Se llama sobre el documento global para volver a la normalidad.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63" name="Google Shape;563;p3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3"/>
          <p:cNvSpPr txBox="1"/>
          <p:nvPr/>
        </p:nvSpPr>
        <p:spPr>
          <a:xfrm>
            <a:off x="1144587" y="185737"/>
            <a:ext cx="21082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History API</a:t>
            </a:r>
            <a:endParaRPr/>
          </a:p>
        </p:txBody>
      </p:sp>
      <p:cxnSp>
        <p:nvCxnSpPr>
          <p:cNvPr id="565" name="Google Shape;565;p3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6" name="Google Shape;566;p3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567" name="Google Shape;567;p33"/>
          <p:cNvSpPr txBox="1"/>
          <p:nvPr/>
        </p:nvSpPr>
        <p:spPr>
          <a:xfrm>
            <a:off x="7820025" y="85725"/>
            <a:ext cx="1096962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 5</a:t>
            </a:r>
            <a:endParaRPr/>
          </a:p>
        </p:txBody>
      </p:sp>
      <p:sp>
        <p:nvSpPr>
          <p:cNvPr id="568" name="Google Shape;568;p33"/>
          <p:cNvSpPr txBox="1"/>
          <p:nvPr/>
        </p:nvSpPr>
        <p:spPr>
          <a:xfrm>
            <a:off x="715962" y="1217612"/>
            <a:ext cx="801687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historial de navegación es una lista de páginas sobre la que nos podemos mover.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lista está compuesta por las últimas páginas web que hayamos visitado.</a:t>
            </a:r>
            <a:endParaRPr/>
          </a:p>
        </p:txBody>
      </p:sp>
      <p:sp>
        <p:nvSpPr>
          <p:cNvPr id="569" name="Google Shape;569;p33"/>
          <p:cNvSpPr txBox="1"/>
          <p:nvPr/>
        </p:nvSpPr>
        <p:spPr>
          <a:xfrm>
            <a:off x="715962" y="2803525"/>
            <a:ext cx="777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movernos por ella hacia delante, </a:t>
            </a:r>
            <a:r>
              <a:rPr lang="en-US" sz="1800">
                <a:solidFill>
                  <a:schemeClr val="dk1"/>
                </a:solidFill>
              </a:rPr>
              <a:t>hacia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atrás o a un punto en concreto. </a:t>
            </a:r>
            <a:endParaRPr/>
          </a:p>
        </p:txBody>
      </p:sp>
      <p:sp>
        <p:nvSpPr>
          <p:cNvPr id="570" name="Google Shape;570;p33"/>
          <p:cNvSpPr txBox="1"/>
          <p:nvPr/>
        </p:nvSpPr>
        <p:spPr>
          <a:xfrm>
            <a:off x="1144587" y="3641725"/>
            <a:ext cx="2692400" cy="3095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windows.history.back();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71" name="Google Shape;571;p33"/>
          <p:cNvSpPr txBox="1"/>
          <p:nvPr/>
        </p:nvSpPr>
        <p:spPr>
          <a:xfrm>
            <a:off x="1141412" y="3987800"/>
            <a:ext cx="3028950" cy="311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windows.history.forward();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572" name="Google Shape;572;p33"/>
          <p:cNvSpPr txBox="1"/>
          <p:nvPr/>
        </p:nvSpPr>
        <p:spPr>
          <a:xfrm>
            <a:off x="1141412" y="4346575"/>
            <a:ext cx="2581275" cy="311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34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windows.history.go(</a:t>
            </a:r>
            <a:r>
              <a:rPr b="0" i="0" lang="en-US" sz="1600" u="none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600" u="non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