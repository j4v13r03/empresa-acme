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7086600" cy="8686800"/>
  <p:embeddedFontLst>
    <p:embeddedFont>
      <p:font typeface="Libre Franklin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j0V43IzkRWyDEvDpMOmr9cqmH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bold.fntdata"/><Relationship Id="rId11" Type="http://schemas.openxmlformats.org/officeDocument/2006/relationships/slide" Target="slides/slide6.xml"/><Relationship Id="rId22" Type="http://schemas.openxmlformats.org/officeDocument/2006/relationships/font" Target="fonts/LibreFranklin-boldItalic.fntdata"/><Relationship Id="rId10" Type="http://schemas.openxmlformats.org/officeDocument/2006/relationships/slide" Target="slides/slide5.xml"/><Relationship Id="rId21" Type="http://schemas.openxmlformats.org/officeDocument/2006/relationships/font" Target="fonts/LibreFranklin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ibreFranklin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a23511a7e_0_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ea23511a7e_0_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a23511a7e_0_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ea23511a7e_0_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a23511a7e_1_3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ea23511a7e_1_3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8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s://www.npmjs.com/package/ngx-paginatio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3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2980825" y="2657075"/>
            <a:ext cx="57684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 cap="none" strike="noStrike">
                <a:solidFill>
                  <a:srgbClr val="0070C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Librería para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 cap="none" strike="noStrike">
                <a:solidFill>
                  <a:srgbClr val="0070C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Paginar Listas de Datos</a:t>
            </a:r>
            <a:endParaRPr b="1" i="0" sz="3600" u="none" cap="none" strike="noStrike">
              <a:solidFill>
                <a:srgbClr val="0070C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3042026" y="3934072"/>
            <a:ext cx="5447430" cy="45719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895077" y="2082625"/>
            <a:ext cx="2189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19b</a:t>
            </a:r>
            <a:endParaRPr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641584" y="2206625"/>
            <a:ext cx="2140236" cy="232677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/>
          <p:nvPr/>
        </p:nvSpPr>
        <p:spPr>
          <a:xfrm>
            <a:off x="2972830" y="2146183"/>
            <a:ext cx="44063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NGX-Pagination</a:t>
            </a:r>
            <a:endParaRPr b="1" sz="3600" u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g3ea23511a7e_0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ea23511a7e_0_0"/>
          <p:cNvSpPr txBox="1"/>
          <p:nvPr/>
        </p:nvSpPr>
        <p:spPr>
          <a:xfrm>
            <a:off x="1144588" y="185738"/>
            <a:ext cx="412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g3ea23511a7e_0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g3ea23511a7e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ea23511a7e_0_0"/>
          <p:cNvSpPr/>
          <p:nvPr/>
        </p:nvSpPr>
        <p:spPr>
          <a:xfrm>
            <a:off x="627062" y="1164637"/>
            <a:ext cx="81057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C3C3C"/>
                </a:solidFill>
              </a:rPr>
              <a:t>Optimizar el rendimiento de renderizado de un gran volumen de elementos sobre una p</a:t>
            </a:r>
            <a:r>
              <a:rPr lang="es-CL" sz="1800">
                <a:solidFill>
                  <a:srgbClr val="3C3C3C"/>
                </a:solidFill>
              </a:rPr>
              <a:t>ágina</a:t>
            </a:r>
            <a:r>
              <a:rPr lang="es-CL" sz="1800">
                <a:solidFill>
                  <a:srgbClr val="3C3C3C"/>
                </a:solidFill>
              </a:rPr>
              <a:t>.</a:t>
            </a:r>
            <a:endParaRPr sz="1800">
              <a:solidFill>
                <a:srgbClr val="3C3C3C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>
                <a:solidFill>
                  <a:srgbClr val="3C3C3C"/>
                </a:solidFill>
              </a:rPr>
              <a:t>Integrar paginaci</a:t>
            </a:r>
            <a:r>
              <a:rPr lang="es-CL" sz="1800">
                <a:solidFill>
                  <a:srgbClr val="3C3C3C"/>
                </a:solidFill>
              </a:rPr>
              <a:t>ón</a:t>
            </a:r>
            <a:endParaRPr sz="1800">
              <a:solidFill>
                <a:srgbClr val="3C3C3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1" name="Google Shape;111;g3ea23511a7e_0_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ea23511a7e_0_8"/>
          <p:cNvSpPr txBox="1"/>
          <p:nvPr/>
        </p:nvSpPr>
        <p:spPr>
          <a:xfrm>
            <a:off x="1144588" y="185738"/>
            <a:ext cx="412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g3ea23511a7e_0_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g3ea23511a7e_0_8"/>
          <p:cNvSpPr/>
          <p:nvPr/>
        </p:nvSpPr>
        <p:spPr>
          <a:xfrm>
            <a:off x="627050" y="1164618"/>
            <a:ext cx="81057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C3C3C"/>
                </a:solidFill>
              </a:rPr>
              <a:t>¿Qué ocurre si Angular intenta renderizar miles de elementos al mismo tiempo?</a:t>
            </a:r>
            <a:endParaRPr sz="1800">
              <a:solidFill>
                <a:srgbClr val="3C3C3C"/>
              </a:solidFill>
            </a:endParaRPr>
          </a:p>
        </p:txBody>
      </p:sp>
      <p:sp>
        <p:nvSpPr>
          <p:cNvPr id="115" name="Google Shape;115;g3ea23511a7e_0_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ea23511a7e_0_8"/>
          <p:cNvSpPr/>
          <p:nvPr/>
        </p:nvSpPr>
        <p:spPr>
          <a:xfrm>
            <a:off x="627050" y="2031496"/>
            <a:ext cx="8105700" cy="13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>
                <a:solidFill>
                  <a:srgbClr val="3C3C3C"/>
                </a:solidFill>
              </a:rPr>
              <a:t>El navegador sufrirá una caída importante en el rendimiento.</a:t>
            </a:r>
            <a:endParaRPr sz="1800">
              <a:solidFill>
                <a:srgbClr val="3C3C3C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>
                <a:solidFill>
                  <a:srgbClr val="3C3C3C"/>
                </a:solidFill>
              </a:rPr>
              <a:t>La interfaz dejará de responder temporalmente.</a:t>
            </a:r>
            <a:endParaRPr sz="1800">
              <a:solidFill>
                <a:srgbClr val="3C3C3C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>
                <a:solidFill>
                  <a:srgbClr val="3C3C3C"/>
                </a:solidFill>
              </a:rPr>
              <a:t>El consumo de memoria aumentará considerablemente.</a:t>
            </a:r>
            <a:endParaRPr sz="1800">
              <a:solidFill>
                <a:srgbClr val="3C3C3C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>
                <a:solidFill>
                  <a:srgbClr val="3C3C3C"/>
                </a:solidFill>
              </a:rPr>
              <a:t>En casos extremos la página podría colapsar.</a:t>
            </a:r>
            <a:endParaRPr sz="1800">
              <a:solidFill>
                <a:srgbClr val="3C3C3C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C3C3C"/>
              </a:solidFill>
            </a:endParaRPr>
          </a:p>
        </p:txBody>
      </p:sp>
      <p:sp>
        <p:nvSpPr>
          <p:cNvPr id="117" name="Google Shape;117;g3ea23511a7e_0_8"/>
          <p:cNvSpPr/>
          <p:nvPr/>
        </p:nvSpPr>
        <p:spPr>
          <a:xfrm>
            <a:off x="627050" y="3496167"/>
            <a:ext cx="81057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C3C3C"/>
                </a:solidFill>
              </a:rPr>
              <a:t>Alternativas principales para resolver estos problemas:</a:t>
            </a:r>
            <a:endParaRPr sz="1800">
              <a:solidFill>
                <a:srgbClr val="3C3C3C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C3C3C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>
                <a:solidFill>
                  <a:srgbClr val="3C3C3C"/>
                </a:solidFill>
              </a:rPr>
              <a:t>Virtual Scrolling</a:t>
            </a:r>
            <a:endParaRPr sz="1800">
              <a:solidFill>
                <a:srgbClr val="3C3C3C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b="1" lang="es-CL" sz="1800">
                <a:solidFill>
                  <a:srgbClr val="3C3C3C"/>
                </a:solidFill>
              </a:rPr>
              <a:t>Paginación </a:t>
            </a:r>
            <a:r>
              <a:rPr b="1" lang="es-CL" sz="1800">
                <a:solidFill>
                  <a:srgbClr val="3C3C3C"/>
                </a:solidFill>
              </a:rPr>
              <a:t>(abordaremos en la clase de hoy)</a:t>
            </a:r>
            <a:endParaRPr b="1" sz="1800">
              <a:solidFill>
                <a:srgbClr val="3C3C3C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Carga por bloques (Chunking)</a:t>
            </a:r>
            <a:endParaRPr sz="1800">
              <a:solidFill>
                <a:srgbClr val="3C3C3C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2" name="Google Shape;12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 txBox="1"/>
          <p:nvPr/>
        </p:nvSpPr>
        <p:spPr>
          <a:xfrm>
            <a:off x="1144588" y="185738"/>
            <a:ext cx="42178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un Paginador?</a:t>
            </a:r>
            <a:endParaRPr/>
          </a:p>
        </p:txBody>
      </p:sp>
      <p:cxnSp>
        <p:nvCxnSpPr>
          <p:cNvPr id="124" name="Google Shape;12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En muchas ocasiones se despliegan muchos registros por pantalla haciendo difícil y compleja su manipulación.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27062" y="2021423"/>
            <a:ext cx="810577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enunciados SELECT del lenguaje SQL, en la base de datos MySQL y otras muchas, tienen una cláusula llamada LIMIT, con la que podemos indicar los registros a mostrar, por ejemplo: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27061" y="4195410"/>
            <a:ext cx="810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Un paginador es una pieza de código que permite mostrar una cantidad parcializada de registros de vez en vez.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1879244" y="3061806"/>
            <a:ext cx="5201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select * from estudiantes </a:t>
            </a:r>
            <a:r>
              <a:rPr b="0" i="0" lang="es-CL" sz="1800">
                <a:solidFill>
                  <a:srgbClr val="FF0066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r>
              <a:rPr b="0" i="0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180,10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879244" y="3395144"/>
            <a:ext cx="5678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Obtener 10 registros empezando por el registro 180.</a:t>
            </a:r>
            <a:endParaRPr sz="18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ginacion en sitios web, forma de estructurar el contenido ..." id="131" name="Google Shape;131;p2"/>
          <p:cNvPicPr preferRelativeResize="0"/>
          <p:nvPr/>
        </p:nvPicPr>
        <p:blipFill rotWithShape="1">
          <a:blip r:embed="rId4">
            <a:alphaModFix/>
          </a:blip>
          <a:srcRect b="29922" l="14663" r="14661" t="32310"/>
          <a:stretch/>
        </p:blipFill>
        <p:spPr>
          <a:xfrm>
            <a:off x="1987191" y="5113939"/>
            <a:ext cx="5385512" cy="575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6" name="Google Shape;136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1144588" y="185738"/>
            <a:ext cx="59437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un Nuevo Proyecto Angular</a:t>
            </a:r>
            <a:endParaRPr/>
          </a:p>
        </p:txBody>
      </p:sp>
      <p:cxnSp>
        <p:nvCxnSpPr>
          <p:cNvPr id="138" name="Google Shape;138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Instalar librería ngx-pagination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627050" y="2112244"/>
            <a:ext cx="8105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</a:rPr>
              <a:t>La librería ngx-pagination permite la implementación sencilla del mecanismo de paginamiento. Más documentación en:</a:t>
            </a:r>
            <a:endParaRPr sz="16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927112" y="2906849"/>
            <a:ext cx="52019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https://www.npmjs.com/package/ngx-pagination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974445" y="1585253"/>
            <a:ext cx="457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npm install ngx-pagination --save</a:t>
            </a:r>
            <a:endParaRPr sz="16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/>
          <p:nvPr/>
        </p:nvSpPr>
        <p:spPr>
          <a:xfrm>
            <a:off x="1144588" y="185738"/>
            <a:ext cx="631775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Librería para Generar Datos</a:t>
            </a:r>
            <a:endParaRPr/>
          </a:p>
        </p:txBody>
      </p:sp>
      <p:cxnSp>
        <p:nvCxnSpPr>
          <p:cNvPr id="150" name="Google Shape;150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627061" y="1162499"/>
            <a:ext cx="81057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Utilizando nuevamente la librería </a:t>
            </a:r>
            <a:r>
              <a:rPr b="1" lang="es-CL" sz="1800">
                <a:solidFill>
                  <a:schemeClr val="dk1"/>
                </a:solidFill>
              </a:rPr>
              <a:t>faker.js,</a:t>
            </a:r>
            <a:r>
              <a:rPr lang="es-CL" sz="1800">
                <a:solidFill>
                  <a:schemeClr val="dk1"/>
                </a:solidFill>
              </a:rPr>
              <a:t> i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mplementaremos una lista con datos de productos generados aleatoriamente que posea: imagen, nombre producto, código, fecha y precio.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27062" y="2283948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Crear el componente </a:t>
            </a:r>
            <a:r>
              <a:rPr b="1" lang="es-CL" sz="1800">
                <a:solidFill>
                  <a:schemeClr val="dk1"/>
                </a:solidFill>
              </a:rPr>
              <a:t>product-pagination</a:t>
            </a:r>
            <a:r>
              <a:rPr lang="es-CL" sz="1800">
                <a:solidFill>
                  <a:schemeClr val="dk1"/>
                </a:solidFill>
              </a:rPr>
              <a:t> dentro del dominio </a:t>
            </a:r>
            <a:r>
              <a:rPr b="1" lang="es-CL" sz="1800">
                <a:solidFill>
                  <a:schemeClr val="dk1"/>
                </a:solidFill>
              </a:rPr>
              <a:t>products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974453" y="2704575"/>
            <a:ext cx="752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CL" sz="1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ng g c features/products/components/product-pagination</a:t>
            </a:r>
            <a:endParaRPr sz="16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5" name="Google Shape;155;p5" title="Captura de pantalla 2026-06-08 a la(s) 00.30.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7413" y="3099675"/>
            <a:ext cx="2292122" cy="338123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/>
          <p:nvPr/>
        </p:nvSpPr>
        <p:spPr>
          <a:xfrm>
            <a:off x="3544475" y="4981950"/>
            <a:ext cx="1776600" cy="923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6" title="Captura de pantalla 2026-06-08 a la(s) 00.56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474" y="2116743"/>
            <a:ext cx="4010734" cy="4421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62" name="Google Shape;162;p6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 txBox="1"/>
          <p:nvPr/>
        </p:nvSpPr>
        <p:spPr>
          <a:xfrm>
            <a:off x="1144588" y="185738"/>
            <a:ext cx="29803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la Lógica</a:t>
            </a:r>
            <a:endParaRPr/>
          </a:p>
        </p:txBody>
      </p:sp>
      <p:cxnSp>
        <p:nvCxnSpPr>
          <p:cNvPr id="164" name="Google Shape;164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Agregamos un arreglo llamado “data” de 50 elementos que llenaremos con datos generados por la librería faker.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873303" y="1765774"/>
            <a:ext cx="275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product-pagination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027125" y="2266648"/>
            <a:ext cx="2570400" cy="1533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188733" y="3013958"/>
            <a:ext cx="1236600" cy="1533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278500" y="4233900"/>
            <a:ext cx="3293400" cy="19401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027125" y="2394785"/>
            <a:ext cx="2570400" cy="1533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188722" y="3761250"/>
            <a:ext cx="1725000" cy="1533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053625" y="4601600"/>
            <a:ext cx="2815200" cy="968400"/>
          </a:xfrm>
          <a:prstGeom prst="wedgeRoundRectCallout">
            <a:avLst>
              <a:gd fmla="val -65740" name="adj1"/>
              <a:gd fmla="val -27065" name="adj2"/>
              <a:gd fmla="val 16667" name="adj3"/>
            </a:avLst>
          </a:prstGeom>
          <a:solidFill>
            <a:srgbClr val="FEE599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>
                <a:solidFill>
                  <a:srgbClr val="C00000"/>
                </a:solidFill>
              </a:rPr>
              <a:t>Definir un arreglo de 50 elementos con valor 1 y luego mapear un objeto con datos de productos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 title="Captura de pantalla 2026-06-08 a la(s) 00.58.20.png"/>
          <p:cNvPicPr preferRelativeResize="0"/>
          <p:nvPr/>
        </p:nvPicPr>
        <p:blipFill rotWithShape="1">
          <a:blip r:embed="rId3">
            <a:alphaModFix/>
          </a:blip>
          <a:srcRect b="5081" l="0" r="0" t="5153"/>
          <a:stretch/>
        </p:blipFill>
        <p:spPr>
          <a:xfrm>
            <a:off x="934638" y="1951900"/>
            <a:ext cx="6479575" cy="437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79" name="Google Shape;179;p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 txBox="1"/>
          <p:nvPr/>
        </p:nvSpPr>
        <p:spPr>
          <a:xfrm>
            <a:off x="1144588" y="185738"/>
            <a:ext cx="36727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la Vista</a:t>
            </a:r>
            <a:endParaRPr/>
          </a:p>
        </p:txBody>
      </p:sp>
      <p:cxnSp>
        <p:nvCxnSpPr>
          <p:cNvPr id="181" name="Google Shape;181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" name="Google Shape;182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Agregamos el componente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838861" y="1613341"/>
            <a:ext cx="27539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product-pagination.html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1750025" y="2519800"/>
            <a:ext cx="5481000" cy="38115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7293225" y="3366800"/>
            <a:ext cx="1528200" cy="20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Copiar contenido desde subcomponente product-list y ajustar variables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1" name="Google Shape;191;g3ea23511a7e_1_3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ea23511a7e_1_3"/>
          <p:cNvSpPr txBox="1"/>
          <p:nvPr/>
        </p:nvSpPr>
        <p:spPr>
          <a:xfrm>
            <a:off x="1144588" y="185738"/>
            <a:ext cx="367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la Vista</a:t>
            </a:r>
            <a:endParaRPr/>
          </a:p>
        </p:txBody>
      </p:sp>
      <p:cxnSp>
        <p:nvCxnSpPr>
          <p:cNvPr id="193" name="Google Shape;193;g3ea23511a7e_1_3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4" name="Google Shape;194;g3ea23511a7e_1_3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95" name="Google Shape;195;g3ea23511a7e_1_3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Agregamos la ruta para el componente </a:t>
            </a:r>
            <a:r>
              <a:rPr b="1" lang="es-CL" sz="1800">
                <a:solidFill>
                  <a:schemeClr val="dk1"/>
                </a:solidFill>
              </a:rPr>
              <a:t>ProductPagination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g3ea23511a7e_1_3"/>
          <p:cNvSpPr txBox="1"/>
          <p:nvPr/>
        </p:nvSpPr>
        <p:spPr>
          <a:xfrm>
            <a:off x="838861" y="1533399"/>
            <a:ext cx="275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app.routes.ts</a:t>
            </a:r>
            <a:endParaRPr/>
          </a:p>
        </p:txBody>
      </p:sp>
      <p:pic>
        <p:nvPicPr>
          <p:cNvPr id="197" name="Google Shape;197;g3ea23511a7e_1_3" title="Captura de pantalla 2026-06-08 a la(s) 00.58.33.png"/>
          <p:cNvPicPr preferRelativeResize="0"/>
          <p:nvPr/>
        </p:nvPicPr>
        <p:blipFill rotWithShape="1">
          <a:blip r:embed="rId4">
            <a:alphaModFix/>
          </a:blip>
          <a:srcRect b="23689" l="0" r="0" t="5085"/>
          <a:stretch/>
        </p:blipFill>
        <p:spPr>
          <a:xfrm>
            <a:off x="923000" y="1843945"/>
            <a:ext cx="7809899" cy="1347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ea23511a7e_1_3" title="Captura de pantalla 2026-06-08 a la(s) 00.58.5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3000" y="4019903"/>
            <a:ext cx="7809902" cy="2455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ea23511a7e_1_3"/>
          <p:cNvSpPr/>
          <p:nvPr/>
        </p:nvSpPr>
        <p:spPr>
          <a:xfrm>
            <a:off x="627050" y="3328007"/>
            <a:ext cx="81057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000000"/>
                </a:solidFill>
              </a:rPr>
              <a:t>Asociamos el routerLink a una opción de nuestro menú</a:t>
            </a:r>
            <a:endParaRPr b="0" i="0" sz="1800" u="none" cap="none" strike="noStrike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" name="Google Shape;200;g3ea23511a7e_1_3"/>
          <p:cNvSpPr txBox="1"/>
          <p:nvPr/>
        </p:nvSpPr>
        <p:spPr>
          <a:xfrm>
            <a:off x="838861" y="3681207"/>
            <a:ext cx="275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app.html</a:t>
            </a:r>
            <a:endParaRPr/>
          </a:p>
        </p:txBody>
      </p:sp>
      <p:sp>
        <p:nvSpPr>
          <p:cNvPr id="201" name="Google Shape;201;g3ea23511a7e_1_3"/>
          <p:cNvSpPr/>
          <p:nvPr/>
        </p:nvSpPr>
        <p:spPr>
          <a:xfrm>
            <a:off x="1027075" y="1872100"/>
            <a:ext cx="7660800" cy="1710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ea23511a7e_1_3"/>
          <p:cNvSpPr/>
          <p:nvPr/>
        </p:nvSpPr>
        <p:spPr>
          <a:xfrm>
            <a:off x="1286075" y="2776650"/>
            <a:ext cx="6593400" cy="1710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ea23511a7e_1_3"/>
          <p:cNvSpPr/>
          <p:nvPr/>
        </p:nvSpPr>
        <p:spPr>
          <a:xfrm>
            <a:off x="3197375" y="4657000"/>
            <a:ext cx="862200" cy="1710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ea23511a7e_1_3"/>
          <p:cNvSpPr/>
          <p:nvPr/>
        </p:nvSpPr>
        <p:spPr>
          <a:xfrm>
            <a:off x="1286075" y="5866525"/>
            <a:ext cx="5287800" cy="1710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8" title="Captura de pantalla 2026-06-08 a la(s) 00.55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25" y="1680175"/>
            <a:ext cx="7990149" cy="36790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210" name="Google Shape;210;p8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 txBox="1"/>
          <p:nvPr/>
        </p:nvSpPr>
        <p:spPr>
          <a:xfrm>
            <a:off x="1144588" y="185738"/>
            <a:ext cx="29813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Ver el Resultado</a:t>
            </a:r>
            <a:endParaRPr/>
          </a:p>
        </p:txBody>
      </p:sp>
      <p:cxnSp>
        <p:nvCxnSpPr>
          <p:cNvPr id="212" name="Google Shape;212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3" name="Google Shape;213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Ejecutamos el programa desde la consola: </a:t>
            </a:r>
            <a:r>
              <a:rPr lang="es-CL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ng serve -o</a:t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ptura de pantalla de computadora&#10;&#10;Descripción generada automáticamente" id="215" name="Google Shape;215;p8"/>
          <p:cNvPicPr preferRelativeResize="0"/>
          <p:nvPr/>
        </p:nvPicPr>
        <p:blipFill rotWithShape="1">
          <a:blip r:embed="rId5">
            <a:alphaModFix/>
          </a:blip>
          <a:srcRect b="0" l="0" r="0" t="19159"/>
          <a:stretch/>
        </p:blipFill>
        <p:spPr>
          <a:xfrm>
            <a:off x="3416775" y="3491175"/>
            <a:ext cx="4767539" cy="29861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0" title="Captura de pantalla 2026-06-08 a la(s) 01.15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425" y="2428900"/>
            <a:ext cx="4238961" cy="3951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21" name="Google Shape;221;p10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 txBox="1"/>
          <p:nvPr/>
        </p:nvSpPr>
        <p:spPr>
          <a:xfrm>
            <a:off x="1144588" y="185738"/>
            <a:ext cx="29803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la Lógica</a:t>
            </a:r>
            <a:endParaRPr/>
          </a:p>
        </p:txBody>
      </p:sp>
      <p:cxnSp>
        <p:nvCxnSpPr>
          <p:cNvPr id="223" name="Google Shape;223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4" name="Google Shape;224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27062" y="1164637"/>
            <a:ext cx="82288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Incorporamos las variables de paginaci</a:t>
            </a:r>
            <a:r>
              <a:rPr lang="es-CL" sz="1800">
                <a:solidFill>
                  <a:schemeClr val="dk1"/>
                </a:solidFill>
              </a:rPr>
              <a:t>ón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necesita el componente </a:t>
            </a:r>
            <a:r>
              <a:rPr lang="es-CL" sz="1800">
                <a:solidFill>
                  <a:schemeClr val="dk1"/>
                </a:solidFill>
              </a:rPr>
              <a:t>en su lógica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estas son: p (página de inicio) y total (total de registros en la lista).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940703" y="2059607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899953" y="1899025"/>
            <a:ext cx="27539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product-pagination.ts</a:t>
            </a:r>
            <a:endParaRPr i="1" sz="16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206500" y="2824750"/>
            <a:ext cx="1591200" cy="3693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311900" y="5761650"/>
            <a:ext cx="2815200" cy="1992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652950" y="5611904"/>
            <a:ext cx="2815200" cy="768000"/>
          </a:xfrm>
          <a:prstGeom prst="wedgeRoundRectCallout">
            <a:avLst>
              <a:gd fmla="val -65578" name="adj1"/>
              <a:gd fmla="val -20173" name="adj2"/>
              <a:gd fmla="val 16667" name="adj3"/>
            </a:avLst>
          </a:prstGeom>
          <a:solidFill>
            <a:srgbClr val="FEE599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El total lo obtenemos simplemente con la función length del arreglo.</a:t>
            </a:r>
            <a:endParaRPr/>
          </a:p>
        </p:txBody>
      </p:sp>
      <p:pic>
        <p:nvPicPr>
          <p:cNvPr id="231" name="Google Shape;231;p10" title="Captura de pantalla 2026-06-08 a la(s) 01.29.2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2161" y="2098105"/>
            <a:ext cx="3607814" cy="182258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4512525" y="2420017"/>
            <a:ext cx="3304800" cy="1992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593663" y="3228267"/>
            <a:ext cx="3304800" cy="1992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5791400" y="4036529"/>
            <a:ext cx="2815200" cy="768000"/>
          </a:xfrm>
          <a:prstGeom prst="wedgeRoundRectCallout">
            <a:avLst>
              <a:gd fmla="val 10291" name="adj1"/>
              <a:gd fmla="val -125635" name="adj2"/>
              <a:gd fmla="val 16667" name="adj3"/>
            </a:avLst>
          </a:prstGeom>
          <a:solidFill>
            <a:srgbClr val="FEE599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C00000"/>
                </a:solidFill>
              </a:rPr>
              <a:t>Debemos importar la directiva NgFor para las funciones de paginación</a:t>
            </a: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9" title="Captura de pantalla 2026-06-08 a la(s) 01.25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900" y="1839750"/>
            <a:ext cx="6641801" cy="4690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40" name="Google Shape;240;p9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 txBox="1"/>
          <p:nvPr/>
        </p:nvSpPr>
        <p:spPr>
          <a:xfrm>
            <a:off x="1144588" y="185738"/>
            <a:ext cx="78736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Modificar la Vista para Agregar la Paginación</a:t>
            </a:r>
            <a:endParaRPr/>
          </a:p>
        </p:txBody>
      </p:sp>
      <p:cxnSp>
        <p:nvCxnSpPr>
          <p:cNvPr id="242" name="Google Shape;242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3" name="Google Shape;243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Agregamos la funcionalidad de paginación a la tabla.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814660" y="1533969"/>
            <a:ext cx="275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</a:rPr>
              <a:t>product-pagination</a:t>
            </a:r>
            <a:r>
              <a:rPr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.html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741150" y="3346217"/>
            <a:ext cx="5094300" cy="3693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331900" y="6174325"/>
            <a:ext cx="5384100" cy="2031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2797229" y="5385218"/>
            <a:ext cx="2815200" cy="565800"/>
          </a:xfrm>
          <a:prstGeom prst="wedgeRoundRectCallout">
            <a:avLst>
              <a:gd fmla="val -19670" name="adj1"/>
              <a:gd fmla="val 84695" name="adj2"/>
              <a:gd fmla="val 16667" name="adj3"/>
            </a:avLst>
          </a:prstGeom>
          <a:solidFill>
            <a:srgbClr val="FEE599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Agregar controles para avanzar o retroceder en la paginación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5306400" y="2638374"/>
            <a:ext cx="3549600" cy="680700"/>
          </a:xfrm>
          <a:prstGeom prst="wedgeRoundRectCallout">
            <a:avLst>
              <a:gd fmla="val -23305" name="adj1"/>
              <a:gd fmla="val 76167" name="adj2"/>
              <a:gd fmla="val 16667" name="adj3"/>
            </a:avLst>
          </a:prstGeom>
          <a:solidFill>
            <a:srgbClr val="FEE599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Este componente se incorpora como un pipe en el lugar donde se genera la lista *ngFor</a:t>
            </a:r>
            <a:endParaRPr sz="1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 txBox="1"/>
          <p:nvPr/>
        </p:nvSpPr>
        <p:spPr>
          <a:xfrm>
            <a:off x="1144588" y="185738"/>
            <a:ext cx="29813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Ver el Resultado</a:t>
            </a:r>
            <a:endParaRPr/>
          </a:p>
        </p:txBody>
      </p:sp>
      <p:cxnSp>
        <p:nvCxnSpPr>
          <p:cNvPr id="256" name="Google Shape;256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7" name="Google Shape;257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Ejecutamos el programa desde la consola: </a:t>
            </a:r>
            <a:r>
              <a:rPr lang="es-CL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ng serve -o</a:t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2430035" y="2755811"/>
            <a:ext cx="1713572" cy="24479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1" title="Captura de pantalla 2026-06-08 a la(s) 01.24.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800" y="1551476"/>
            <a:ext cx="8386401" cy="375505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Captura de pantalla de computadora&#10;&#10;Descripción generada automáticamente" id="261" name="Google Shape;261;p11"/>
          <p:cNvPicPr preferRelativeResize="0"/>
          <p:nvPr/>
        </p:nvPicPr>
        <p:blipFill rotWithShape="1">
          <a:blip r:embed="rId5">
            <a:alphaModFix/>
          </a:blip>
          <a:srcRect b="0" l="0" r="0" t="19277"/>
          <a:stretch/>
        </p:blipFill>
        <p:spPr>
          <a:xfrm>
            <a:off x="2233113" y="3516900"/>
            <a:ext cx="4677784" cy="29256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