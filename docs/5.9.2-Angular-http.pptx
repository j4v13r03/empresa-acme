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7086600" cy="8686800"/>
  <p:embeddedFontLst>
    <p:embeddedFont>
      <p:font typeface="Arimo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  <p:embeddedFont>
      <p:font typeface="Arial Black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pryzF2T2sfl5AHlZYOgAI5ZBW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rimo-regular.fntdata"/><Relationship Id="rId21" Type="http://schemas.openxmlformats.org/officeDocument/2006/relationships/slide" Target="slides/slide16.xml"/><Relationship Id="rId24" Type="http://schemas.openxmlformats.org/officeDocument/2006/relationships/font" Target="fonts/Arimo-italic.fntdata"/><Relationship Id="rId23" Type="http://schemas.openxmlformats.org/officeDocument/2006/relationships/font" Target="fonts/Arim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font" Target="fonts/Arimo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e5d94f4b3_0_2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e5d94f4b3_0_2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0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61806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Servicios Web y Programación Reactiva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056152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26339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Servicios Web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27063" y="1164637"/>
            <a:ext cx="54137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colección de estándares y protocolos que utilizan las aplicaciones </a:t>
            </a:r>
            <a:r>
              <a:rPr b="1" lang="es-CL" sz="1800">
                <a:solidFill>
                  <a:schemeClr val="dk1"/>
                </a:solidFill>
              </a:rPr>
              <a:t>para consumir o intercambiar datos a través de Internet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servicio web podría estar escrito en cualquier lenguaje de programación y es independiente del sistema operativo.</a:t>
            </a:r>
            <a:endParaRPr/>
          </a:p>
        </p:txBody>
      </p:sp>
      <p:pic>
        <p:nvPicPr>
          <p:cNvPr descr="Resultado de imagen para http"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0776" y="1270372"/>
            <a:ext cx="2735988" cy="15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627063" y="3429000"/>
            <a:ext cx="810577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Algunos t</a:t>
            </a:r>
            <a:r>
              <a:rPr b="1" lang="es-CL" sz="1800">
                <a:solidFill>
                  <a:schemeClr val="dk1"/>
                </a:solidFill>
              </a:rPr>
              <a:t>ipos de servicios web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RPC: Llamadas a Procedimientos Remotos.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SOA: Arquitectura Orientada a Servicios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0" lang="es-CL" sz="1800" u="none" cap="none" strike="noStrike">
                <a:solidFill>
                  <a:schemeClr val="dk1"/>
                </a:solidFill>
              </a:rPr>
              <a:t>REST: Representación de Transferencia de Estado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1144588" y="185738"/>
            <a:ext cx="34002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Operaciones HTTP</a:t>
            </a:r>
            <a:endParaRPr/>
          </a:p>
        </p:txBody>
      </p:sp>
      <p:cxnSp>
        <p:nvCxnSpPr>
          <p:cNvPr id="115" name="Google Shape;115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838850" y="1286048"/>
            <a:ext cx="79560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REST impone el uso del protocolo HTTP para la transferencia de datos a través de internet.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Algunos métodos utilizados del protocolo HTTP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175538" y="2672193"/>
            <a:ext cx="7588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 para crear un recurso en el servidor</a:t>
            </a:r>
            <a:endParaRPr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 para obtener un recurso</a:t>
            </a:r>
            <a:endParaRPr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 o PATCH para modificar un recurso o actualizarlo</a:t>
            </a:r>
            <a:endParaRPr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para eliminar un recurso</a:t>
            </a:r>
            <a:endParaRPr b="0" i="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Resultado de imagen para operaciones restful servicios web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2215" y="4053501"/>
            <a:ext cx="42195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1144588" y="185738"/>
            <a:ext cx="58010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El Servicio HttpClient de Angular</a:t>
            </a:r>
            <a:endParaRPr/>
          </a:p>
        </p:txBody>
      </p:sp>
      <p:cxnSp>
        <p:nvCxnSpPr>
          <p:cNvPr id="126" name="Google Shape;126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27061" y="1164637"/>
            <a:ext cx="81676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ofrece un servicio propio llamado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HttpClient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facilita consumir servicios web.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144588" y="1899025"/>
            <a:ext cx="7588250" cy="27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92B2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Facilita el envío y el procesamiento de solicitudes y respuestas HTTP.</a:t>
            </a:r>
            <a:endParaRPr/>
          </a:p>
          <a:p>
            <a:pPr indent="-21590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292B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92B2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Utiliza Observables RxJS (en lugar de Promesas) para manejar operaciones asincrónicas que simplifican tareas como: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rgbClr val="292B2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Ocultar solicitudes HTTP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rgbClr val="292B2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Escuchar la progresión de las operaciones de descarga y 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carga de archivos</a:t>
            </a:r>
            <a:endParaRPr b="0" i="0" sz="1800" u="none" cap="none" strike="noStrike">
              <a:solidFill>
                <a:srgbClr val="292B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rgbClr val="292B2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Facilitar el manejo de errores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rgbClr val="292B2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Reintentar solicitudes HTTP fallidas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rgbClr val="292B2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etc.</a:t>
            </a:r>
            <a:endParaRPr b="0" i="0" sz="1800" u="none" cap="none" strike="noStrike">
              <a:solidFill>
                <a:srgbClr val="292B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27061" y="4775378"/>
            <a:ext cx="81676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 que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HttpClient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 servicio, se debe inyectar en la clase que desee utilizarlo.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27061" y="1164637"/>
            <a:ext cx="81676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7063" y="1742286"/>
            <a:ext cx="682129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servicio que hemos creado en el ejercicio anterior,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devuelve respuestas inmediatas debido a que son llamadas de tipo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síncronas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los datos.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27632" y="2782669"/>
            <a:ext cx="80961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 embargo, muchas veces usaremos servicios que realizarán llamadas a servidores remotos cuyas respuestas no sabemos cuánto tiempo demoran.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engranes icon" id="141" name="Google Shape;141;p6"/>
          <p:cNvPicPr preferRelativeResize="0"/>
          <p:nvPr/>
        </p:nvPicPr>
        <p:blipFill rotWithShape="1">
          <a:blip r:embed="rId4">
            <a:alphaModFix/>
          </a:blip>
          <a:srcRect b="14217" l="22065" r="20319" t="9617"/>
          <a:stretch/>
        </p:blipFill>
        <p:spPr>
          <a:xfrm>
            <a:off x="7725380" y="1650711"/>
            <a:ext cx="1007458" cy="101332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627063" y="3551398"/>
            <a:ext cx="80961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Esos servicios no pueden gestionarse de la misma forma, ya que produciríamos bloqueos inaceptables en la aplicación. 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27063" y="4921427"/>
            <a:ext cx="809613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evitar los bloqueos y permitir que el usuario pueda seguir trabajando mientras se ejecutan los servicios se debe utilizar una gestión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asíncrona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los datos. 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27062" y="4313713"/>
            <a:ext cx="81676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Solución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1144588" y="185738"/>
            <a:ext cx="41809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Programación Reactiva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144588" y="185738"/>
            <a:ext cx="45400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Programación Reactiva…</a:t>
            </a:r>
            <a:endParaRPr/>
          </a:p>
        </p:txBody>
      </p:sp>
      <p:cxnSp>
        <p:nvCxnSpPr>
          <p:cNvPr id="152" name="Google Shape;152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27625" y="1313900"/>
            <a:ext cx="8105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programación reactiva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la programación con flujos de datos asíncronos.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27075" y="2206574"/>
            <a:ext cx="8105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Tradicionalmente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soportaba la programación reactiva por medio de</a:t>
            </a:r>
            <a:r>
              <a:rPr lang="es-CL" sz="1800">
                <a:solidFill>
                  <a:schemeClr val="dk1"/>
                </a:solidFill>
              </a:rPr>
              <a:t> los </a:t>
            </a:r>
            <a:r>
              <a:rPr b="1" lang="es-CL" sz="1800">
                <a:solidFill>
                  <a:schemeClr val="dk1"/>
                </a:solidFill>
              </a:rPr>
              <a:t>Observables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→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RxJS (Reactive Extensions for JavaScript)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31875" y="3099248"/>
            <a:ext cx="80961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Angular usa </a:t>
            </a:r>
            <a:r>
              <a:rPr b="1" lang="es-CL" sz="1800">
                <a:solidFill>
                  <a:schemeClr val="dk1"/>
                </a:solidFill>
              </a:rPr>
              <a:t>Observables</a:t>
            </a:r>
            <a:r>
              <a:rPr lang="es-CL" sz="1800">
                <a:solidFill>
                  <a:schemeClr val="dk1"/>
                </a:solidFill>
              </a:rPr>
              <a:t> para obtener datos async (HTTP) y </a:t>
            </a:r>
            <a:r>
              <a:rPr b="1" lang="es-CL" sz="1800">
                <a:solidFill>
                  <a:schemeClr val="dk1"/>
                </a:solidFill>
              </a:rPr>
              <a:t>Signals</a:t>
            </a:r>
            <a:r>
              <a:rPr lang="es-CL" sz="1800">
                <a:solidFill>
                  <a:schemeClr val="dk1"/>
                </a:solidFill>
              </a:rPr>
              <a:t> para manejar el estado en la aplicación.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32425" y="4063622"/>
            <a:ext cx="80961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s-CL" sz="1800"/>
              <a:t>Además de </a:t>
            </a:r>
            <a:r>
              <a:rPr b="1" lang="es-CL" sz="1800"/>
              <a:t>Observables</a:t>
            </a:r>
            <a:r>
              <a:rPr lang="es-CL" sz="1800"/>
              <a:t> Angular puede usar </a:t>
            </a:r>
            <a:r>
              <a:rPr b="1" lang="es-CL" sz="1800"/>
              <a:t>Promesas</a:t>
            </a:r>
            <a:r>
              <a:rPr lang="es-CL" sz="1800"/>
              <a:t> para datos async (HTTP).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144636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Promesas vs </a:t>
            </a:r>
            <a:r>
              <a:rPr b="1" lang="es-CL" sz="2800">
                <a:solidFill>
                  <a:srgbClr val="0070C0"/>
                </a:solidFill>
              </a:rPr>
              <a:t>O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bservables </a:t>
            </a:r>
            <a:endParaRPr/>
          </a:p>
        </p:txBody>
      </p:sp>
      <p:cxnSp>
        <p:nvCxnSpPr>
          <p:cNvPr id="164" name="Google Shape;164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27625" y="1313900"/>
            <a:ext cx="81057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rgbClr val="0A0A23"/>
                </a:solidFill>
                <a:highlight>
                  <a:srgbClr val="FFFFFF"/>
                </a:highlight>
              </a:rPr>
              <a:t>Las promesas</a:t>
            </a:r>
            <a:r>
              <a:rPr lang="es-CL" sz="1800">
                <a:solidFill>
                  <a:srgbClr val="0A0A23"/>
                </a:solidFill>
                <a:highlight>
                  <a:srgbClr val="FFFFFF"/>
                </a:highlight>
              </a:rPr>
              <a:t> son objetos que prometen tener solo </a:t>
            </a:r>
            <a:r>
              <a:rPr b="1" lang="es-CL" sz="1800">
                <a:solidFill>
                  <a:srgbClr val="0A0A23"/>
                </a:solidFill>
                <a:highlight>
                  <a:srgbClr val="FFFFFF"/>
                </a:highlight>
              </a:rPr>
              <a:t>UN valor</a:t>
            </a:r>
            <a:r>
              <a:rPr lang="es-CL" sz="1800">
                <a:solidFill>
                  <a:srgbClr val="0A0A23"/>
                </a:solidFill>
                <a:highlight>
                  <a:srgbClr val="FFFFFF"/>
                </a:highlight>
              </a:rPr>
              <a:t> en un futuro próximo, ya sea éxito o fracaso.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27625" y="2293700"/>
            <a:ext cx="81057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Un Observable</a:t>
            </a:r>
            <a:r>
              <a:rPr lang="es-CL" sz="1800">
                <a:solidFill>
                  <a:schemeClr val="dk1"/>
                </a:solidFill>
              </a:rPr>
              <a:t> son objetos que gestionan una lista de suscriptores y que permite emitir múltiples valores en un periodo determinado de tiempo.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27625" y="3311450"/>
            <a:ext cx="810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Angular moderno trabaja principalmente con </a:t>
            </a:r>
            <a:r>
              <a:rPr b="1" lang="es-CL" sz="1800">
                <a:solidFill>
                  <a:schemeClr val="dk1"/>
                </a:solidFill>
              </a:rPr>
              <a:t>Observables</a:t>
            </a:r>
            <a:r>
              <a:rPr lang="es-CL" sz="1800">
                <a:solidFill>
                  <a:schemeClr val="dk1"/>
                </a:solidFill>
              </a:rPr>
              <a:t> para HTTP.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3" name="Google Shape;173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/>
          <p:nvPr/>
        </p:nvSpPr>
        <p:spPr>
          <a:xfrm>
            <a:off x="1144603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</a:t>
            </a:r>
            <a:r>
              <a:rPr b="1" lang="es-CL" sz="2800">
                <a:solidFill>
                  <a:srgbClr val="0070C0"/>
                </a:solidFill>
              </a:rPr>
              <a:t>amos un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Servicio Web Público</a:t>
            </a:r>
            <a:endParaRPr/>
          </a:p>
        </p:txBody>
      </p:sp>
      <p:cxnSp>
        <p:nvCxnSpPr>
          <p:cNvPr id="175" name="Google Shape;175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627062" y="1287035"/>
            <a:ext cx="81676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OpenWeatherMap es un sitio web que provee información pública relacionada con el clima.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27062" y="2038396"/>
            <a:ext cx="81676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Construiremos una aplicación Angular que consuma el servicio para la ciudad de Chillán.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27061" y="2862080"/>
            <a:ext cx="8167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arquitectura de nuestra aplicación será la siguiente.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Dibujo para colorear nube | Dibujos de nubes, Plantilla de nube, Moldes de  pajaritos"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4781" y="3455665"/>
            <a:ext cx="1874391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bujo para colorear nube | Dibujos de nubes, Plantilla de nube, Moldes de  pajaritos" id="181" name="Google Shape;1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567" y="3775783"/>
            <a:ext cx="1874391" cy="132706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/>
          <p:nvPr/>
        </p:nvSpPr>
        <p:spPr>
          <a:xfrm>
            <a:off x="6675717" y="4033955"/>
            <a:ext cx="774551" cy="470143"/>
          </a:xfrm>
          <a:custGeom>
            <a:rect b="b" l="l" r="r" t="t"/>
            <a:pathLst>
              <a:path extrusionOk="0" h="470143" w="774551">
                <a:moveTo>
                  <a:pt x="57374" y="469913"/>
                </a:moveTo>
                <a:cubicBezTo>
                  <a:pt x="52593" y="468718"/>
                  <a:pt x="31403" y="468609"/>
                  <a:pt x="25101" y="459156"/>
                </a:cubicBezTo>
                <a:cubicBezTo>
                  <a:pt x="22367" y="455055"/>
                  <a:pt x="22869" y="449551"/>
                  <a:pt x="21515" y="444812"/>
                </a:cubicBezTo>
                <a:cubicBezTo>
                  <a:pt x="20477" y="441177"/>
                  <a:pt x="19619" y="437435"/>
                  <a:pt x="17929" y="434054"/>
                </a:cubicBezTo>
                <a:cubicBezTo>
                  <a:pt x="16002" y="430200"/>
                  <a:pt x="12685" y="427151"/>
                  <a:pt x="10758" y="423297"/>
                </a:cubicBezTo>
                <a:cubicBezTo>
                  <a:pt x="-4086" y="393608"/>
                  <a:pt x="20551" y="432607"/>
                  <a:pt x="0" y="401781"/>
                </a:cubicBezTo>
                <a:cubicBezTo>
                  <a:pt x="1195" y="380266"/>
                  <a:pt x="674" y="358587"/>
                  <a:pt x="3586" y="337236"/>
                </a:cubicBezTo>
                <a:cubicBezTo>
                  <a:pt x="4854" y="327939"/>
                  <a:pt x="17139" y="315551"/>
                  <a:pt x="21515" y="308549"/>
                </a:cubicBezTo>
                <a:cubicBezTo>
                  <a:pt x="24348" y="304016"/>
                  <a:pt x="26035" y="298846"/>
                  <a:pt x="28687" y="294205"/>
                </a:cubicBezTo>
                <a:cubicBezTo>
                  <a:pt x="35344" y="282555"/>
                  <a:pt x="36727" y="282579"/>
                  <a:pt x="46617" y="272690"/>
                </a:cubicBezTo>
                <a:cubicBezTo>
                  <a:pt x="53464" y="252144"/>
                  <a:pt x="45008" y="270711"/>
                  <a:pt x="64546" y="251174"/>
                </a:cubicBezTo>
                <a:cubicBezTo>
                  <a:pt x="68772" y="246948"/>
                  <a:pt x="71078" y="241057"/>
                  <a:pt x="75304" y="236831"/>
                </a:cubicBezTo>
                <a:cubicBezTo>
                  <a:pt x="79530" y="232605"/>
                  <a:pt x="85256" y="230127"/>
                  <a:pt x="89647" y="226073"/>
                </a:cubicBezTo>
                <a:cubicBezTo>
                  <a:pt x="100826" y="215754"/>
                  <a:pt x="107487" y="198611"/>
                  <a:pt x="121920" y="193800"/>
                </a:cubicBezTo>
                <a:lnTo>
                  <a:pt x="143435" y="186629"/>
                </a:lnTo>
                <a:cubicBezTo>
                  <a:pt x="164665" y="170706"/>
                  <a:pt x="152819" y="179177"/>
                  <a:pt x="179294" y="161527"/>
                </a:cubicBezTo>
                <a:lnTo>
                  <a:pt x="190052" y="154356"/>
                </a:lnTo>
                <a:cubicBezTo>
                  <a:pt x="193638" y="151966"/>
                  <a:pt x="197114" y="149401"/>
                  <a:pt x="200809" y="147184"/>
                </a:cubicBezTo>
                <a:cubicBezTo>
                  <a:pt x="206786" y="143598"/>
                  <a:pt x="212829" y="140120"/>
                  <a:pt x="218739" y="136426"/>
                </a:cubicBezTo>
                <a:cubicBezTo>
                  <a:pt x="222394" y="134142"/>
                  <a:pt x="226049" y="131840"/>
                  <a:pt x="229497" y="129254"/>
                </a:cubicBezTo>
                <a:cubicBezTo>
                  <a:pt x="235620" y="124662"/>
                  <a:pt x="241058" y="119156"/>
                  <a:pt x="247426" y="114911"/>
                </a:cubicBezTo>
                <a:cubicBezTo>
                  <a:pt x="251874" y="111946"/>
                  <a:pt x="257236" y="110572"/>
                  <a:pt x="261769" y="107739"/>
                </a:cubicBezTo>
                <a:cubicBezTo>
                  <a:pt x="266837" y="104571"/>
                  <a:pt x="270950" y="99992"/>
                  <a:pt x="276113" y="96981"/>
                </a:cubicBezTo>
                <a:cubicBezTo>
                  <a:pt x="285348" y="91594"/>
                  <a:pt x="295633" y="88139"/>
                  <a:pt x="304800" y="82638"/>
                </a:cubicBezTo>
                <a:cubicBezTo>
                  <a:pt x="310776" y="79052"/>
                  <a:pt x="316819" y="75574"/>
                  <a:pt x="322729" y="71880"/>
                </a:cubicBezTo>
                <a:cubicBezTo>
                  <a:pt x="326384" y="69596"/>
                  <a:pt x="329549" y="66459"/>
                  <a:pt x="333487" y="64709"/>
                </a:cubicBezTo>
                <a:cubicBezTo>
                  <a:pt x="340395" y="61639"/>
                  <a:pt x="348712" y="61730"/>
                  <a:pt x="355002" y="57537"/>
                </a:cubicBezTo>
                <a:cubicBezTo>
                  <a:pt x="362872" y="52290"/>
                  <a:pt x="371004" y="46226"/>
                  <a:pt x="380104" y="43193"/>
                </a:cubicBezTo>
                <a:cubicBezTo>
                  <a:pt x="385886" y="41266"/>
                  <a:pt x="392057" y="40802"/>
                  <a:pt x="398033" y="39607"/>
                </a:cubicBezTo>
                <a:cubicBezTo>
                  <a:pt x="407570" y="34839"/>
                  <a:pt x="427209" y="22427"/>
                  <a:pt x="441064" y="21678"/>
                </a:cubicBezTo>
                <a:cubicBezTo>
                  <a:pt x="480469" y="19548"/>
                  <a:pt x="519953" y="19287"/>
                  <a:pt x="559398" y="18092"/>
                </a:cubicBezTo>
                <a:cubicBezTo>
                  <a:pt x="581106" y="10855"/>
                  <a:pt x="571890" y="13015"/>
                  <a:pt x="609600" y="10920"/>
                </a:cubicBezTo>
                <a:cubicBezTo>
                  <a:pt x="639460" y="9261"/>
                  <a:pt x="669365" y="8529"/>
                  <a:pt x="699247" y="7334"/>
                </a:cubicBezTo>
                <a:cubicBezTo>
                  <a:pt x="729904" y="-2884"/>
                  <a:pt x="713261" y="-775"/>
                  <a:pt x="749449" y="3749"/>
                </a:cubicBezTo>
                <a:cubicBezTo>
                  <a:pt x="753035" y="4944"/>
                  <a:pt x="757255" y="4973"/>
                  <a:pt x="760207" y="7334"/>
                </a:cubicBezTo>
                <a:cubicBezTo>
                  <a:pt x="766526" y="12389"/>
                  <a:pt x="768603" y="21763"/>
                  <a:pt x="770965" y="28850"/>
                </a:cubicBezTo>
                <a:cubicBezTo>
                  <a:pt x="772160" y="43193"/>
                  <a:pt x="774551" y="57487"/>
                  <a:pt x="774551" y="71880"/>
                </a:cubicBezTo>
                <a:cubicBezTo>
                  <a:pt x="774551" y="93026"/>
                  <a:pt x="772662" y="107180"/>
                  <a:pt x="767379" y="125669"/>
                </a:cubicBezTo>
                <a:cubicBezTo>
                  <a:pt x="766341" y="129303"/>
                  <a:pt x="765282" y="132952"/>
                  <a:pt x="763793" y="136426"/>
                </a:cubicBezTo>
                <a:cubicBezTo>
                  <a:pt x="758332" y="149167"/>
                  <a:pt x="756653" y="150722"/>
                  <a:pt x="749449" y="161527"/>
                </a:cubicBezTo>
                <a:cubicBezTo>
                  <a:pt x="742321" y="190045"/>
                  <a:pt x="751360" y="161771"/>
                  <a:pt x="735106" y="190214"/>
                </a:cubicBezTo>
                <a:cubicBezTo>
                  <a:pt x="724291" y="209140"/>
                  <a:pt x="744696" y="207976"/>
                  <a:pt x="710005" y="229659"/>
                </a:cubicBezTo>
                <a:cubicBezTo>
                  <a:pt x="700443" y="235636"/>
                  <a:pt x="692376" y="245378"/>
                  <a:pt x="681318" y="247589"/>
                </a:cubicBezTo>
                <a:cubicBezTo>
                  <a:pt x="671071" y="249638"/>
                  <a:pt x="659181" y="251719"/>
                  <a:pt x="649045" y="254760"/>
                </a:cubicBezTo>
                <a:cubicBezTo>
                  <a:pt x="641804" y="256932"/>
                  <a:pt x="634942" y="260449"/>
                  <a:pt x="627529" y="261932"/>
                </a:cubicBezTo>
                <a:cubicBezTo>
                  <a:pt x="616916" y="264055"/>
                  <a:pt x="605986" y="264087"/>
                  <a:pt x="595257" y="265518"/>
                </a:cubicBezTo>
                <a:cubicBezTo>
                  <a:pt x="588050" y="266479"/>
                  <a:pt x="580996" y="268620"/>
                  <a:pt x="573741" y="269104"/>
                </a:cubicBezTo>
                <a:cubicBezTo>
                  <a:pt x="545093" y="271014"/>
                  <a:pt x="516367" y="271495"/>
                  <a:pt x="487680" y="272690"/>
                </a:cubicBezTo>
                <a:cubicBezTo>
                  <a:pt x="482899" y="273885"/>
                  <a:pt x="477745" y="274072"/>
                  <a:pt x="473337" y="276276"/>
                </a:cubicBezTo>
                <a:cubicBezTo>
                  <a:pt x="463251" y="281319"/>
                  <a:pt x="444649" y="294205"/>
                  <a:pt x="444649" y="294205"/>
                </a:cubicBezTo>
                <a:cubicBezTo>
                  <a:pt x="442259" y="297791"/>
                  <a:pt x="441064" y="302572"/>
                  <a:pt x="437478" y="304963"/>
                </a:cubicBezTo>
                <a:cubicBezTo>
                  <a:pt x="433377" y="307697"/>
                  <a:pt x="427542" y="306345"/>
                  <a:pt x="423134" y="308549"/>
                </a:cubicBezTo>
                <a:cubicBezTo>
                  <a:pt x="417789" y="311222"/>
                  <a:pt x="413328" y="315417"/>
                  <a:pt x="408791" y="319306"/>
                </a:cubicBezTo>
                <a:cubicBezTo>
                  <a:pt x="404941" y="322606"/>
                  <a:pt x="402036" y="326950"/>
                  <a:pt x="398033" y="330064"/>
                </a:cubicBezTo>
                <a:cubicBezTo>
                  <a:pt x="391229" y="335356"/>
                  <a:pt x="383413" y="339235"/>
                  <a:pt x="376518" y="344407"/>
                </a:cubicBezTo>
                <a:cubicBezTo>
                  <a:pt x="371737" y="347993"/>
                  <a:pt x="367037" y="351691"/>
                  <a:pt x="362174" y="355165"/>
                </a:cubicBezTo>
                <a:cubicBezTo>
                  <a:pt x="358667" y="357670"/>
                  <a:pt x="355598" y="361292"/>
                  <a:pt x="351417" y="362337"/>
                </a:cubicBezTo>
                <a:cubicBezTo>
                  <a:pt x="340916" y="364962"/>
                  <a:pt x="329902" y="364728"/>
                  <a:pt x="319144" y="365923"/>
                </a:cubicBezTo>
                <a:cubicBezTo>
                  <a:pt x="315558" y="368313"/>
                  <a:pt x="312421" y="371581"/>
                  <a:pt x="308386" y="373094"/>
                </a:cubicBezTo>
                <a:cubicBezTo>
                  <a:pt x="292023" y="379230"/>
                  <a:pt x="292969" y="373631"/>
                  <a:pt x="279699" y="380266"/>
                </a:cubicBezTo>
                <a:cubicBezTo>
                  <a:pt x="275844" y="382193"/>
                  <a:pt x="272796" y="385511"/>
                  <a:pt x="268941" y="387438"/>
                </a:cubicBezTo>
                <a:cubicBezTo>
                  <a:pt x="266404" y="388706"/>
                  <a:pt x="246018" y="396866"/>
                  <a:pt x="240254" y="398196"/>
                </a:cubicBezTo>
                <a:cubicBezTo>
                  <a:pt x="228376" y="400937"/>
                  <a:pt x="204395" y="405367"/>
                  <a:pt x="204395" y="405367"/>
                </a:cubicBezTo>
                <a:cubicBezTo>
                  <a:pt x="185488" y="417973"/>
                  <a:pt x="202450" y="408406"/>
                  <a:pt x="179294" y="416125"/>
                </a:cubicBezTo>
                <a:cubicBezTo>
                  <a:pt x="173188" y="418161"/>
                  <a:pt x="167471" y="421261"/>
                  <a:pt x="161365" y="423297"/>
                </a:cubicBezTo>
                <a:cubicBezTo>
                  <a:pt x="142761" y="429498"/>
                  <a:pt x="103137" y="432734"/>
                  <a:pt x="93233" y="434054"/>
                </a:cubicBezTo>
                <a:cubicBezTo>
                  <a:pt x="89647" y="436445"/>
                  <a:pt x="86217" y="439088"/>
                  <a:pt x="82475" y="441226"/>
                </a:cubicBezTo>
                <a:cubicBezTo>
                  <a:pt x="77834" y="443878"/>
                  <a:pt x="71554" y="444292"/>
                  <a:pt x="68132" y="448398"/>
                </a:cubicBezTo>
                <a:cubicBezTo>
                  <a:pt x="64977" y="452184"/>
                  <a:pt x="67625" y="458893"/>
                  <a:pt x="64546" y="462741"/>
                </a:cubicBezTo>
                <a:cubicBezTo>
                  <a:pt x="62185" y="465693"/>
                  <a:pt x="57298" y="464923"/>
                  <a:pt x="53788" y="466327"/>
                </a:cubicBezTo>
                <a:cubicBezTo>
                  <a:pt x="51307" y="467320"/>
                  <a:pt x="62155" y="471108"/>
                  <a:pt x="57374" y="469913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5338" y="3882502"/>
            <a:ext cx="1089418" cy="46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3249" y="4561556"/>
            <a:ext cx="1847054" cy="1665819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Resultado de imagen para angular logos" id="185" name="Google Shape;185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950690" y="4879821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/>
          <p:nvPr/>
        </p:nvSpPr>
        <p:spPr>
          <a:xfrm>
            <a:off x="3749424" y="4918650"/>
            <a:ext cx="1624500" cy="47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WeatherService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1"/>
          <p:cNvCxnSpPr>
            <a:stCxn id="186" idx="0"/>
          </p:cNvCxnSpPr>
          <p:nvPr/>
        </p:nvCxnSpPr>
        <p:spPr>
          <a:xfrm rot="-5400000">
            <a:off x="4994724" y="3727200"/>
            <a:ext cx="758400" cy="1624500"/>
          </a:xfrm>
          <a:prstGeom prst="curvedConnector2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8" name="Google Shape;188;p11"/>
          <p:cNvCxnSpPr>
            <a:stCxn id="181" idx="1"/>
          </p:cNvCxnSpPr>
          <p:nvPr/>
        </p:nvCxnSpPr>
        <p:spPr>
          <a:xfrm flipH="1">
            <a:off x="5245167" y="4439318"/>
            <a:ext cx="1346400" cy="71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9" name="Google Shape;189;p11"/>
          <p:cNvSpPr txBox="1"/>
          <p:nvPr/>
        </p:nvSpPr>
        <p:spPr>
          <a:xfrm>
            <a:off x="4324858" y="4033955"/>
            <a:ext cx="572593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5846664" y="4902637"/>
            <a:ext cx="875098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respuesta</a:t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3749424" y="5668625"/>
            <a:ext cx="1624500" cy="475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App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1"/>
          <p:cNvCxnSpPr/>
          <p:nvPr/>
        </p:nvCxnSpPr>
        <p:spPr>
          <a:xfrm rot="10800000">
            <a:off x="4204806" y="5394465"/>
            <a:ext cx="0" cy="274151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3" name="Google Shape;193;p11"/>
          <p:cNvCxnSpPr/>
          <p:nvPr/>
        </p:nvCxnSpPr>
        <p:spPr>
          <a:xfrm>
            <a:off x="4694398" y="5394465"/>
            <a:ext cx="0" cy="274151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4" name="Google Shape;194;p11"/>
          <p:cNvCxnSpPr>
            <a:stCxn id="191" idx="1"/>
          </p:cNvCxnSpPr>
          <p:nvPr/>
        </p:nvCxnSpPr>
        <p:spPr>
          <a:xfrm rot="10800000">
            <a:off x="3420324" y="5906525"/>
            <a:ext cx="32910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/>
        </p:nvSpPr>
        <p:spPr>
          <a:xfrm>
            <a:off x="1144588" y="185738"/>
            <a:ext cx="61445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un Servicio Web Público</a:t>
            </a:r>
            <a:endParaRPr/>
          </a:p>
        </p:txBody>
      </p:sp>
      <p:cxnSp>
        <p:nvCxnSpPr>
          <p:cNvPr id="201" name="Google Shape;201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627062" y="1287035"/>
            <a:ext cx="81676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Típicamente se utiliza una APIKey para acceder de manera controlada a los servicios. Por lo tanto, primero tenemos que obtener la key.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670638" y="2017647"/>
            <a:ext cx="32143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https://openweathermap.org/</a:t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5455492" y="2674169"/>
            <a:ext cx="585284" cy="26523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 de pantalla de un celular&#10;&#10;Descripción generada automáticamente" id="206" name="Google Shape;20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023" y="2356201"/>
            <a:ext cx="7618116" cy="40787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12"/>
          <p:cNvSpPr/>
          <p:nvPr/>
        </p:nvSpPr>
        <p:spPr>
          <a:xfrm>
            <a:off x="7443728" y="1951179"/>
            <a:ext cx="1242600" cy="471600"/>
          </a:xfrm>
          <a:prstGeom prst="wedgeRectCallout">
            <a:avLst>
              <a:gd fmla="val -43157" name="adj1"/>
              <a:gd fmla="val 11542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Registrar una cuenta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2" name="Google Shape;212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 txBox="1"/>
          <p:nvPr/>
        </p:nvSpPr>
        <p:spPr>
          <a:xfrm>
            <a:off x="1144588" y="185738"/>
            <a:ext cx="64427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un Servicio Web Público…</a:t>
            </a:r>
            <a:endParaRPr/>
          </a:p>
        </p:txBody>
      </p:sp>
      <p:cxnSp>
        <p:nvCxnSpPr>
          <p:cNvPr id="214" name="Google Shape;214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5" name="Google Shape;215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2347644" y="1714927"/>
            <a:ext cx="44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ng generate service services/weather</a:t>
            </a:r>
            <a:endParaRPr sz="16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08012" y="1254310"/>
            <a:ext cx="81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un nuevo servicio llamado weather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3" title="Captura de pantalla 2026-04-12 a la(s) 15.33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4225" y="2144951"/>
            <a:ext cx="5655544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19" name="Google Shape;219;p13" title="Captura de pantalla 2026-04-12 a la(s) 15.34.0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0775" y="2997600"/>
            <a:ext cx="2502450" cy="22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3"/>
          <p:cNvSpPr/>
          <p:nvPr/>
        </p:nvSpPr>
        <p:spPr>
          <a:xfrm>
            <a:off x="3589425" y="4255275"/>
            <a:ext cx="2097000" cy="69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4" title="Captura de pantalla 2026-04-12 a la(s) 16.16.15.png"/>
          <p:cNvPicPr preferRelativeResize="0"/>
          <p:nvPr/>
        </p:nvPicPr>
        <p:blipFill rotWithShape="1">
          <a:blip r:embed="rId3">
            <a:alphaModFix/>
          </a:blip>
          <a:srcRect b="54415" l="0" r="0" t="0"/>
          <a:stretch/>
        </p:blipFill>
        <p:spPr>
          <a:xfrm>
            <a:off x="526050" y="3080399"/>
            <a:ext cx="8091898" cy="109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4" title="Captura de pantalla 2026-04-12 a la(s) 16.16.15.png"/>
          <p:cNvPicPr preferRelativeResize="0"/>
          <p:nvPr/>
        </p:nvPicPr>
        <p:blipFill rotWithShape="1">
          <a:blip r:embed="rId3">
            <a:alphaModFix/>
          </a:blip>
          <a:srcRect b="15407" l="0" r="35200" t="44792"/>
          <a:stretch/>
        </p:blipFill>
        <p:spPr>
          <a:xfrm>
            <a:off x="1752363" y="5042825"/>
            <a:ext cx="5227192" cy="9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4" title="Captura de pantalla 2026-04-12 a la(s) 16.14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125" y="1715975"/>
            <a:ext cx="5153329" cy="60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28" name="Google Shape;228;p14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 txBox="1"/>
          <p:nvPr/>
        </p:nvSpPr>
        <p:spPr>
          <a:xfrm>
            <a:off x="1144588" y="185738"/>
            <a:ext cx="64427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un Servicio Web Público…</a:t>
            </a:r>
            <a:endParaRPr/>
          </a:p>
        </p:txBody>
      </p:sp>
      <p:cxnSp>
        <p:nvCxnSpPr>
          <p:cNvPr id="230" name="Google Shape;230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627062" y="1287035"/>
            <a:ext cx="8167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HttpClient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</a:t>
            </a:r>
            <a:r>
              <a:rPr i="1" lang="es-CL" sz="1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weather.ts</a:t>
            </a:r>
            <a:endParaRPr i="1" sz="18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627061" y="2610092"/>
            <a:ext cx="296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el constructor</a:t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627061" y="4589643"/>
            <a:ext cx="8167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el método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getWeather()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obtener el clima</a:t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1095625" y="2014900"/>
            <a:ext cx="4958100" cy="1968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4104175" y="5715475"/>
            <a:ext cx="2478900" cy="738000"/>
          </a:xfrm>
          <a:prstGeom prst="wedgeRectCallout">
            <a:avLst>
              <a:gd fmla="val -68371" name="adj1"/>
              <a:gd fmla="val -4344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Observable</a:t>
            </a:r>
            <a:r>
              <a:rPr lang="es-CL">
                <a:solidFill>
                  <a:schemeClr val="dk1"/>
                </a:solidFill>
              </a:rPr>
              <a:t>: resultado de obtener datos a través de protocolo </a:t>
            </a:r>
            <a:r>
              <a:rPr b="1" lang="es-CL">
                <a:solidFill>
                  <a:schemeClr val="dk1"/>
                </a:solidFill>
              </a:rPr>
              <a:t>HTTP</a:t>
            </a:r>
            <a:endParaRPr b="1"/>
          </a:p>
        </p:txBody>
      </p:sp>
      <p:sp>
        <p:nvSpPr>
          <p:cNvPr id="237" name="Google Shape;237;p14"/>
          <p:cNvSpPr/>
          <p:nvPr/>
        </p:nvSpPr>
        <p:spPr>
          <a:xfrm>
            <a:off x="7516671" y="5083559"/>
            <a:ext cx="2070000" cy="954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2700">
            <a:solidFill>
              <a:srgbClr val="FEE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7643784" y="5375792"/>
            <a:ext cx="167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city: ‘chillan’</a:t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7643784" y="5645481"/>
            <a:ext cx="14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country: ‘CL’</a:t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7643784" y="5121789"/>
            <a:ext cx="9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u="sng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Ejemplo:</a:t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742425" y="3271950"/>
            <a:ext cx="7875600" cy="5064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4471605" y="2443201"/>
            <a:ext cx="1952125" cy="601598"/>
          </a:xfrm>
          <a:prstGeom prst="wedgeRectCallout">
            <a:avLst>
              <a:gd fmla="val -44857" name="adj1"/>
              <a:gd fmla="val 11210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Obtener una apikey personal y usarla aquí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6556342" y="2670454"/>
            <a:ext cx="2176500" cy="601500"/>
          </a:xfrm>
          <a:prstGeom prst="wedgeRectCallout">
            <a:avLst>
              <a:gd fmla="val -40449" name="adj1"/>
              <a:gd fmla="val 9738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el formato de la llamada y los parámetros</a:t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227025" y="5168475"/>
            <a:ext cx="1424400" cy="1261800"/>
          </a:xfrm>
          <a:prstGeom prst="wedgeRectCallout">
            <a:avLst>
              <a:gd fmla="val 71518" name="adj1"/>
              <a:gd fmla="val -4191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Devuelve un </a:t>
            </a:r>
            <a:r>
              <a:rPr b="1" lang="es-CL">
                <a:solidFill>
                  <a:schemeClr val="dk1"/>
                </a:solidFill>
              </a:rPr>
              <a:t>Observable</a:t>
            </a:r>
            <a:r>
              <a:rPr lang="es-CL">
                <a:solidFill>
                  <a:schemeClr val="dk1"/>
                </a:solidFill>
              </a:rPr>
              <a:t> que entregará los datos </a:t>
            </a:r>
            <a:r>
              <a:rPr lang="es-CL">
                <a:solidFill>
                  <a:schemeClr val="dk1"/>
                </a:solidFill>
              </a:rPr>
              <a:t>después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5" title="Captura de pantalla 2026-04-12 a la(s) 16.39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225" y="2877941"/>
            <a:ext cx="6259474" cy="26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5" title="Captura de pantalla 2026-04-12 a la(s) 16.10.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213" y="1733588"/>
            <a:ext cx="5513581" cy="71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51" name="Google Shape;251;p15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5"/>
          <p:cNvSpPr txBox="1"/>
          <p:nvPr/>
        </p:nvSpPr>
        <p:spPr>
          <a:xfrm>
            <a:off x="1144588" y="185738"/>
            <a:ext cx="64427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un Servicio Web Público…</a:t>
            </a:r>
            <a:endParaRPr/>
          </a:p>
        </p:txBody>
      </p:sp>
      <p:cxnSp>
        <p:nvCxnSpPr>
          <p:cNvPr id="253" name="Google Shape;253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627062" y="1287035"/>
            <a:ext cx="83512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Inyectar el servicio en </a:t>
            </a:r>
            <a:r>
              <a:rPr i="1" lang="es-CL" sz="18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llamar al método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getWeather()</a:t>
            </a:r>
            <a:endParaRPr/>
          </a:p>
        </p:txBody>
      </p:sp>
      <p:cxnSp>
        <p:nvCxnSpPr>
          <p:cNvPr id="256" name="Google Shape;256;p15"/>
          <p:cNvCxnSpPr/>
          <p:nvPr/>
        </p:nvCxnSpPr>
        <p:spPr>
          <a:xfrm>
            <a:off x="1815221" y="2700962"/>
            <a:ext cx="306000" cy="0"/>
          </a:xfrm>
          <a:prstGeom prst="straightConnector1">
            <a:avLst/>
          </a:prstGeom>
          <a:noFill/>
          <a:ln cap="flat" cmpd="sng" w="57150">
            <a:solidFill>
              <a:srgbClr val="A5A5A5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15"/>
          <p:cNvSpPr/>
          <p:nvPr/>
        </p:nvSpPr>
        <p:spPr>
          <a:xfrm>
            <a:off x="1815225" y="2084551"/>
            <a:ext cx="5446800" cy="2814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1448450" y="3628438"/>
            <a:ext cx="2285400" cy="2133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1609113" y="4754475"/>
            <a:ext cx="5513700" cy="561600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6402410" y="4276879"/>
            <a:ext cx="1952100" cy="366900"/>
          </a:xfrm>
          <a:prstGeom prst="wedgeRectCallout">
            <a:avLst>
              <a:gd fmla="val -63257" name="adj1"/>
              <a:gd fmla="val -6317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Inyectar el servicio</a:t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5599150" y="5641225"/>
            <a:ext cx="2444100" cy="803400"/>
          </a:xfrm>
          <a:prstGeom prst="wedgeRectCallout">
            <a:avLst>
              <a:gd fmla="val -59982" name="adj1"/>
              <a:gd fmla="val -13961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se inicie la aplicación se </a:t>
            </a:r>
            <a:r>
              <a:rPr b="1" lang="es-CL">
                <a:solidFill>
                  <a:schemeClr val="dk1"/>
                </a:solidFill>
              </a:rPr>
              <a:t>suscribe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(consume) al </a:t>
            </a:r>
            <a:r>
              <a:rPr b="1" lang="es-CL">
                <a:solidFill>
                  <a:schemeClr val="dk1"/>
                </a:solidFill>
              </a:rPr>
              <a:t>Observable</a:t>
            </a:r>
            <a:endParaRPr b="1"/>
          </a:p>
        </p:txBody>
      </p:sp>
      <p:sp>
        <p:nvSpPr>
          <p:cNvPr id="262" name="Google Shape;262;p15"/>
          <p:cNvSpPr/>
          <p:nvPr/>
        </p:nvSpPr>
        <p:spPr>
          <a:xfrm>
            <a:off x="5357393" y="2817010"/>
            <a:ext cx="2641751" cy="716241"/>
          </a:xfrm>
          <a:prstGeom prst="wedgeRectCallout">
            <a:avLst>
              <a:gd fmla="val -105690" name="adj1"/>
              <a:gd fmla="val 7401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un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b="1" lang="es-CL">
                <a:solidFill>
                  <a:schemeClr val="dk1"/>
                </a:solidFill>
              </a:rPr>
              <a:t>Signal</a:t>
            </a: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</a:t>
            </a:r>
            <a:r>
              <a:rPr lang="es-CL">
                <a:solidFill>
                  <a:schemeClr val="dk1"/>
                </a:solidFill>
              </a:rPr>
              <a:t>reaccione a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respuesta obtenida desde </a:t>
            </a:r>
            <a:r>
              <a:rPr b="1" lang="es-CL">
                <a:solidFill>
                  <a:schemeClr val="dk1"/>
                </a:solidFill>
              </a:rPr>
              <a:t>Observable</a:t>
            </a:r>
            <a:endParaRPr b="1"/>
          </a:p>
        </p:txBody>
      </p:sp>
      <p:sp>
        <p:nvSpPr>
          <p:cNvPr id="263" name="Google Shape;263;p15"/>
          <p:cNvSpPr/>
          <p:nvPr/>
        </p:nvSpPr>
        <p:spPr>
          <a:xfrm>
            <a:off x="4709175" y="4011638"/>
            <a:ext cx="2151900" cy="1656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7026235" y="5090979"/>
            <a:ext cx="1952100" cy="366900"/>
          </a:xfrm>
          <a:prstGeom prst="wedgeRectCallout">
            <a:avLst>
              <a:gd fmla="val -84100" name="adj1"/>
              <a:gd fmla="val -9914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Datos reales</a:t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3072325" y="5739073"/>
            <a:ext cx="1952100" cy="523200"/>
          </a:xfrm>
          <a:prstGeom prst="wedgeRectCallout">
            <a:avLst>
              <a:gd fmla="val -55582" name="adj1"/>
              <a:gd fmla="val -11679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Signal</a:t>
            </a:r>
            <a:r>
              <a:rPr lang="es-CL">
                <a:solidFill>
                  <a:schemeClr val="dk1"/>
                </a:solidFill>
              </a:rPr>
              <a:t> guarda el estado de los datos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7" title="Captura de pantalla 2026-04-12 a la(s) 16.36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649" y="1755876"/>
            <a:ext cx="5068623" cy="45729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71" name="Google Shape;271;p1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7"/>
          <p:cNvSpPr txBox="1"/>
          <p:nvPr/>
        </p:nvSpPr>
        <p:spPr>
          <a:xfrm>
            <a:off x="1144588" y="185738"/>
            <a:ext cx="64427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un Servicio Web Público…</a:t>
            </a:r>
            <a:endParaRPr/>
          </a:p>
        </p:txBody>
      </p:sp>
      <p:cxnSp>
        <p:nvCxnSpPr>
          <p:cNvPr id="273" name="Google Shape;273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627062" y="1287035"/>
            <a:ext cx="8167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los datos en la consola</a:t>
            </a: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4438650" y="2990163"/>
            <a:ext cx="16575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weather.coord.lat</a:t>
            </a:r>
            <a:endParaRPr b="0"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3193450" y="3822275"/>
            <a:ext cx="2064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weather.main.humidity</a:t>
            </a:r>
            <a:endParaRPr b="0"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1771771" y="3050139"/>
            <a:ext cx="273000" cy="18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771774" y="3467104"/>
            <a:ext cx="273000" cy="18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 rot="-5400000">
            <a:off x="4317288" y="5798016"/>
            <a:ext cx="273000" cy="18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3702825" y="6019175"/>
            <a:ext cx="2697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weather.weather[0].description</a:t>
            </a:r>
            <a:endParaRPr b="0"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5407800" y="5015925"/>
            <a:ext cx="3498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http://openweathermap.org/img/w/04n.png</a:t>
            </a:r>
            <a:endParaRPr b="0"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626882" y="5288917"/>
            <a:ext cx="559500" cy="418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8" title="Captura de pantalla 2026-04-12 a la(s) 16.30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825" y="1656375"/>
            <a:ext cx="5712275" cy="4516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89" name="Google Shape;289;p18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8"/>
          <p:cNvSpPr txBox="1"/>
          <p:nvPr/>
        </p:nvSpPr>
        <p:spPr>
          <a:xfrm>
            <a:off x="1144588" y="185738"/>
            <a:ext cx="64427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un Servicio Web Público…</a:t>
            </a:r>
            <a:endParaRPr/>
          </a:p>
        </p:txBody>
      </p:sp>
      <p:cxnSp>
        <p:nvCxnSpPr>
          <p:cNvPr id="291" name="Google Shape;291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2" name="Google Shape;292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627062" y="1287035"/>
            <a:ext cx="8167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Parsear y mostrar los datos en </a:t>
            </a:r>
            <a:r>
              <a:rPr i="1" lang="es-CL" sz="18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1727225" y="2617850"/>
            <a:ext cx="1828800" cy="2079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6447468" y="1901760"/>
            <a:ext cx="2641800" cy="716100"/>
          </a:xfrm>
          <a:prstGeom prst="wedgeRectCallout">
            <a:avLst>
              <a:gd fmla="val -143827" name="adj1"/>
              <a:gd fmla="val 4799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Vista</a:t>
            </a:r>
            <a:r>
              <a:rPr lang="es-CL">
                <a:solidFill>
                  <a:schemeClr val="dk1"/>
                </a:solidFill>
              </a:rPr>
              <a:t>: muestra la información contenida en </a:t>
            </a:r>
            <a:r>
              <a:rPr b="1" lang="es-CL">
                <a:solidFill>
                  <a:schemeClr val="dk1"/>
                </a:solidFill>
              </a:rPr>
              <a:t>Signal</a:t>
            </a:r>
            <a:r>
              <a:rPr lang="es-CL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9" title="Captura de pantalla 2026-04-12 a la(s) 16.29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338" y="1808778"/>
            <a:ext cx="7785098" cy="399518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301" name="Google Shape;301;p1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1144588" y="185738"/>
            <a:ext cx="64427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un Servicio Web Público…</a:t>
            </a:r>
            <a:endParaRPr/>
          </a:p>
        </p:txBody>
      </p:sp>
      <p:cxnSp>
        <p:nvCxnSpPr>
          <p:cNvPr id="303" name="Google Shape;303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627062" y="1287035"/>
            <a:ext cx="8167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Visualización final</a:t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818350" y="4455225"/>
            <a:ext cx="2548500" cy="13488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3de5d94f4b3_0_29" title="ChatGPT Image 12 abr 2026, 05_13_20 p.m..png"/>
          <p:cNvPicPr preferRelativeResize="0"/>
          <p:nvPr/>
        </p:nvPicPr>
        <p:blipFill rotWithShape="1">
          <a:blip r:embed="rId3">
            <a:alphaModFix/>
          </a:blip>
          <a:srcRect b="20500" l="0" r="0" t="19080"/>
          <a:stretch/>
        </p:blipFill>
        <p:spPr>
          <a:xfrm>
            <a:off x="1589900" y="1269999"/>
            <a:ext cx="5964227" cy="2402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12" name="Google Shape;312;g3de5d94f4b3_0_29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de5d94f4b3_0_29"/>
          <p:cNvSpPr txBox="1"/>
          <p:nvPr/>
        </p:nvSpPr>
        <p:spPr>
          <a:xfrm>
            <a:off x="1144588" y="185738"/>
            <a:ext cx="64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Resumen</a:t>
            </a:r>
            <a:endParaRPr/>
          </a:p>
        </p:txBody>
      </p:sp>
      <p:cxnSp>
        <p:nvCxnSpPr>
          <p:cNvPr id="314" name="Google Shape;314;g3de5d94f4b3_0_2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g3de5d94f4b3_0_2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16" name="Google Shape;316;g3de5d94f4b3_0_29"/>
          <p:cNvSpPr/>
          <p:nvPr/>
        </p:nvSpPr>
        <p:spPr>
          <a:xfrm>
            <a:off x="413988" y="3983813"/>
            <a:ext cx="8316000" cy="1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Cuando llamamos a un servicio HTTP, Angular nos devuelve un Observable.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El observable nos entrega los datos y nosotros los guardamos en un Signal.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Mostramos el Signal en la vista.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