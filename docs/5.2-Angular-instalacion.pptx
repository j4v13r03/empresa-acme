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7010400" cy="9296400"/>
  <p:embeddedFontLst>
    <p:embeddedFont>
      <p:font typeface="Arimo"/>
      <p:regular r:id="rId28"/>
      <p:bold r:id="rId29"/>
      <p:italic r:id="rId30"/>
      <p:boldItalic r:id="rId31"/>
    </p:embeddedFont>
    <p:embeddedFont>
      <p:font typeface="Helvetica Neue"/>
      <p:regular r:id="rId32"/>
      <p:bold r:id="rId33"/>
      <p:italic r:id="rId34"/>
      <p:boldItalic r:id="rId35"/>
    </p:embeddedFont>
    <p:embeddedFont>
      <p:font typeface="Arial Black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gAibdEYTn3CmxRQRS0v8a1BSV4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im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-boldItalic.fntdata"/><Relationship Id="rId30" Type="http://schemas.openxmlformats.org/officeDocument/2006/relationships/font" Target="fonts/Arimo-italic.fntdata"/><Relationship Id="rId11" Type="http://schemas.openxmlformats.org/officeDocument/2006/relationships/slide" Target="slides/slide6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ArialBlack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¿</a:t>
            </a:r>
            <a:r>
              <a:rPr lang="es-CL"/>
              <a:t>Dónde está el contenido que vemos en pantalla?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cambiar signal</a:t>
            </a:r>
            <a:endParaRPr/>
          </a:p>
        </p:txBody>
      </p:sp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657164ca5_0_2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9657164ca5_0_2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5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32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32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jp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2.gif"/><Relationship Id="rId5" Type="http://schemas.openxmlformats.org/officeDocument/2006/relationships/image" Target="../media/image24.png"/><Relationship Id="rId6" Type="http://schemas.openxmlformats.org/officeDocument/2006/relationships/image" Target="../media/image34.png"/><Relationship Id="rId7" Type="http://schemas.openxmlformats.org/officeDocument/2006/relationships/hyperlink" Target="https://marketplace.visualstudio.com/items?itemName=johnpapa.Angular2" TargetMode="External"/><Relationship Id="rId8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38.gif"/><Relationship Id="rId5" Type="http://schemas.openxmlformats.org/officeDocument/2006/relationships/image" Target="../media/image30.gif"/><Relationship Id="rId6" Type="http://schemas.openxmlformats.org/officeDocument/2006/relationships/hyperlink" Target="https://angular.io/guide/language-service" TargetMode="External"/><Relationship Id="rId7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33.png"/><Relationship Id="rId5" Type="http://schemas.openxmlformats.org/officeDocument/2006/relationships/image" Target="../media/image37.gif"/><Relationship Id="rId6" Type="http://schemas.openxmlformats.org/officeDocument/2006/relationships/hyperlink" Target="https://marketplace.visualstudio.com/items?itemName=jakethashi.vscode-angular2-emme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5" Type="http://schemas.openxmlformats.org/officeDocument/2006/relationships/image" Target="../media/image39.gif"/><Relationship Id="rId6" Type="http://schemas.openxmlformats.org/officeDocument/2006/relationships/hyperlink" Target="https://marketplace.visualstudio.com/items?itemName=thekalinga.bootstrap4-vs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Configuración del Entorno de Desarrollo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056152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945074" y="1859571"/>
            <a:ext cx="8130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/>
          </a:p>
        </p:txBody>
      </p:sp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542319" y="2837842"/>
            <a:ext cx="605936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INSTALACIÓN DEL FRAMEWORK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144588" y="185738"/>
            <a:ext cx="53990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Herramientas de desarrollador</a:t>
            </a:r>
            <a:endParaRPr/>
          </a:p>
        </p:txBody>
      </p:sp>
      <p:cxnSp>
        <p:nvCxnSpPr>
          <p:cNvPr id="111" name="Google Shape;111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38200" y="1212850"/>
            <a:ext cx="60593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recomienda el uso de </a:t>
            </a:r>
            <a:r>
              <a:rPr b="1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Google Chrome 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sus herramientas de desarrollador.</a:t>
            </a:r>
            <a:endParaRPr/>
          </a:p>
        </p:txBody>
      </p:sp>
      <p:pic>
        <p:nvPicPr>
          <p:cNvPr descr="Resultado de imagen para google chrome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20984" r="20984" t="0"/>
          <a:stretch/>
        </p:blipFill>
        <p:spPr>
          <a:xfrm>
            <a:off x="7007540" y="1267051"/>
            <a:ext cx="1298260" cy="125924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1940443" y="2633413"/>
            <a:ext cx="4834721" cy="1835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7348" y="2293913"/>
            <a:ext cx="5060942" cy="38084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3"/>
          <p:cNvSpPr/>
          <p:nvPr/>
        </p:nvSpPr>
        <p:spPr>
          <a:xfrm>
            <a:off x="2598317" y="1858964"/>
            <a:ext cx="35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https://www.google.com/chrome/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nodejs" id="123" name="Google Shape;1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8545" y="1115883"/>
            <a:ext cx="1026903" cy="102793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1144588" y="185738"/>
            <a:ext cx="27206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NodeJS y NPM</a:t>
            </a:r>
            <a:endParaRPr/>
          </a:p>
        </p:txBody>
      </p:sp>
      <p:cxnSp>
        <p:nvCxnSpPr>
          <p:cNvPr id="125" name="Google Shape;125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4"/>
          <p:cNvSpPr/>
          <p:nvPr/>
        </p:nvSpPr>
        <p:spPr>
          <a:xfrm>
            <a:off x="838199" y="1212850"/>
            <a:ext cx="46517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JS contiene todo lo necesario para el funcionamiento de Angular.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1219656" y="1890520"/>
            <a:ext cx="2326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https://nodejs.org/es</a:t>
            </a:r>
            <a:endParaRPr i="1"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npm logo" id="129" name="Google Shape;129;p4"/>
          <p:cNvPicPr preferRelativeResize="0"/>
          <p:nvPr/>
        </p:nvPicPr>
        <p:blipFill rotWithShape="1">
          <a:blip r:embed="rId5">
            <a:alphaModFix/>
          </a:blip>
          <a:srcRect b="28583" l="0" r="0" t="28250"/>
          <a:stretch/>
        </p:blipFill>
        <p:spPr>
          <a:xfrm>
            <a:off x="7325955" y="1218611"/>
            <a:ext cx="1285840" cy="5550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838199" y="2570076"/>
            <a:ext cx="263221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framework Javascript.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 del lado del servidor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basa en eventos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asíncrono.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4" title="Captura de pantalla 2026-03-20 110812.png"/>
          <p:cNvPicPr preferRelativeResize="0"/>
          <p:nvPr/>
        </p:nvPicPr>
        <p:blipFill rotWithShape="1">
          <a:blip r:embed="rId6">
            <a:alphaModFix/>
          </a:blip>
          <a:srcRect b="-25550" l="3972" r="20522" t="-10209"/>
          <a:stretch/>
        </p:blipFill>
        <p:spPr>
          <a:xfrm>
            <a:off x="3715214" y="2199946"/>
            <a:ext cx="5116660" cy="410439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1144588" y="185738"/>
            <a:ext cx="30796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NodeJS y NPM…</a:t>
            </a:r>
            <a:endParaRPr/>
          </a:p>
        </p:txBody>
      </p:sp>
      <p:cxnSp>
        <p:nvCxnSpPr>
          <p:cNvPr id="138" name="Google Shape;138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5"/>
          <p:cNvSpPr/>
          <p:nvPr/>
        </p:nvSpPr>
        <p:spPr>
          <a:xfrm>
            <a:off x="838199" y="1162499"/>
            <a:ext cx="80698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Proceso de instalación de NodeJS y NPM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141" name="Google Shape;141;p5" title="Captura de pantalla 2026-03-19 a la(s) 23.40.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088" y="1778326"/>
            <a:ext cx="8069827" cy="4204359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1144588" y="185738"/>
            <a:ext cx="6734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Angular CLI - Command Line Interface</a:t>
            </a:r>
            <a:endParaRPr/>
          </a:p>
        </p:txBody>
      </p:sp>
      <p:cxnSp>
        <p:nvCxnSpPr>
          <p:cNvPr id="148" name="Google Shape;148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6"/>
          <p:cNvSpPr/>
          <p:nvPr/>
        </p:nvSpPr>
        <p:spPr>
          <a:xfrm>
            <a:off x="838200" y="1212850"/>
            <a:ext cx="7959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Angular CLI facilita la construcción de un proyecto Angular. 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151" name="Google Shape;1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6694" y="1676755"/>
            <a:ext cx="2730322" cy="633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 rotWithShape="1">
          <a:blip r:embed="rId5">
            <a:alphaModFix/>
          </a:blip>
          <a:srcRect b="41599" l="0" r="74569" t="20987"/>
          <a:stretch/>
        </p:blipFill>
        <p:spPr>
          <a:xfrm>
            <a:off x="1206500" y="2940441"/>
            <a:ext cx="232511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/>
          <p:cNvPicPr preferRelativeResize="0"/>
          <p:nvPr/>
        </p:nvPicPr>
        <p:blipFill rotWithShape="1">
          <a:blip r:embed="rId5">
            <a:alphaModFix/>
          </a:blip>
          <a:srcRect b="0" l="0" r="74569" t="80473"/>
          <a:stretch/>
        </p:blipFill>
        <p:spPr>
          <a:xfrm>
            <a:off x="1206500" y="4583028"/>
            <a:ext cx="2325115" cy="100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6523" y="3285726"/>
            <a:ext cx="3262600" cy="227581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6"/>
          <p:cNvSpPr/>
          <p:nvPr/>
        </p:nvSpPr>
        <p:spPr>
          <a:xfrm>
            <a:off x="1206500" y="2940441"/>
            <a:ext cx="2325000" cy="2647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34899" y="2403439"/>
            <a:ext cx="795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Abrir ventana de consola en modo administrador. 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 rot="10800000">
            <a:off x="1940439" y="5165007"/>
            <a:ext cx="244800" cy="122400"/>
          </a:xfrm>
          <a:prstGeom prst="chevron">
            <a:avLst>
              <a:gd fmla="val 50000" name="adj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6"/>
          <p:cNvCxnSpPr>
            <a:endCxn id="154" idx="1"/>
          </p:cNvCxnSpPr>
          <p:nvPr/>
        </p:nvCxnSpPr>
        <p:spPr>
          <a:xfrm flipH="1" rot="10800000">
            <a:off x="2368923" y="4423631"/>
            <a:ext cx="2247600" cy="909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1144588" y="185738"/>
            <a:ext cx="70326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Angular CLI - Command Line Interface…</a:t>
            </a:r>
            <a:endParaRPr/>
          </a:p>
        </p:txBody>
      </p:sp>
      <p:cxnSp>
        <p:nvCxnSpPr>
          <p:cNvPr id="165" name="Google Shape;165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38200" y="1287035"/>
            <a:ext cx="7956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Instalar Angular cli en modo global (-g)</a:t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568410" y="1715429"/>
            <a:ext cx="36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install -g @angular/cli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4">
            <a:alphaModFix/>
          </a:blip>
          <a:srcRect b="46146" l="11233" r="41760" t="20254"/>
          <a:stretch/>
        </p:blipFill>
        <p:spPr>
          <a:xfrm>
            <a:off x="777662" y="2282171"/>
            <a:ext cx="7185389" cy="28889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7"/>
          <p:cNvCxnSpPr/>
          <p:nvPr/>
        </p:nvCxnSpPr>
        <p:spPr>
          <a:xfrm>
            <a:off x="2325087" y="2974060"/>
            <a:ext cx="1958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1542319" y="2837842"/>
            <a:ext cx="605936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CREACIÓN DE UN PROYECTO ANGULAR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 txBox="1"/>
          <p:nvPr/>
        </p:nvSpPr>
        <p:spPr>
          <a:xfrm>
            <a:off x="1144588" y="185738"/>
            <a:ext cx="52774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Ubicar el directorio de trabajo</a:t>
            </a:r>
            <a:endParaRPr/>
          </a:p>
        </p:txBody>
      </p:sp>
      <p:cxnSp>
        <p:nvCxnSpPr>
          <p:cNvPr id="184" name="Google Shape;184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838200" y="1212850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Cambiarse a la carpeta en la cual crearemos nuestro proyecto.</a:t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838200" y="1582175"/>
            <a:ext cx="6840000" cy="19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la consola de Windows usar: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cd ..  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salir de una carpeta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cd \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Para ir a la raíz del directorio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cd &lt;nombre carpeta&gt;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entrar en una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mkdir</a:t>
            </a:r>
            <a:r>
              <a:rPr lang="es-CL" sz="18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:  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Crear directorio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&lt;unidad&gt;: 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Cambiar la unidad de trabajo</a:t>
            </a:r>
            <a:endParaRPr/>
          </a:p>
        </p:txBody>
      </p:sp>
      <p:pic>
        <p:nvPicPr>
          <p:cNvPr id="188" name="Google Shape;1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775" y="1792429"/>
            <a:ext cx="1777410" cy="36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 title="Captura de pantalla 2026-03-22 2051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7250" y="3429000"/>
            <a:ext cx="6369505" cy="265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4" name="Google Shape;194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 txBox="1"/>
          <p:nvPr/>
        </p:nvSpPr>
        <p:spPr>
          <a:xfrm>
            <a:off x="1144588" y="185738"/>
            <a:ext cx="60030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el proyecto con Angular CLI</a:t>
            </a:r>
            <a:endParaRPr/>
          </a:p>
        </p:txBody>
      </p:sp>
      <p:cxnSp>
        <p:nvCxnSpPr>
          <p:cNvPr id="196" name="Google Shape;196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2724108" y="1559154"/>
            <a:ext cx="28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ng new mi-primera-app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847198" y="1225825"/>
            <a:ext cx="726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Ejecutar el comando de creación del proyecto:</a:t>
            </a:r>
            <a:endParaRPr/>
          </a:p>
        </p:txBody>
      </p:sp>
      <p:cxnSp>
        <p:nvCxnSpPr>
          <p:cNvPr id="200" name="Google Shape;200;p11"/>
          <p:cNvCxnSpPr/>
          <p:nvPr/>
        </p:nvCxnSpPr>
        <p:spPr>
          <a:xfrm>
            <a:off x="1896013" y="4568814"/>
            <a:ext cx="1346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ot"/>
            <a:miter lim="800000"/>
            <a:headEnd len="sm" w="sm" type="none"/>
            <a:tailEnd len="sm" w="sm" type="none"/>
          </a:ln>
        </p:spPr>
      </p:cxnSp>
      <p:pic>
        <p:nvPicPr>
          <p:cNvPr id="201" name="Google Shape;201;p11" title="Captura de pantalla 2026-03-22 205338.png"/>
          <p:cNvPicPr preferRelativeResize="0"/>
          <p:nvPr/>
        </p:nvPicPr>
        <p:blipFill rotWithShape="1">
          <a:blip r:embed="rId4">
            <a:alphaModFix/>
          </a:blip>
          <a:srcRect b="0" l="527" r="0" t="0"/>
          <a:stretch/>
        </p:blipFill>
        <p:spPr>
          <a:xfrm>
            <a:off x="1203325" y="1948675"/>
            <a:ext cx="6923651" cy="343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1" title="Captura de pantalla 2026-03-22 20565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6975" y="5355825"/>
            <a:ext cx="6933175" cy="114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2"/>
          <p:cNvSpPr txBox="1"/>
          <p:nvPr/>
        </p:nvSpPr>
        <p:spPr>
          <a:xfrm>
            <a:off x="1144588" y="185738"/>
            <a:ext cx="42402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Estructura del Proyecto</a:t>
            </a:r>
            <a:endParaRPr/>
          </a:p>
        </p:txBody>
      </p:sp>
      <p:cxnSp>
        <p:nvCxnSpPr>
          <p:cNvPr id="209" name="Google Shape;209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0" name="Google Shape;210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838200" y="1212850"/>
            <a:ext cx="7526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observamos el contenido de la carpeta generada, encontraremos:</a:t>
            </a:r>
            <a:endParaRPr/>
          </a:p>
        </p:txBody>
      </p:sp>
      <p:pic>
        <p:nvPicPr>
          <p:cNvPr id="212" name="Google Shape;212;p12" title="Captura de pantalla 2026-03-22 211214.png"/>
          <p:cNvPicPr preferRelativeResize="0"/>
          <p:nvPr/>
        </p:nvPicPr>
        <p:blipFill rotWithShape="1">
          <a:blip r:embed="rId4">
            <a:alphaModFix/>
          </a:blip>
          <a:srcRect b="0" l="0" r="0" t="2018"/>
          <a:stretch/>
        </p:blipFill>
        <p:spPr>
          <a:xfrm>
            <a:off x="3192950" y="1947325"/>
            <a:ext cx="2758125" cy="428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3" title="Captura de pantalla 2026-03-22 2117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050" y="2447369"/>
            <a:ext cx="7210425" cy="3204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18" name="Google Shape;218;p13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3"/>
          <p:cNvSpPr txBox="1"/>
          <p:nvPr/>
        </p:nvSpPr>
        <p:spPr>
          <a:xfrm>
            <a:off x="1144588" y="185738"/>
            <a:ext cx="33618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Lanzar el proyecto</a:t>
            </a:r>
            <a:endParaRPr/>
          </a:p>
        </p:txBody>
      </p:sp>
      <p:cxnSp>
        <p:nvCxnSpPr>
          <p:cNvPr id="220" name="Google Shape;220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838200" y="1212850"/>
            <a:ext cx="7834133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Nos ubicamos dentro de la carpeta de nuestro proyecto creado.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iniciar el proyecto utilizamos:</a:t>
            </a:r>
            <a:endParaRPr/>
          </a:p>
        </p:txBody>
      </p:sp>
      <p:sp>
        <p:nvSpPr>
          <p:cNvPr id="223" name="Google Shape;223;p13"/>
          <p:cNvSpPr txBox="1"/>
          <p:nvPr/>
        </p:nvSpPr>
        <p:spPr>
          <a:xfrm>
            <a:off x="1243304" y="1975500"/>
            <a:ext cx="44358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-o abre automáticamente el navegador</a:t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4853492" y="1632787"/>
            <a:ext cx="157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ng serve -o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5" name="Google Shape;225;p13"/>
          <p:cNvCxnSpPr/>
          <p:nvPr/>
        </p:nvCxnSpPr>
        <p:spPr>
          <a:xfrm>
            <a:off x="4620321" y="3339282"/>
            <a:ext cx="795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" name="Google Shape;226;p13"/>
          <p:cNvCxnSpPr/>
          <p:nvPr/>
        </p:nvCxnSpPr>
        <p:spPr>
          <a:xfrm>
            <a:off x="1939097" y="4960812"/>
            <a:ext cx="1860300" cy="2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1" name="Google Shape;231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4"/>
          <p:cNvSpPr txBox="1"/>
          <p:nvPr/>
        </p:nvSpPr>
        <p:spPr>
          <a:xfrm>
            <a:off x="1144588" y="185738"/>
            <a:ext cx="38731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Visualizar el proyecto</a:t>
            </a:r>
            <a:endParaRPr/>
          </a:p>
        </p:txBody>
      </p:sp>
      <p:cxnSp>
        <p:nvCxnSpPr>
          <p:cNvPr id="233" name="Google Shape;233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838200" y="1212850"/>
            <a:ext cx="506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defecto el proyecto es visualizado en:</a:t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5898298" y="1223444"/>
            <a:ext cx="23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http://localhost:4200/</a:t>
            </a:r>
            <a:endParaRPr/>
          </a:p>
        </p:txBody>
      </p:sp>
      <p:pic>
        <p:nvPicPr>
          <p:cNvPr id="237" name="Google Shape;237;p14" title="Captura de pantalla 2026-03-22 2119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888" y="1957349"/>
            <a:ext cx="7476219" cy="38881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2" name="Google Shape;242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5"/>
          <p:cNvSpPr txBox="1"/>
          <p:nvPr/>
        </p:nvSpPr>
        <p:spPr>
          <a:xfrm>
            <a:off x="1144588" y="185738"/>
            <a:ext cx="67185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Resumen – Crear y Lanzar el Proyecto</a:t>
            </a:r>
            <a:endParaRPr/>
          </a:p>
        </p:txBody>
      </p:sp>
      <p:cxnSp>
        <p:nvCxnSpPr>
          <p:cNvPr id="244" name="Google Shape;244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" name="Google Shape;245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5950683" y="1103438"/>
            <a:ext cx="2844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ng new mi-primera-app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847199" y="1103450"/>
            <a:ext cx="568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Ejecutar el comando de creación del proyecto:</a:t>
            </a:r>
            <a:endParaRPr/>
          </a:p>
        </p:txBody>
      </p:sp>
      <p:pic>
        <p:nvPicPr>
          <p:cNvPr id="248" name="Google Shape;248;p15"/>
          <p:cNvPicPr preferRelativeResize="0"/>
          <p:nvPr/>
        </p:nvPicPr>
        <p:blipFill rotWithShape="1">
          <a:blip r:embed="rId4">
            <a:alphaModFix/>
          </a:blip>
          <a:srcRect b="0" l="806" r="1505" t="0"/>
          <a:stretch/>
        </p:blipFill>
        <p:spPr>
          <a:xfrm>
            <a:off x="747062" y="1846665"/>
            <a:ext cx="7894672" cy="45458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9" name="Google Shape;249;p15"/>
          <p:cNvSpPr/>
          <p:nvPr/>
        </p:nvSpPr>
        <p:spPr>
          <a:xfrm>
            <a:off x="838200" y="1394309"/>
            <a:ext cx="410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iniciar el proyecto utilizamos:</a:t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4694398" y="1407295"/>
            <a:ext cx="15776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ng serve -o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5" name="Google Shape;255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1542319" y="2837842"/>
            <a:ext cx="605936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INSTALACIÓN DEL EDITOR DE DESARROLLO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2" name="Google Shape;262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7"/>
          <p:cNvSpPr txBox="1"/>
          <p:nvPr/>
        </p:nvSpPr>
        <p:spPr>
          <a:xfrm>
            <a:off x="1144588" y="185738"/>
            <a:ext cx="48301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Visual Studio Code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838200" y="1212850"/>
            <a:ext cx="4345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Descargar Visual Studio Code desde:</a:t>
            </a:r>
            <a:endParaRPr/>
          </a:p>
        </p:txBody>
      </p:sp>
      <p:pic>
        <p:nvPicPr>
          <p:cNvPr descr="Resultado de imagen para visual studio code logo" id="267" name="Google Shape;2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9014" y="1158924"/>
            <a:ext cx="1119198" cy="1168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7425" y="2157146"/>
            <a:ext cx="5549143" cy="41542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9" name="Google Shape;269;p17"/>
          <p:cNvSpPr/>
          <p:nvPr/>
        </p:nvSpPr>
        <p:spPr>
          <a:xfrm>
            <a:off x="3103224" y="1561883"/>
            <a:ext cx="32111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https://code.visualstudio.com/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74" name="Google Shape;274;g39657164ca5_0_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9657164ca5_0_2"/>
          <p:cNvSpPr txBox="1"/>
          <p:nvPr/>
        </p:nvSpPr>
        <p:spPr>
          <a:xfrm>
            <a:off x="1144588" y="185738"/>
            <a:ext cx="633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Abrir el proyecto creado en VSCode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g39657164ca5_0_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g39657164ca5_0_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9657164ca5_0_2"/>
          <p:cNvSpPr/>
          <p:nvPr/>
        </p:nvSpPr>
        <p:spPr>
          <a:xfrm>
            <a:off x="838200" y="1212850"/>
            <a:ext cx="78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Abrir la carpeta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9657164ca5_0_2"/>
          <p:cNvSpPr txBox="1"/>
          <p:nvPr/>
        </p:nvSpPr>
        <p:spPr>
          <a:xfrm>
            <a:off x="533062" y="3221113"/>
            <a:ext cx="116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Extensiones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9657164ca5_0_2"/>
          <p:cNvSpPr txBox="1"/>
          <p:nvPr/>
        </p:nvSpPr>
        <p:spPr>
          <a:xfrm>
            <a:off x="574888" y="2914542"/>
            <a:ext cx="11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Depuración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9657164ca5_0_2"/>
          <p:cNvSpPr txBox="1"/>
          <p:nvPr/>
        </p:nvSpPr>
        <p:spPr>
          <a:xfrm>
            <a:off x="49676" y="2590990"/>
            <a:ext cx="178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Control de cambios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9657164ca5_0_2"/>
          <p:cNvSpPr txBox="1"/>
          <p:nvPr/>
        </p:nvSpPr>
        <p:spPr>
          <a:xfrm>
            <a:off x="871974" y="2289701"/>
            <a:ext cx="74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Buscar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9657164ca5_0_2"/>
          <p:cNvSpPr txBox="1"/>
          <p:nvPr/>
        </p:nvSpPr>
        <p:spPr>
          <a:xfrm>
            <a:off x="626500" y="1996535"/>
            <a:ext cx="11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Explorador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9657164ca5_0_2"/>
          <p:cNvSpPr txBox="1"/>
          <p:nvPr/>
        </p:nvSpPr>
        <p:spPr>
          <a:xfrm>
            <a:off x="357463" y="5909609"/>
            <a:ext cx="135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g39657164ca5_0_2" title="Captura de pantalla 2026-03-20 a la(s) 11.44.42.png"/>
          <p:cNvPicPr preferRelativeResize="0"/>
          <p:nvPr/>
        </p:nvPicPr>
        <p:blipFill rotWithShape="1">
          <a:blip r:embed="rId4">
            <a:alphaModFix/>
          </a:blip>
          <a:srcRect b="0" l="0" r="2638" t="0"/>
          <a:stretch/>
        </p:blipFill>
        <p:spPr>
          <a:xfrm>
            <a:off x="1543443" y="1777832"/>
            <a:ext cx="6852470" cy="45638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0" name="Google Shape;290;p2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 txBox="1"/>
          <p:nvPr/>
        </p:nvSpPr>
        <p:spPr>
          <a:xfrm>
            <a:off x="1144588" y="185738"/>
            <a:ext cx="36984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Consola de VS Code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2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2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838200" y="1212850"/>
            <a:ext cx="789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Ejecutar el IDE como administrador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Abrir la consola de Visual Studio Code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5" name="Google Shape;295;p20"/>
          <p:cNvPicPr preferRelativeResize="0"/>
          <p:nvPr/>
        </p:nvPicPr>
        <p:blipFill rotWithShape="1">
          <a:blip r:embed="rId4">
            <a:alphaModFix/>
          </a:blip>
          <a:srcRect b="33787" l="0" r="55860" t="0"/>
          <a:stretch/>
        </p:blipFill>
        <p:spPr>
          <a:xfrm>
            <a:off x="1206500" y="2005012"/>
            <a:ext cx="337566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500" y="5016929"/>
            <a:ext cx="6301105" cy="89598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0"/>
          <p:cNvSpPr/>
          <p:nvPr/>
        </p:nvSpPr>
        <p:spPr>
          <a:xfrm rot="5400000">
            <a:off x="4755893" y="4514819"/>
            <a:ext cx="427551" cy="412727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2430035" y="2005012"/>
            <a:ext cx="367194" cy="20818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2459866" y="4434457"/>
            <a:ext cx="2112133" cy="20818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04" name="Google Shape;304;p2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2"/>
          <p:cNvSpPr txBox="1"/>
          <p:nvPr/>
        </p:nvSpPr>
        <p:spPr>
          <a:xfrm>
            <a:off x="1144588" y="185738"/>
            <a:ext cx="60179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Extensiones para VSCode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2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7" name="Google Shape;307;p2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308" name="Google Shape;3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821" y="3327151"/>
            <a:ext cx="5263363" cy="307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/>
          <p:nvPr/>
        </p:nvSpPr>
        <p:spPr>
          <a:xfrm>
            <a:off x="1141642" y="2343074"/>
            <a:ext cx="7526337" cy="492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Agrega tozos de código tipo tan solo tipeando palabras clave</a:t>
            </a:r>
            <a:r>
              <a:rPr b="0" i="0" lang="es-CL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Funciona tanto para Typescript como para HTML.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1138521" y="3080930"/>
            <a:ext cx="1332876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22"/>
          <p:cNvPicPr preferRelativeResize="0"/>
          <p:nvPr/>
        </p:nvPicPr>
        <p:blipFill rotWithShape="1">
          <a:blip r:embed="rId5">
            <a:alphaModFix/>
          </a:blip>
          <a:srcRect b="0" l="0" r="56818" t="0"/>
          <a:stretch/>
        </p:blipFill>
        <p:spPr>
          <a:xfrm>
            <a:off x="1180434" y="4883127"/>
            <a:ext cx="1188402" cy="1526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9806" y="3411106"/>
            <a:ext cx="1667423" cy="142537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2"/>
          <p:cNvSpPr/>
          <p:nvPr/>
        </p:nvSpPr>
        <p:spPr>
          <a:xfrm>
            <a:off x="2613632" y="2939408"/>
            <a:ext cx="63777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https://marketplace.visualstudio.com/items?itemName=johnpapa.Angular2</a:t>
            </a:r>
            <a:endParaRPr i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8521" y="1074434"/>
            <a:ext cx="6017995" cy="1165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9" name="Google Shape;319;p2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3"/>
          <p:cNvSpPr txBox="1"/>
          <p:nvPr/>
        </p:nvSpPr>
        <p:spPr>
          <a:xfrm>
            <a:off x="1144588" y="185738"/>
            <a:ext cx="60179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Extensiones para VSCode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2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p2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23" name="Google Shape;323;p23"/>
          <p:cNvSpPr/>
          <p:nvPr/>
        </p:nvSpPr>
        <p:spPr>
          <a:xfrm>
            <a:off x="1027113" y="2300218"/>
            <a:ext cx="7827782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Permite completaciones, detección de errores, sugerencias y navegación dentro de tus plantillas de angular, ya sean externas en un archivo HTML o incrustadas en anotaciones / decoradores en una cadena.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1274450" y="3306602"/>
            <a:ext cx="1332876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7254" y="3663928"/>
            <a:ext cx="4572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7254" y="4430904"/>
            <a:ext cx="45720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/>
          <p:nvPr/>
        </p:nvSpPr>
        <p:spPr>
          <a:xfrm>
            <a:off x="5278318" y="2807739"/>
            <a:ext cx="33968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https://angular.io/guide/language-service</a:t>
            </a:r>
            <a:endParaRPr i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4589" y="1047927"/>
            <a:ext cx="5263382" cy="1102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33" name="Google Shape;333;p2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4"/>
          <p:cNvSpPr txBox="1"/>
          <p:nvPr/>
        </p:nvSpPr>
        <p:spPr>
          <a:xfrm>
            <a:off x="1144588" y="185738"/>
            <a:ext cx="60179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Extensiones para VSCode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2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6" name="Google Shape;336;p2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37" name="Google Shape;337;p24"/>
          <p:cNvSpPr/>
          <p:nvPr/>
        </p:nvSpPr>
        <p:spPr>
          <a:xfrm>
            <a:off x="691994" y="1160361"/>
            <a:ext cx="4063603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Permite usar abreviaciones del tipo Emmet que al presionar la tecla tab se transforman en código HTML.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654161" y="2755811"/>
            <a:ext cx="1332876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8186" y="1153225"/>
            <a:ext cx="3879913" cy="868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captura de pantalla&#10;&#10;Descripción generada automáticamente" id="340" name="Google Shape;34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1282" y="3126314"/>
            <a:ext cx="6350650" cy="297661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1" name="Google Shape;341;p24"/>
          <p:cNvSpPr/>
          <p:nvPr/>
        </p:nvSpPr>
        <p:spPr>
          <a:xfrm>
            <a:off x="609462" y="2226114"/>
            <a:ext cx="81233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https://marketplace.visualstudio.com/items?itemName=jakethashi.vscode-angular2-emmet</a:t>
            </a:r>
            <a:endParaRPr i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46" name="Google Shape;346;p2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 txBox="1"/>
          <p:nvPr/>
        </p:nvSpPr>
        <p:spPr>
          <a:xfrm>
            <a:off x="1144588" y="185738"/>
            <a:ext cx="60179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Extensiones para VSCode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2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9" name="Google Shape;349;p2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838200" y="1315675"/>
            <a:ext cx="39097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obtener código Bootstrap con solo tipear abreviaciones.</a:t>
            </a:r>
            <a:endParaRPr/>
          </a:p>
        </p:txBody>
      </p:sp>
      <p:pic>
        <p:nvPicPr>
          <p:cNvPr id="351" name="Google Shape;3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3153" y="1136031"/>
            <a:ext cx="3909709" cy="94406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/>
          <p:nvPr/>
        </p:nvSpPr>
        <p:spPr>
          <a:xfrm>
            <a:off x="654161" y="2755811"/>
            <a:ext cx="1332876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1118" y="2729537"/>
            <a:ext cx="5673582" cy="358842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/>
          <p:nvPr/>
        </p:nvSpPr>
        <p:spPr>
          <a:xfrm>
            <a:off x="1116807" y="2340258"/>
            <a:ext cx="77057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https://marketplace.visualstudio.com/items?itemName=thekalinga.bootstrap4-vscode</a:t>
            </a:r>
            <a:endParaRPr i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