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y="6858000" cx="9144000"/>
  <p:notesSz cx="7010400" cy="9296400"/>
  <p:embeddedFontLst>
    <p:embeddedFont>
      <p:font typeface="Arimo"/>
      <p:regular r:id="rId28"/>
      <p:bold r:id="rId29"/>
      <p:italic r:id="rId30"/>
      <p:boldItalic r:id="rId31"/>
    </p:embeddedFont>
    <p:embeddedFont>
      <p:font typeface="Content"/>
      <p:regular r:id="rId32"/>
      <p:bold r:id="rId33"/>
    </p:embeddedFont>
    <p:embeddedFont>
      <p:font typeface="Helvetica Neue"/>
      <p:regular r:id="rId34"/>
      <p:bold r:id="rId35"/>
      <p:italic r:id="rId36"/>
      <p:boldItalic r:id="rId37"/>
    </p:embeddedFont>
    <p:embeddedFont>
      <p:font typeface="Arial Black"/>
      <p:regular r:id="rId3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39" roundtripDataSignature="AMtx7mgMm80R+xWwY8+Un/LKYKgvHOXVB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Arimo-regular.fntdata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Arim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Arimo-boldItalic.fntdata"/><Relationship Id="rId30" Type="http://schemas.openxmlformats.org/officeDocument/2006/relationships/font" Target="fonts/Arimo-italic.fntdata"/><Relationship Id="rId11" Type="http://schemas.openxmlformats.org/officeDocument/2006/relationships/slide" Target="slides/slide6.xml"/><Relationship Id="rId33" Type="http://schemas.openxmlformats.org/officeDocument/2006/relationships/font" Target="fonts/Content-bold.fntdata"/><Relationship Id="rId10" Type="http://schemas.openxmlformats.org/officeDocument/2006/relationships/slide" Target="slides/slide5.xml"/><Relationship Id="rId32" Type="http://schemas.openxmlformats.org/officeDocument/2006/relationships/font" Target="fonts/Content-regular.fntdata"/><Relationship Id="rId13" Type="http://schemas.openxmlformats.org/officeDocument/2006/relationships/slide" Target="slides/slide8.xml"/><Relationship Id="rId35" Type="http://schemas.openxmlformats.org/officeDocument/2006/relationships/font" Target="fonts/HelveticaNeue-bold.fntdata"/><Relationship Id="rId12" Type="http://schemas.openxmlformats.org/officeDocument/2006/relationships/slide" Target="slides/slide7.xml"/><Relationship Id="rId34" Type="http://schemas.openxmlformats.org/officeDocument/2006/relationships/font" Target="fonts/HelveticaNeue-regular.fntdata"/><Relationship Id="rId15" Type="http://schemas.openxmlformats.org/officeDocument/2006/relationships/slide" Target="slides/slide10.xml"/><Relationship Id="rId37" Type="http://schemas.openxmlformats.org/officeDocument/2006/relationships/font" Target="fonts/HelveticaNeue-boldItalic.fntdata"/><Relationship Id="rId14" Type="http://schemas.openxmlformats.org/officeDocument/2006/relationships/slide" Target="slides/slide9.xml"/><Relationship Id="rId36" Type="http://schemas.openxmlformats.org/officeDocument/2006/relationships/font" Target="fonts/HelveticaNeue-italic.fntdata"/><Relationship Id="rId17" Type="http://schemas.openxmlformats.org/officeDocument/2006/relationships/slide" Target="slides/slide12.xml"/><Relationship Id="rId39" Type="http://customschemas.google.com/relationships/presentationmetadata" Target="metadata"/><Relationship Id="rId16" Type="http://schemas.openxmlformats.org/officeDocument/2006/relationships/slide" Target="slides/slide11.xml"/><Relationship Id="rId38" Type="http://schemas.openxmlformats.org/officeDocument/2006/relationships/font" Target="fonts/ArialBlack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70338" y="0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86" name="Google Shape;86;p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:notes"/>
          <p:cNvSpPr txBox="1"/>
          <p:nvPr>
            <p:ph idx="12" type="sldNum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CL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96de578bed_0_48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3" name="Google Shape;153;g396de578bed_0_48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5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6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7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8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8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9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0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0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1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2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2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396de578bed_0_19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g396de578bed_0_19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96de578bed_0_0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314" name="Google Shape;314;g396de578bed_0_0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3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13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14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4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15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15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16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6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17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7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19:notes"/>
          <p:cNvSpPr txBox="1"/>
          <p:nvPr>
            <p:ph idx="1" type="body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9:notes"/>
          <p:cNvSpPr/>
          <p:nvPr>
            <p:ph idx="2" type="sldImg"/>
          </p:nvPr>
        </p:nvSpPr>
        <p:spPr>
          <a:xfrm>
            <a:off x="1414463" y="1162050"/>
            <a:ext cx="4181475" cy="3136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396de578bed_0_142:notes"/>
          <p:cNvSpPr txBox="1"/>
          <p:nvPr>
            <p:ph idx="1" type="body"/>
          </p:nvPr>
        </p:nvSpPr>
        <p:spPr>
          <a:xfrm>
            <a:off x="701675" y="4473575"/>
            <a:ext cx="5607000" cy="36609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g396de578bed_0_142:notes"/>
          <p:cNvSpPr/>
          <p:nvPr>
            <p:ph idx="2" type="sldImg"/>
          </p:nvPr>
        </p:nvSpPr>
        <p:spPr>
          <a:xfrm>
            <a:off x="1414463" y="1162050"/>
            <a:ext cx="4181400" cy="31368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" type="subTitle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8" name="Google Shape;18;p2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2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2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2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3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4"/>
          <p:cNvSpPr txBox="1"/>
          <p:nvPr>
            <p:ph type="title"/>
          </p:nvPr>
        </p:nvSpPr>
        <p:spPr>
          <a:xfrm>
            <a:off x="623888" y="1709739"/>
            <a:ext cx="78867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5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4"/>
          <p:cNvSpPr txBox="1"/>
          <p:nvPr>
            <p:ph idx="1" type="body"/>
          </p:nvPr>
        </p:nvSpPr>
        <p:spPr>
          <a:xfrm>
            <a:off x="623888" y="4589464"/>
            <a:ext cx="78867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24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24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5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5"/>
          <p:cNvSpPr txBox="1"/>
          <p:nvPr>
            <p:ph idx="1" type="body"/>
          </p:nvPr>
        </p:nvSpPr>
        <p:spPr>
          <a:xfrm>
            <a:off x="6286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5"/>
          <p:cNvSpPr txBox="1"/>
          <p:nvPr>
            <p:ph idx="2" type="body"/>
          </p:nvPr>
        </p:nvSpPr>
        <p:spPr>
          <a:xfrm>
            <a:off x="4629150" y="1825625"/>
            <a:ext cx="38862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5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6"/>
          <p:cNvSpPr txBox="1"/>
          <p:nvPr>
            <p:ph type="title"/>
          </p:nvPr>
        </p:nvSpPr>
        <p:spPr>
          <a:xfrm>
            <a:off x="629841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6"/>
          <p:cNvSpPr txBox="1"/>
          <p:nvPr>
            <p:ph idx="1" type="body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8" name="Google Shape;48;p26"/>
          <p:cNvSpPr txBox="1"/>
          <p:nvPr>
            <p:ph idx="2" type="body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26"/>
          <p:cNvSpPr txBox="1"/>
          <p:nvPr>
            <p:ph idx="3" type="body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50" name="Google Shape;50;p26"/>
          <p:cNvSpPr txBox="1"/>
          <p:nvPr>
            <p:ph idx="4" type="body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6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7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629841" y="457200"/>
            <a:ext cx="2949178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00"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3887391" y="987426"/>
            <a:ext cx="462915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629841" y="2057400"/>
            <a:ext cx="2949178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396331" y="57944"/>
            <a:ext cx="4351338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4623594" y="2285207"/>
            <a:ext cx="5811838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623094" y="370681"/>
            <a:ext cx="5811838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spcBef>
                <a:spcPts val="0"/>
              </a:spcBef>
              <a:spcAft>
                <a:spcPts val="0"/>
              </a:spcAft>
              <a:buNone/>
              <a:defRPr sz="900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1150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1150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Char char="•"/>
              <a:defRPr b="0" i="0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spcAft>
                <a:spcPts val="0"/>
              </a:spcAft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2.png"/><Relationship Id="rId5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5.png"/><Relationship Id="rId6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2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2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8.png"/><Relationship Id="rId5" Type="http://schemas.openxmlformats.org/officeDocument/2006/relationships/image" Target="../media/image22.png"/><Relationship Id="rId6" Type="http://schemas.openxmlformats.org/officeDocument/2006/relationships/image" Target="../media/image27.png"/><Relationship Id="rId7" Type="http://schemas.openxmlformats.org/officeDocument/2006/relationships/image" Target="../media/image3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Relationship Id="rId4" Type="http://schemas.openxmlformats.org/officeDocument/2006/relationships/image" Target="../media/image19.gif"/><Relationship Id="rId5" Type="http://schemas.openxmlformats.org/officeDocument/2006/relationships/image" Target="../media/image29.png"/><Relationship Id="rId6" Type="http://schemas.openxmlformats.org/officeDocument/2006/relationships/image" Target="../media/image3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9.gif"/><Relationship Id="rId5" Type="http://schemas.openxmlformats.org/officeDocument/2006/relationships/image" Target="../media/image3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6.png"/><Relationship Id="rId5" Type="http://schemas.openxmlformats.org/officeDocument/2006/relationships/image" Target="../media/image39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3.png"/><Relationship Id="rId4" Type="http://schemas.openxmlformats.org/officeDocument/2006/relationships/image" Target="../media/image32.png"/><Relationship Id="rId5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Relationship Id="rId4" Type="http://schemas.openxmlformats.org/officeDocument/2006/relationships/image" Target="../media/image34.png"/><Relationship Id="rId5" Type="http://schemas.openxmlformats.org/officeDocument/2006/relationships/image" Target="../media/image2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3.png"/><Relationship Id="rId4" Type="http://schemas.openxmlformats.org/officeDocument/2006/relationships/image" Target="../media/image38.png"/><Relationship Id="rId5" Type="http://schemas.openxmlformats.org/officeDocument/2006/relationships/image" Target="../media/image7.png"/><Relationship Id="rId6" Type="http://schemas.openxmlformats.org/officeDocument/2006/relationships/image" Target="../media/image23.gif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7.png"/><Relationship Id="rId4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4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7.png"/><Relationship Id="rId4" Type="http://schemas.openxmlformats.org/officeDocument/2006/relationships/image" Target="../media/image4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5.png"/><Relationship Id="rId4" Type="http://schemas.openxmlformats.org/officeDocument/2006/relationships/image" Target="../media/image7.png"/><Relationship Id="rId5" Type="http://schemas.openxmlformats.org/officeDocument/2006/relationships/image" Target="../media/image4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7.png"/><Relationship Id="rId4" Type="http://schemas.openxmlformats.org/officeDocument/2006/relationships/image" Target="../media/image3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7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/>
          <p:cNvSpPr txBox="1"/>
          <p:nvPr>
            <p:ph type="ctrTitle"/>
          </p:nvPr>
        </p:nvSpPr>
        <p:spPr>
          <a:xfrm>
            <a:off x="3352800" y="2157413"/>
            <a:ext cx="5567363" cy="965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4800">
                <a:solidFill>
                  <a:srgbClr val="D20000"/>
                </a:solidFill>
                <a:latin typeface="Arial Black"/>
                <a:ea typeface="Arial Black"/>
                <a:cs typeface="Arial Black"/>
                <a:sym typeface="Arial Black"/>
              </a:rPr>
              <a:t>ANGULAR</a:t>
            </a:r>
            <a:endParaRPr b="1">
              <a:solidFill>
                <a:srgbClr val="D20000"/>
              </a:solidFill>
              <a:latin typeface="Arimo"/>
              <a:ea typeface="Arimo"/>
              <a:cs typeface="Arimo"/>
              <a:sym typeface="Arimo"/>
            </a:endParaRPr>
          </a:p>
        </p:txBody>
      </p:sp>
      <p:sp>
        <p:nvSpPr>
          <p:cNvPr id="90" name="Google Shape;90;p1"/>
          <p:cNvSpPr txBox="1"/>
          <p:nvPr>
            <p:ph idx="1" type="subTitle"/>
          </p:nvPr>
        </p:nvSpPr>
        <p:spPr>
          <a:xfrm>
            <a:off x="762000" y="5095875"/>
            <a:ext cx="78486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000"/>
              <a:buFont typeface="Arial"/>
              <a:buNone/>
            </a:pPr>
            <a:r>
              <a:rPr lang="es-CL" sz="2000">
                <a:solidFill>
                  <a:srgbClr val="404040"/>
                </a:solidFill>
              </a:rPr>
              <a:t>César Aguilera Sepúlveda</a:t>
            </a:r>
            <a:endParaRPr/>
          </a:p>
          <a:p>
            <a:pPr indent="0" lvl="0" marL="0" rtl="0" algn="ctr">
              <a:spcBef>
                <a:spcPts val="700"/>
              </a:spcBef>
              <a:spcAft>
                <a:spcPts val="0"/>
              </a:spcAft>
              <a:buClr>
                <a:srgbClr val="0033CC"/>
              </a:buClr>
              <a:buSzPts val="2000"/>
              <a:buFont typeface="Arial"/>
              <a:buNone/>
            </a:pPr>
            <a:r>
              <a:rPr i="1" lang="es-CL" sz="2000">
                <a:solidFill>
                  <a:srgbClr val="0033CC"/>
                </a:solidFill>
              </a:rPr>
              <a:t>caguilsepulveda@gmail.com</a:t>
            </a:r>
            <a:endParaRPr sz="2000">
              <a:solidFill>
                <a:srgbClr val="3F3F3F"/>
              </a:solidFill>
            </a:endParaRPr>
          </a:p>
        </p:txBody>
      </p:sp>
      <p:pic>
        <p:nvPicPr>
          <p:cNvPr descr="escudo_color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2507" t="0"/>
          <a:stretch/>
        </p:blipFill>
        <p:spPr>
          <a:xfrm>
            <a:off x="304800" y="304800"/>
            <a:ext cx="160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"/>
          <p:cNvSpPr/>
          <p:nvPr/>
        </p:nvSpPr>
        <p:spPr>
          <a:xfrm>
            <a:off x="3352800" y="3090863"/>
            <a:ext cx="50784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2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Data Binding</a:t>
            </a:r>
            <a:endParaRPr b="1" i="0" sz="28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/>
          <p:nvPr/>
        </p:nvSpPr>
        <p:spPr>
          <a:xfrm>
            <a:off x="190500" y="6477000"/>
            <a:ext cx="8724900" cy="312738"/>
          </a:xfrm>
          <a:prstGeom prst="roundRect">
            <a:avLst>
              <a:gd fmla="val 16667" name="adj"/>
            </a:avLst>
          </a:prstGeom>
          <a:solidFill>
            <a:srgbClr val="0070C0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CL" sz="12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94" name="Google Shape;94;p1"/>
          <p:cNvSpPr/>
          <p:nvPr/>
        </p:nvSpPr>
        <p:spPr>
          <a:xfrm>
            <a:off x="3429000" y="3688958"/>
            <a:ext cx="5181600" cy="46037"/>
          </a:xfrm>
          <a:prstGeom prst="rect">
            <a:avLst/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5" name="Google Shape;95;p1"/>
          <p:cNvPicPr preferRelativeResize="0"/>
          <p:nvPr/>
        </p:nvPicPr>
        <p:blipFill rotWithShape="1">
          <a:blip r:embed="rId4">
            <a:alphaModFix/>
          </a:blip>
          <a:srcRect b="0" l="6232" r="5907" t="0"/>
          <a:stretch/>
        </p:blipFill>
        <p:spPr>
          <a:xfrm>
            <a:off x="762000" y="2206625"/>
            <a:ext cx="2386013" cy="25939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7945074" y="1859571"/>
            <a:ext cx="813043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L" sz="8800" u="none" cap="none" strike="noStrike">
                <a:solidFill>
                  <a:srgbClr val="7F7F7F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/>
          </a:p>
        </p:txBody>
      </p:sp>
      <p:pic>
        <p:nvPicPr>
          <p:cNvPr descr="Logotipo&#10;&#10;Descripción generada automáticamente con confianza media" id="97" name="Google Shape;97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83363" y="287338"/>
            <a:ext cx="2027237" cy="1184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1144588" y="185738"/>
            <a:ext cx="4538422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¿Qué es el Data Binding?</a:t>
            </a:r>
            <a:endParaRPr/>
          </a:p>
        </p:txBody>
      </p:sp>
      <p:cxnSp>
        <p:nvCxnSpPr>
          <p:cNvPr id="104" name="Google Shape;104;p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5" name="Google Shape;105;p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06" name="Google Shape;106;p2"/>
          <p:cNvSpPr/>
          <p:nvPr/>
        </p:nvSpPr>
        <p:spPr>
          <a:xfrm>
            <a:off x="838199" y="2039907"/>
            <a:ext cx="7894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Binding permite pasar datos entre la clase y template de un componente.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pic>
        <p:nvPicPr>
          <p:cNvPr descr="https://cdn-images-1.medium.com/max/1000/0*P_IMWJ3G9u3EJlKl." id="107" name="Google Shape;107;p2"/>
          <p:cNvPicPr preferRelativeResize="0"/>
          <p:nvPr/>
        </p:nvPicPr>
        <p:blipFill rotWithShape="1">
          <a:blip r:embed="rId4">
            <a:alphaModFix/>
          </a:blip>
          <a:srcRect b="13808" l="8572" r="9182" t="0"/>
          <a:stretch/>
        </p:blipFill>
        <p:spPr>
          <a:xfrm>
            <a:off x="2552433" y="2628637"/>
            <a:ext cx="3610741" cy="1340416"/>
          </a:xfrm>
          <a:prstGeom prst="rect">
            <a:avLst/>
          </a:prstGeom>
          <a:noFill/>
          <a:ln>
            <a:noFill/>
          </a:ln>
        </p:spPr>
      </p:pic>
      <p:sp>
        <p:nvSpPr>
          <p:cNvPr id="108" name="Google Shape;108;p2"/>
          <p:cNvSpPr/>
          <p:nvPr/>
        </p:nvSpPr>
        <p:spPr>
          <a:xfrm>
            <a:off x="838199" y="4190246"/>
            <a:ext cx="7894637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pueden pasar acciones del usuario como eventos desde el template a la clase: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9" name="Google Shape;109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4502" y="4819112"/>
            <a:ext cx="3738672" cy="1435742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/>
          <p:nvPr/>
        </p:nvSpPr>
        <p:spPr>
          <a:xfrm>
            <a:off x="838200" y="1212850"/>
            <a:ext cx="7894636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enlace de datos es una técnica que une una fuente de datos con la vista, y se encarga de sincronizarlos automáticamente.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15" name="Google Shape;115;p3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"/>
          <p:cNvSpPr txBox="1"/>
          <p:nvPr/>
        </p:nvSpPr>
        <p:spPr>
          <a:xfrm>
            <a:off x="1144588" y="185738"/>
            <a:ext cx="397249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Tipos de Data Binding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7" name="Google Shape;117;p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8" name="Google Shape;118;p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838200" y="1212850"/>
            <a:ext cx="789463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Angular dispone de 4 formas de data binding:</a:t>
            </a:r>
            <a:endParaRPr sz="1800">
              <a:solidFill>
                <a:srgbClr val="33333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pSp>
        <p:nvGrpSpPr>
          <p:cNvPr id="120" name="Google Shape;120;p3"/>
          <p:cNvGrpSpPr/>
          <p:nvPr/>
        </p:nvGrpSpPr>
        <p:grpSpPr>
          <a:xfrm>
            <a:off x="594374" y="2235191"/>
            <a:ext cx="7955263" cy="2899259"/>
            <a:chOff x="1116477" y="2755812"/>
            <a:chExt cx="7955263" cy="2899259"/>
          </a:xfrm>
        </p:grpSpPr>
        <p:pic>
          <p:nvPicPr>
            <p:cNvPr id="121" name="Google Shape;121;p3"/>
            <p:cNvPicPr preferRelativeResize="0"/>
            <p:nvPr/>
          </p:nvPicPr>
          <p:blipFill rotWithShape="1">
            <a:blip r:embed="rId4">
              <a:alphaModFix/>
            </a:blip>
            <a:srcRect b="0" l="0" r="0" t="15469"/>
            <a:stretch/>
          </p:blipFill>
          <p:spPr>
            <a:xfrm>
              <a:off x="1116477" y="2755812"/>
              <a:ext cx="7264756" cy="289925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2" name="Google Shape;122;p3"/>
            <p:cNvSpPr/>
            <p:nvPr/>
          </p:nvSpPr>
          <p:spPr>
            <a:xfrm>
              <a:off x="7459540" y="2755821"/>
              <a:ext cx="1612200" cy="2899200"/>
            </a:xfrm>
            <a:prstGeom prst="rect">
              <a:avLst/>
            </a:prstGeom>
            <a:solidFill>
              <a:srgbClr val="CC0099"/>
            </a:solidFill>
            <a:ln cap="flat" cmpd="sng" w="12700">
              <a:solidFill>
                <a:srgbClr val="FF0000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CL" sz="18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Componente</a:t>
              </a:r>
              <a:endParaRPr/>
            </a:p>
          </p:txBody>
        </p:sp>
      </p:grpSp>
      <p:sp>
        <p:nvSpPr>
          <p:cNvPr id="123" name="Google Shape;123;p3"/>
          <p:cNvSpPr/>
          <p:nvPr/>
        </p:nvSpPr>
        <p:spPr>
          <a:xfrm>
            <a:off x="1630103" y="2178041"/>
            <a:ext cx="5307300" cy="3040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4" name="Google Shape;124;p3"/>
          <p:cNvCxnSpPr/>
          <p:nvPr/>
        </p:nvCxnSpPr>
        <p:spPr>
          <a:xfrm rot="10800000">
            <a:off x="1568934" y="2586564"/>
            <a:ext cx="5368500" cy="0"/>
          </a:xfrm>
          <a:prstGeom prst="straightConnector1">
            <a:avLst/>
          </a:prstGeom>
          <a:noFill/>
          <a:ln cap="flat" cmpd="sng" w="57150">
            <a:solidFill>
              <a:srgbClr val="2E75B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5" name="Google Shape;125;p3"/>
          <p:cNvSpPr txBox="1"/>
          <p:nvPr/>
        </p:nvSpPr>
        <p:spPr>
          <a:xfrm>
            <a:off x="1881088" y="2260658"/>
            <a:ext cx="3768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Interpolación (One-Way Binding): </a:t>
            </a:r>
            <a:r>
              <a:rPr lang="es-CL" sz="14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{{title}}</a:t>
            </a:r>
            <a:endParaRPr sz="14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6" name="Google Shape;126;p3"/>
          <p:cNvCxnSpPr/>
          <p:nvPr/>
        </p:nvCxnSpPr>
        <p:spPr>
          <a:xfrm rot="10800000">
            <a:off x="1568934" y="3259753"/>
            <a:ext cx="5368500" cy="0"/>
          </a:xfrm>
          <a:prstGeom prst="straightConnector1">
            <a:avLst/>
          </a:prstGeom>
          <a:noFill/>
          <a:ln cap="flat" cmpd="sng" w="57150">
            <a:solidFill>
              <a:srgbClr val="2E75B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7" name="Google Shape;127;p3"/>
          <p:cNvSpPr txBox="1"/>
          <p:nvPr/>
        </p:nvSpPr>
        <p:spPr>
          <a:xfrm>
            <a:off x="1881088" y="2933847"/>
            <a:ext cx="45897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Property Binding: </a:t>
            </a:r>
            <a:r>
              <a:rPr lang="es-CL" sz="14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&lt;img [src]=‘product.ImageURL’&gt;</a:t>
            </a:r>
            <a:endParaRPr sz="14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28" name="Google Shape;128;p3"/>
          <p:cNvCxnSpPr/>
          <p:nvPr/>
        </p:nvCxnSpPr>
        <p:spPr>
          <a:xfrm>
            <a:off x="1568904" y="4014052"/>
            <a:ext cx="5368500" cy="0"/>
          </a:xfrm>
          <a:prstGeom prst="straightConnector1">
            <a:avLst/>
          </a:prstGeom>
          <a:noFill/>
          <a:ln cap="flat" cmpd="sng" w="57150">
            <a:solidFill>
              <a:srgbClr val="2E75B5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9" name="Google Shape;129;p3"/>
          <p:cNvSpPr txBox="1"/>
          <p:nvPr/>
        </p:nvSpPr>
        <p:spPr>
          <a:xfrm flipH="1">
            <a:off x="1881070" y="3688146"/>
            <a:ext cx="4570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Event Binding: </a:t>
            </a:r>
            <a:r>
              <a:rPr lang="es-CL" sz="14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&lt;button (click)=‘toggleImage()’&gt;</a:t>
            </a:r>
            <a:endParaRPr sz="14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130" name="Google Shape;130;p3"/>
          <p:cNvCxnSpPr/>
          <p:nvPr/>
        </p:nvCxnSpPr>
        <p:spPr>
          <a:xfrm>
            <a:off x="1573559" y="4748440"/>
            <a:ext cx="5368500" cy="0"/>
          </a:xfrm>
          <a:prstGeom prst="straightConnector1">
            <a:avLst/>
          </a:prstGeom>
          <a:noFill/>
          <a:ln cap="flat" cmpd="sng" w="57150">
            <a:solidFill>
              <a:srgbClr val="2E75B5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131" name="Google Shape;131;p3"/>
          <p:cNvSpPr txBox="1"/>
          <p:nvPr/>
        </p:nvSpPr>
        <p:spPr>
          <a:xfrm flipH="1">
            <a:off x="1885727" y="4422534"/>
            <a:ext cx="4951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Two-Way Binding: </a:t>
            </a:r>
            <a:r>
              <a:rPr lang="es-CL" sz="14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&lt;input [(ngModel)]=‘listFilter’/&gt;</a:t>
            </a:r>
            <a:endParaRPr sz="14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36" name="Google Shape;136;p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4"/>
          <p:cNvSpPr txBox="1"/>
          <p:nvPr/>
        </p:nvSpPr>
        <p:spPr>
          <a:xfrm>
            <a:off x="1144588" y="185738"/>
            <a:ext cx="6817379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Interpolación {{ }} - “One-Way Binding”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38" name="Google Shape;138;p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9" name="Google Shape;139;p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40" name="Google Shape;140;p4"/>
          <p:cNvSpPr/>
          <p:nvPr/>
        </p:nvSpPr>
        <p:spPr>
          <a:xfrm>
            <a:off x="719137" y="1164637"/>
            <a:ext cx="8013701" cy="123110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Enlace que crea un canal de comunicación en una sola dirección, desde la lógica (class/typescript) a la vista (template/html). 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escribe mediante doble llave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{{nombrePropiedad}}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791077" y="2501570"/>
            <a:ext cx="160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i="1" sz="14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4"/>
          <p:cNvSpPr/>
          <p:nvPr/>
        </p:nvSpPr>
        <p:spPr>
          <a:xfrm>
            <a:off x="1175524" y="2498180"/>
            <a:ext cx="18053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app.html</a:t>
            </a:r>
            <a:endParaRPr i="1" sz="14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3844912"/>
            <a:ext cx="4551818" cy="224016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44" name="Google Shape;144;p4"/>
          <p:cNvSpPr/>
          <p:nvPr/>
        </p:nvSpPr>
        <p:spPr>
          <a:xfrm>
            <a:off x="1818490" y="3913112"/>
            <a:ext cx="1529975" cy="320229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5918378" y="3844888"/>
            <a:ext cx="26481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Por ejemplo, en nuestra página podemos sustituir los textos escritos de forma directa en el html, por variables que obtengan el texto desde la clase.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4" title="Captura de pantalla 2026-04-05 a la(s) 11.08.5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03417" y="2806000"/>
            <a:ext cx="2485957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4"/>
          <p:cNvSpPr/>
          <p:nvPr/>
        </p:nvSpPr>
        <p:spPr>
          <a:xfrm>
            <a:off x="5006025" y="3076375"/>
            <a:ext cx="2080800" cy="2001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4" title="Captura de pantalla 2026-04-05 a la(s) 11.09.12.png"/>
          <p:cNvPicPr preferRelativeResize="0"/>
          <p:nvPr/>
        </p:nvPicPr>
        <p:blipFill rotWithShape="1">
          <a:blip r:embed="rId6">
            <a:alphaModFix/>
          </a:blip>
          <a:srcRect b="0" l="7091" r="6119" t="0"/>
          <a:stretch/>
        </p:blipFill>
        <p:spPr>
          <a:xfrm>
            <a:off x="1250900" y="2805950"/>
            <a:ext cx="3390545" cy="30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"/>
          <p:cNvSpPr/>
          <p:nvPr/>
        </p:nvSpPr>
        <p:spPr>
          <a:xfrm>
            <a:off x="2930375" y="2842825"/>
            <a:ext cx="1146300" cy="2001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0" name="Google Shape;150;p4"/>
          <p:cNvCxnSpPr>
            <a:stCxn id="147" idx="1"/>
            <a:endCxn id="149" idx="2"/>
          </p:cNvCxnSpPr>
          <p:nvPr/>
        </p:nvCxnSpPr>
        <p:spPr>
          <a:xfrm rot="10800000">
            <a:off x="3503625" y="3042925"/>
            <a:ext cx="1502400" cy="133500"/>
          </a:xfrm>
          <a:prstGeom prst="bentConnector2">
            <a:avLst/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55" name="Google Shape;155;g396de578bed_0_48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g396de578bed_0_48"/>
          <p:cNvSpPr txBox="1"/>
          <p:nvPr/>
        </p:nvSpPr>
        <p:spPr>
          <a:xfrm>
            <a:off x="1144588" y="185738"/>
            <a:ext cx="6817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Interpolación {{ }} - “One-Way Binding”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7" name="Google Shape;157;g396de578bed_0_48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8" name="Google Shape;158;g396de578bed_0_48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59" name="Google Shape;159;g396de578bed_0_48"/>
          <p:cNvSpPr/>
          <p:nvPr/>
        </p:nvSpPr>
        <p:spPr>
          <a:xfrm>
            <a:off x="719137" y="1164637"/>
            <a:ext cx="8013600" cy="12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Angular Moderno introdujo signals (señales) para mejorar la performance en la detección de cambios.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Ahora Angular sabé los que cambió y solo actualiza lo necesario.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60" name="Google Shape;160;g396de578bed_0_48"/>
          <p:cNvSpPr/>
          <p:nvPr/>
        </p:nvSpPr>
        <p:spPr>
          <a:xfrm>
            <a:off x="1144602" y="3095045"/>
            <a:ext cx="160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i="1" sz="14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g396de578bed_0_48"/>
          <p:cNvSpPr/>
          <p:nvPr/>
        </p:nvSpPr>
        <p:spPr>
          <a:xfrm>
            <a:off x="1144599" y="2438505"/>
            <a:ext cx="18054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app.html</a:t>
            </a:r>
            <a:endParaRPr i="1" sz="14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g396de578bed_0_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4140187"/>
            <a:ext cx="4551817" cy="2240161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63" name="Google Shape;163;g396de578bed_0_48"/>
          <p:cNvSpPr/>
          <p:nvPr/>
        </p:nvSpPr>
        <p:spPr>
          <a:xfrm>
            <a:off x="1818490" y="4208387"/>
            <a:ext cx="1530000" cy="320100"/>
          </a:xfrm>
          <a:prstGeom prst="rect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g396de578bed_0_48"/>
          <p:cNvSpPr/>
          <p:nvPr/>
        </p:nvSpPr>
        <p:spPr>
          <a:xfrm>
            <a:off x="5937428" y="4254801"/>
            <a:ext cx="2648100" cy="203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</a:rPr>
              <a:t>Antes</a:t>
            </a:r>
            <a:r>
              <a:rPr lang="es-CL" sz="1800">
                <a:solidFill>
                  <a:schemeClr val="dk1"/>
                </a:solidFill>
              </a:rPr>
              <a:t>: Cambio una variable y Angular detecta.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CL" sz="1800">
                <a:solidFill>
                  <a:schemeClr val="dk1"/>
                </a:solidFill>
              </a:rPr>
              <a:t>Ahora</a:t>
            </a:r>
            <a:r>
              <a:rPr lang="es-CL" sz="1800">
                <a:solidFill>
                  <a:schemeClr val="dk1"/>
                </a:solidFill>
              </a:rPr>
              <a:t>: Cambio una señal y Angular reacciona.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65" name="Google Shape;165;g396de578bed_0_48" title="Captura de pantalla 2026-04-05 a la(s) 11.15.5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06500" y="3374950"/>
            <a:ext cx="519472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g396de578bed_0_48"/>
          <p:cNvSpPr/>
          <p:nvPr/>
        </p:nvSpPr>
        <p:spPr>
          <a:xfrm>
            <a:off x="3282000" y="3639250"/>
            <a:ext cx="3119100" cy="2676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7" name="Google Shape;167;g396de578bed_0_48" title="Captura de pantalla 2026-04-05 a la(s) 11.16.0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206500" y="2725338"/>
            <a:ext cx="3180317" cy="32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g396de578bed_0_48"/>
          <p:cNvSpPr/>
          <p:nvPr/>
        </p:nvSpPr>
        <p:spPr>
          <a:xfrm>
            <a:off x="2673200" y="2773388"/>
            <a:ext cx="1146300" cy="212100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9" name="Google Shape;169;g396de578bed_0_48"/>
          <p:cNvCxnSpPr>
            <a:stCxn id="166" idx="0"/>
            <a:endCxn id="168" idx="2"/>
          </p:cNvCxnSpPr>
          <p:nvPr/>
        </p:nvCxnSpPr>
        <p:spPr>
          <a:xfrm flipH="1" rot="5400000">
            <a:off x="3717150" y="2514850"/>
            <a:ext cx="653700" cy="1595100"/>
          </a:xfrm>
          <a:prstGeom prst="bentConnector3">
            <a:avLst>
              <a:gd fmla="val 50005" name="adj1"/>
            </a:avLst>
          </a:prstGeom>
          <a:noFill/>
          <a:ln cap="flat" cmpd="sng" w="9525">
            <a:solidFill>
              <a:srgbClr val="FF0000"/>
            </a:solidFill>
            <a:prstDash val="solid"/>
            <a:miter lim="800000"/>
            <a:headEnd len="sm" w="sm" type="none"/>
            <a:tailEnd len="med" w="med" type="triangle"/>
          </a:ln>
        </p:spPr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74" name="Google Shape;174;p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5"/>
          <p:cNvSpPr txBox="1"/>
          <p:nvPr/>
        </p:nvSpPr>
        <p:spPr>
          <a:xfrm>
            <a:off x="1144588" y="185738"/>
            <a:ext cx="7155613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Interpolación {{ }} - “One-Way Binding”…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6" name="Google Shape;176;p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7" name="Google Shape;177;p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719137" y="1197762"/>
            <a:ext cx="8075594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hacer cálculos y mostrar el resultado de forma inmediata o asociar valores a las propiedades html.</a:t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9" name="Google Shape;179;p5"/>
          <p:cNvSpPr/>
          <p:nvPr/>
        </p:nvSpPr>
        <p:spPr>
          <a:xfrm>
            <a:off x="996588" y="3829385"/>
            <a:ext cx="16065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app.ts</a:t>
            </a:r>
            <a:endParaRPr i="1" sz="14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996597" y="1995095"/>
            <a:ext cx="1805302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CL" sz="1400">
                <a:solidFill>
                  <a:srgbClr val="0033CC"/>
                </a:solidFill>
                <a:highlight>
                  <a:srgbClr val="FFFF00"/>
                </a:highlight>
                <a:latin typeface="Arial"/>
                <a:ea typeface="Arial"/>
                <a:cs typeface="Arial"/>
                <a:sym typeface="Arial"/>
              </a:rPr>
              <a:t>app.html</a:t>
            </a:r>
            <a:endParaRPr i="1" sz="1400">
              <a:solidFill>
                <a:srgbClr val="0033CC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1" name="Google Shape;181;p5" title="Captura de pantalla 2026-04-05 a la(s) 11.29.47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95375" y="2302875"/>
            <a:ext cx="3883391" cy="12983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5" title="Captura de pantalla 2026-04-05 a la(s) 11.29.57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5375" y="4137150"/>
            <a:ext cx="5372100" cy="971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187" name="Google Shape;187;p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6"/>
          <p:cNvSpPr txBox="1"/>
          <p:nvPr/>
        </p:nvSpPr>
        <p:spPr>
          <a:xfrm>
            <a:off x="1144588" y="185738"/>
            <a:ext cx="353814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Property Binding [ ]</a:t>
            </a:r>
            <a:endParaRPr/>
          </a:p>
        </p:txBody>
      </p:sp>
      <p:cxnSp>
        <p:nvCxnSpPr>
          <p:cNvPr id="189" name="Google Shape;189;p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90" name="Google Shape;190;p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611950" y="1164625"/>
            <a:ext cx="8034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 queremos pasar datos desde la clase </a:t>
            </a:r>
            <a:r>
              <a:rPr lang="es-CL" sz="1800">
                <a:solidFill>
                  <a:schemeClr val="dk1"/>
                </a:solidFill>
              </a:rPr>
              <a:t>un una propiedad del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template, podemos usar property binding: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47315" y="3429000"/>
            <a:ext cx="79991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L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propiedad a modificar en la vista se encierra en corchetes, y la propiedad que se pasa por valor se encierra en comillas. 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42789" y="4285786"/>
            <a:ext cx="799918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Se puede conseguir el mismo resultado con el mecanismo ya visto de la interpolación: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4" name="Google Shape;19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38490" y="1969758"/>
            <a:ext cx="2867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5" name="Google Shape;195;p6"/>
          <p:cNvSpPr/>
          <p:nvPr/>
        </p:nvSpPr>
        <p:spPr>
          <a:xfrm>
            <a:off x="4366221" y="2360923"/>
            <a:ext cx="795600" cy="909300"/>
          </a:xfrm>
          <a:prstGeom prst="wedgeRectCallout">
            <a:avLst>
              <a:gd fmla="val 19060" name="adj1"/>
              <a:gd fmla="val -72220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    </a:t>
            </a:r>
            <a:r>
              <a:rPr lang="es-CL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‘ ’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Binding Source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6" name="Google Shape;196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793748" y="5013984"/>
            <a:ext cx="293370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6"/>
          <p:cNvSpPr/>
          <p:nvPr/>
        </p:nvSpPr>
        <p:spPr>
          <a:xfrm>
            <a:off x="614100" y="5414225"/>
            <a:ext cx="79992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 embargo, para relacionar </a:t>
            </a:r>
            <a:r>
              <a:rPr lang="es-CL" sz="1800">
                <a:solidFill>
                  <a:schemeClr val="dk1"/>
                </a:solidFill>
              </a:rPr>
              <a:t>una propiedad del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template [ ] con la clase ‘’, se prefiere el property binding.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3264638" y="2360446"/>
            <a:ext cx="795600" cy="909600"/>
          </a:xfrm>
          <a:prstGeom prst="wedgeRectCallout">
            <a:avLst>
              <a:gd fmla="val 19060" name="adj1"/>
              <a:gd fmla="val -72220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    [ ]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Binding Target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03" name="Google Shape;203;p7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7"/>
          <p:cNvSpPr txBox="1"/>
          <p:nvPr/>
        </p:nvSpPr>
        <p:spPr>
          <a:xfrm>
            <a:off x="1144588" y="185738"/>
            <a:ext cx="3897221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Property Binding [ ]…</a:t>
            </a:r>
            <a:endParaRPr/>
          </a:p>
        </p:txBody>
      </p:sp>
      <p:cxnSp>
        <p:nvCxnSpPr>
          <p:cNvPr id="205" name="Google Shape;205;p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06" name="Google Shape;206;p7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07" name="Google Shape;207;p7"/>
          <p:cNvSpPr/>
          <p:nvPr/>
        </p:nvSpPr>
        <p:spPr>
          <a:xfrm>
            <a:off x="635536" y="1225836"/>
            <a:ext cx="809730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interpolación sería idónea en el siguiente caso: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89652" y="1769020"/>
            <a:ext cx="5181600" cy="26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"/>
          <p:cNvSpPr/>
          <p:nvPr/>
        </p:nvSpPr>
        <p:spPr>
          <a:xfrm>
            <a:off x="627757" y="2231878"/>
            <a:ext cx="81057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Continuando con nuestra página, podemos ajustar otras propiedades como los tamaños y el margen de cada imagen: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7"/>
          <p:cNvSpPr/>
          <p:nvPr/>
        </p:nvSpPr>
        <p:spPr>
          <a:xfrm flipH="1" rot="10800000">
            <a:off x="1512050" y="4173994"/>
            <a:ext cx="673189" cy="1702964"/>
          </a:xfrm>
          <a:prstGeom prst="bentArrow">
            <a:avLst>
              <a:gd fmla="val 25000" name="adj1"/>
              <a:gd fmla="val 25000" name="adj2"/>
              <a:gd fmla="val 25000" name="adj3"/>
              <a:gd fmla="val 45242" name="adj4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1" name="Google Shape;211;p7"/>
          <p:cNvPicPr preferRelativeResize="0"/>
          <p:nvPr/>
        </p:nvPicPr>
        <p:blipFill rotWithShape="1">
          <a:blip r:embed="rId5">
            <a:alphaModFix/>
          </a:blip>
          <a:srcRect b="24116" l="0" r="58877" t="17768"/>
          <a:stretch/>
        </p:blipFill>
        <p:spPr>
          <a:xfrm>
            <a:off x="2334908" y="4443051"/>
            <a:ext cx="3583470" cy="1955078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7"/>
          <p:cNvSpPr/>
          <p:nvPr/>
        </p:nvSpPr>
        <p:spPr>
          <a:xfrm>
            <a:off x="4262607" y="3009414"/>
            <a:ext cx="23086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694322" y="3009414"/>
            <a:ext cx="24785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product-list.html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4" name="Google Shape;214;p7" title="Captura de pantalla 2026-04-05 a la(s) 15.18.28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2175" y="3287564"/>
            <a:ext cx="3279405" cy="990188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7"/>
          <p:cNvSpPr/>
          <p:nvPr/>
        </p:nvSpPr>
        <p:spPr>
          <a:xfrm>
            <a:off x="1298975" y="3657650"/>
            <a:ext cx="2751000" cy="6201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6" name="Google Shape;216;p7" title="Captura de pantalla 2026-04-05 a la(s) 15.18.39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70975" y="3287575"/>
            <a:ext cx="3608734" cy="99017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7"/>
          <p:cNvSpPr/>
          <p:nvPr/>
        </p:nvSpPr>
        <p:spPr>
          <a:xfrm>
            <a:off x="4508175" y="3591575"/>
            <a:ext cx="1902000" cy="5232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22" name="Google Shape;222;p8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8"/>
          <p:cNvSpPr txBox="1"/>
          <p:nvPr/>
        </p:nvSpPr>
        <p:spPr>
          <a:xfrm>
            <a:off x="1144588" y="185738"/>
            <a:ext cx="303961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Event Binding ( )</a:t>
            </a:r>
            <a:endParaRPr/>
          </a:p>
        </p:txBody>
      </p:sp>
      <p:cxnSp>
        <p:nvCxnSpPr>
          <p:cNvPr id="224" name="Google Shape;224;p8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25" name="Google Shape;225;p8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26" name="Google Shape;226;p8"/>
          <p:cNvSpPr/>
          <p:nvPr/>
        </p:nvSpPr>
        <p:spPr>
          <a:xfrm>
            <a:off x="777662" y="1088910"/>
            <a:ext cx="807826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escuchar eventos, necesitamos encerrar el nombre del evento en paréntesis ( ), e incluir el nombre del método a ejecutar entre comillas </a:t>
            </a:r>
            <a:r>
              <a:rPr lang="es-CL" sz="1800">
                <a:solidFill>
                  <a:schemeClr val="dk1"/>
                </a:solidFill>
              </a:rPr>
              <a:t>“”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7" name="Google Shape;227;p8"/>
          <p:cNvSpPr/>
          <p:nvPr/>
        </p:nvSpPr>
        <p:spPr>
          <a:xfrm>
            <a:off x="7570751" y="1899025"/>
            <a:ext cx="305995" cy="134637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8"/>
          <p:cNvSpPr/>
          <p:nvPr/>
        </p:nvSpPr>
        <p:spPr>
          <a:xfrm>
            <a:off x="1027113" y="1772153"/>
            <a:ext cx="24785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product-list.html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8"/>
          <p:cNvSpPr/>
          <p:nvPr/>
        </p:nvSpPr>
        <p:spPr>
          <a:xfrm>
            <a:off x="1074737" y="3093528"/>
            <a:ext cx="230864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ptura de pantalla de un celular&#10;&#10;Descripción generada automáticamente" id="230" name="Google Shape;230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8006" y="1910279"/>
            <a:ext cx="2266950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8" title="Captura de pantalla 2026-04-05 a la(s) 15.28.49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101775" y="2060663"/>
            <a:ext cx="4717392" cy="830275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8"/>
          <p:cNvSpPr/>
          <p:nvPr/>
        </p:nvSpPr>
        <p:spPr>
          <a:xfrm>
            <a:off x="3743178" y="2060682"/>
            <a:ext cx="1921800" cy="2280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8"/>
          <p:cNvSpPr/>
          <p:nvPr/>
        </p:nvSpPr>
        <p:spPr>
          <a:xfrm>
            <a:off x="1310900" y="2457350"/>
            <a:ext cx="4023000" cy="2280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4" name="Google Shape;234;p8" title="Captura de pantalla 2026-04-05 a la(s) 15.30.57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1775" y="3370537"/>
            <a:ext cx="4853451" cy="233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8"/>
          <p:cNvSpPr/>
          <p:nvPr/>
        </p:nvSpPr>
        <p:spPr>
          <a:xfrm>
            <a:off x="1381034" y="4407166"/>
            <a:ext cx="2281800" cy="2664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8"/>
          <p:cNvSpPr/>
          <p:nvPr/>
        </p:nvSpPr>
        <p:spPr>
          <a:xfrm>
            <a:off x="1381032" y="4780778"/>
            <a:ext cx="3088500" cy="6801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8"/>
          <p:cNvSpPr/>
          <p:nvPr/>
        </p:nvSpPr>
        <p:spPr>
          <a:xfrm>
            <a:off x="4469521" y="4212833"/>
            <a:ext cx="2636400" cy="2031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 decir, se escucha el evento clic en el botón y se ejecuta el método </a:t>
            </a:r>
            <a:r>
              <a:rPr lang="es-CL" sz="14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toggleImage()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(que tenemos que definir nosotros) en la clase.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42" name="Google Shape;242;p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9"/>
          <p:cNvSpPr txBox="1"/>
          <p:nvPr/>
        </p:nvSpPr>
        <p:spPr>
          <a:xfrm>
            <a:off x="1144588" y="185738"/>
            <a:ext cx="33986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Event Binding ( )…</a:t>
            </a:r>
            <a:endParaRPr/>
          </a:p>
        </p:txBody>
      </p:sp>
      <p:cxnSp>
        <p:nvCxnSpPr>
          <p:cNvPr id="244" name="Google Shape;244;p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5" name="Google Shape;245;p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46" name="Google Shape;246;p9"/>
          <p:cNvSpPr/>
          <p:nvPr/>
        </p:nvSpPr>
        <p:spPr>
          <a:xfrm>
            <a:off x="777662" y="1088910"/>
            <a:ext cx="80782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Agregamos </a:t>
            </a:r>
            <a:r>
              <a:rPr lang="es-CL" sz="1800">
                <a:solidFill>
                  <a:schemeClr val="dk1"/>
                </a:solidFill>
              </a:rPr>
              <a:t>la directiva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@if antes de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etiqueta &lt;img&gt; para controlar su visualización: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9"/>
          <p:cNvSpPr/>
          <p:nvPr/>
        </p:nvSpPr>
        <p:spPr>
          <a:xfrm>
            <a:off x="7570751" y="1899025"/>
            <a:ext cx="305995" cy="1346378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9"/>
          <p:cNvSpPr/>
          <p:nvPr/>
        </p:nvSpPr>
        <p:spPr>
          <a:xfrm>
            <a:off x="1027113" y="1772153"/>
            <a:ext cx="2478564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product-list.html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Captura de pantalla de un celular&#10;&#10;Descripción generada automáticamente" id="249" name="Google Shape;24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68006" y="1910279"/>
            <a:ext cx="2266950" cy="433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9" title="Captura de pantalla 2026-04-05 a la(s) 15.33.34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6975" y="2049150"/>
            <a:ext cx="4757750" cy="23133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9"/>
          <p:cNvSpPr/>
          <p:nvPr/>
        </p:nvSpPr>
        <p:spPr>
          <a:xfrm>
            <a:off x="1317348" y="2276991"/>
            <a:ext cx="1669800" cy="2190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noFill/>
      </p:bgPr>
    </p:bg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56" name="Google Shape;256;p10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10"/>
          <p:cNvSpPr txBox="1"/>
          <p:nvPr/>
        </p:nvSpPr>
        <p:spPr>
          <a:xfrm>
            <a:off x="1144588" y="185738"/>
            <a:ext cx="3398687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Event Binding ( )…</a:t>
            </a:r>
            <a:endParaRPr/>
          </a:p>
        </p:txBody>
      </p:sp>
      <p:cxnSp>
        <p:nvCxnSpPr>
          <p:cNvPr id="258" name="Google Shape;258;p10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9" name="Google Shape;259;p10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60" name="Google Shape;260;p10"/>
          <p:cNvSpPr/>
          <p:nvPr/>
        </p:nvSpPr>
        <p:spPr>
          <a:xfrm>
            <a:off x="777662" y="1088910"/>
            <a:ext cx="807826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Lista completa de eventos que se pueden capturar en Angular: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10"/>
          <p:cNvSpPr txBox="1"/>
          <p:nvPr/>
        </p:nvSpPr>
        <p:spPr>
          <a:xfrm>
            <a:off x="1144588" y="1631164"/>
            <a:ext cx="3615092" cy="45243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(click)="myFunction()"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(dblclick)="myFunction()"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(submit)="myFunction()"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(blur)="myFunction()"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(focus)="myFunction()"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(scroll)="myFunction()"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(cut)="myFunction()"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(copy)="myFunction()"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(paste)="myFunction()"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(keyup)="myFunction()"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(keypress)="myFunction()"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(keydown)="myFunction()"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(mouseup)="myFunction()"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(mousedown)="myFunction()"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(mouseenter)="myFunction()"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(drag)="myFunction()"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(drop)="myFunction()" 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33CC"/>
              </a:buClr>
              <a:buSzPts val="1600"/>
              <a:buFont typeface="Arial"/>
              <a:buChar char="•"/>
            </a:pPr>
            <a:r>
              <a:rPr lang="es-CL" sz="16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(dragover)="myFunction()"</a:t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66" name="Google Shape;266;p11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1"/>
          <p:cNvSpPr txBox="1"/>
          <p:nvPr/>
        </p:nvSpPr>
        <p:spPr>
          <a:xfrm>
            <a:off x="1144612" y="185750"/>
            <a:ext cx="75264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Two Way Binding [( )]</a:t>
            </a:r>
            <a:endParaRPr/>
          </a:p>
        </p:txBody>
      </p:sp>
      <p:cxnSp>
        <p:nvCxnSpPr>
          <p:cNvPr id="268" name="Google Shape;268;p11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9" name="Google Shape;269;p11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70" name="Google Shape;270;p11"/>
          <p:cNvSpPr/>
          <p:nvPr/>
        </p:nvSpPr>
        <p:spPr>
          <a:xfrm>
            <a:off x="627083" y="1164625"/>
            <a:ext cx="808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Permite </a:t>
            </a:r>
            <a:r>
              <a:rPr lang="es-CL" sz="1800">
                <a:solidFill>
                  <a:schemeClr val="dk1"/>
                </a:solidFill>
              </a:rPr>
              <a:t>sincronizar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datos autom</a:t>
            </a:r>
            <a:r>
              <a:rPr lang="es-CL" sz="1800">
                <a:solidFill>
                  <a:schemeClr val="dk1"/>
                </a:solidFill>
              </a:rPr>
              <a:t>áticamente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 </a:t>
            </a:r>
            <a:r>
              <a:rPr lang="es-CL" sz="1800">
                <a:solidFill>
                  <a:schemeClr val="dk1"/>
                </a:solidFill>
              </a:rPr>
              <a:t>ambos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sentidos.</a:t>
            </a:r>
            <a:endParaRPr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1" name="Google Shape;271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5731" y="1728323"/>
            <a:ext cx="5071071" cy="343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293920" y="2327418"/>
            <a:ext cx="1417851" cy="1250324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1"/>
          <p:cNvSpPr/>
          <p:nvPr/>
        </p:nvSpPr>
        <p:spPr>
          <a:xfrm>
            <a:off x="627063" y="2327418"/>
            <a:ext cx="700488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Curiosamente se denomina </a:t>
            </a:r>
            <a:r>
              <a:rPr lang="es-CL" sz="1800">
                <a:solidFill>
                  <a:srgbClr val="0033CC"/>
                </a:solidFill>
                <a:latin typeface="Arial"/>
                <a:ea typeface="Arial"/>
                <a:cs typeface="Arial"/>
                <a:sym typeface="Arial"/>
              </a:rPr>
              <a:t>banana in a box 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esta expresión, porque los corchetes parecen la caja y los paréntesis los plátanos.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1"/>
          <p:cNvSpPr/>
          <p:nvPr/>
        </p:nvSpPr>
        <p:spPr>
          <a:xfrm>
            <a:off x="627077" y="3367800"/>
            <a:ext cx="7173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Requiere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directiva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ngModel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para declarar este binding.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11"/>
          <p:cNvSpPr/>
          <p:nvPr/>
        </p:nvSpPr>
        <p:spPr>
          <a:xfrm>
            <a:off x="627051" y="3979800"/>
            <a:ext cx="80439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Para poder usar Two way Binding se debe importar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FormsModule</a:t>
            </a:r>
            <a:r>
              <a:rPr lang="es-CL" sz="18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280" name="Google Shape;280;p12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12"/>
          <p:cNvSpPr txBox="1"/>
          <p:nvPr/>
        </p:nvSpPr>
        <p:spPr>
          <a:xfrm>
            <a:off x="1144610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Two Way Binding [( )</a:t>
            </a:r>
            <a:r>
              <a:rPr b="1" lang="es-CL" sz="2800">
                <a:solidFill>
                  <a:srgbClr val="0070C0"/>
                </a:solidFill>
              </a:rPr>
              <a:t>] - ¿Como funciona?</a:t>
            </a:r>
            <a:endParaRPr/>
          </a:p>
        </p:txBody>
      </p:sp>
      <p:cxnSp>
        <p:nvCxnSpPr>
          <p:cNvPr id="282" name="Google Shape;282;p12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3" name="Google Shape;283;p12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284" name="Google Shape;284;p12"/>
          <p:cNvSpPr/>
          <p:nvPr/>
        </p:nvSpPr>
        <p:spPr>
          <a:xfrm>
            <a:off x="659550" y="1167050"/>
            <a:ext cx="7824900" cy="283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Angular no inventa nada nuevo… solo hace más simple lo que ya hacíamos, utilizando juntos; property binding, event binding y ngModel.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ncerramos </a:t>
            </a:r>
            <a:r>
              <a:rPr lang="es-CL" sz="1800">
                <a:solidFill>
                  <a:schemeClr val="dk1"/>
                </a:solidFill>
              </a:rPr>
              <a:t>en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[ ] corchetes para indicar </a:t>
            </a:r>
            <a:r>
              <a:rPr b="1" lang="es-CL" sz="1800">
                <a:solidFill>
                  <a:schemeClr val="dk1"/>
                </a:solidFill>
              </a:rPr>
              <a:t>property binding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desde la clase al template.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Usamos la propiedad </a:t>
            </a:r>
            <a:r>
              <a:rPr b="1" lang="es-CL" sz="1800">
                <a:solidFill>
                  <a:schemeClr val="dk1"/>
                </a:solidFill>
              </a:rPr>
              <a:t>ngModel</a:t>
            </a:r>
            <a:r>
              <a:rPr lang="es-CL" sz="1800">
                <a:solidFill>
                  <a:schemeClr val="dk1"/>
                </a:solidFill>
              </a:rPr>
              <a:t> SOLO para conectar el valor del input con una variable de la clase. 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</a:endParaRPr>
          </a:p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E</a:t>
            </a:r>
            <a:r>
              <a:rPr lang="es-CL" sz="1800">
                <a:solidFill>
                  <a:schemeClr val="dk1"/>
                </a:solidFill>
              </a:rPr>
              <a:t>ncerramos en paréntesis ( ) para expresar </a:t>
            </a:r>
            <a:r>
              <a:rPr b="1" lang="es-CL" sz="1800">
                <a:solidFill>
                  <a:schemeClr val="dk1"/>
                </a:solidFill>
              </a:rPr>
              <a:t>event binding</a:t>
            </a:r>
            <a:r>
              <a:rPr lang="es-CL" sz="1800">
                <a:solidFill>
                  <a:schemeClr val="dk1"/>
                </a:solidFill>
              </a:rPr>
              <a:t>, desde la vista template a los datos (clase).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85" name="Google Shape;285;p12"/>
          <p:cNvSpPr/>
          <p:nvPr/>
        </p:nvSpPr>
        <p:spPr>
          <a:xfrm>
            <a:off x="846675" y="4595889"/>
            <a:ext cx="171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2"/>
          <p:cNvSpPr/>
          <p:nvPr/>
        </p:nvSpPr>
        <p:spPr>
          <a:xfrm>
            <a:off x="5258214" y="3916190"/>
            <a:ext cx="154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7" name="Google Shape;287;p12" title="Captura de pantalla 2026-04-05 a la(s) 18.22.0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2975" y="4872750"/>
            <a:ext cx="3676650" cy="64517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2"/>
          <p:cNvSpPr/>
          <p:nvPr/>
        </p:nvSpPr>
        <p:spPr>
          <a:xfrm>
            <a:off x="2552400" y="5072025"/>
            <a:ext cx="2019600" cy="2313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9" name="Google Shape;289;p12" title="Captura de pantalla 2026-04-05 a la(s) 20.18.45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56950" y="4193100"/>
            <a:ext cx="3056800" cy="2276625"/>
          </a:xfrm>
          <a:prstGeom prst="rect">
            <a:avLst/>
          </a:prstGeom>
          <a:noFill/>
          <a:ln>
            <a:noFill/>
          </a:ln>
        </p:spPr>
      </p:pic>
      <p:sp>
        <p:nvSpPr>
          <p:cNvPr id="290" name="Google Shape;290;p12"/>
          <p:cNvSpPr/>
          <p:nvPr/>
        </p:nvSpPr>
        <p:spPr>
          <a:xfrm>
            <a:off x="5469133" y="6279750"/>
            <a:ext cx="1513800" cy="1338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2"/>
          <p:cNvSpPr/>
          <p:nvPr/>
        </p:nvSpPr>
        <p:spPr>
          <a:xfrm>
            <a:off x="5356950" y="4218117"/>
            <a:ext cx="2536200" cy="133800"/>
          </a:xfrm>
          <a:prstGeom prst="rect">
            <a:avLst/>
          </a:prstGeom>
          <a:solidFill>
            <a:srgbClr val="FFFF00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2"/>
          <p:cNvSpPr/>
          <p:nvPr/>
        </p:nvSpPr>
        <p:spPr>
          <a:xfrm>
            <a:off x="5547450" y="5180108"/>
            <a:ext cx="800100" cy="133800"/>
          </a:xfrm>
          <a:prstGeom prst="rect">
            <a:avLst/>
          </a:prstGeom>
          <a:solidFill>
            <a:srgbClr val="FFFF00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93" name="Google Shape;293;p12"/>
          <p:cNvCxnSpPr>
            <a:stCxn id="288" idx="2"/>
            <a:endCxn id="290" idx="1"/>
          </p:cNvCxnSpPr>
          <p:nvPr/>
        </p:nvCxnSpPr>
        <p:spPr>
          <a:xfrm flipH="1" rot="-5400000">
            <a:off x="3993900" y="4871625"/>
            <a:ext cx="1043400" cy="1906800"/>
          </a:xfrm>
          <a:prstGeom prst="bentConnector2">
            <a:avLst/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  <p:sp>
        <p:nvSpPr>
          <p:cNvPr id="294" name="Google Shape;294;p12"/>
          <p:cNvSpPr/>
          <p:nvPr/>
        </p:nvSpPr>
        <p:spPr>
          <a:xfrm>
            <a:off x="7043575" y="5180100"/>
            <a:ext cx="1906800" cy="645300"/>
          </a:xfrm>
          <a:prstGeom prst="wedgeRectCallout">
            <a:avLst>
              <a:gd fmla="val -99140" name="adj1"/>
              <a:gd fmla="val 123094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listFilter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la creamos e iniciamos como signal</a:t>
            </a:r>
            <a:endParaRPr sz="1400">
              <a:solidFill>
                <a:schemeClr val="dk1"/>
              </a:solidFill>
              <a:latin typeface="Content"/>
              <a:ea typeface="Content"/>
              <a:cs typeface="Content"/>
              <a:sym typeface="Conten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g396de578bed_0_19" title="Captura de pantalla 2026-04-05 a la(s) 20.21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46075" y="1856908"/>
            <a:ext cx="3735924" cy="59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0" name="Google Shape;300;g396de578bed_0_19" title="Captura de pantalla 2026-04-05 a la(s) 20.22.35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5117" y="1856908"/>
            <a:ext cx="3793974" cy="911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01" name="Google Shape;301;g396de578bed_0_19"/>
          <p:cNvPicPr preferRelativeResize="0"/>
          <p:nvPr/>
        </p:nvPicPr>
        <p:blipFill rotWithShape="1">
          <a:blip r:embed="rId5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g396de578bed_0_19"/>
          <p:cNvSpPr txBox="1"/>
          <p:nvPr/>
        </p:nvSpPr>
        <p:spPr>
          <a:xfrm>
            <a:off x="1144610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Two Way Binding [( )</a:t>
            </a:r>
            <a:r>
              <a:rPr b="1" lang="es-CL" sz="2800">
                <a:solidFill>
                  <a:srgbClr val="0070C0"/>
                </a:solidFill>
              </a:rPr>
              <a:t>] - ¿Como funciona?</a:t>
            </a:r>
            <a:endParaRPr/>
          </a:p>
        </p:txBody>
      </p:sp>
      <p:cxnSp>
        <p:nvCxnSpPr>
          <p:cNvPr id="303" name="Google Shape;303;g396de578bed_0_19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4" name="Google Shape;304;g396de578bed_0_19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05" name="Google Shape;305;g396de578bed_0_19"/>
          <p:cNvSpPr/>
          <p:nvPr/>
        </p:nvSpPr>
        <p:spPr>
          <a:xfrm>
            <a:off x="627063" y="1164637"/>
            <a:ext cx="78249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Angular</a:t>
            </a:r>
            <a:r>
              <a:rPr lang="es-CL" sz="1800">
                <a:solidFill>
                  <a:schemeClr val="dk1"/>
                </a:solidFill>
              </a:rPr>
              <a:t> lo traduce a este ejemplo sin ngModel:</a:t>
            </a:r>
            <a:endParaRPr/>
          </a:p>
        </p:txBody>
      </p:sp>
      <p:sp>
        <p:nvSpPr>
          <p:cNvPr id="306" name="Google Shape;306;g396de578bed_0_19"/>
          <p:cNvSpPr/>
          <p:nvPr/>
        </p:nvSpPr>
        <p:spPr>
          <a:xfrm>
            <a:off x="620138" y="1561522"/>
            <a:ext cx="171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7" name="Google Shape;307;g396de578bed_0_19"/>
          <p:cNvSpPr/>
          <p:nvPr/>
        </p:nvSpPr>
        <p:spPr>
          <a:xfrm>
            <a:off x="4572002" y="1561536"/>
            <a:ext cx="154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g396de578bed_0_19"/>
          <p:cNvSpPr/>
          <p:nvPr/>
        </p:nvSpPr>
        <p:spPr>
          <a:xfrm>
            <a:off x="627075" y="3159274"/>
            <a:ext cx="7824900" cy="25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Two-way binding NO es la estrella del modelo moderno. ¿porque?</a:t>
            </a:r>
            <a:endParaRPr sz="1800">
              <a:solidFill>
                <a:schemeClr val="dk1"/>
              </a:solidFill>
            </a:endParaRPr>
          </a:p>
          <a:p>
            <a:pPr indent="0" lvl="0" marL="4572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1" marL="914400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s-CL" sz="1800">
                <a:solidFill>
                  <a:schemeClr val="dk1"/>
                </a:solidFill>
              </a:rPr>
              <a:t>usa ngModel</a:t>
            </a:r>
            <a:r>
              <a:rPr lang="es-CL" sz="1800">
                <a:solidFill>
                  <a:schemeClr val="dk1"/>
                </a:solidFill>
              </a:rPr>
              <a:t>:</a:t>
            </a:r>
            <a:endParaRPr sz="1800">
              <a:solidFill>
                <a:schemeClr val="dk1"/>
              </a:solidFill>
            </a:endParaRPr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CL" sz="1800">
                <a:solidFill>
                  <a:schemeClr val="dk1"/>
                </a:solidFill>
              </a:rPr>
              <a:t>Viene del mundo Forms / Angular antiguo</a:t>
            </a:r>
            <a:endParaRPr sz="1800">
              <a:solidFill>
                <a:schemeClr val="dk1"/>
              </a:solidFill>
            </a:endParaRPr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CL" sz="1800">
                <a:solidFill>
                  <a:schemeClr val="dk1"/>
                </a:solidFill>
              </a:rPr>
              <a:t>No está pensado para signals directamente</a:t>
            </a:r>
            <a:endParaRPr sz="1800">
              <a:solidFill>
                <a:schemeClr val="dk1"/>
              </a:solidFill>
            </a:endParaRPr>
          </a:p>
          <a:p>
            <a:pPr indent="-342900" lvl="2" marL="137160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</a:pPr>
            <a:r>
              <a:rPr lang="es-CL" sz="1800">
                <a:solidFill>
                  <a:schemeClr val="dk1"/>
                </a:solidFill>
              </a:rPr>
              <a:t>Puede generar confusión en reactividad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Two-way binding es un atajo… por lo tanto es importante entender qué pasa por debajo</a:t>
            </a:r>
            <a:endParaRPr sz="1800">
              <a:solidFill>
                <a:schemeClr val="dk1"/>
              </a:solidFill>
            </a:endParaRPr>
          </a:p>
          <a:p>
            <a:pPr indent="0" lvl="0" marL="137160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09" name="Google Shape;309;g396de578bed_0_19"/>
          <p:cNvSpPr/>
          <p:nvPr/>
        </p:nvSpPr>
        <p:spPr>
          <a:xfrm>
            <a:off x="1181946" y="2218192"/>
            <a:ext cx="3320700" cy="404400"/>
          </a:xfrm>
          <a:prstGeom prst="rect">
            <a:avLst/>
          </a:prstGeom>
          <a:solidFill>
            <a:srgbClr val="FFFF00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0" name="Google Shape;310;g396de578bed_0_19"/>
          <p:cNvSpPr/>
          <p:nvPr/>
        </p:nvSpPr>
        <p:spPr>
          <a:xfrm>
            <a:off x="4821050" y="2186442"/>
            <a:ext cx="1770300" cy="212100"/>
          </a:xfrm>
          <a:prstGeom prst="rect">
            <a:avLst/>
          </a:prstGeom>
          <a:solidFill>
            <a:srgbClr val="FFFF00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11" name="Google Shape;311;g396de578bed_0_19"/>
          <p:cNvCxnSpPr>
            <a:stCxn id="309" idx="2"/>
            <a:endCxn id="310" idx="2"/>
          </p:cNvCxnSpPr>
          <p:nvPr/>
        </p:nvCxnSpPr>
        <p:spPr>
          <a:xfrm rot="-5400000">
            <a:off x="4162146" y="1078642"/>
            <a:ext cx="224100" cy="2863800"/>
          </a:xfrm>
          <a:prstGeom prst="bentConnector3">
            <a:avLst>
              <a:gd fmla="val -106258" name="adj1"/>
            </a:avLst>
          </a:prstGeom>
          <a:noFill/>
          <a:ln cap="flat" cmpd="sng" w="28575">
            <a:solidFill>
              <a:srgbClr val="FF0000"/>
            </a:solidFill>
            <a:prstDash val="solid"/>
            <a:miter lim="800000"/>
            <a:headEnd len="med" w="med" type="triangl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16" name="Google Shape;316;g396de578bed_0_0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sp>
        <p:nvSpPr>
          <p:cNvPr id="317" name="Google Shape;317;g396de578bed_0_0"/>
          <p:cNvSpPr txBox="1"/>
          <p:nvPr/>
        </p:nvSpPr>
        <p:spPr>
          <a:xfrm>
            <a:off x="1144612" y="185750"/>
            <a:ext cx="7588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Two Way Binding [( )] - ¿Qu</a:t>
            </a:r>
            <a:r>
              <a:rPr b="1" lang="es-CL" sz="2800">
                <a:solidFill>
                  <a:srgbClr val="0070C0"/>
                </a:solidFill>
              </a:rPr>
              <a:t>é resuelve?</a:t>
            </a:r>
            <a:endParaRPr/>
          </a:p>
        </p:txBody>
      </p:sp>
      <p:cxnSp>
        <p:nvCxnSpPr>
          <p:cNvPr id="318" name="Google Shape;318;g396de578bed_0_0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9" name="Google Shape;319;g396de578bed_0_0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20" name="Google Shape;320;g396de578bed_0_0"/>
          <p:cNvSpPr/>
          <p:nvPr/>
        </p:nvSpPr>
        <p:spPr>
          <a:xfrm>
            <a:off x="627083" y="1164625"/>
            <a:ext cx="808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</a:rPr>
              <a:t>ANTES,</a:t>
            </a:r>
            <a:r>
              <a:rPr lang="es-CL" sz="1800">
                <a:solidFill>
                  <a:schemeClr val="dk1"/>
                </a:solidFill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Debíamos</a:t>
            </a:r>
            <a:r>
              <a:rPr lang="es-CL" sz="1800">
                <a:solidFill>
                  <a:schemeClr val="dk1"/>
                </a:solidFill>
              </a:rPr>
              <a:t> sincronizar manualmente: </a:t>
            </a:r>
            <a:r>
              <a:rPr b="1" lang="es-CL" sz="1800">
                <a:solidFill>
                  <a:schemeClr val="dk1"/>
                </a:solidFill>
              </a:rPr>
              <a:t>HTML ↔ variable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21" name="Google Shape;321;g396de578bed_0_0"/>
          <p:cNvSpPr/>
          <p:nvPr/>
        </p:nvSpPr>
        <p:spPr>
          <a:xfrm>
            <a:off x="613500" y="1656186"/>
            <a:ext cx="7917000" cy="3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HTML: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322" name="Google Shape;322;g396de578bed_0_0" title="Captura de pantalla 2026-04-05 a la(s) 15.40.42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53300" y="2176029"/>
            <a:ext cx="4552950" cy="13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323" name="Google Shape;323;g396de578bed_0_0"/>
          <p:cNvSpPr/>
          <p:nvPr/>
        </p:nvSpPr>
        <p:spPr>
          <a:xfrm>
            <a:off x="613500" y="2113090"/>
            <a:ext cx="7917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Javascript (puro)</a:t>
            </a:r>
            <a:r>
              <a:rPr lang="es-CL" sz="1800">
                <a:solidFill>
                  <a:schemeClr val="dk1"/>
                </a:solidFill>
              </a:rPr>
              <a:t>:</a:t>
            </a:r>
            <a:endParaRPr b="1" sz="1800">
              <a:solidFill>
                <a:schemeClr val="dk1"/>
              </a:solidFill>
            </a:endParaRPr>
          </a:p>
        </p:txBody>
      </p:sp>
      <p:pic>
        <p:nvPicPr>
          <p:cNvPr id="324" name="Google Shape;324;g396de578bed_0_0" title="Captura de pantalla 2026-04-05 a la(s) 15.48.38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99725" y="1633550"/>
            <a:ext cx="2227715" cy="36930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96de578bed_0_0"/>
          <p:cNvSpPr/>
          <p:nvPr/>
        </p:nvSpPr>
        <p:spPr>
          <a:xfrm>
            <a:off x="613500" y="3712325"/>
            <a:ext cx="7917000" cy="169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Cada vez que el usuario escribe, guardo lo que escribió en una variable y para ello debemos: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Escuchar evento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Leer input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Actualizar variable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s-CL" sz="1800">
                <a:solidFill>
                  <a:schemeClr val="dk1"/>
                </a:solidFill>
              </a:rPr>
              <a:t>Actualizar DOM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326" name="Google Shape;326;g396de578bed_0_0"/>
          <p:cNvSpPr/>
          <p:nvPr/>
        </p:nvSpPr>
        <p:spPr>
          <a:xfrm>
            <a:off x="613508" y="5613875"/>
            <a:ext cx="80847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1" lang="es-CL" sz="1800">
                <a:solidFill>
                  <a:schemeClr val="dk1"/>
                </a:solidFill>
              </a:rPr>
              <a:t>AHORA</a:t>
            </a:r>
            <a:r>
              <a:rPr b="1" lang="es-CL" sz="1800">
                <a:solidFill>
                  <a:schemeClr val="dk1"/>
                </a:solidFill>
              </a:rPr>
              <a:t>,</a:t>
            </a:r>
            <a:r>
              <a:rPr lang="es-CL" sz="1800">
                <a:solidFill>
                  <a:schemeClr val="dk1"/>
                </a:solidFill>
              </a:rPr>
              <a:t> Cambia el dato y Angular actualiza todo!!!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13" title="Captura de pantalla 2026-04-05 a la(s) 20.21.1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80737" y="2999350"/>
            <a:ext cx="3735924" cy="596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2" name="Google Shape;332;p13" title="Captura de pantalla 2026-04-05 a la(s) 20.25.34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0238" y="2995075"/>
            <a:ext cx="4387900" cy="189880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33" name="Google Shape;333;p13"/>
          <p:cNvPicPr preferRelativeResize="0"/>
          <p:nvPr/>
        </p:nvPicPr>
        <p:blipFill rotWithShape="1">
          <a:blip r:embed="rId5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34" name="Google Shape;334;p13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35" name="Google Shape;335;p13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36" name="Google Shape;336;p13"/>
          <p:cNvSpPr txBox="1"/>
          <p:nvPr/>
        </p:nvSpPr>
        <p:spPr>
          <a:xfrm>
            <a:off x="1144588" y="185738"/>
            <a:ext cx="4852675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Two Way Binding - Ejemplo</a:t>
            </a:r>
            <a:endParaRPr/>
          </a:p>
        </p:txBody>
      </p:sp>
      <p:sp>
        <p:nvSpPr>
          <p:cNvPr id="337" name="Google Shape;337;p13"/>
          <p:cNvSpPr/>
          <p:nvPr/>
        </p:nvSpPr>
        <p:spPr>
          <a:xfrm>
            <a:off x="627063" y="1217997"/>
            <a:ext cx="78249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Usamos Two Way Binding para la implementación del filtro de lista:</a:t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8" name="Google Shape;33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020871" y="1853705"/>
            <a:ext cx="68770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13"/>
          <p:cNvSpPr/>
          <p:nvPr/>
        </p:nvSpPr>
        <p:spPr>
          <a:xfrm>
            <a:off x="388466" y="2722401"/>
            <a:ext cx="171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3"/>
          <p:cNvSpPr/>
          <p:nvPr/>
        </p:nvSpPr>
        <p:spPr>
          <a:xfrm>
            <a:off x="4933668" y="2722462"/>
            <a:ext cx="154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41" name="Google Shape;341;p13"/>
          <p:cNvCxnSpPr/>
          <p:nvPr/>
        </p:nvCxnSpPr>
        <p:spPr>
          <a:xfrm>
            <a:off x="4894434" y="2723219"/>
            <a:ext cx="0" cy="287640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2" name="Google Shape;342;p13"/>
          <p:cNvCxnSpPr/>
          <p:nvPr/>
        </p:nvCxnSpPr>
        <p:spPr>
          <a:xfrm>
            <a:off x="2306410" y="2377580"/>
            <a:ext cx="1520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43" name="Google Shape;343;p13"/>
          <p:cNvCxnSpPr/>
          <p:nvPr/>
        </p:nvCxnSpPr>
        <p:spPr>
          <a:xfrm>
            <a:off x="5280021" y="2378350"/>
            <a:ext cx="1520400" cy="0"/>
          </a:xfrm>
          <a:prstGeom prst="straightConnector1">
            <a:avLst/>
          </a:prstGeom>
          <a:noFill/>
          <a:ln cap="flat" cmpd="sng" w="381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44" name="Google Shape;344;p13"/>
          <p:cNvSpPr/>
          <p:nvPr/>
        </p:nvSpPr>
        <p:spPr>
          <a:xfrm>
            <a:off x="769658" y="3582242"/>
            <a:ext cx="4017300" cy="3126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3"/>
          <p:cNvSpPr/>
          <p:nvPr/>
        </p:nvSpPr>
        <p:spPr>
          <a:xfrm>
            <a:off x="875492" y="4215782"/>
            <a:ext cx="2815200" cy="2769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6" name="Google Shape;346;p13"/>
          <p:cNvSpPr/>
          <p:nvPr/>
        </p:nvSpPr>
        <p:spPr>
          <a:xfrm>
            <a:off x="362426" y="4316507"/>
            <a:ext cx="428400" cy="244800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FF0000"/>
          </a:solidFill>
          <a:ln cap="flat" cmpd="sng" w="12700">
            <a:solidFill>
              <a:srgbClr val="FF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3"/>
          <p:cNvSpPr txBox="1"/>
          <p:nvPr/>
        </p:nvSpPr>
        <p:spPr>
          <a:xfrm>
            <a:off x="1929900" y="5599625"/>
            <a:ext cx="52842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1800">
                <a:solidFill>
                  <a:srgbClr val="0000FF"/>
                </a:solidFill>
              </a:rPr>
              <a:t>Angular reacciona SOLO</a:t>
            </a:r>
            <a:endParaRPr b="1" sz="1800">
              <a:solidFill>
                <a:srgbClr val="0000FF"/>
              </a:solidFill>
            </a:endParaRPr>
          </a:p>
        </p:txBody>
      </p:sp>
      <p:sp>
        <p:nvSpPr>
          <p:cNvPr id="348" name="Google Shape;348;p13"/>
          <p:cNvSpPr/>
          <p:nvPr/>
        </p:nvSpPr>
        <p:spPr>
          <a:xfrm>
            <a:off x="5123618" y="3322387"/>
            <a:ext cx="2019600" cy="2616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53" name="Google Shape;353;p14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54" name="Google Shape;354;p14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5" name="Google Shape;355;p14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56" name="Google Shape;356;p14"/>
          <p:cNvSpPr txBox="1"/>
          <p:nvPr/>
        </p:nvSpPr>
        <p:spPr>
          <a:xfrm>
            <a:off x="1144588" y="185738"/>
            <a:ext cx="7449540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Two Way Binding – Importar FormsModule</a:t>
            </a:r>
            <a:endParaRPr b="1" sz="2800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4"/>
          <p:cNvSpPr/>
          <p:nvPr/>
        </p:nvSpPr>
        <p:spPr>
          <a:xfrm>
            <a:off x="627075" y="4999476"/>
            <a:ext cx="8105700" cy="9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Hasta aquí solo replicamos el texto ingresado como filtro.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s-CL" sz="1800">
                <a:solidFill>
                  <a:schemeClr val="dk1"/>
                </a:solidFill>
              </a:rPr>
              <a:t>Pero… ¿Cómo realizar el filtro?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4"/>
          <p:cNvSpPr/>
          <p:nvPr/>
        </p:nvSpPr>
        <p:spPr>
          <a:xfrm>
            <a:off x="627063" y="1217997"/>
            <a:ext cx="78249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Importamos </a:t>
            </a:r>
            <a:r>
              <a:rPr i="1"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FormsModule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dentro del </a:t>
            </a:r>
            <a:r>
              <a:rPr lang="es-CL" sz="1800">
                <a:solidFill>
                  <a:schemeClr val="dk1"/>
                </a:solidFill>
              </a:rPr>
              <a:t>componente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s-CL" sz="1800">
                <a:solidFill>
                  <a:schemeClr val="dk1"/>
                </a:solidFill>
              </a:rPr>
              <a:t>standalone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4"/>
          <p:cNvSpPr/>
          <p:nvPr/>
        </p:nvSpPr>
        <p:spPr>
          <a:xfrm>
            <a:off x="1011673" y="1773434"/>
            <a:ext cx="1289135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0" name="Google Shape;360;p14" title="Captura de pantalla 2026-04-05 a la(s) 18.22.17.png"/>
          <p:cNvPicPr preferRelativeResize="0"/>
          <p:nvPr/>
        </p:nvPicPr>
        <p:blipFill rotWithShape="1">
          <a:blip r:embed="rId4">
            <a:alphaModFix/>
          </a:blip>
          <a:srcRect b="21489" l="0" r="0" t="0"/>
          <a:stretch/>
        </p:blipFill>
        <p:spPr>
          <a:xfrm>
            <a:off x="1144600" y="2050425"/>
            <a:ext cx="4627549" cy="2741901"/>
          </a:xfrm>
          <a:prstGeom prst="rect">
            <a:avLst/>
          </a:prstGeom>
          <a:solidFill>
            <a:srgbClr val="FFFF00">
              <a:alpha val="14900"/>
            </a:srgbClr>
          </a:solidFill>
          <a:ln>
            <a:noFill/>
          </a:ln>
        </p:spPr>
      </p:pic>
      <p:sp>
        <p:nvSpPr>
          <p:cNvPr id="361" name="Google Shape;361;p14"/>
          <p:cNvSpPr/>
          <p:nvPr/>
        </p:nvSpPr>
        <p:spPr>
          <a:xfrm>
            <a:off x="1206500" y="2096375"/>
            <a:ext cx="3984600" cy="3003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4"/>
          <p:cNvSpPr/>
          <p:nvPr/>
        </p:nvSpPr>
        <p:spPr>
          <a:xfrm>
            <a:off x="1488719" y="3547935"/>
            <a:ext cx="1162800" cy="3003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after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67" name="Google Shape;367;p15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8" name="Google Shape;368;p15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69" name="Google Shape;369;p15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70" name="Google Shape;370;p15"/>
          <p:cNvSpPr txBox="1"/>
          <p:nvPr/>
        </p:nvSpPr>
        <p:spPr>
          <a:xfrm>
            <a:off x="1144588" y="185738"/>
            <a:ext cx="6311408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Two Way Binding – Realizar el Filtro</a:t>
            </a: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946601" y="2643517"/>
            <a:ext cx="1544012" cy="2769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5"/>
          <p:cNvSpPr/>
          <p:nvPr/>
        </p:nvSpPr>
        <p:spPr>
          <a:xfrm>
            <a:off x="627063" y="1103438"/>
            <a:ext cx="7824960" cy="15081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variable </a:t>
            </a:r>
            <a:r>
              <a:rPr lang="es-CL" sz="1800">
                <a:solidFill>
                  <a:srgbClr val="0033CC"/>
                </a:solidFill>
                <a:latin typeface="Consolas"/>
                <a:ea typeface="Consolas"/>
                <a:cs typeface="Consolas"/>
                <a:sym typeface="Consolas"/>
              </a:rPr>
              <a:t>listFilter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solo captura el valor.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Necesitamos una manera simple de filtrar a medida que se ingresan nuevos caracteres al filtro.</a:t>
            </a:r>
            <a:endParaRPr/>
          </a:p>
          <a:p>
            <a:pPr indent="-2222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r>
              <a:t/>
            </a:r>
            <a:endParaRPr b="0" i="0" sz="1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</a:rPr>
              <a:t>La</a:t>
            </a:r>
            <a:r>
              <a:rPr b="0" i="0"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alternativa moderna es </a:t>
            </a:r>
            <a:r>
              <a:rPr b="1" lang="es-CL" sz="1800">
                <a:solidFill>
                  <a:schemeClr val="dk1"/>
                </a:solidFill>
              </a:rPr>
              <a:t>Binding (conecta) + Signal (automatiza)</a:t>
            </a:r>
            <a:r>
              <a:rPr lang="es-CL" sz="1800">
                <a:solidFill>
                  <a:schemeClr val="dk1"/>
                </a:solidFill>
              </a:rPr>
              <a:t>.</a:t>
            </a: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1720487" y="3620731"/>
            <a:ext cx="2566514" cy="232523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74" name="Google Shape;374;p15" title="Captura de pantalla 2026-04-05 a la(s) 20.36.00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946600" y="2952497"/>
            <a:ext cx="5792499" cy="3418676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15"/>
          <p:cNvSpPr/>
          <p:nvPr/>
        </p:nvSpPr>
        <p:spPr>
          <a:xfrm>
            <a:off x="4809975" y="2643525"/>
            <a:ext cx="2714700" cy="715200"/>
          </a:xfrm>
          <a:prstGeom prst="wedgeRectCallout">
            <a:avLst>
              <a:gd fmla="val -130493" name="adj1"/>
              <a:gd fmla="val 68706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Definimos el arreglo de productos como </a:t>
            </a:r>
            <a:r>
              <a:rPr b="1"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signal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5"/>
          <p:cNvSpPr/>
          <p:nvPr/>
        </p:nvSpPr>
        <p:spPr>
          <a:xfrm>
            <a:off x="1206501" y="3429000"/>
            <a:ext cx="2266800" cy="2661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381" name="Google Shape;381;p16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82" name="Google Shape;382;p16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83" name="Google Shape;383;p16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384" name="Google Shape;384;p16"/>
          <p:cNvSpPr txBox="1"/>
          <p:nvPr/>
        </p:nvSpPr>
        <p:spPr>
          <a:xfrm>
            <a:off x="1144588" y="185738"/>
            <a:ext cx="6609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Two Way Binding – Realizar el Filtro…</a:t>
            </a:r>
            <a:endParaRPr/>
          </a:p>
        </p:txBody>
      </p:sp>
      <p:sp>
        <p:nvSpPr>
          <p:cNvPr id="385" name="Google Shape;385;p16"/>
          <p:cNvSpPr/>
          <p:nvPr/>
        </p:nvSpPr>
        <p:spPr>
          <a:xfrm>
            <a:off x="1095162" y="1654279"/>
            <a:ext cx="154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6"/>
          <p:cNvSpPr/>
          <p:nvPr/>
        </p:nvSpPr>
        <p:spPr>
          <a:xfrm>
            <a:off x="627063" y="1103438"/>
            <a:ext cx="78249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Ahora implementamos la funcionalidad del filtro con </a:t>
            </a:r>
            <a:r>
              <a:rPr b="1" lang="es-CL" sz="1800">
                <a:solidFill>
                  <a:schemeClr val="dk1"/>
                </a:solidFill>
              </a:rPr>
              <a:t>Signal</a:t>
            </a: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800">
              <a:solidFill>
                <a:srgbClr val="0033CC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pic>
        <p:nvPicPr>
          <p:cNvPr id="387" name="Google Shape;387;p16" title="Captura de pantalla 2026-04-05 a la(s) 20.40.4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4600" y="1931178"/>
            <a:ext cx="6351624" cy="2591174"/>
          </a:xfrm>
          <a:prstGeom prst="rect">
            <a:avLst/>
          </a:prstGeom>
          <a:noFill/>
          <a:ln>
            <a:noFill/>
          </a:ln>
        </p:spPr>
      </p:pic>
      <p:sp>
        <p:nvSpPr>
          <p:cNvPr id="388" name="Google Shape;388;p16"/>
          <p:cNvSpPr/>
          <p:nvPr/>
        </p:nvSpPr>
        <p:spPr>
          <a:xfrm>
            <a:off x="1367975" y="3198000"/>
            <a:ext cx="1425900" cy="231000"/>
          </a:xfrm>
          <a:prstGeom prst="rect">
            <a:avLst/>
          </a:prstGeom>
          <a:solidFill>
            <a:srgbClr val="FFFF00">
              <a:alpha val="14901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6"/>
          <p:cNvSpPr/>
          <p:nvPr/>
        </p:nvSpPr>
        <p:spPr>
          <a:xfrm>
            <a:off x="4644915" y="1931184"/>
            <a:ext cx="2973300" cy="961500"/>
          </a:xfrm>
          <a:prstGeom prst="wedgeRectCallout">
            <a:avLst>
              <a:gd fmla="val -119370" name="adj1"/>
              <a:gd fmla="val 77160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Crear</a:t>
            </a: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un 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dato 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derivado</a:t>
            </a: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llamado </a:t>
            </a:r>
            <a:r>
              <a:rPr b="1" lang="es-CL" sz="1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filteredProducts</a:t>
            </a: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para 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el </a:t>
            </a:r>
            <a:r>
              <a:rPr b="1"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cálculo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de</a:t>
            </a:r>
            <a:r>
              <a:rPr lang="es-CL"/>
              <a:t> </a:t>
            </a: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los productos filtrados.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6"/>
          <p:cNvSpPr/>
          <p:nvPr/>
        </p:nvSpPr>
        <p:spPr>
          <a:xfrm>
            <a:off x="4644925" y="3882750"/>
            <a:ext cx="3408900" cy="830400"/>
          </a:xfrm>
          <a:prstGeom prst="wedgeRectCallout">
            <a:avLst>
              <a:gd fmla="val -93030" name="adj1"/>
              <a:gd fmla="val -9939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Usar </a:t>
            </a:r>
            <a:r>
              <a:rPr b="1" lang="es-CL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computed</a:t>
            </a: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para 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recalcular automáticamente cuando cambian los datos.</a:t>
            </a:r>
            <a:endParaRPr sz="1400">
              <a:solidFill>
                <a:schemeClr val="dk1"/>
              </a:solidFill>
              <a:latin typeface="Content"/>
              <a:ea typeface="Content"/>
              <a:cs typeface="Content"/>
              <a:sym typeface="Content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Retorna una señal con el resultado.</a:t>
            </a:r>
            <a:endParaRPr>
              <a:solidFill>
                <a:schemeClr val="dk1"/>
              </a:solidFill>
              <a:latin typeface="Content"/>
              <a:ea typeface="Content"/>
              <a:cs typeface="Content"/>
              <a:sym typeface="Content"/>
            </a:endParaRPr>
          </a:p>
        </p:txBody>
      </p:sp>
      <p:sp>
        <p:nvSpPr>
          <p:cNvPr id="391" name="Google Shape;391;p16"/>
          <p:cNvSpPr/>
          <p:nvPr/>
        </p:nvSpPr>
        <p:spPr>
          <a:xfrm>
            <a:off x="2949125" y="3198000"/>
            <a:ext cx="956100" cy="231000"/>
          </a:xfrm>
          <a:prstGeom prst="rect">
            <a:avLst/>
          </a:prstGeom>
          <a:solidFill>
            <a:srgbClr val="FFFF00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6"/>
          <p:cNvSpPr txBox="1"/>
          <p:nvPr/>
        </p:nvSpPr>
        <p:spPr>
          <a:xfrm>
            <a:off x="2370600" y="5154225"/>
            <a:ext cx="4402800" cy="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800">
                <a:solidFill>
                  <a:schemeClr val="dk1"/>
                </a:solidFill>
              </a:rPr>
              <a:t>Esto ya es reactivo automáticamente</a:t>
            </a:r>
            <a:endParaRPr sz="2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17" title="Captura de pantalla 2026-04-05 a la(s) 21.05.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7550" y="5068500"/>
            <a:ext cx="6808910" cy="3693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Resultado de imagen para angular logos" id="398" name="Google Shape;398;p17"/>
          <p:cNvPicPr preferRelativeResize="0"/>
          <p:nvPr/>
        </p:nvPicPr>
        <p:blipFill rotWithShape="1">
          <a:blip r:embed="rId4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9" name="Google Shape;399;p17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00" name="Google Shape;400;p17"/>
          <p:cNvSpPr/>
          <p:nvPr/>
        </p:nvSpPr>
        <p:spPr>
          <a:xfrm>
            <a:off x="0" y="6494992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01" name="Google Shape;401;p17"/>
          <p:cNvSpPr txBox="1"/>
          <p:nvPr/>
        </p:nvSpPr>
        <p:spPr>
          <a:xfrm>
            <a:off x="1144588" y="185738"/>
            <a:ext cx="6609566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Two Way Binding – Realizar el Filtro…</a:t>
            </a:r>
            <a:endParaRPr/>
          </a:p>
        </p:txBody>
      </p:sp>
      <p:sp>
        <p:nvSpPr>
          <p:cNvPr id="402" name="Google Shape;402;p17"/>
          <p:cNvSpPr/>
          <p:nvPr/>
        </p:nvSpPr>
        <p:spPr>
          <a:xfrm>
            <a:off x="967909" y="1858693"/>
            <a:ext cx="15441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app.ts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7"/>
          <p:cNvSpPr/>
          <p:nvPr/>
        </p:nvSpPr>
        <p:spPr>
          <a:xfrm>
            <a:off x="659538" y="1047382"/>
            <a:ext cx="7824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¿Cómo se realiza el filtro?</a:t>
            </a:r>
            <a:endParaRPr/>
          </a:p>
        </p:txBody>
      </p:sp>
      <p:pic>
        <p:nvPicPr>
          <p:cNvPr id="404" name="Google Shape;404;p17" title="Captura de pantalla 2026-04-05 a la(s) 20.40.43.png"/>
          <p:cNvPicPr preferRelativeResize="0"/>
          <p:nvPr/>
        </p:nvPicPr>
        <p:blipFill rotWithShape="1">
          <a:blip r:embed="rId5">
            <a:alphaModFix/>
          </a:blip>
          <a:srcRect b="10810" l="0" r="0" t="45141"/>
          <a:stretch/>
        </p:blipFill>
        <p:spPr>
          <a:xfrm>
            <a:off x="1029475" y="2119539"/>
            <a:ext cx="7085026" cy="1273138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17"/>
          <p:cNvSpPr/>
          <p:nvPr/>
        </p:nvSpPr>
        <p:spPr>
          <a:xfrm>
            <a:off x="2913150" y="2446575"/>
            <a:ext cx="642900" cy="231000"/>
          </a:xfrm>
          <a:prstGeom prst="rect">
            <a:avLst/>
          </a:prstGeom>
          <a:solidFill>
            <a:srgbClr val="FFFF00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6" name="Google Shape;406;p17"/>
          <p:cNvSpPr/>
          <p:nvPr/>
        </p:nvSpPr>
        <p:spPr>
          <a:xfrm>
            <a:off x="4984815" y="1808009"/>
            <a:ext cx="2912100" cy="715200"/>
          </a:xfrm>
          <a:prstGeom prst="wedgeRectCallout">
            <a:avLst>
              <a:gd fmla="val -80893" name="adj1"/>
              <a:gd fmla="val 46429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Función de </a:t>
            </a:r>
            <a:r>
              <a:rPr b="1"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flecha</a:t>
            </a: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</a:t>
            </a:r>
            <a:r>
              <a:rPr b="1"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anónima</a:t>
            </a: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que itera sobre el arreglo productos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7" name="Google Shape;407;p17"/>
          <p:cNvSpPr/>
          <p:nvPr/>
        </p:nvSpPr>
        <p:spPr>
          <a:xfrm>
            <a:off x="3744643" y="2462182"/>
            <a:ext cx="385200" cy="199800"/>
          </a:xfrm>
          <a:prstGeom prst="rect">
            <a:avLst/>
          </a:prstGeom>
          <a:solidFill>
            <a:srgbClr val="FFFF00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p17"/>
          <p:cNvSpPr/>
          <p:nvPr/>
        </p:nvSpPr>
        <p:spPr>
          <a:xfrm>
            <a:off x="1672175" y="2672400"/>
            <a:ext cx="2497500" cy="240000"/>
          </a:xfrm>
          <a:prstGeom prst="rect">
            <a:avLst/>
          </a:prstGeom>
          <a:solidFill>
            <a:srgbClr val="FFFF00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7"/>
          <p:cNvSpPr/>
          <p:nvPr/>
        </p:nvSpPr>
        <p:spPr>
          <a:xfrm>
            <a:off x="1978615" y="3078288"/>
            <a:ext cx="2734800" cy="715200"/>
          </a:xfrm>
          <a:prstGeom prst="wedgeRectCallout">
            <a:avLst>
              <a:gd fmla="val -22148" name="adj1"/>
              <a:gd fmla="val -70535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00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Por </a:t>
            </a:r>
            <a:r>
              <a:rPr b="1"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cada producto</a:t>
            </a: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, acceder al nombre del producto, convertirlo a minúsculas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7"/>
          <p:cNvSpPr/>
          <p:nvPr/>
        </p:nvSpPr>
        <p:spPr>
          <a:xfrm>
            <a:off x="1144609" y="4767119"/>
            <a:ext cx="1713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rgbClr val="0033CC"/>
                </a:solidFill>
                <a:highlight>
                  <a:srgbClr val="FFFF00"/>
                </a:highlight>
                <a:latin typeface="Consolas"/>
                <a:ea typeface="Consolas"/>
                <a:cs typeface="Consolas"/>
                <a:sym typeface="Consolas"/>
              </a:rPr>
              <a:t>app.html</a:t>
            </a:r>
            <a:endParaRPr sz="1200">
              <a:solidFill>
                <a:schemeClr val="dk1"/>
              </a:solidFill>
              <a:highlight>
                <a:srgbClr val="FFFF00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7"/>
          <p:cNvSpPr/>
          <p:nvPr/>
        </p:nvSpPr>
        <p:spPr>
          <a:xfrm>
            <a:off x="659525" y="4096424"/>
            <a:ext cx="7824900" cy="64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Pasamos la fuente de datos filtrada como parámetro a la directiva personalizada (lista de productos o componente hijo) - </a:t>
            </a:r>
            <a:r>
              <a:rPr b="1" lang="es-CL" sz="1800">
                <a:solidFill>
                  <a:schemeClr val="dk1"/>
                </a:solidFill>
              </a:rPr>
              <a:t>Binding</a:t>
            </a:r>
            <a:endParaRPr b="1"/>
          </a:p>
        </p:txBody>
      </p:sp>
      <p:sp>
        <p:nvSpPr>
          <p:cNvPr id="412" name="Google Shape;412;p17"/>
          <p:cNvSpPr/>
          <p:nvPr/>
        </p:nvSpPr>
        <p:spPr>
          <a:xfrm>
            <a:off x="3979325" y="5068425"/>
            <a:ext cx="1799100" cy="369300"/>
          </a:xfrm>
          <a:prstGeom prst="rect">
            <a:avLst/>
          </a:prstGeom>
          <a:solidFill>
            <a:srgbClr val="FFFF00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17"/>
          <p:cNvSpPr/>
          <p:nvPr/>
        </p:nvSpPr>
        <p:spPr>
          <a:xfrm>
            <a:off x="3922002" y="5672917"/>
            <a:ext cx="2973300" cy="780900"/>
          </a:xfrm>
          <a:prstGeom prst="wedgeRectCallout">
            <a:avLst>
              <a:gd fmla="val -21430" name="adj1"/>
              <a:gd fmla="val -92601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400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Modificar la fuente de datos. Ahora pasaremos el arreglo filtrado hacia el componente hijo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4" name="Google Shape;414;p17"/>
          <p:cNvSpPr/>
          <p:nvPr/>
        </p:nvSpPr>
        <p:spPr>
          <a:xfrm>
            <a:off x="4259725" y="2673142"/>
            <a:ext cx="725100" cy="240000"/>
          </a:xfrm>
          <a:prstGeom prst="rect">
            <a:avLst/>
          </a:prstGeom>
          <a:solidFill>
            <a:srgbClr val="FFFF00">
              <a:alpha val="14900"/>
            </a:srgb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7"/>
          <p:cNvSpPr/>
          <p:nvPr/>
        </p:nvSpPr>
        <p:spPr>
          <a:xfrm>
            <a:off x="1778539" y="1434859"/>
            <a:ext cx="2912100" cy="715200"/>
          </a:xfrm>
          <a:prstGeom prst="wedgeRectCallout">
            <a:avLst>
              <a:gd fmla="val -1683" name="adj1"/>
              <a:gd fmla="val 9564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El </a:t>
            </a:r>
            <a:r>
              <a:rPr b="1"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método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</a:t>
            </a:r>
            <a:r>
              <a:rPr b="1"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filter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crea un nuevo arreglo con todos los elementos que pasan el test implementado</a:t>
            </a: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7"/>
          <p:cNvSpPr/>
          <p:nvPr/>
        </p:nvSpPr>
        <p:spPr>
          <a:xfrm>
            <a:off x="4925025" y="3078300"/>
            <a:ext cx="2734800" cy="933000"/>
          </a:xfrm>
          <a:prstGeom prst="wedgeRectCallout">
            <a:avLst>
              <a:gd fmla="val -57103" name="adj1"/>
              <a:gd fmla="val -71992" name="adj2"/>
            </a:avLst>
          </a:prstGeom>
          <a:gradFill>
            <a:gsLst>
              <a:gs pos="0">
                <a:srgbClr val="F7BCA2"/>
              </a:gs>
              <a:gs pos="50000">
                <a:srgbClr val="F4B093"/>
              </a:gs>
              <a:gs pos="100000">
                <a:srgbClr val="F7A47F"/>
              </a:gs>
            </a:gsLst>
            <a:lin ang="5400012" scaled="0"/>
          </a:gradFill>
          <a:ln cap="flat" cmpd="sng" w="9525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El </a:t>
            </a:r>
            <a:r>
              <a:rPr b="1"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método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</a:t>
            </a:r>
            <a:r>
              <a:rPr b="1"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includes</a:t>
            </a:r>
            <a:r>
              <a:rPr lang="es-CL">
                <a:solidFill>
                  <a:schemeClr val="dk1"/>
                </a:solidFill>
                <a:latin typeface="Content"/>
                <a:ea typeface="Content"/>
                <a:cs typeface="Content"/>
                <a:sym typeface="Content"/>
              </a:rPr>
              <a:t> retorna un booleano que indica si la palabra buscada está contenida o no en el nombre del producto</a:t>
            </a:r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21" name="Google Shape;421;p19"/>
          <p:cNvPicPr preferRelativeResize="0"/>
          <p:nvPr/>
        </p:nvPicPr>
        <p:blipFill rotWithShape="1">
          <a:blip r:embed="rId3">
            <a:alphaModFix/>
          </a:blip>
          <a:srcRect b="0" l="51971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22" name="Google Shape;422;p19"/>
          <p:cNvCxnSpPr/>
          <p:nvPr/>
        </p:nvCxnSpPr>
        <p:spPr>
          <a:xfrm>
            <a:off x="1206500" y="858838"/>
            <a:ext cx="7526338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23" name="Google Shape;423;p19"/>
          <p:cNvSpPr/>
          <p:nvPr/>
        </p:nvSpPr>
        <p:spPr>
          <a:xfrm>
            <a:off x="0" y="6537325"/>
            <a:ext cx="9144000" cy="312738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24" name="Google Shape;424;p19"/>
          <p:cNvSpPr txBox="1"/>
          <p:nvPr/>
        </p:nvSpPr>
        <p:spPr>
          <a:xfrm>
            <a:off x="1144588" y="185738"/>
            <a:ext cx="6213624" cy="5232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Two Way Binding – Resultado final</a:t>
            </a:r>
            <a:endParaRPr/>
          </a:p>
        </p:txBody>
      </p:sp>
      <p:sp>
        <p:nvSpPr>
          <p:cNvPr id="425" name="Google Shape;425;p19"/>
          <p:cNvSpPr/>
          <p:nvPr/>
        </p:nvSpPr>
        <p:spPr>
          <a:xfrm>
            <a:off x="627063" y="1164637"/>
            <a:ext cx="782496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s-CL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 resultado que podemos apreciar es el siguiente:</a:t>
            </a:r>
            <a:endParaRPr/>
          </a:p>
        </p:txBody>
      </p:sp>
      <p:sp>
        <p:nvSpPr>
          <p:cNvPr id="426" name="Google Shape;426;p19"/>
          <p:cNvSpPr/>
          <p:nvPr/>
        </p:nvSpPr>
        <p:spPr>
          <a:xfrm>
            <a:off x="777662" y="6182955"/>
            <a:ext cx="6181099" cy="208539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7" name="Google Shape;42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7113" y="1621631"/>
            <a:ext cx="6071514" cy="47086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0"/>
                                        <p:tgtEl>
                                          <p:spTgt spid="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ultado de imagen para angular logos" id="432" name="Google Shape;432;g396de578bed_0_142"/>
          <p:cNvPicPr preferRelativeResize="0"/>
          <p:nvPr/>
        </p:nvPicPr>
        <p:blipFill rotWithShape="1">
          <a:blip r:embed="rId3">
            <a:alphaModFix/>
          </a:blip>
          <a:srcRect b="0" l="51972" r="0" t="0"/>
          <a:stretch/>
        </p:blipFill>
        <p:spPr>
          <a:xfrm>
            <a:off x="227013" y="85725"/>
            <a:ext cx="800100" cy="83026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3" name="Google Shape;433;g396de578bed_0_142"/>
          <p:cNvCxnSpPr/>
          <p:nvPr/>
        </p:nvCxnSpPr>
        <p:spPr>
          <a:xfrm>
            <a:off x="1206500" y="858838"/>
            <a:ext cx="7526400" cy="0"/>
          </a:xfrm>
          <a:prstGeom prst="straightConnector1">
            <a:avLst/>
          </a:prstGeom>
          <a:noFill/>
          <a:ln cap="flat" cmpd="sng" w="28575">
            <a:solidFill>
              <a:srgbClr val="2E75B5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434" name="Google Shape;434;g396de578bed_0_142"/>
          <p:cNvSpPr/>
          <p:nvPr/>
        </p:nvSpPr>
        <p:spPr>
          <a:xfrm>
            <a:off x="0" y="6537325"/>
            <a:ext cx="9144000" cy="312600"/>
          </a:xfrm>
          <a:prstGeom prst="rect">
            <a:avLst/>
          </a:prstGeom>
          <a:solidFill>
            <a:srgbClr val="0070C0"/>
          </a:solidFill>
          <a:ln cap="flat" cmpd="sng" w="12700">
            <a:solidFill>
              <a:srgbClr val="0070C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 sz="1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Desarrollo FrontEnd con Angular – código 634529</a:t>
            </a:r>
            <a:endParaRPr/>
          </a:p>
        </p:txBody>
      </p:sp>
      <p:sp>
        <p:nvSpPr>
          <p:cNvPr id="435" name="Google Shape;435;g396de578bed_0_142"/>
          <p:cNvSpPr txBox="1"/>
          <p:nvPr/>
        </p:nvSpPr>
        <p:spPr>
          <a:xfrm>
            <a:off x="1144588" y="185738"/>
            <a:ext cx="62136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 sz="2800">
                <a:solidFill>
                  <a:srgbClr val="0070C0"/>
                </a:solidFill>
              </a:rPr>
              <a:t>Resumen - Binding</a:t>
            </a:r>
            <a:endParaRPr/>
          </a:p>
        </p:txBody>
      </p:sp>
      <p:sp>
        <p:nvSpPr>
          <p:cNvPr id="436" name="Google Shape;436;g396de578bed_0_142"/>
          <p:cNvSpPr/>
          <p:nvPr/>
        </p:nvSpPr>
        <p:spPr>
          <a:xfrm>
            <a:off x="777662" y="6182955"/>
            <a:ext cx="6181200" cy="20850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37" name="Google Shape;437;g396de578bed_0_142" title="ChatGPT Image 5 abr 2026, 09_49_43 p.m..png"/>
          <p:cNvPicPr preferRelativeResize="0"/>
          <p:nvPr/>
        </p:nvPicPr>
        <p:blipFill rotWithShape="1">
          <a:blip r:embed="rId4">
            <a:alphaModFix/>
          </a:blip>
          <a:srcRect b="33335" l="0" r="0" t="27764"/>
          <a:stretch/>
        </p:blipFill>
        <p:spPr>
          <a:xfrm>
            <a:off x="695100" y="1322898"/>
            <a:ext cx="7753801" cy="2010849"/>
          </a:xfrm>
          <a:prstGeom prst="rect">
            <a:avLst/>
          </a:prstGeom>
          <a:noFill/>
          <a:ln>
            <a:noFill/>
          </a:ln>
        </p:spPr>
      </p:pic>
      <p:sp>
        <p:nvSpPr>
          <p:cNvPr id="438" name="Google Shape;438;g396de578bed_0_142"/>
          <p:cNvSpPr/>
          <p:nvPr/>
        </p:nvSpPr>
        <p:spPr>
          <a:xfrm>
            <a:off x="1027125" y="3097400"/>
            <a:ext cx="1438800" cy="1051500"/>
          </a:xfrm>
          <a:prstGeom prst="wedgeRoundRectCallout">
            <a:avLst>
              <a:gd fmla="val -22086" name="adj1"/>
              <a:gd fmla="val -83887" name="adj2"/>
              <a:gd fmla="val 0" name="adj3"/>
            </a:avLst>
          </a:prstGeom>
          <a:solidFill>
            <a:srgbClr val="F6B26B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Calibri"/>
                <a:ea typeface="Calibri"/>
                <a:cs typeface="Calibri"/>
                <a:sym typeface="Calibri"/>
              </a:rPr>
              <a:t>El usuario escribe en el </a:t>
            </a:r>
            <a:r>
              <a:rPr b="1" lang="es-CL">
                <a:latin typeface="Calibri"/>
                <a:ea typeface="Calibri"/>
                <a:cs typeface="Calibri"/>
                <a:sym typeface="Calibri"/>
              </a:rPr>
              <a:t>input</a:t>
            </a:r>
            <a:r>
              <a:rPr lang="es-CL">
                <a:latin typeface="Calibri"/>
                <a:ea typeface="Calibri"/>
                <a:cs typeface="Calibri"/>
                <a:sym typeface="Calibri"/>
              </a:rPr>
              <a:t>..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g396de578bed_0_142"/>
          <p:cNvSpPr/>
          <p:nvPr/>
        </p:nvSpPr>
        <p:spPr>
          <a:xfrm>
            <a:off x="2767025" y="3097388"/>
            <a:ext cx="1438800" cy="1051500"/>
          </a:xfrm>
          <a:prstGeom prst="wedgeRoundRectCallout">
            <a:avLst>
              <a:gd fmla="val -22086" name="adj1"/>
              <a:gd fmla="val -83887" name="adj2"/>
              <a:gd fmla="val 0" name="adj3"/>
            </a:avLst>
          </a:prstGeom>
          <a:solidFill>
            <a:srgbClr val="93C47D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latin typeface="Calibri"/>
                <a:ea typeface="Calibri"/>
                <a:cs typeface="Calibri"/>
                <a:sym typeface="Calibri"/>
              </a:rPr>
              <a:t>listFilter</a:t>
            </a:r>
            <a:r>
              <a:rPr lang="es-CL">
                <a:latin typeface="Calibri"/>
                <a:ea typeface="Calibri"/>
                <a:cs typeface="Calibri"/>
                <a:sym typeface="Calibri"/>
              </a:rPr>
              <a:t>()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Calibri"/>
                <a:ea typeface="Calibri"/>
                <a:cs typeface="Calibri"/>
                <a:sym typeface="Calibri"/>
              </a:rPr>
              <a:t>Actualiza el signal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g396de578bed_0_142"/>
          <p:cNvSpPr/>
          <p:nvPr/>
        </p:nvSpPr>
        <p:spPr>
          <a:xfrm>
            <a:off x="4506925" y="3097375"/>
            <a:ext cx="1438800" cy="1051500"/>
          </a:xfrm>
          <a:prstGeom prst="wedgeRoundRectCallout">
            <a:avLst>
              <a:gd fmla="val -22086" name="adj1"/>
              <a:gd fmla="val -83887" name="adj2"/>
              <a:gd fmla="val 0" name="adj3"/>
            </a:avLst>
          </a:prstGeom>
          <a:solidFill>
            <a:srgbClr val="8E7CC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latin typeface="Calibri"/>
                <a:ea typeface="Calibri"/>
                <a:cs typeface="Calibri"/>
                <a:sym typeface="Calibri"/>
              </a:rPr>
              <a:t>computed</a:t>
            </a:r>
            <a:r>
              <a:rPr lang="es-CL">
                <a:latin typeface="Calibri"/>
                <a:ea typeface="Calibri"/>
                <a:cs typeface="Calibri"/>
                <a:sym typeface="Calibri"/>
              </a:rPr>
              <a:t>()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Calibri"/>
                <a:ea typeface="Calibri"/>
                <a:cs typeface="Calibri"/>
                <a:sym typeface="Calibri"/>
              </a:rPr>
              <a:t>Angular conecta y recalcula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g396de578bed_0_142"/>
          <p:cNvSpPr/>
          <p:nvPr/>
        </p:nvSpPr>
        <p:spPr>
          <a:xfrm>
            <a:off x="6246825" y="3097375"/>
            <a:ext cx="1902300" cy="1051500"/>
          </a:xfrm>
          <a:prstGeom prst="wedgeRoundRectCallout">
            <a:avLst>
              <a:gd fmla="val -22086" name="adj1"/>
              <a:gd fmla="val -83887" name="adj2"/>
              <a:gd fmla="val 0" name="adj3"/>
            </a:avLst>
          </a:prstGeom>
          <a:solidFill>
            <a:srgbClr val="CFE2F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L">
                <a:latin typeface="Calibri"/>
                <a:ea typeface="Calibri"/>
                <a:cs typeface="Calibri"/>
                <a:sym typeface="Calibri"/>
              </a:rPr>
              <a:t>filteredProducts</a:t>
            </a:r>
            <a:r>
              <a:rPr lang="es-CL">
                <a:latin typeface="Calibri"/>
                <a:ea typeface="Calibri"/>
                <a:cs typeface="Calibri"/>
                <a:sym typeface="Calibri"/>
              </a:rPr>
              <a:t>() + </a:t>
            </a:r>
            <a:r>
              <a:rPr b="1" lang="es-CL">
                <a:latin typeface="Calibri"/>
                <a:ea typeface="Calibri"/>
                <a:cs typeface="Calibri"/>
                <a:sym typeface="Calibri"/>
              </a:rPr>
              <a:t>@for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L">
                <a:latin typeface="Calibri"/>
                <a:ea typeface="Calibri"/>
                <a:cs typeface="Calibri"/>
                <a:sym typeface="Calibri"/>
              </a:rPr>
              <a:t>Vista actualiza sola el resultado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creator>Luis Gajardo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