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7010400" cy="92964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mLNbXebliRvZRmXx5JGS72rQu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7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7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3970337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medida que las aplicaciones crecen, necesitamos </a:t>
            </a:r>
            <a:r>
              <a:rPr b="1" lang="en-US" sz="1100">
                <a:solidFill>
                  <a:schemeClr val="dk1"/>
                </a:solidFill>
              </a:rPr>
              <a:t>mejor organización del código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los desarrolladores necesitan herramientas que ayuden a evitar errores</a:t>
            </a:r>
            <a:endParaRPr sz="1400"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TypeScript hace JavaScript </a:t>
            </a:r>
            <a:r>
              <a:rPr b="1" lang="en-US" sz="1100">
                <a:solidFill>
                  <a:schemeClr val="dk1"/>
                </a:solidFill>
              </a:rPr>
              <a:t>más seguro y organizado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Es como escribir en español y traducir a inglés para que alguien entienda.</a:t>
            </a:r>
            <a:endParaRPr sz="1500"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9" name="Google Shape;49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1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1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jpg"/><Relationship Id="rId5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2"/>
            <a:ext cx="5567362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00"/>
              </a:buClr>
              <a:buSzPts val="4800"/>
              <a:buFont typeface="Arial Black"/>
              <a:buNone/>
            </a:pPr>
            <a:r>
              <a:rPr b="1" i="0" lang="en-US" sz="4800" u="none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TYPESCRIPT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n-US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404040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3352800" y="3090862"/>
            <a:ext cx="507841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7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429000" y="362743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1871662"/>
            <a:ext cx="46863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62" y="1951037"/>
            <a:ext cx="2705100" cy="267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3362" y="287337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3557587" y="2279650"/>
            <a:ext cx="2555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Encapsulación del código Javascript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2/9</a:t>
            </a:r>
            <a:endParaRPr/>
          </a:p>
        </p:txBody>
      </p:sp>
      <p:pic>
        <p:nvPicPr>
          <p:cNvPr descr="Resultado de imagen para angular logos"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1144587" y="185737"/>
            <a:ext cx="21812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El Contexto</a:t>
            </a:r>
            <a:endParaRPr/>
          </a:p>
        </p:txBody>
      </p:sp>
      <p:cxnSp>
        <p:nvCxnSpPr>
          <p:cNvPr id="108" name="Google Shape;108;p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109" name="Google Shape;109;p2"/>
          <p:cNvPicPr preferRelativeResize="0"/>
          <p:nvPr/>
        </p:nvPicPr>
        <p:blipFill rotWithShape="1">
          <a:blip r:embed="rId4">
            <a:alphaModFix/>
          </a:blip>
          <a:srcRect b="9843" l="2703" r="0" t="12522"/>
          <a:stretch/>
        </p:blipFill>
        <p:spPr>
          <a:xfrm>
            <a:off x="627037" y="2255838"/>
            <a:ext cx="2941638" cy="23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669925" y="4727587"/>
            <a:ext cx="28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Código Spaghetti, basado en funciones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5">
            <a:alphaModFix/>
          </a:blip>
          <a:srcRect b="22764" l="6001" r="7049" t="22120"/>
          <a:stretch/>
        </p:blipFill>
        <p:spPr>
          <a:xfrm>
            <a:off x="5549900" y="2403475"/>
            <a:ext cx="2659062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5584825" y="4192587"/>
            <a:ext cx="28765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Código Ravioli, basado en patrones (componentes)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3916362" y="3133725"/>
            <a:ext cx="1285875" cy="304800"/>
          </a:xfrm>
          <a:prstGeom prst="rightArrow">
            <a:avLst>
              <a:gd fmla="val 19040" name="adj1"/>
              <a:gd fmla="val 50000" name="adj2"/>
            </a:avLst>
          </a:prstGeom>
          <a:solidFill>
            <a:srgbClr val="0033CC"/>
          </a:solidFill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669925" y="1233487"/>
            <a:ext cx="81057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arquitectura de software evoluciona. 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518750" y="5432075"/>
            <a:ext cx="98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1990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386512" y="5176837"/>
            <a:ext cx="9858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2010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627062" y="1312862"/>
            <a:ext cx="81057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 no posee algunas características importantes: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3/9</a:t>
            </a:r>
            <a:endParaRPr/>
          </a:p>
        </p:txBody>
      </p:sp>
      <p:pic>
        <p:nvPicPr>
          <p:cNvPr descr="Resultado de imagen para angular logos"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1144587" y="185737"/>
            <a:ext cx="22590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/>
          </a:p>
        </p:txBody>
      </p:sp>
      <p:cxnSp>
        <p:nvCxnSpPr>
          <p:cNvPr id="127" name="Google Shape;127;p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Resultado de imagen para javascript"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1857375"/>
            <a:ext cx="2782887" cy="278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915987" y="1776412"/>
            <a:ext cx="5492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variables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Errores en tiempo de escritura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Autocompletación dependiendo de la variable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estático de programación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Clases y módulos (antes de ES6)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otras cosas 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4/9</a:t>
            </a:r>
            <a:endParaRPr/>
          </a:p>
        </p:txBody>
      </p:sp>
      <p:cxnSp>
        <p:nvCxnSpPr>
          <p:cNvPr id="138" name="Google Shape;138;p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627062" y="1312862"/>
            <a:ext cx="81057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 de posibles problemas que se generan en Javascript: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1144587" y="185737"/>
            <a:ext cx="7588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Errores típicos en Javascript</a:t>
            </a:r>
            <a:endParaRPr/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4">
            <a:alphaModFix/>
          </a:blip>
          <a:srcRect b="54176" l="16535" r="66731" t="30963"/>
          <a:stretch/>
        </p:blipFill>
        <p:spPr>
          <a:xfrm>
            <a:off x="962025" y="2078037"/>
            <a:ext cx="2041525" cy="102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 b="46740" l="16535" r="66731" t="47880"/>
          <a:stretch/>
        </p:blipFill>
        <p:spPr>
          <a:xfrm>
            <a:off x="958850" y="3251200"/>
            <a:ext cx="2043112" cy="36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4">
            <a:alphaModFix/>
          </a:blip>
          <a:srcRect b="38954" l="16535" r="66731" t="53529"/>
          <a:stretch/>
        </p:blipFill>
        <p:spPr>
          <a:xfrm>
            <a:off x="962025" y="3627437"/>
            <a:ext cx="2041525" cy="51593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 txBox="1"/>
          <p:nvPr/>
        </p:nvSpPr>
        <p:spPr>
          <a:xfrm>
            <a:off x="2528887" y="3244850"/>
            <a:ext cx="23368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//resultado 3hola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2743200" y="3775075"/>
            <a:ext cx="13239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//es true</a:t>
            </a:r>
            <a:endParaRPr/>
          </a:p>
        </p:txBody>
      </p:sp>
      <p:pic>
        <p:nvPicPr>
          <p:cNvPr id="146" name="Google Shape;146;p4"/>
          <p:cNvPicPr preferRelativeResize="0"/>
          <p:nvPr/>
        </p:nvPicPr>
        <p:blipFill rotWithShape="1">
          <a:blip r:embed="rId4">
            <a:alphaModFix/>
          </a:blip>
          <a:srcRect b="30650" l="16535" r="66731" t="63185"/>
          <a:stretch/>
        </p:blipFill>
        <p:spPr>
          <a:xfrm>
            <a:off x="962025" y="4291012"/>
            <a:ext cx="2041525" cy="42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 txBox="1"/>
          <p:nvPr/>
        </p:nvSpPr>
        <p:spPr>
          <a:xfrm>
            <a:off x="2809875" y="4332287"/>
            <a:ext cx="14509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//es 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/>
        </p:nvSpPr>
        <p:spPr>
          <a:xfrm>
            <a:off x="627062" y="1312862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pueden presentar errores en Javascript porque: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5/9</a:t>
            </a:r>
            <a:endParaRPr/>
          </a:p>
        </p:txBody>
      </p:sp>
      <p:pic>
        <p:nvPicPr>
          <p:cNvPr descr="Resultado de imagen para angular logos"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1144587" y="185737"/>
            <a:ext cx="7588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Errores típicos en Javascript …</a:t>
            </a:r>
            <a:endParaRPr/>
          </a:p>
        </p:txBody>
      </p:sp>
      <p:cxnSp>
        <p:nvCxnSpPr>
          <p:cNvPr id="158" name="Google Shape;158;p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9" name="Google Shape;159;p5"/>
          <p:cNvSpPr txBox="1"/>
          <p:nvPr/>
        </p:nvSpPr>
        <p:spPr>
          <a:xfrm>
            <a:off x="915987" y="1776412"/>
            <a:ext cx="7634287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variable no estaba definida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objeto no tiene la propiedad esperada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se tiene idea </a:t>
            </a:r>
            <a:r>
              <a:rPr lang="en-US" sz="1800">
                <a:solidFill>
                  <a:schemeClr val="dk1"/>
                </a:solidFill>
              </a:rPr>
              <a:t>cómo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trabajan las funciones de otros programadores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sobrescriben variables, clases, funciones, constantes …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código colisiona con el de otro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caché del navegador mantiene los archivos de javascript antiguos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Colocamos mayúscula o minúscula en el lugar incorrecto</a:t>
            </a:r>
            <a:endParaRPr/>
          </a:p>
        </p:txBody>
      </p:sp>
      <p:pic>
        <p:nvPicPr>
          <p:cNvPr descr="Resultado de imagen para errores icon" id="160" name="Google Shape;1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9062" y="1404937"/>
            <a:ext cx="1468437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errores icon" id="161" name="Google Shape;1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0975" y="5194300"/>
            <a:ext cx="1039812" cy="1039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errores icon" id="162" name="Google Shape;16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0975" y="5132387"/>
            <a:ext cx="1162050" cy="1163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ebug icon" id="163" name="Google Shape;16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9062" y="5045075"/>
            <a:ext cx="1163637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6/9</a:t>
            </a:r>
            <a:endParaRPr/>
          </a:p>
        </p:txBody>
      </p:sp>
      <p:pic>
        <p:nvPicPr>
          <p:cNvPr descr="Resultado de imagen para angular logos" id="171" name="Google Shape;171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 txBox="1"/>
          <p:nvPr/>
        </p:nvSpPr>
        <p:spPr>
          <a:xfrm>
            <a:off x="1144587" y="185737"/>
            <a:ext cx="7588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El IDE es nuestro amigo</a:t>
            </a:r>
            <a:endParaRPr/>
          </a:p>
        </p:txBody>
      </p:sp>
      <p:cxnSp>
        <p:nvCxnSpPr>
          <p:cNvPr id="173" name="Google Shape;173;p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4" name="Google Shape;174;p6"/>
          <p:cNvSpPr txBox="1"/>
          <p:nvPr/>
        </p:nvSpPr>
        <p:spPr>
          <a:xfrm>
            <a:off x="627062" y="1312862"/>
            <a:ext cx="81057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Hoy en día estamos acostumbrados a que el IDE nos ayude en la escritura del código y detección de errores:</a:t>
            </a:r>
            <a:endParaRPr/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875" y="4281487"/>
            <a:ext cx="7248525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875" y="2103437"/>
            <a:ext cx="725805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7877175" y="3613150"/>
            <a:ext cx="149225" cy="244475"/>
          </a:xfrm>
          <a:prstGeom prst="rect">
            <a:avLst/>
          </a:prstGeom>
          <a:solidFill>
            <a:srgbClr val="262626"/>
          </a:solidFill>
          <a:ln cap="flat" cmpd="sng" w="127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4" name="Google Shape;184;p7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7/9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1144587" y="185737"/>
            <a:ext cx="37528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TypeScript?</a:t>
            </a:r>
            <a:endParaRPr/>
          </a:p>
        </p:txBody>
      </p:sp>
      <p:pic>
        <p:nvPicPr>
          <p:cNvPr id="188" name="Google Shape;188;p7"/>
          <p:cNvPicPr preferRelativeResize="0"/>
          <p:nvPr/>
        </p:nvPicPr>
        <p:blipFill rotWithShape="1">
          <a:blip r:embed="rId4">
            <a:alphaModFix/>
          </a:blip>
          <a:srcRect b="41636" l="69940" r="0" t="0"/>
          <a:stretch/>
        </p:blipFill>
        <p:spPr>
          <a:xfrm>
            <a:off x="6008687" y="2511425"/>
            <a:ext cx="2967037" cy="281463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627062" y="1165225"/>
            <a:ext cx="81057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lenguaje de programación moderno que facilita crear aplicaciones web robustas.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</a:t>
            </a:r>
            <a:r>
              <a:rPr lang="en-US" sz="1800">
                <a:solidFill>
                  <a:schemeClr val="dk1"/>
                </a:solidFill>
              </a:rPr>
              <a:t>superconjunto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ES6 → ECMAScript 6 2015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 tipado estático → autocompletado, errores …</a:t>
            </a:r>
            <a:endParaRPr/>
          </a:p>
          <a:p>
            <a:pPr indent="-28575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Inferencia de tipos</a:t>
            </a:r>
            <a:endParaRPr/>
          </a:p>
          <a:p>
            <a:pPr indent="-28575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opcionales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Orientado a Objetos</a:t>
            </a:r>
            <a:endParaRPr/>
          </a:p>
          <a:p>
            <a:pPr indent="-28575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Clases</a:t>
            </a:r>
            <a:endParaRPr/>
          </a:p>
          <a:p>
            <a:pPr indent="-28575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Interfaces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 módulos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 decoradores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de fácil adopción para programadores Java o C#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Favorece la escalabilidad y mantenibilidad.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compilador de TypeScript emite código JavaScript.</a:t>
            </a:r>
            <a:endParaRPr/>
          </a:p>
        </p:txBody>
      </p:sp>
      <p:sp>
        <p:nvSpPr>
          <p:cNvPr id="190" name="Google Shape;190;p7"/>
          <p:cNvSpPr txBox="1"/>
          <p:nvPr/>
        </p:nvSpPr>
        <p:spPr>
          <a:xfrm>
            <a:off x="4143375" y="3446462"/>
            <a:ext cx="1989137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Todo código JavaScript es código válido en TypeScript.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 txBox="1"/>
          <p:nvPr/>
        </p:nvSpPr>
        <p:spPr>
          <a:xfrm>
            <a:off x="1144587" y="185737"/>
            <a:ext cx="46386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la Transpilación?</a:t>
            </a:r>
            <a:endParaRPr/>
          </a:p>
        </p:txBody>
      </p:sp>
      <p:cxnSp>
        <p:nvCxnSpPr>
          <p:cNvPr id="197" name="Google Shape;197;p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8" name="Google Shape;198;p8"/>
          <p:cNvSpPr txBox="1"/>
          <p:nvPr/>
        </p:nvSpPr>
        <p:spPr>
          <a:xfrm>
            <a:off x="627062" y="1165225"/>
            <a:ext cx="3800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Los navegadores web solo entienden JavaScript.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Transpiling</a:t>
            </a: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333333"/>
                </a:solidFill>
              </a:rPr>
              <a:t>proceso de</a:t>
            </a: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convertir el código fuente de un programa (en un idioma) en código fuente en otro idioma.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 transpilador de Typescript genera código en Javascript.</a:t>
            </a:r>
            <a:endParaRPr/>
          </a:p>
        </p:txBody>
      </p:sp>
      <p:pic>
        <p:nvPicPr>
          <p:cNvPr id="199" name="Google Shape;199;p8"/>
          <p:cNvPicPr preferRelativeResize="0"/>
          <p:nvPr/>
        </p:nvPicPr>
        <p:blipFill rotWithShape="1">
          <a:blip r:embed="rId4">
            <a:alphaModFix/>
          </a:blip>
          <a:srcRect b="16146" l="0" r="0" t="0"/>
          <a:stretch/>
        </p:blipFill>
        <p:spPr>
          <a:xfrm>
            <a:off x="652462" y="4841875"/>
            <a:ext cx="6881812" cy="148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814387" y="4554537"/>
            <a:ext cx="35798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3A3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rgbClr val="3853A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www.typescriptlang.org/play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8/9</a:t>
            </a:r>
            <a:endParaRPr/>
          </a:p>
        </p:txBody>
      </p:sp>
      <p:pic>
        <p:nvPicPr>
          <p:cNvPr id="204" name="Google Shape;20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4200" y="1303338"/>
            <a:ext cx="4338638" cy="3032125"/>
          </a:xfrm>
          <a:prstGeom prst="rect">
            <a:avLst/>
          </a:prstGeom>
          <a:noFill/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 txBox="1"/>
          <p:nvPr/>
        </p:nvSpPr>
        <p:spPr>
          <a:xfrm>
            <a:off x="1144587" y="185737"/>
            <a:ext cx="44323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¿Quién creó TypeScript?</a:t>
            </a:r>
            <a:endParaRPr/>
          </a:p>
        </p:txBody>
      </p:sp>
      <p:cxnSp>
        <p:nvCxnSpPr>
          <p:cNvPr id="211" name="Google Shape;211;p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2" name="Google Shape;212;p9"/>
          <p:cNvSpPr txBox="1"/>
          <p:nvPr/>
        </p:nvSpPr>
        <p:spPr>
          <a:xfrm>
            <a:off x="627062" y="1165225"/>
            <a:ext cx="60261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TypeScript fue diseñado en 2012 por Andres Hejlsberg de Microsoft. 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623887" y="5407025"/>
            <a:ext cx="81073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Microsoft ha liberado TypeScript como open source y el Proyecto está ubicado en GitHub.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descr="https://tsconf.io/images/anders-square.jpg" id="214" name="Google Shape;214;p9"/>
          <p:cNvPicPr preferRelativeResize="0"/>
          <p:nvPr/>
        </p:nvPicPr>
        <p:blipFill rotWithShape="1">
          <a:blip r:embed="rId4">
            <a:alphaModFix/>
          </a:blip>
          <a:srcRect b="3057" l="19274" r="6834" t="6991"/>
          <a:stretch/>
        </p:blipFill>
        <p:spPr>
          <a:xfrm>
            <a:off x="6835775" y="1166812"/>
            <a:ext cx="1958975" cy="238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microsoft logo" id="215" name="Google Shape;215;p9"/>
          <p:cNvPicPr preferRelativeResize="0"/>
          <p:nvPr/>
        </p:nvPicPr>
        <p:blipFill rotWithShape="1">
          <a:blip r:embed="rId5">
            <a:alphaModFix/>
          </a:blip>
          <a:srcRect b="37840" l="22215" r="25042" t="40220"/>
          <a:stretch/>
        </p:blipFill>
        <p:spPr>
          <a:xfrm>
            <a:off x="2770187" y="1644650"/>
            <a:ext cx="2325687" cy="592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Turbo Pascal  logo" id="216" name="Google Shape;21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1562" y="3367087"/>
            <a:ext cx="688975" cy="8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217" name="Google Shape;21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8362" y="3406775"/>
            <a:ext cx="2055812" cy="839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lenguaje C# logo" id="218" name="Google Shape;218;p9"/>
          <p:cNvPicPr preferRelativeResize="0"/>
          <p:nvPr/>
        </p:nvPicPr>
        <p:blipFill rotWithShape="1">
          <a:blip r:embed="rId8">
            <a:alphaModFix/>
          </a:blip>
          <a:srcRect b="17208" l="20689" r="18994" t="17228"/>
          <a:stretch/>
        </p:blipFill>
        <p:spPr>
          <a:xfrm>
            <a:off x="4633912" y="3306762"/>
            <a:ext cx="977900" cy="10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9/9</a:t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2938462" y="4614862"/>
            <a:ext cx="43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www.typescriptlang.org/docs </a:t>
            </a:r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627062" y="2571750"/>
            <a:ext cx="60261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Él también es un autor de Turbo Pascal y Delphi, y es un arquitecto principal de C#.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623887" y="4591050"/>
            <a:ext cx="60261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Documentación 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