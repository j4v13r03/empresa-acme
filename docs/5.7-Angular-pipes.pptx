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7086600" cy="8686800"/>
  <p:embeddedFontLst>
    <p:embeddedFont>
      <p:font typeface="Roboto"/>
      <p:regular r:id="rId29"/>
      <p:bold r:id="rId30"/>
      <p:italic r:id="rId31"/>
      <p:boldItalic r:id="rId32"/>
    </p:embeddedFont>
    <p:embeddedFont>
      <p:font typeface="Arimo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  <p:embeddedFont>
      <p:font typeface="Source Code Pro"/>
      <p:regular r:id="rId41"/>
      <p:bold r:id="rId42"/>
      <p:italic r:id="rId43"/>
      <p:boldItalic r:id="rId44"/>
    </p:embeddedFont>
    <p:embeddedFont>
      <p:font typeface="Content"/>
      <p:regular r:id="rId45"/>
      <p:bold r:id="rId46"/>
    </p:embeddedFont>
    <p:embeddedFont>
      <p:font typeface="Helvetica Neue"/>
      <p:regular r:id="rId47"/>
      <p:bold r:id="rId48"/>
      <p:italic r:id="rId49"/>
      <p:boldItalic r:id="rId50"/>
    </p:embeddedFont>
    <p:embeddedFont>
      <p:font typeface="Arial Black"/>
      <p:regular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j3PFS+A7GCMRxcsFLy3cxSgygu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BFCCE9-4D8C-41C9-B9E5-B147EBCD17FE}">
  <a:tblStyle styleId="{44BFCCE9-4D8C-41C9-B9E5-B147EBCD17F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5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/>
          </a:solidFill>
        </a:fill>
      </a:tcStyle>
    </a:firstRow>
    <a:neCell>
      <a:tcTxStyle b="off" i="off"/>
    </a:neCell>
    <a:nwCell>
      <a:tcTxStyle b="off" i="off"/>
    </a:nwCell>
  </a:tblStyle>
  <a:tblStyle styleId="{5B86F778-DAF5-4799-9ED3-7EDAE635154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8876DA2C-0ADE-4138-BF82-537E57300B0C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 b="off" i="off"/>
    </a:band2H>
    <a:band1V>
      <a:tcTxStyle b="off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 b="off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42" Type="http://schemas.openxmlformats.org/officeDocument/2006/relationships/font" Target="fonts/SourceCodePro-bold.fntdata"/><Relationship Id="rId41" Type="http://schemas.openxmlformats.org/officeDocument/2006/relationships/font" Target="fonts/SourceCodePro-regular.fntdata"/><Relationship Id="rId44" Type="http://schemas.openxmlformats.org/officeDocument/2006/relationships/font" Target="fonts/SourceCodePro-boldItalic.fntdata"/><Relationship Id="rId43" Type="http://schemas.openxmlformats.org/officeDocument/2006/relationships/font" Target="fonts/SourceCodePro-italic.fntdata"/><Relationship Id="rId46" Type="http://schemas.openxmlformats.org/officeDocument/2006/relationships/font" Target="fonts/Content-bold.fntdata"/><Relationship Id="rId45" Type="http://schemas.openxmlformats.org/officeDocument/2006/relationships/font" Target="fonts/Conten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HelveticaNeue-bold.fntdata"/><Relationship Id="rId47" Type="http://schemas.openxmlformats.org/officeDocument/2006/relationships/font" Target="fonts/HelveticaNeue-regular.fntdata"/><Relationship Id="rId49" Type="http://schemas.openxmlformats.org/officeDocument/2006/relationships/font" Target="fonts/HelveticaNeue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33" Type="http://schemas.openxmlformats.org/officeDocument/2006/relationships/font" Target="fonts/Arimo-regular.fntdata"/><Relationship Id="rId32" Type="http://schemas.openxmlformats.org/officeDocument/2006/relationships/font" Target="fonts/Roboto-boldItalic.fntdata"/><Relationship Id="rId35" Type="http://schemas.openxmlformats.org/officeDocument/2006/relationships/font" Target="fonts/Arimo-italic.fntdata"/><Relationship Id="rId34" Type="http://schemas.openxmlformats.org/officeDocument/2006/relationships/font" Target="fonts/Arimo-bold.fntdata"/><Relationship Id="rId37" Type="http://schemas.openxmlformats.org/officeDocument/2006/relationships/font" Target="fonts/Lato-regular.fntdata"/><Relationship Id="rId36" Type="http://schemas.openxmlformats.org/officeDocument/2006/relationships/font" Target="fonts/Arimo-boldItalic.fntdata"/><Relationship Id="rId39" Type="http://schemas.openxmlformats.org/officeDocument/2006/relationships/font" Target="fonts/Lato-italic.fntdata"/><Relationship Id="rId38" Type="http://schemas.openxmlformats.org/officeDocument/2006/relationships/font" Target="fonts/Lato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font" Target="fonts/Roboto-regular.fntdata"/><Relationship Id="rId51" Type="http://schemas.openxmlformats.org/officeDocument/2006/relationships/font" Target="fonts/ArialBlack-regular.fntdata"/><Relationship Id="rId50" Type="http://schemas.openxmlformats.org/officeDocument/2006/relationships/font" Target="fonts/HelveticaNeue-boldItalic.fntdata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1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e3822fada_0_1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de3822fada_0_1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538e6b093_0_37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d538e6b093_0_37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1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5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1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6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1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538e6b093_0_13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g3d538e6b093_0_13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1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8:notes"/>
          <p:cNvSpPr txBox="1"/>
          <p:nvPr>
            <p:ph idx="1" type="body"/>
          </p:nvPr>
        </p:nvSpPr>
        <p:spPr>
          <a:xfrm>
            <a:off x="709302" y="4180226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1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538e6b093_0_65:notes"/>
          <p:cNvSpPr txBox="1"/>
          <p:nvPr>
            <p:ph idx="1" type="body"/>
          </p:nvPr>
        </p:nvSpPr>
        <p:spPr>
          <a:xfrm>
            <a:off x="709302" y="4180226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g3d538e6b093_0_65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25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25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24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4.png"/><Relationship Id="rId5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4.png"/><Relationship Id="rId5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6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Pipes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3429000" y="3688958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1" r="5906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7945074" y="1859571"/>
            <a:ext cx="81304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&#10;&#10;Descripción generada automáticamente con confianza media"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363" y="287338"/>
            <a:ext cx="20272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144588" y="185738"/>
            <a:ext cx="32191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un Pipe?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838200" y="1212850"/>
            <a:ext cx="544737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Pipe </a:t>
            </a:r>
            <a:r>
              <a:rPr b="1" i="0" lang="es-CL" sz="1800" u="none" cap="none" strike="noStrike">
                <a:solidFill>
                  <a:schemeClr val="dk1"/>
                </a:solidFill>
              </a:rPr>
              <a:t>es un filtro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sirve para modificar la forma </a:t>
            </a:r>
            <a:r>
              <a:rPr b="1" i="0" lang="es-CL" sz="1800" u="none" cap="none" strike="noStrike">
                <a:solidFill>
                  <a:schemeClr val="dk1"/>
                </a:solidFill>
              </a:rPr>
              <a:t>como vemos la información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nuestra aplicación.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838199" y="2388617"/>
            <a:ext cx="6120561" cy="1638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 angular existen dos tipos de pipes: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CL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Preconstruidos (Built-in):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provistos por Angular.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Personalizados (custom): 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construidos por el usuario según sus propias necesidades.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pipe image" id="108" name="Google Shape;108;p2"/>
          <p:cNvPicPr preferRelativeResize="0"/>
          <p:nvPr/>
        </p:nvPicPr>
        <p:blipFill rotWithShape="1">
          <a:blip r:embed="rId4">
            <a:alphaModFix/>
          </a:blip>
          <a:srcRect b="14511" l="0" r="0" t="8589"/>
          <a:stretch/>
        </p:blipFill>
        <p:spPr>
          <a:xfrm>
            <a:off x="6285577" y="1056476"/>
            <a:ext cx="2369645" cy="182226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/>
          <p:nvPr/>
        </p:nvSpPr>
        <p:spPr>
          <a:xfrm>
            <a:off x="838200" y="4285786"/>
            <a:ext cx="15070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Ejemplo: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309276" y="5813623"/>
            <a:ext cx="11207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Salida: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2345236" y="5813623"/>
            <a:ext cx="14311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Francisco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3531617" y="4767790"/>
            <a:ext cx="914400" cy="369332"/>
          </a:xfrm>
          <a:prstGeom prst="wedgeRectCallout">
            <a:avLst>
              <a:gd fmla="val -21853" name="adj1"/>
              <a:gd fmla="val 92960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4673475" y="4767790"/>
            <a:ext cx="1306103" cy="369332"/>
          </a:xfrm>
          <a:prstGeom prst="wedgeRectCallout">
            <a:avLst>
              <a:gd fmla="val -63994" name="adj1"/>
              <a:gd fmla="val 115697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2550640" y="5354809"/>
            <a:ext cx="2876353" cy="3385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{{ </a:t>
            </a:r>
            <a:r>
              <a:rPr b="0" i="0" lang="es-CL" sz="16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titulo</a:t>
            </a:r>
            <a:r>
              <a:rPr b="0" i="0" lang="es-CL" sz="16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| </a:t>
            </a:r>
            <a:r>
              <a:rPr b="0" i="0" lang="es-CL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titlecase</a:t>
            </a:r>
            <a:r>
              <a:rPr b="0" i="0" lang="es-CL" sz="16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 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2193538" y="4289548"/>
            <a:ext cx="37860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titulo: string =  FRANCISCO;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1144588" y="185738"/>
            <a:ext cx="341952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Pipes Predefinidos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38200" y="1212850"/>
            <a:ext cx="76505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pipes disponibles en Angular son: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25" name="Google Shape;125;p3"/>
          <p:cNvGraphicFramePr/>
          <p:nvPr/>
        </p:nvGraphicFramePr>
        <p:xfrm>
          <a:off x="1206500" y="17749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{44BFCCE9-4D8C-41C9-B9E5-B147EBCD17FE}</a:tableStyleId>
              </a:tblPr>
              <a:tblGrid>
                <a:gridCol w="1401700"/>
                <a:gridCol w="6124625"/>
              </a:tblGrid>
              <a:tr h="27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/>
                        <a:t>Pipe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/>
                        <a:t>Función que cumple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DecimalPipe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Transforma un número en texto pudiéndose definir ciertos parámetros.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PercentPipe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Transforma un número a un porcentaje pudiéndose definir ciertos parámetros.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UpperCasePipe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Transforma el texto en mayúsculas.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CurrencyPipe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Transforma un número en moneda pudiéndose definir ciertos parámetros.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JsonPipe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Convierte un objeto a string, básicamente hace un JSON.stringify().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SlicePipe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Devuelve un fragmento de una lista o un string.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DatePipe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Formatea fechas en función de como le indiquemos.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LowerCasePipe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Transforma el texto en minúsculas.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TitleCasePipe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Capitaliza las palabras (el primer carácter en mayúscula y el resto en minúscula).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CL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AsyncPipe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i="0" lang="es-CL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Permite integrar situaciones de programación asíncrona muy compleja en la capa de presentación como es el uso de websockets o tecnologías similares.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0" name="Google Shape;130;g3de3822fada_0_1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de3822fada_0_1"/>
          <p:cNvSpPr txBox="1"/>
          <p:nvPr/>
        </p:nvSpPr>
        <p:spPr>
          <a:xfrm>
            <a:off x="1144588" y="185738"/>
            <a:ext cx="341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Pipes y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g3de3822fada_0_1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g3de3822fada_0_1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de3822fada_0_1"/>
          <p:cNvSpPr/>
          <p:nvPr/>
        </p:nvSpPr>
        <p:spPr>
          <a:xfrm>
            <a:off x="838200" y="1212850"/>
            <a:ext cx="7650600" cy="15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</a:rPr>
              <a:t>Importante!!!!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Los pipes NO cambian los datos… solo cambian cómo se muestran.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Signals manejan los datos… pipes manejan la vista.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5" name="Google Shape;135;g3de3822fada_0_1" title="signal-pip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0287" y="3103792"/>
            <a:ext cx="4123427" cy="27489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6" name="Google Shape;136;g3de3822fada_0_1"/>
          <p:cNvSpPr txBox="1"/>
          <p:nvPr/>
        </p:nvSpPr>
        <p:spPr>
          <a:xfrm>
            <a:off x="2499150" y="5894925"/>
            <a:ext cx="43287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necesitas lógica… NO uses un pipe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de3822fada_0_1"/>
          <p:cNvSpPr txBox="1"/>
          <p:nvPr/>
        </p:nvSpPr>
        <p:spPr>
          <a:xfrm>
            <a:off x="2825750" y="2729580"/>
            <a:ext cx="1449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de3822fada_0_1"/>
          <p:cNvSpPr txBox="1"/>
          <p:nvPr/>
        </p:nvSpPr>
        <p:spPr>
          <a:xfrm>
            <a:off x="4766750" y="2729575"/>
            <a:ext cx="16572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4" title="Captura de pantalla 2026-04-10 a la(s) 11.31.33.png"/>
          <p:cNvPicPr preferRelativeResize="0"/>
          <p:nvPr/>
        </p:nvPicPr>
        <p:blipFill rotWithShape="1">
          <a:blip r:embed="rId3">
            <a:alphaModFix/>
          </a:blip>
          <a:srcRect b="0" l="0" r="17918" t="0"/>
          <a:stretch/>
        </p:blipFill>
        <p:spPr>
          <a:xfrm>
            <a:off x="2428225" y="2174575"/>
            <a:ext cx="5844250" cy="12073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4" name="Google Shape;144;p4" title="Captura de pantalla 2026-04-10 a la(s) 11.27.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6475" y="4472113"/>
            <a:ext cx="5083650" cy="1640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45" name="Google Shape;145;p4"/>
          <p:cNvPicPr preferRelativeResize="0"/>
          <p:nvPr/>
        </p:nvPicPr>
        <p:blipFill rotWithShape="1">
          <a:blip r:embed="rId5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" name="Google Shape;147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05346" y="1164637"/>
            <a:ext cx="81274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quisiéramos que todos los códigos de los productos se </a:t>
            </a:r>
            <a:r>
              <a:rPr b="1" i="0" lang="es-CL" sz="1800" u="none" cap="none" strike="noStrike">
                <a:solidFill>
                  <a:schemeClr val="dk1"/>
                </a:solidFill>
              </a:rPr>
              <a:t>mostrasen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minúsculas: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27063" y="3612597"/>
            <a:ext cx="8073057" cy="702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Ahora, si queremos </a:t>
            </a:r>
            <a:r>
              <a:rPr b="1" i="0" lang="es-CL" sz="1800" u="none" cap="none" strike="noStrike">
                <a:solidFill>
                  <a:schemeClr val="dk1"/>
                </a:solidFill>
              </a:rPr>
              <a:t>visualizar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 nombre del producto en mayúsculas cuando pasamos sobre la imagen con el cursor del mouse: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1144588" y="185738"/>
            <a:ext cx="701666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Uppercase y LowerCase Pipe - Ejercicio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566547" y="2232446"/>
            <a:ext cx="806400" cy="120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1489250" y="4713775"/>
            <a:ext cx="1935600" cy="551100"/>
          </a:xfrm>
          <a:prstGeom prst="wedgeRectCallout">
            <a:avLst>
              <a:gd fmla="val 110311" name="adj1"/>
              <a:gd fmla="val 743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 en conjunto con property binding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624124" y="4909275"/>
            <a:ext cx="4010100" cy="255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1330053" y="1894677"/>
            <a:ext cx="1082351" cy="514937"/>
          </a:xfrm>
          <a:custGeom>
            <a:rect b="b" l="l" r="r" t="t"/>
            <a:pathLst>
              <a:path extrusionOk="0" h="514937" w="1082351">
                <a:moveTo>
                  <a:pt x="0" y="514937"/>
                </a:moveTo>
                <a:cubicBezTo>
                  <a:pt x="49763" y="388973"/>
                  <a:pt x="99527" y="263010"/>
                  <a:pt x="223935" y="179035"/>
                </a:cubicBezTo>
                <a:cubicBezTo>
                  <a:pt x="348343" y="95059"/>
                  <a:pt x="603380" y="35966"/>
                  <a:pt x="746449" y="11084"/>
                </a:cubicBezTo>
                <a:cubicBezTo>
                  <a:pt x="889518" y="-13798"/>
                  <a:pt x="985934" y="7973"/>
                  <a:pt x="1082351" y="29745"/>
                </a:cubicBezTo>
              </a:path>
            </a:pathLst>
          </a:cu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4" title="Captura de pantalla 2026-04-10 a la(s) 11.27.2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28213" y="1702375"/>
            <a:ext cx="5272517" cy="3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4" title="Captura de pantalla 2026-04-10 a la(s) 11.29.54.png"/>
          <p:cNvPicPr preferRelativeResize="0"/>
          <p:nvPr/>
        </p:nvPicPr>
        <p:blipFill rotWithShape="1">
          <a:blip r:embed="rId7">
            <a:alphaModFix/>
          </a:blip>
          <a:srcRect b="64273" l="0" r="0" t="0"/>
          <a:stretch/>
        </p:blipFill>
        <p:spPr>
          <a:xfrm>
            <a:off x="331275" y="2626300"/>
            <a:ext cx="1935600" cy="64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4" title="Captura de pantalla 2026-04-10 a la(s) 11.29.54.png"/>
          <p:cNvPicPr preferRelativeResize="0"/>
          <p:nvPr/>
        </p:nvPicPr>
        <p:blipFill rotWithShape="1">
          <a:blip r:embed="rId7">
            <a:alphaModFix/>
          </a:blip>
          <a:srcRect b="0" l="0" r="0" t="71536"/>
          <a:stretch/>
        </p:blipFill>
        <p:spPr>
          <a:xfrm>
            <a:off x="331275" y="2355604"/>
            <a:ext cx="1935600" cy="514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4" title="Captura de pantalla 2026-04-10 a la(s) 11.33.13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89250" y="5440463"/>
            <a:ext cx="1935600" cy="92127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63" name="Google Shape;163;g3d538e6b093_0_37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g3d538e6b093_0_37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" name="Google Shape;165;g3d538e6b093_0_37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d538e6b093_0_37"/>
          <p:cNvSpPr txBox="1"/>
          <p:nvPr/>
        </p:nvSpPr>
        <p:spPr>
          <a:xfrm>
            <a:off x="1144588" y="185738"/>
            <a:ext cx="701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Uppercase y LowerCase Pipe - Ejercicio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d538e6b093_0_37"/>
          <p:cNvSpPr/>
          <p:nvPr/>
        </p:nvSpPr>
        <p:spPr>
          <a:xfrm>
            <a:off x="605346" y="1164637"/>
            <a:ext cx="81276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Todos los Pipe que queramos utilizar se deben importar previamente en el componente: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d538e6b093_0_37"/>
          <p:cNvSpPr/>
          <p:nvPr/>
        </p:nvSpPr>
        <p:spPr>
          <a:xfrm>
            <a:off x="1086072" y="1849290"/>
            <a:ext cx="250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s-CL" sz="1600">
                <a:solidFill>
                  <a:schemeClr val="dk1"/>
                </a:solidFill>
                <a:highlight>
                  <a:srgbClr val="FFFF00"/>
                </a:highlight>
              </a:rPr>
              <a:t>product-list</a:t>
            </a: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i="1" lang="es-CL" sz="1600">
                <a:solidFill>
                  <a:schemeClr val="dk1"/>
                </a:solidFill>
                <a:highlight>
                  <a:srgbClr val="FFFF00"/>
                </a:highlight>
              </a:rPr>
              <a:t>ts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d538e6b093_0_37" title="Captura de pantalla 2026-04-10 a la(s) 12.55.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4600" y="2226473"/>
            <a:ext cx="7298276" cy="213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d538e6b093_0_37"/>
          <p:cNvSpPr/>
          <p:nvPr/>
        </p:nvSpPr>
        <p:spPr>
          <a:xfrm>
            <a:off x="1942603" y="2226475"/>
            <a:ext cx="4322700" cy="264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d538e6b093_0_37"/>
          <p:cNvSpPr/>
          <p:nvPr/>
        </p:nvSpPr>
        <p:spPr>
          <a:xfrm>
            <a:off x="1322448" y="3242950"/>
            <a:ext cx="6763200" cy="264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6" name="Google Shape;176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/>
          <p:cNvSpPr txBox="1"/>
          <p:nvPr/>
        </p:nvSpPr>
        <p:spPr>
          <a:xfrm>
            <a:off x="1144588" y="185738"/>
            <a:ext cx="26212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Currency Pipe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838199" y="1103438"/>
            <a:ext cx="79669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utiliza para </a:t>
            </a:r>
            <a:r>
              <a:rPr b="1" lang="es-CL" sz="1800">
                <a:solidFill>
                  <a:schemeClr val="dk1"/>
                </a:solidFill>
              </a:rPr>
              <a:t>mostrar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 número </a:t>
            </a:r>
            <a:r>
              <a:rPr lang="es-CL" sz="1800">
                <a:solidFill>
                  <a:schemeClr val="dk1"/>
                </a:solidFill>
              </a:rPr>
              <a:t>como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una cadena de moneda de acuerdo con la regla de configuración regional.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900060" y="4158372"/>
            <a:ext cx="807893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CL" sz="13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i="0" lang="es-CL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value_expression </a:t>
            </a:r>
            <a:r>
              <a:rPr b="0" i="0" lang="es-CL" sz="13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| </a:t>
            </a:r>
            <a:r>
              <a:rPr b="0" i="0" lang="es-CL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currency</a:t>
            </a:r>
            <a:r>
              <a:rPr b="0" i="0" lang="es-CL" sz="13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[: </a:t>
            </a:r>
            <a:r>
              <a:rPr b="0" i="0" lang="es-CL" sz="13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currencyCode</a:t>
            </a:r>
            <a:r>
              <a:rPr b="0" i="0" lang="es-CL" sz="13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[: </a:t>
            </a:r>
            <a:r>
              <a:rPr b="0" i="0" lang="es-CL" sz="13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b="0" i="0" lang="es-CL" sz="13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[: </a:t>
            </a:r>
            <a:r>
              <a:rPr b="0" i="0" lang="es-CL" sz="13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digitInfo</a:t>
            </a:r>
            <a:r>
              <a:rPr b="0" i="0" lang="es-CL" sz="13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[: </a:t>
            </a:r>
            <a:r>
              <a:rPr b="0" i="0" lang="es-CL" sz="13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locale</a:t>
            </a:r>
            <a:r>
              <a:rPr b="0" i="0" lang="es-CL" sz="13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]]]}}</a:t>
            </a:r>
            <a:endParaRPr b="0" i="0" sz="13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2330675" y="4838525"/>
            <a:ext cx="1751100" cy="830400"/>
          </a:xfrm>
          <a:prstGeom prst="wedgeRectCallout">
            <a:avLst>
              <a:gd fmla="val 46839" name="adj1"/>
              <a:gd fmla="val -9986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el código ISO de la moneda (Chile: CLP).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tipo string.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opcional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209350" y="4682100"/>
            <a:ext cx="4823100" cy="1409400"/>
          </a:xfrm>
          <a:prstGeom prst="wedgeRectCallout">
            <a:avLst>
              <a:gd fmla="val -20223" name="adj1"/>
              <a:gd fmla="val -4912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el indicador opcional para el formato moneda.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 tipo es string o boolean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Posee un símbolo por defecto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354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code:  muestra el código (p.e. USD)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354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symbol (por defecto): muestra el símbolo (p.e. $)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354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</a:pPr>
            <a:r>
              <a:rPr lang="es-CL" sz="1000">
                <a:solidFill>
                  <a:schemeClr val="dk1"/>
                </a:solidFill>
              </a:rPr>
              <a:t>symbol-narrow: muestra el </a:t>
            </a:r>
            <a:r>
              <a:rPr lang="es-CL" sz="1000">
                <a:solidFill>
                  <a:schemeClr val="dk1"/>
                </a:solidFill>
              </a:rPr>
              <a:t>símbolo</a:t>
            </a:r>
            <a:r>
              <a:rPr lang="es-CL" sz="1000">
                <a:solidFill>
                  <a:schemeClr val="dk1"/>
                </a:solidFill>
              </a:rPr>
              <a:t> estrecho para cuando la región tiene </a:t>
            </a:r>
            <a:r>
              <a:rPr lang="es-CL" sz="1000">
                <a:solidFill>
                  <a:schemeClr val="dk1"/>
                </a:solidFill>
              </a:rPr>
              <a:t>más</a:t>
            </a:r>
            <a:r>
              <a:rPr lang="es-CL" sz="1000">
                <a:solidFill>
                  <a:schemeClr val="dk1"/>
                </a:solidFill>
              </a:rPr>
              <a:t> de una opción (p.e. C</a:t>
            </a:r>
            <a:r>
              <a:rPr lang="es-CL" sz="1000">
                <a:solidFill>
                  <a:schemeClr val="dk1"/>
                </a:solidFill>
              </a:rPr>
              <a:t>anadá</a:t>
            </a:r>
            <a:r>
              <a:rPr lang="es-CL" sz="1000">
                <a:solidFill>
                  <a:schemeClr val="dk1"/>
                </a:solidFill>
              </a:rPr>
              <a:t> tiene CA$ y el símbolo </a:t>
            </a:r>
            <a:r>
              <a:rPr lang="es-CL" sz="1000">
                <a:solidFill>
                  <a:schemeClr val="dk1"/>
                </a:solidFill>
              </a:rPr>
              <a:t>estrecho</a:t>
            </a:r>
            <a:r>
              <a:rPr lang="es-CL" sz="1000">
                <a:solidFill>
                  <a:schemeClr val="dk1"/>
                </a:solidFill>
              </a:rPr>
              <a:t> es $)</a:t>
            </a:r>
            <a:endParaRPr sz="1000">
              <a:solidFill>
                <a:schemeClr val="dk1"/>
              </a:solidFill>
            </a:endParaRPr>
          </a:p>
          <a:p>
            <a:pPr indent="-171450" lvl="1" marL="354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string: usa un string dado en vez de un código o un símbolo.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1695647" y="2694612"/>
            <a:ext cx="5936303" cy="1231853"/>
          </a:xfrm>
          <a:prstGeom prst="wedgeRectCallout">
            <a:avLst>
              <a:gd fmla="val 21940" name="adj1"/>
              <a:gd fmla="val 4818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Opciones de representación decimal.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tipo string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opcional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Formato:</a:t>
            </a:r>
            <a:r>
              <a:rPr b="0" i="0" lang="es-CL" sz="1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{minIntegerDigits}.{minFractionDigits}-{maxFractionDigits}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354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minIntegerDigits: número de dígitos enteros mínimo antes del punto decimal. Por defecto es 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354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minFractionDigits: número mínimo de dígitos después del punto decimal. Por defecto es 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3540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maxFractionDigits: número máximo de dígitos después del punto decimal. Por defecto es 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 rot="10800000">
            <a:off x="6775163" y="3929324"/>
            <a:ext cx="244796" cy="292388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612383" y="4398714"/>
            <a:ext cx="244796" cy="292388"/>
          </a:xfrm>
          <a:prstGeom prst="triangle">
            <a:avLst>
              <a:gd fmla="val 50000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44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7754348" y="2923085"/>
            <a:ext cx="1050776" cy="998708"/>
          </a:xfrm>
          <a:prstGeom prst="wedgeRectCallout">
            <a:avLst>
              <a:gd fmla="val -22423" name="adj1"/>
              <a:gd fmla="val 72734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L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Corresponde a las reglas regionales de uso de moneda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838199" y="1960224"/>
            <a:ext cx="4594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argumentos se indican mediante “:”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3" name="Google Shape;193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"/>
          <p:cNvSpPr txBox="1"/>
          <p:nvPr/>
        </p:nvSpPr>
        <p:spPr>
          <a:xfrm>
            <a:off x="1144588" y="185738"/>
            <a:ext cx="453681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Currency Pipe - Ejemplos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" name="Google Shape;196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838199" y="1103438"/>
            <a:ext cx="79669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continuación, se </a:t>
            </a:r>
            <a:r>
              <a:rPr lang="es-CL" sz="1800">
                <a:solidFill>
                  <a:schemeClr val="dk1"/>
                </a:solidFill>
              </a:rPr>
              <a:t>muestran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varios ejemplos de la forma de </a:t>
            </a:r>
            <a:r>
              <a:rPr lang="es-CL" sz="1800">
                <a:solidFill>
                  <a:schemeClr val="dk1"/>
                </a:solidFill>
              </a:rPr>
              <a:t>poder utilizar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este pipe: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614375" y="2167475"/>
            <a:ext cx="61701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A: {{</a:t>
            </a:r>
            <a:r>
              <a:rPr b="0" i="0" lang="es-CL" sz="1200" u="none" cap="none" strike="noStrike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0.259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| currency}}</a:t>
            </a:r>
            <a:r>
              <a:rPr b="0" i="0" lang="es-CL" sz="12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A: {{</a:t>
            </a:r>
            <a:r>
              <a:rPr b="0" i="0" lang="es-CL" sz="1200" u="none" cap="none" strike="noStrike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0.259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| currency:'CAD'}}</a:t>
            </a:r>
            <a:r>
              <a:rPr b="0" i="0" lang="es-CL" sz="12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A: {{</a:t>
            </a:r>
            <a:r>
              <a:rPr b="0" i="0" lang="es-CL" sz="1200" u="none" cap="none" strike="noStrike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0.259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| currency:'CAD':'code'}}</a:t>
            </a:r>
            <a:r>
              <a:rPr b="0" i="0" lang="es-CL" sz="12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B: {{</a:t>
            </a:r>
            <a:r>
              <a:rPr b="0" i="0" lang="es-CL" sz="1200" u="none" cap="none" strike="noStrike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1.3495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| currency:'CAD':'symbol':'4.2-2'}}</a:t>
            </a:r>
            <a:r>
              <a:rPr b="0" i="0" lang="es-CL" sz="12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B: {{</a:t>
            </a:r>
            <a:r>
              <a:rPr b="0" i="0" lang="es-CL" sz="1200" u="none" cap="none" strike="noStrike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1.3495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| currency:'CAD':'symbol-narrow':'4.2-2'}}</a:t>
            </a:r>
            <a:r>
              <a:rPr b="0" i="0" lang="es-CL" sz="12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b="0" i="0" sz="1200" u="none" cap="none" strike="noStrike">
              <a:solidFill>
                <a:srgbClr val="000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lang="es-CL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B: {{</a:t>
            </a:r>
            <a:r>
              <a:rPr lang="es-CL" sz="1200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1.3495</a:t>
            </a:r>
            <a:r>
              <a:rPr lang="es-CL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| currency:'CLP':'symbol-narrow':'4.1-1': 'en-CA'}}</a:t>
            </a:r>
            <a:r>
              <a:rPr lang="es-CL" sz="1200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C: {{</a:t>
            </a:r>
            <a:r>
              <a:rPr b="0" i="0" lang="es-CL" sz="1200" u="none" cap="none" strike="noStrike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1.3495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| currency:'CLP'}}</a:t>
            </a:r>
            <a:r>
              <a:rPr b="0" i="0" lang="es-CL" sz="12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C: {{</a:t>
            </a:r>
            <a:r>
              <a:rPr b="0" i="0" lang="es-CL" sz="1200" u="none" cap="none" strike="noStrike">
                <a:solidFill>
                  <a:srgbClr val="008080"/>
                </a:solidFill>
                <a:latin typeface="Consolas"/>
                <a:ea typeface="Consolas"/>
                <a:cs typeface="Consolas"/>
                <a:sym typeface="Consolas"/>
              </a:rPr>
              <a:t>557880</a:t>
            </a:r>
            <a:r>
              <a:rPr b="0" i="0" lang="es-CL" sz="12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| currency:'CLP':'symbol-narrow':'4.1-1'}}</a:t>
            </a:r>
            <a:r>
              <a:rPr b="0" i="0" lang="es-CL" sz="1200" u="none" cap="none" strike="noStrike">
                <a:solidFill>
                  <a:srgbClr val="000080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b="0" i="0" sz="1200" u="none" cap="none" strike="noStrike">
              <a:solidFill>
                <a:srgbClr val="000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930204" y="4790863"/>
            <a:ext cx="807893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CL" sz="13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{{</a:t>
            </a:r>
            <a:r>
              <a:rPr b="0" i="0" lang="es-CL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value_expression </a:t>
            </a:r>
            <a:r>
              <a:rPr b="0" i="0" lang="es-CL" sz="13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| </a:t>
            </a:r>
            <a:r>
              <a:rPr b="0" i="0" lang="es-CL" sz="13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currency</a:t>
            </a:r>
            <a:r>
              <a:rPr b="0" i="0" lang="es-CL" sz="13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[: </a:t>
            </a:r>
            <a:r>
              <a:rPr b="0" i="0" lang="es-CL" sz="13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currencyCode</a:t>
            </a:r>
            <a:r>
              <a:rPr b="0" i="0" lang="es-CL" sz="13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[: </a:t>
            </a:r>
            <a:r>
              <a:rPr b="0" i="0" lang="es-CL" sz="13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b="0" i="0" lang="es-CL" sz="13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[: </a:t>
            </a:r>
            <a:r>
              <a:rPr b="0" i="0" lang="es-CL" sz="13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digitInfo</a:t>
            </a:r>
            <a:r>
              <a:rPr b="0" i="0" lang="es-CL" sz="13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[: </a:t>
            </a:r>
            <a:r>
              <a:rPr b="0" i="0" lang="es-CL" sz="1300" u="none" cap="none" strike="noStrike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locale</a:t>
            </a:r>
            <a:r>
              <a:rPr b="0" i="0" lang="es-CL" sz="13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]]]}}</a:t>
            </a:r>
            <a:endParaRPr b="0" i="0" sz="13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784565" y="2205020"/>
            <a:ext cx="170417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314766"/>
                </a:solidFill>
                <a:latin typeface="Consolas"/>
                <a:ea typeface="Consolas"/>
                <a:cs typeface="Consolas"/>
                <a:sym typeface="Consolas"/>
              </a:rPr>
              <a:t>A: $0.26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314766"/>
                </a:solidFill>
                <a:latin typeface="Consolas"/>
                <a:ea typeface="Consolas"/>
                <a:cs typeface="Consolas"/>
                <a:sym typeface="Consolas"/>
              </a:rPr>
              <a:t>A: CA$0.26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314766"/>
                </a:solidFill>
                <a:latin typeface="Consolas"/>
                <a:ea typeface="Consolas"/>
                <a:cs typeface="Consolas"/>
                <a:sym typeface="Consolas"/>
              </a:rPr>
              <a:t>A: CAD0.26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314766"/>
                </a:solidFill>
                <a:latin typeface="Consolas"/>
                <a:ea typeface="Consolas"/>
                <a:cs typeface="Consolas"/>
                <a:sym typeface="Consolas"/>
              </a:rPr>
              <a:t>B: CA$0,001.35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314766"/>
                </a:solidFill>
                <a:latin typeface="Consolas"/>
                <a:ea typeface="Consolas"/>
                <a:cs typeface="Consolas"/>
                <a:sym typeface="Consolas"/>
              </a:rPr>
              <a:t>B: $0,001.35</a:t>
            </a:r>
            <a:endParaRPr b="0" i="0" sz="1200" u="none" cap="none" strike="noStrike">
              <a:solidFill>
                <a:srgbClr val="3147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rgbClr val="314766"/>
                </a:solidFill>
                <a:latin typeface="Consolas"/>
                <a:ea typeface="Consolas"/>
                <a:cs typeface="Consolas"/>
                <a:sym typeface="Consolas"/>
              </a:rPr>
              <a:t>B: $0,001.3</a:t>
            </a:r>
            <a:endParaRPr sz="1200">
              <a:solidFill>
                <a:srgbClr val="3147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314766"/>
                </a:solidFill>
                <a:latin typeface="Consolas"/>
                <a:ea typeface="Consolas"/>
                <a:cs typeface="Consolas"/>
                <a:sym typeface="Consolas"/>
              </a:rPr>
              <a:t>C: CLP1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314766"/>
                </a:solidFill>
                <a:latin typeface="Consolas"/>
                <a:ea typeface="Consolas"/>
                <a:cs typeface="Consolas"/>
                <a:sym typeface="Consolas"/>
              </a:rPr>
              <a:t>C: $557,880.0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086072" y="1849290"/>
            <a:ext cx="250051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app.html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407970" y="1733569"/>
            <a:ext cx="14082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Salida: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6623391" y="3809131"/>
            <a:ext cx="20265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CAD: dólar canadiense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CLP: peso chileno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874275" y="5461025"/>
            <a:ext cx="78948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Recordemos que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Los Pipe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cambian datos… cambian la forma en que los vemos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9" name="Google Shape;209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/>
        </p:nvSpPr>
        <p:spPr>
          <a:xfrm>
            <a:off x="1144588" y="185738"/>
            <a:ext cx="44374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Currency Pipe - Ejercicio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2" name="Google Shape;212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838199" y="1103438"/>
            <a:ext cx="7526339" cy="702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Nos interesa </a:t>
            </a:r>
            <a:r>
              <a:rPr b="1" i="0" lang="es-CL" sz="1800" u="none" cap="none" strike="noStrike">
                <a:solidFill>
                  <a:schemeClr val="dk1"/>
                </a:solidFill>
              </a:rPr>
              <a:t>mostrar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 precio como euros y en formato uniforme ¿Cómo lo hacemos?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4448" y="1885580"/>
            <a:ext cx="1162781" cy="3357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6178" y="5847660"/>
            <a:ext cx="6300037" cy="2837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7"/>
          <p:cNvCxnSpPr/>
          <p:nvPr/>
        </p:nvCxnSpPr>
        <p:spPr>
          <a:xfrm>
            <a:off x="2552433" y="2694612"/>
            <a:ext cx="122398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217" name="Google Shape;217;p7"/>
          <p:cNvSpPr/>
          <p:nvPr/>
        </p:nvSpPr>
        <p:spPr>
          <a:xfrm>
            <a:off x="4572001" y="2360426"/>
            <a:ext cx="428393" cy="555494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DEAF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122792" y="2360426"/>
            <a:ext cx="428393" cy="555494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DEAF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5796219" y="2351385"/>
            <a:ext cx="428393" cy="555494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DEAF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346771" y="2351385"/>
            <a:ext cx="428393" cy="555494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DEAF6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642984" y="2854748"/>
            <a:ext cx="61172" cy="6117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9895" y="2257657"/>
            <a:ext cx="5715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/>
          <p:nvPr/>
        </p:nvSpPr>
        <p:spPr>
          <a:xfrm>
            <a:off x="3388628" y="3117431"/>
            <a:ext cx="5262767" cy="2295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este caso expresamos que queremos que el símbolo de la moneda sea EUR, true implica que sí queremos que se muestre la moneda, y ‘1.2-2’, el primer dígito, el 1, indica el número mínimo de cifras enteras, el siguiente, el .2 indica el número mínimo de cifras decimales, y el último -2 indica el máximo de cifras decimales.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28" name="Google Shape;228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 txBox="1"/>
          <p:nvPr/>
        </p:nvSpPr>
        <p:spPr>
          <a:xfrm>
            <a:off x="1144588" y="185738"/>
            <a:ext cx="18229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Date Pipe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" name="Google Shape;231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838200" y="1763837"/>
            <a:ext cx="15306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Formato: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2307637" y="1856170"/>
            <a:ext cx="6032101" cy="1846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200"/>
              <a:buFont typeface="Consolas"/>
              <a:buNone/>
            </a:pPr>
            <a:r>
              <a:rPr b="0" i="0" lang="es-CL" sz="1200" u="none" cap="none" strike="noStrike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{{ value_expression | date [ : format [ : timezone [ : locale ] ] ] }}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906406" y="2430189"/>
            <a:ext cx="833511" cy="2462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158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1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format</a:t>
            </a:r>
            <a:endParaRPr b="1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838199" y="1225836"/>
            <a:ext cx="7966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Dar formato </a:t>
            </a:r>
            <a:r>
              <a:rPr b="1" lang="es-CL" sz="1800">
                <a:solidFill>
                  <a:schemeClr val="dk1"/>
                </a:solidFill>
              </a:rPr>
              <a:t>para mostrar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una fecha/hora: DateP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ipe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36" name="Google Shape;236;p8"/>
          <p:cNvGraphicFramePr/>
          <p:nvPr/>
        </p:nvGraphicFramePr>
        <p:xfrm>
          <a:off x="896585" y="30618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{5B86F778-DAF5-4799-9ED3-7EDAE6351540}</a:tableStyleId>
              </a:tblPr>
              <a:tblGrid>
                <a:gridCol w="1332150"/>
                <a:gridCol w="2973450"/>
                <a:gridCol w="3388800"/>
              </a:tblGrid>
              <a:tr h="25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/>
                        <a:t>clave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/>
                        <a:t>Equivalente 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/>
                        <a:t>Ejemplo de salida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14766"/>
                        </a:buClr>
                        <a:buSzPts val="1000"/>
                        <a:buFont typeface="Consolas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short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'M/d/yy, h:mm a'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6/15/15, 9:03 AM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medium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'MMM d, y, h:mm:ss a'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Jun 15, 2015, 9:03:01 AM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long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'MMMM d, y, h:mm:ss a z'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June 15, 2015 at 9:03:01 AM GMT+1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full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'EEEE, MMMM d, y, h:mm:ss a zzzz'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Monday, June 15, 2015 at 9:03:01 AM GMT+01:00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shortDate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'M/d/yy'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6/15/15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mediumDate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'MMM d, y'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Jun 15, 2015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longDate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'MMMM d, y'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June 15, 2015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fullDate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'EEEE, MMMM d, y'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Monday, June 15, 2015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shortTime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'h:mm a'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9:03 AM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mediumTime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'h:mm:ss a'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9:03:01 AM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longTime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'h:mm:ss a z'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9:03:01 AM GMT+1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fullTime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'h:mm:ss a zzzz'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s-CL" sz="1000" u="none" cap="none" strike="noStrike">
                          <a:solidFill>
                            <a:srgbClr val="31476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9:03:01 AM GMT+01: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37" name="Google Shape;237;p8"/>
          <p:cNvCxnSpPr/>
          <p:nvPr/>
        </p:nvCxnSpPr>
        <p:spPr>
          <a:xfrm>
            <a:off x="4877995" y="2040836"/>
            <a:ext cx="61199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8" name="Google Shape;238;p8"/>
          <p:cNvCxnSpPr>
            <a:endCxn id="234" idx="0"/>
          </p:cNvCxnSpPr>
          <p:nvPr/>
        </p:nvCxnSpPr>
        <p:spPr>
          <a:xfrm flipH="1">
            <a:off x="1323161" y="2225589"/>
            <a:ext cx="3921900" cy="204600"/>
          </a:xfrm>
          <a:prstGeom prst="bentConnector2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239" name="Google Shape;239;p8"/>
          <p:cNvSpPr/>
          <p:nvPr/>
        </p:nvSpPr>
        <p:spPr>
          <a:xfrm>
            <a:off x="1634487" y="2357038"/>
            <a:ext cx="72214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corresponde al primer parámetro del pipe llamado date, puede tomar los valores de la primera columna de la tabla: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40" name="Google Shape;240;p8"/>
          <p:cNvCxnSpPr/>
          <p:nvPr/>
        </p:nvCxnSpPr>
        <p:spPr>
          <a:xfrm rot="10800000">
            <a:off x="5245190" y="2040836"/>
            <a:ext cx="0" cy="18466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5" name="Google Shape;245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9"/>
          <p:cNvSpPr txBox="1"/>
          <p:nvPr/>
        </p:nvSpPr>
        <p:spPr>
          <a:xfrm>
            <a:off x="1144588" y="185738"/>
            <a:ext cx="381867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Date Pipe – Ejemplos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8" name="Google Shape;248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879244" y="2477310"/>
            <a:ext cx="6487094" cy="2099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79350" lIns="0" spcFirstLastPara="1" rIns="0" wrap="square" tIns="79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@Component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032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00D032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s-CL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selector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'date-pipe’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032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00D032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s-CL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template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`&lt;div&gt; &lt;p&gt;{{today | date:'fullDate'}}&lt;/p&gt; &lt;/div&gt;`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BD6E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BD6E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export class </a:t>
            </a:r>
            <a:r>
              <a:rPr b="0" i="0" lang="es-CL" sz="1400" u="none" cap="none" strike="noStrik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DatePipeComponent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6E2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s-CL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today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400" u="none" cap="none" strike="noStrik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400" u="none" cap="none" strike="noStrik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Date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now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838199" y="1225836"/>
            <a:ext cx="79669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ejemplo, si deseamos </a:t>
            </a:r>
            <a:r>
              <a:rPr b="1" i="0" lang="es-CL" sz="1800" u="none" cap="none" strike="noStrike">
                <a:solidFill>
                  <a:schemeClr val="dk1"/>
                </a:solidFill>
              </a:rPr>
              <a:t>mostrar la fecha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el formato extenso predeterminado usaremos lo siguiente: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144588" y="2019285"/>
            <a:ext cx="7677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Componente:</a:t>
            </a:r>
            <a:endParaRPr b="1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146464" y="4881407"/>
            <a:ext cx="76777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Salida:</a:t>
            </a:r>
            <a:endParaRPr b="1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2182461" y="5276867"/>
            <a:ext cx="30973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Wednesday, Apr 24, 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4327204" y="3000607"/>
            <a:ext cx="2264363" cy="201141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59" name="Google Shape;259;p1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" name="Google Shape;260;p1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1" name="Google Shape;261;p1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206500" y="1780441"/>
            <a:ext cx="833511" cy="2462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158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1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format</a:t>
            </a:r>
            <a:endParaRPr b="1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63" name="Google Shape;263;p10"/>
          <p:cNvGraphicFramePr/>
          <p:nvPr/>
        </p:nvGraphicFramePr>
        <p:xfrm>
          <a:off x="838199" y="25722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{8876DA2C-0ADE-4138-BF82-537E57300B0C}</a:tableStyleId>
              </a:tblPr>
              <a:tblGrid>
                <a:gridCol w="1511075"/>
                <a:gridCol w="869350"/>
              </a:tblGrid>
              <a:tr h="2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/>
                        <a:t>Campo</a:t>
                      </a:r>
                      <a:endParaRPr sz="14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/>
                        <a:t>Formato</a:t>
                      </a:r>
                      <a:endParaRPr sz="14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Año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y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Mes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M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Semana del año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Semana del mes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W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Día del mes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Día de la semana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E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Periodo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Hora (1-12)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Hora (0-23)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H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Minuto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m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Segundo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-CL" sz="1000" u="none" cap="none" strike="noStrike"/>
                        <a:t>s</a:t>
                      </a:r>
                      <a:endParaRPr sz="1400" u="none" cap="none" strike="noStrike"/>
                    </a:p>
                  </a:txBody>
                  <a:tcPr marT="60950" marB="60950" marR="60950" marL="609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4" name="Google Shape;264;p10"/>
          <p:cNvSpPr/>
          <p:nvPr/>
        </p:nvSpPr>
        <p:spPr>
          <a:xfrm>
            <a:off x="3558186" y="2878209"/>
            <a:ext cx="5263114" cy="2314686"/>
          </a:xfrm>
          <a:prstGeom prst="rect">
            <a:avLst/>
          </a:prstGeom>
          <a:noFill/>
          <a:ln>
            <a:noFill/>
          </a:ln>
        </p:spPr>
        <p:txBody>
          <a:bodyPr anchorCtr="0" anchor="ctr" bIns="79350" lIns="0" spcFirstLastPara="1" rIns="0" wrap="square" tIns="79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99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@Component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6E2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s-CL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selector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400" u="none" cap="none" strike="noStrike">
                <a:solidFill>
                  <a:srgbClr val="568BBF"/>
                </a:solidFill>
                <a:latin typeface="Consolas"/>
                <a:ea typeface="Consolas"/>
                <a:cs typeface="Consolas"/>
                <a:sym typeface="Consolas"/>
              </a:rPr>
              <a:t>'date-pipe’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6E2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s-CL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template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`&lt;div&gt;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             &lt;p&gt;{{today | date:'dd/MM/yyyy'}}&lt;/p&gt;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           &lt;/div&gt;`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BD6E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export class </a:t>
            </a:r>
            <a:r>
              <a:rPr b="0" i="0" lang="es-CL" sz="1400" u="none" cap="none" strike="noStrik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DatePipeComponent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6E2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s-CL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today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400" u="none" cap="none" strike="noStrik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CL" sz="1400" u="none" cap="none" strike="noStrike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Date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s-CL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now</a:t>
            </a: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r>
              <a:rPr b="0" i="0" lang="es-CL" sz="1400" u="none" cap="none" strike="noStrike">
                <a:solidFill>
                  <a:srgbClr val="CBD6E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9000"/>
              </a:buClr>
              <a:buSzPts val="1400"/>
              <a:buFont typeface="Consolas"/>
              <a:buNone/>
            </a:pPr>
            <a:r>
              <a:rPr b="0" i="0" lang="es-CL" sz="1400" u="none" cap="none" strike="noStrike">
                <a:solidFill>
                  <a:srgbClr val="BF9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b="0" i="0" lang="es-CL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838199" y="1715232"/>
            <a:ext cx="79669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también acepta caracteres básicos que permiten personalizar el formato de la salida: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3470418" y="2508877"/>
            <a:ext cx="52631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Componente:</a:t>
            </a:r>
            <a:endParaRPr b="1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3470418" y="5312276"/>
            <a:ext cx="52631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Salida:</a:t>
            </a:r>
            <a:endParaRPr b="1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838199" y="1225836"/>
            <a:ext cx="7966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Formato personalizado</a:t>
            </a:r>
            <a:endParaRPr b="1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9" name="Google Shape;269;p10"/>
          <p:cNvSpPr txBox="1"/>
          <p:nvPr/>
        </p:nvSpPr>
        <p:spPr>
          <a:xfrm>
            <a:off x="3776413" y="5731293"/>
            <a:ext cx="14510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24/04/2024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612383" y="3608997"/>
            <a:ext cx="2448622" cy="23130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"/>
          <p:cNvSpPr txBox="1"/>
          <p:nvPr/>
        </p:nvSpPr>
        <p:spPr>
          <a:xfrm>
            <a:off x="1144588" y="185738"/>
            <a:ext cx="41777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Date Pipe – Ejemplos…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76" name="Google Shape;276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1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8" name="Google Shape;278;p1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777662" y="1286040"/>
            <a:ext cx="1057931" cy="2462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158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1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timezone</a:t>
            </a:r>
            <a:endParaRPr b="1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777662" y="1635845"/>
            <a:ext cx="7955176" cy="18543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Corresponde a la zona horaria deseada para el formato.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9075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Puede estar expresado como un desplazamiento (p.e. '</a:t>
            </a:r>
            <a:r>
              <a:rPr lang="es-CL" sz="1800">
                <a:solidFill>
                  <a:schemeClr val="dk1"/>
                </a:solidFill>
              </a:rPr>
              <a:t>+0430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'), o una abreviatura estándar como UTC/GMT de EE.UU. Continental.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valor predeterminado es la zona horaria del sistema local de la máquina del usuario.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780513" y="3716893"/>
            <a:ext cx="833511" cy="2462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158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1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locale</a:t>
            </a:r>
            <a:endParaRPr b="1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778356" y="4083805"/>
            <a:ext cx="7955176" cy="815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Corresponde al idioma y símbolos de moneda de cada localización.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defecto se usa </a:t>
            </a: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en-US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Estados Unidos.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1206500" y="5549021"/>
            <a:ext cx="36038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{{today | date:'fullDate'}}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5245189" y="5568827"/>
            <a:ext cx="32239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Wednesday, June 17, 2020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810372" y="5618061"/>
            <a:ext cx="312419" cy="27086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5612383" y="5003715"/>
            <a:ext cx="1101582" cy="369332"/>
          </a:xfrm>
          <a:prstGeom prst="wedgeRectCallout">
            <a:avLst>
              <a:gd fmla="val -21853" name="adj1"/>
              <a:gd fmla="val 92960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En-US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1144588" y="185738"/>
            <a:ext cx="41777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Date Pipe – Ejemplos…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12" title="Captura de pantalla 2026-04-10 a la(s) 12.32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713" y="4452036"/>
            <a:ext cx="5709624" cy="111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93" name="Google Shape;293;p12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4" name="Google Shape;294;p1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5" name="Google Shape;295;p1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1229330" y="1780441"/>
            <a:ext cx="833511" cy="2462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158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b="1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locale</a:t>
            </a:r>
            <a:endParaRPr b="1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838199" y="1715232"/>
            <a:ext cx="79669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es el parámetro del pipe date que permite cambiar la localización (o país) para mostrar los símbolos de moneda y textos traducidos.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838199" y="1225836"/>
            <a:ext cx="7966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Cambiando la localización</a:t>
            </a:r>
            <a:endParaRPr b="1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838199" y="2447678"/>
            <a:ext cx="7966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habilita globalmente de la siguiente manera: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5338235" y="5948989"/>
            <a:ext cx="2208000" cy="558000"/>
          </a:xfrm>
          <a:prstGeom prst="wedgeRectCallout">
            <a:avLst>
              <a:gd fmla="val -57893" name="adj1"/>
              <a:gd fmla="val -11480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Se establece el idioma por defecto.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2"/>
          <p:cNvSpPr txBox="1"/>
          <p:nvPr/>
        </p:nvSpPr>
        <p:spPr>
          <a:xfrm>
            <a:off x="1144588" y="185738"/>
            <a:ext cx="41777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Date Pipe – Ejemplos…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12" title="Captura de pantalla 2026-04-10 a la(s) 12.33.2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6713" y="3176735"/>
            <a:ext cx="6410568" cy="8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2"/>
          <p:cNvSpPr/>
          <p:nvPr/>
        </p:nvSpPr>
        <p:spPr>
          <a:xfrm>
            <a:off x="6560516" y="3842190"/>
            <a:ext cx="922500" cy="558000"/>
          </a:xfrm>
          <a:prstGeom prst="wedgeRectCallout">
            <a:avLst>
              <a:gd fmla="val -224274" name="adj1"/>
              <a:gd fmla="val -5626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español de Chile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1409087" y="3693600"/>
            <a:ext cx="3427500" cy="19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1768313" y="5307425"/>
            <a:ext cx="3427500" cy="246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1366710" y="2847328"/>
            <a:ext cx="250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s-CL" sz="1600">
                <a:solidFill>
                  <a:schemeClr val="dk1"/>
                </a:solidFill>
                <a:highlight>
                  <a:srgbClr val="FFFF00"/>
                </a:highlight>
              </a:rPr>
              <a:t>main</a:t>
            </a: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i="1" lang="es-CL" sz="1600">
                <a:solidFill>
                  <a:schemeClr val="dk1"/>
                </a:solidFill>
                <a:highlight>
                  <a:srgbClr val="FFFF00"/>
                </a:highlight>
              </a:rPr>
              <a:t>ts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1366710" y="4109127"/>
            <a:ext cx="250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s-CL" sz="1600">
                <a:solidFill>
                  <a:schemeClr val="dk1"/>
                </a:solidFill>
                <a:highlight>
                  <a:srgbClr val="FFFF00"/>
                </a:highlight>
              </a:rPr>
              <a:t>app.config</a:t>
            </a: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r>
              <a:rPr i="1" lang="es-CL" sz="1600">
                <a:solidFill>
                  <a:schemeClr val="dk1"/>
                </a:solidFill>
                <a:highlight>
                  <a:srgbClr val="FFFF00"/>
                </a:highlight>
              </a:rPr>
              <a:t>ts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12" name="Google Shape;312;p1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p1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4" name="Google Shape;314;p1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838199" y="1225836"/>
            <a:ext cx="79669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Cambiando la localización…</a:t>
            </a:r>
            <a:endParaRPr b="1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853884" y="2089574"/>
            <a:ext cx="34387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`{{today | date:'fullDate'}}`</a:t>
            </a:r>
            <a:endParaRPr b="0" i="0" sz="16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838975" y="4149244"/>
            <a:ext cx="47584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`{{today | date:'fullDate':'':'en-US'}}`</a:t>
            </a:r>
            <a:endParaRPr b="0" i="0" sz="1600" u="none" cap="none" strike="noStrike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1512050" y="4589643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Thursday, June 20, 2020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1512050" y="2510729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jueves, 18 de junio de 2020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110742" y="3408250"/>
            <a:ext cx="922515" cy="441267"/>
          </a:xfrm>
          <a:prstGeom prst="wedgeRectCallout">
            <a:avLst>
              <a:gd fmla="val 10184" name="adj1"/>
              <a:gd fmla="val 13075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locale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 txBox="1"/>
          <p:nvPr/>
        </p:nvSpPr>
        <p:spPr>
          <a:xfrm>
            <a:off x="5551184" y="1952118"/>
            <a:ext cx="2998057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este caso, se muestra la fecha en idioma español, debido a que se configuró el locale de manera global (el provider del módulo establecen el idioma por defecto).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3"/>
          <p:cNvSpPr txBox="1"/>
          <p:nvPr/>
        </p:nvSpPr>
        <p:spPr>
          <a:xfrm>
            <a:off x="5597474" y="3978307"/>
            <a:ext cx="299805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este caso, se muestra la fecha en idioma inglés, debido a que se establece el valor del parámetro locale a en-US solo para este pipe.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 txBox="1"/>
          <p:nvPr/>
        </p:nvSpPr>
        <p:spPr>
          <a:xfrm>
            <a:off x="1144588" y="185738"/>
            <a:ext cx="41777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Date Pipe – Ejemplos…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28" name="Google Shape;328;p1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p1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0" name="Google Shape;330;p1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 txBox="1"/>
          <p:nvPr/>
        </p:nvSpPr>
        <p:spPr>
          <a:xfrm>
            <a:off x="1144588" y="185738"/>
            <a:ext cx="37192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Date Pipe – Ejercicio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14"/>
          <p:cNvPicPr preferRelativeResize="0"/>
          <p:nvPr/>
        </p:nvPicPr>
        <p:blipFill rotWithShape="1">
          <a:blip r:embed="rId4">
            <a:alphaModFix/>
          </a:blip>
          <a:srcRect b="25806" l="0" r="0" t="0"/>
          <a:stretch/>
        </p:blipFill>
        <p:spPr>
          <a:xfrm>
            <a:off x="1300376" y="2633413"/>
            <a:ext cx="6392773" cy="1276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05017" y="2144743"/>
            <a:ext cx="5557948" cy="26352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4"/>
          <p:cNvSpPr/>
          <p:nvPr/>
        </p:nvSpPr>
        <p:spPr>
          <a:xfrm>
            <a:off x="1027877" y="1757248"/>
            <a:ext cx="770496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Primero se debe cambiar la localización regional. Luego el argumento del pipe: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14"/>
          <p:cNvPicPr preferRelativeResize="0"/>
          <p:nvPr/>
        </p:nvPicPr>
        <p:blipFill rotWithShape="1">
          <a:blip r:embed="rId6">
            <a:alphaModFix/>
          </a:blip>
          <a:srcRect b="27256" l="0" r="0" t="0"/>
          <a:stretch/>
        </p:blipFill>
        <p:spPr>
          <a:xfrm>
            <a:off x="1409090" y="4714179"/>
            <a:ext cx="5813905" cy="127696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4"/>
          <p:cNvSpPr/>
          <p:nvPr/>
        </p:nvSpPr>
        <p:spPr>
          <a:xfrm>
            <a:off x="639369" y="1164637"/>
            <a:ext cx="79551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1" i="0" lang="es-CL" sz="1800" u="none" cap="none" strike="noStrike">
                <a:solidFill>
                  <a:schemeClr val="dk1"/>
                </a:solidFill>
              </a:rPr>
              <a:t>Mostrar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fecha en su formato completo (full)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639369" y="4214762"/>
            <a:ext cx="79551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 startAt="2"/>
            </a:pPr>
            <a:r>
              <a:rPr b="1" i="0" lang="es-CL" sz="1800" u="none" cap="none" strike="noStrike">
                <a:solidFill>
                  <a:schemeClr val="dk1"/>
                </a:solidFill>
              </a:rPr>
              <a:t>Mostrar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fecha en formato: día/mes/año  (ej: 03/05/2019)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3767955" y="3015680"/>
            <a:ext cx="2141965" cy="833498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4204807" y="5142572"/>
            <a:ext cx="979184" cy="833498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44" name="Google Shape;344;p1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1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6" name="Google Shape;346;p1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605346" y="1164637"/>
            <a:ext cx="812749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Si no existe el pipe… lo creamos.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Crearemos un pipe </a:t>
            </a:r>
            <a:r>
              <a:rPr b="1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mostrar 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imagen por defecto cuando no existe  una.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8" name="Google Shape;348;p15"/>
          <p:cNvSpPr txBox="1"/>
          <p:nvPr/>
        </p:nvSpPr>
        <p:spPr>
          <a:xfrm>
            <a:off x="1144588" y="185738"/>
            <a:ext cx="38795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Pipes Personalizados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1267254" y="2394990"/>
            <a:ext cx="7091685" cy="437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79350" lIns="0" spcFirstLastPara="1" rIns="0" wrap="square" tIns="79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Consolas"/>
              <a:buNone/>
            </a:pPr>
            <a:r>
              <a:rPr b="0" i="0" lang="es-CL" sz="1800" u="none" cap="none" strike="noStrike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CL" sz="1800" u="none" cap="none" strike="noStrike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img </a:t>
            </a:r>
            <a:r>
              <a:rPr b="0" i="0" lang="es-CL" sz="1800" u="none" cap="none" strike="noStrike">
                <a:solidFill>
                  <a:srgbClr val="669900"/>
                </a:solidFill>
                <a:latin typeface="Consolas"/>
                <a:ea typeface="Consolas"/>
                <a:cs typeface="Consolas"/>
                <a:sym typeface="Consolas"/>
              </a:rPr>
              <a:t>[src]</a:t>
            </a:r>
            <a:r>
              <a:rPr b="0" i="0" lang="es-CL" sz="1800" u="none" cap="none" strike="noStrike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b="0" i="0" lang="es-CL" sz="1800" u="none" cap="none" strike="noStrike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imageUrl | default</a:t>
            </a:r>
            <a:r>
              <a:rPr lang="es-CL" sz="1800">
                <a:solidFill>
                  <a:srgbClr val="0077AA"/>
                </a:solidFill>
                <a:latin typeface="Consolas"/>
                <a:ea typeface="Consolas"/>
                <a:cs typeface="Consolas"/>
                <a:sym typeface="Consolas"/>
              </a:rPr>
              <a:t>Image</a:t>
            </a:r>
            <a:r>
              <a:rPr b="0" i="0" lang="es-CL" sz="1800" u="none" cap="none" strike="noStrike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"/&gt;</a:t>
            </a:r>
            <a:r>
              <a:rPr b="0" i="0" lang="es-CL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627063" y="2967335"/>
            <a:ext cx="8105774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Donde: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imageUrl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corresponde a la variable que almacena la URL de la imagen del producto.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defaultImage</a:t>
            </a:r>
            <a:r>
              <a:rPr b="0" i="0" lang="es-CL" sz="18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es el pipe que analiza si la variable tiene una URL válida, sino asigna una imagen por defecto. 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616200" y="5287626"/>
            <a:ext cx="8105700" cy="36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Para crear una tubería usamos el decorador </a:t>
            </a:r>
            <a:r>
              <a:rPr b="0" i="0" lang="es-CL" sz="1800" u="none" cap="none" strike="noStrike">
                <a:solidFill>
                  <a:srgbClr val="CC0099"/>
                </a:solidFill>
                <a:latin typeface="Consolas"/>
                <a:ea typeface="Consolas"/>
                <a:cs typeface="Consolas"/>
                <a:sym typeface="Consolas"/>
              </a:rPr>
              <a:t>@Pipe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56" name="Google Shape;356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7" name="Google Shape;357;p1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8" name="Google Shape;358;p1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605346" y="1164637"/>
            <a:ext cx="81274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Creamos el pipe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 siguiente manera: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0" name="Google Shape;360;p16"/>
          <p:cNvSpPr txBox="1"/>
          <p:nvPr/>
        </p:nvSpPr>
        <p:spPr>
          <a:xfrm>
            <a:off x="1144588" y="185738"/>
            <a:ext cx="56957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Pipes Personalizados - Ejercicio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6"/>
          <p:cNvSpPr txBox="1"/>
          <p:nvPr/>
        </p:nvSpPr>
        <p:spPr>
          <a:xfrm>
            <a:off x="2828177" y="1704387"/>
            <a:ext cx="348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C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ng g p shared/image</a:t>
            </a:r>
            <a:endParaRPr b="0" i="0" sz="1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16" title="Captura de pantalla 2026-04-10 a la(s) 12.18.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5788" y="2480077"/>
            <a:ext cx="7192426" cy="6328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67" name="Google Shape;367;g3d538e6b093_0_13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8" name="Google Shape;368;g3d538e6b093_0_13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9" name="Google Shape;369;g3d538e6b093_0_13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d538e6b093_0_13"/>
          <p:cNvSpPr/>
          <p:nvPr/>
        </p:nvSpPr>
        <p:spPr>
          <a:xfrm>
            <a:off x="605346" y="1164637"/>
            <a:ext cx="812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implementa </a:t>
            </a:r>
            <a:r>
              <a:rPr lang="es-CL" sz="1800">
                <a:solidFill>
                  <a:schemeClr val="dk1"/>
                </a:solidFill>
              </a:rPr>
              <a:t>el Pipe 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la siguiente manera: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1" name="Google Shape;371;g3d538e6b093_0_13"/>
          <p:cNvSpPr txBox="1"/>
          <p:nvPr/>
        </p:nvSpPr>
        <p:spPr>
          <a:xfrm>
            <a:off x="1144588" y="185738"/>
            <a:ext cx="569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Pipes Personalizados - Ejercicio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d538e6b093_0_13"/>
          <p:cNvSpPr/>
          <p:nvPr/>
        </p:nvSpPr>
        <p:spPr>
          <a:xfrm>
            <a:off x="777662" y="1686085"/>
            <a:ext cx="250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image</a:t>
            </a:r>
            <a:r>
              <a:rPr i="1" lang="es-CL" sz="1600">
                <a:solidFill>
                  <a:schemeClr val="dk1"/>
                </a:solidFill>
                <a:highlight>
                  <a:srgbClr val="FFFF00"/>
                </a:highlight>
              </a:rPr>
              <a:t>-</a:t>
            </a: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pipe.ts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g3d538e6b093_0_13" title="Captura de pantalla 2026-04-10 a la(s) 12.44.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650" y="2034887"/>
            <a:ext cx="5170725" cy="33264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4" name="Google Shape;374;g3d538e6b093_0_13"/>
          <p:cNvSpPr/>
          <p:nvPr/>
        </p:nvSpPr>
        <p:spPr>
          <a:xfrm>
            <a:off x="3810824" y="2241275"/>
            <a:ext cx="3029700" cy="834000"/>
          </a:xfrm>
          <a:prstGeom prst="wedgeRectCallout">
            <a:avLst>
              <a:gd fmla="val -120240" name="adj1"/>
              <a:gd fmla="val 97488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lógica real del pipe se coloca en una función llamada </a:t>
            </a:r>
            <a:r>
              <a:rPr b="0" i="1" lang="es-CL" sz="1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transform</a:t>
            </a:r>
            <a:r>
              <a:rPr b="0" i="0" lang="es-CL" sz="1400" u="none" cap="none" strike="noStrike">
                <a:solidFill>
                  <a:srgbClr val="F4645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CL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dentro de la clase.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d538e6b093_0_13"/>
          <p:cNvSpPr/>
          <p:nvPr/>
        </p:nvSpPr>
        <p:spPr>
          <a:xfrm>
            <a:off x="5228625" y="3601450"/>
            <a:ext cx="3301500" cy="1055100"/>
          </a:xfrm>
          <a:prstGeom prst="wedgeRectCallout">
            <a:avLst>
              <a:gd fmla="val -130795" name="adj1"/>
              <a:gd fmla="val -40264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primer argumento de la función de transformación es el valor (</a:t>
            </a:r>
            <a:r>
              <a:rPr b="0" i="1" lang="es-CL" sz="14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value</a:t>
            </a:r>
            <a:r>
              <a:rPr b="0" i="0" lang="es-CL" sz="14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) que se pasa en el pipe, es decir, lo que va antes de la ”</a:t>
            </a:r>
            <a:r>
              <a:rPr b="0" i="0" lang="es-CL" sz="14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b="0" i="0" lang="es-CL" sz="14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  <a:r>
              <a:rPr b="0" i="0" lang="es-CL" sz="1400" u="none" cap="none" strike="noStrike">
                <a:solidFill>
                  <a:srgbClr val="F4645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CL" sz="14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en la expresión.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g3d538e6b093_0_13" title="Captura de pantalla 2026-04-10 a la(s) 12.50.4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0849" y="4607612"/>
            <a:ext cx="1998677" cy="1919048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d538e6b093_0_13"/>
          <p:cNvSpPr/>
          <p:nvPr/>
        </p:nvSpPr>
        <p:spPr>
          <a:xfrm>
            <a:off x="2021425" y="5421750"/>
            <a:ext cx="1718700" cy="1055100"/>
          </a:xfrm>
          <a:prstGeom prst="wedgeRectCallout">
            <a:avLst>
              <a:gd fmla="val 61415" name="adj1"/>
              <a:gd fmla="val 3998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 imagen debe existir en la carpeta public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17" title="Captura de pantalla 2026-04-10 a la(s) 12.47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104" y="1953098"/>
            <a:ext cx="7536450" cy="181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83" name="Google Shape;383;p17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4" name="Google Shape;384;p1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5" name="Google Shape;385;p1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605346" y="1164637"/>
            <a:ext cx="81274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el pipe a las declaraciones del </a:t>
            </a:r>
            <a:r>
              <a:rPr lang="es-CL" sz="1800">
                <a:solidFill>
                  <a:schemeClr val="dk1"/>
                </a:solidFill>
              </a:rPr>
              <a:t>componente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7" name="Google Shape;387;p17"/>
          <p:cNvSpPr txBox="1"/>
          <p:nvPr/>
        </p:nvSpPr>
        <p:spPr>
          <a:xfrm>
            <a:off x="1144588" y="185738"/>
            <a:ext cx="61350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Pipes Personalizados – Ejercicio…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761426" y="1610830"/>
            <a:ext cx="250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s-CL" sz="1600">
                <a:solidFill>
                  <a:schemeClr val="dk1"/>
                </a:solidFill>
                <a:highlight>
                  <a:srgbClr val="FFFF00"/>
                </a:highlight>
              </a:rPr>
              <a:t>product-list</a:t>
            </a: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.ts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7171079" y="2822600"/>
            <a:ext cx="1009500" cy="264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605282" y="3960004"/>
            <a:ext cx="812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el pipe a la vista: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1343975" y="4375823"/>
            <a:ext cx="324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CL" sz="16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product-list.html</a:t>
            </a:r>
            <a:endParaRPr b="0" i="1" sz="16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846137" y="1953100"/>
            <a:ext cx="4668300" cy="264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17" title="Captura de pantalla 2026-04-10 a la(s) 12.41.1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8629" y="4712275"/>
            <a:ext cx="6371408" cy="1517638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7"/>
          <p:cNvSpPr/>
          <p:nvPr/>
        </p:nvSpPr>
        <p:spPr>
          <a:xfrm>
            <a:off x="2191488" y="4729398"/>
            <a:ext cx="4921200" cy="264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99" name="Google Shape;399;p1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" name="Google Shape;400;p1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1" name="Google Shape;401;p1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605346" y="1164637"/>
            <a:ext cx="81274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Finalmente, probar su funcionamiento, para esto eliminamos un enlace de alguna imagen de producto:</a:t>
            </a:r>
            <a:endParaRPr b="0" i="0" sz="1800" u="none" cap="none" strike="noStrike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3" name="Google Shape;403;p18"/>
          <p:cNvSpPr txBox="1"/>
          <p:nvPr/>
        </p:nvSpPr>
        <p:spPr>
          <a:xfrm>
            <a:off x="1144588" y="185738"/>
            <a:ext cx="61350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Pipes Personalizados – Ejercicio…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583" y="2059617"/>
            <a:ext cx="7880651" cy="36441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8"/>
          <p:cNvSpPr/>
          <p:nvPr/>
        </p:nvSpPr>
        <p:spPr>
          <a:xfrm>
            <a:off x="900059" y="4163388"/>
            <a:ext cx="1897169" cy="61199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8"/>
          <p:cNvSpPr txBox="1"/>
          <p:nvPr/>
        </p:nvSpPr>
        <p:spPr>
          <a:xfrm>
            <a:off x="721688" y="5755425"/>
            <a:ext cx="78948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Recordemos que</a:t>
            </a:r>
            <a:r>
              <a:rPr lang="es-CL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Los Pipe no cambian datos… cambian la forma en que los vemos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11" name="Google Shape;411;g3d538e6b093_0_65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2" name="Google Shape;412;g3d538e6b093_0_65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3" name="Google Shape;413;g3d538e6b093_0_65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d538e6b093_0_65"/>
          <p:cNvSpPr txBox="1"/>
          <p:nvPr/>
        </p:nvSpPr>
        <p:spPr>
          <a:xfrm>
            <a:off x="1144588" y="185738"/>
            <a:ext cx="613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Repasemos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d538e6b093_0_65"/>
          <p:cNvSpPr/>
          <p:nvPr/>
        </p:nvSpPr>
        <p:spPr>
          <a:xfrm>
            <a:off x="605350" y="1164600"/>
            <a:ext cx="81276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s-CL" sz="1800">
                <a:solidFill>
                  <a:schemeClr val="dk1"/>
                </a:solidFill>
              </a:rPr>
              <a:t>Signals</a:t>
            </a:r>
            <a:r>
              <a:rPr lang="es-CL" sz="1800">
                <a:solidFill>
                  <a:schemeClr val="dk1"/>
                </a:solidFill>
              </a:rPr>
              <a:t> → gestionan datos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s-CL" sz="1800">
                <a:solidFill>
                  <a:schemeClr val="dk1"/>
                </a:solidFill>
              </a:rPr>
              <a:t>Computed</a:t>
            </a:r>
            <a:r>
              <a:rPr lang="es-CL" sz="1800">
                <a:solidFill>
                  <a:schemeClr val="dk1"/>
                </a:solidFill>
              </a:rPr>
              <a:t> → calcula automáticamente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s-CL" sz="1800">
                <a:solidFill>
                  <a:schemeClr val="dk1"/>
                </a:solidFill>
              </a:rPr>
              <a:t>Binding</a:t>
            </a:r>
            <a:r>
              <a:rPr lang="es-CL" sz="1800">
                <a:solidFill>
                  <a:schemeClr val="dk1"/>
                </a:solidFill>
              </a:rPr>
              <a:t> → conectan (lógica y vista)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s-CL" sz="1800">
                <a:solidFill>
                  <a:schemeClr val="dk1"/>
                </a:solidFill>
              </a:rPr>
              <a:t>Pipes</a:t>
            </a:r>
            <a:r>
              <a:rPr lang="es-CL" sz="1800">
                <a:solidFill>
                  <a:schemeClr val="dk1"/>
                </a:solidFill>
              </a:rPr>
              <a:t> → muestran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s-CL" sz="1800">
                <a:solidFill>
                  <a:schemeClr val="dk1"/>
                </a:solidFill>
              </a:rPr>
              <a:t>Directivas → </a:t>
            </a:r>
            <a:r>
              <a:rPr lang="es-CL" sz="1800">
                <a:solidFill>
                  <a:schemeClr val="dk1"/>
                </a:solidFill>
              </a:rPr>
              <a:t>controlan el HTML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dato → cálculo → conexión → vista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s-CL" sz="1800">
                <a:solidFill>
                  <a:schemeClr val="dk1"/>
                </a:solidFill>
              </a:rPr>
              <a:t>Hooks</a:t>
            </a:r>
            <a:r>
              <a:rPr lang="es-CL" sz="1800">
                <a:solidFill>
                  <a:schemeClr val="dk1"/>
                </a:solidFill>
              </a:rPr>
              <a:t> → momentos del ciclo de vida (fuera del flujo principal)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Si entienden esto… entienden Angular Moderno!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