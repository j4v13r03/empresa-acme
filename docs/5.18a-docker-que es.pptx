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7086600" cy="8686800"/>
  <p:embeddedFontLst>
    <p:embeddedFont>
      <p:font typeface="Roboto"/>
      <p:regular r:id="rId21"/>
      <p:bold r:id="rId22"/>
      <p:italic r:id="rId23"/>
      <p:boldItalic r:id="rId24"/>
    </p:embeddedFont>
    <p:embeddedFont>
      <p:font typeface="Helvetica Neue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hwKhLan1wqWPwj9Q2LRLyf5Goy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lveticaNeue-bold.fntdata"/><Relationship Id="rId25" Type="http://schemas.openxmlformats.org/officeDocument/2006/relationships/font" Target="fonts/HelveticaNeue-regular.fntdata"/><Relationship Id="rId28" Type="http://schemas.openxmlformats.org/officeDocument/2006/relationships/font" Target="fonts/HelveticaNeue-boldItalic.fntdata"/><Relationship Id="rId27" Type="http://schemas.openxmlformats.org/officeDocument/2006/relationships/font" Target="fonts/HelveticaNeue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2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13494" y="2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8b194b14e_0_76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a8b194b14e_0_76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8b194b14e_0_14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a8b194b14e_0_14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8b194b14e_0_1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a8b194b14e_0_1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8b194b14e_0_26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a8b194b14e_0_26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8b194b14e_0_53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a8b194b14e_0_53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6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6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4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17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17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9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2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762000" y="5095875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None/>
            </a:pPr>
            <a:r>
              <a:rPr lang="es-CL" sz="2000">
                <a:solidFill>
                  <a:srgbClr val="404040"/>
                </a:solidFill>
              </a:rPr>
              <a:t>César Aguilera Sepúlveda</a:t>
            </a:r>
            <a:endParaRPr/>
          </a:p>
          <a:p>
            <a:pPr indent="0" lvl="0" marL="0" rtl="0" algn="ctr">
              <a:spcBef>
                <a:spcPts val="700"/>
              </a:spcBef>
              <a:spcAft>
                <a:spcPts val="0"/>
              </a:spcAft>
              <a:buClr>
                <a:srgbClr val="0033CC"/>
              </a:buClr>
              <a:buSzPts val="2000"/>
              <a:buFont typeface="Arial"/>
              <a:buNone/>
            </a:pPr>
            <a:r>
              <a:rPr i="1" lang="es-CL" sz="2000">
                <a:solidFill>
                  <a:srgbClr val="0033CC"/>
                </a:solidFill>
              </a:rPr>
              <a:t>caguilsepulveda@gmail.com</a:t>
            </a:r>
            <a:endParaRPr sz="2000">
              <a:solidFill>
                <a:srgbClr val="3F3F3F"/>
              </a:solidFill>
            </a:endParaRPr>
          </a:p>
        </p:txBody>
      </p:sp>
      <p:pic>
        <p:nvPicPr>
          <p:cNvPr descr="escudo_color"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2507" t="0"/>
          <a:stretch/>
        </p:blipFill>
        <p:spPr>
          <a:xfrm>
            <a:off x="304800" y="304800"/>
            <a:ext cx="16002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/>
          <p:nvPr/>
        </p:nvSpPr>
        <p:spPr>
          <a:xfrm>
            <a:off x="3352800" y="3429000"/>
            <a:ext cx="507841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Plataforma Docker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190500" y="6477000"/>
            <a:ext cx="8724900" cy="312738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3429000" y="4224587"/>
            <a:ext cx="5181600" cy="46037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6775164" y="1864101"/>
            <a:ext cx="20457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8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18</a:t>
            </a:r>
            <a:r>
              <a:rPr b="1" lang="es-CL" sz="8800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/>
          </a:p>
        </p:txBody>
      </p:sp>
      <p:pic>
        <p:nvPicPr>
          <p:cNvPr descr="Imagen que contiene reloj, señal&#10;&#10;Descripción generada automáticamente" id="95" name="Google Shape;9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105" y="2146115"/>
            <a:ext cx="3167039" cy="2705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3668" y="228150"/>
            <a:ext cx="1897170" cy="1108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01" name="Google Shape;101;p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" name="Google Shape;102;p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3" name="Google Shape;103;p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627050" y="1164628"/>
            <a:ext cx="82290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232F3E"/>
                </a:solidFill>
              </a:rPr>
              <a:t>Ya construimos software; ahora comenzamos a entender cómo se ejecuta fuera de nuestro computador</a:t>
            </a:r>
            <a:endParaRPr sz="1800">
              <a:solidFill>
                <a:srgbClr val="232F3E"/>
              </a:solidFill>
            </a:endParaRPr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32F3E"/>
              </a:solidFill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800"/>
              <a:buChar char="•"/>
            </a:pPr>
            <a:r>
              <a:rPr lang="es-CL" sz="1800">
                <a:solidFill>
                  <a:srgbClr val="232F3E"/>
                </a:solidFill>
              </a:rPr>
              <a:t>Comprender cómo empaquetar y ejecutar nuestra aplicación completa de forma reproducible</a:t>
            </a:r>
            <a:endParaRPr sz="1800">
              <a:solidFill>
                <a:srgbClr val="232F3E"/>
              </a:solidFill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1144588" y="185738"/>
            <a:ext cx="31422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Objetivo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10" name="Google Shape;110;g3a8b194b14e_0_76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" name="Google Shape;111;g3a8b194b14e_0_76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" name="Google Shape;112;g3a8b194b14e_0_76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13" name="Google Shape;113;g3a8b194b14e_0_76"/>
          <p:cNvSpPr/>
          <p:nvPr/>
        </p:nvSpPr>
        <p:spPr>
          <a:xfrm>
            <a:off x="627050" y="1164618"/>
            <a:ext cx="8229000" cy="10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232F3E"/>
                </a:solidFill>
              </a:rPr>
              <a:t>Tengo una aplicación funcionando en mi computador local..</a:t>
            </a:r>
            <a:endParaRPr sz="1800">
              <a:solidFill>
                <a:srgbClr val="232F3E"/>
              </a:solidFill>
            </a:endParaRPr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32F3E"/>
              </a:solidFill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800"/>
              <a:buChar char="•"/>
            </a:pPr>
            <a:r>
              <a:rPr lang="es-CL" sz="1800">
                <a:solidFill>
                  <a:srgbClr val="232F3E"/>
                </a:solidFill>
              </a:rPr>
              <a:t>¿Por qué no funciona en otro computador?</a:t>
            </a:r>
            <a:endParaRPr sz="1800">
              <a:solidFill>
                <a:srgbClr val="232F3E"/>
              </a:solidFill>
            </a:endParaRPr>
          </a:p>
        </p:txBody>
      </p:sp>
      <p:sp>
        <p:nvSpPr>
          <p:cNvPr id="114" name="Google Shape;114;g3a8b194b14e_0_76"/>
          <p:cNvSpPr txBox="1"/>
          <p:nvPr/>
        </p:nvSpPr>
        <p:spPr>
          <a:xfrm>
            <a:off x="1144588" y="185738"/>
            <a:ext cx="314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Problema Real</a:t>
            </a:r>
            <a:endParaRPr/>
          </a:p>
        </p:txBody>
      </p:sp>
      <p:sp>
        <p:nvSpPr>
          <p:cNvPr id="115" name="Google Shape;115;g3a8b194b14e_0_76"/>
          <p:cNvSpPr txBox="1"/>
          <p:nvPr/>
        </p:nvSpPr>
        <p:spPr>
          <a:xfrm>
            <a:off x="627024" y="2207537"/>
            <a:ext cx="8105700" cy="16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232F3E"/>
                </a:solidFill>
              </a:rPr>
              <a:t>Ejemplos:</a:t>
            </a:r>
            <a:endParaRPr sz="1800">
              <a:solidFill>
                <a:srgbClr val="232F3E"/>
              </a:solidFill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800">
                <a:solidFill>
                  <a:srgbClr val="232F3E"/>
                </a:solidFill>
              </a:rPr>
              <a:t>por tener distinta versión Node</a:t>
            </a:r>
            <a:endParaRPr sz="1800">
              <a:solidFill>
                <a:srgbClr val="232F3E"/>
              </a:solidFill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800">
                <a:solidFill>
                  <a:srgbClr val="232F3E"/>
                </a:solidFill>
              </a:rPr>
              <a:t>por librerías faltantes</a:t>
            </a:r>
            <a:endParaRPr sz="1800">
              <a:solidFill>
                <a:srgbClr val="232F3E"/>
              </a:solidFill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800">
                <a:solidFill>
                  <a:srgbClr val="232F3E"/>
                </a:solidFill>
              </a:rPr>
              <a:t>por configuración distinta</a:t>
            </a:r>
            <a:endParaRPr sz="1800">
              <a:solidFill>
                <a:srgbClr val="232F3E"/>
              </a:solidFill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800">
                <a:solidFill>
                  <a:srgbClr val="232F3E"/>
                </a:solidFill>
              </a:rPr>
              <a:t>por base de datos no instalada</a:t>
            </a:r>
            <a:endParaRPr sz="1800">
              <a:solidFill>
                <a:srgbClr val="232F3E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20" name="Google Shape;120;g3a8b194b14e_0_14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" name="Google Shape;121;g3a8b194b14e_0_14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2" name="Google Shape;122;g3a8b194b14e_0_14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23" name="Google Shape;123;g3a8b194b14e_0_14"/>
          <p:cNvSpPr txBox="1"/>
          <p:nvPr/>
        </p:nvSpPr>
        <p:spPr>
          <a:xfrm>
            <a:off x="1144588" y="185738"/>
            <a:ext cx="314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Problema Visual</a:t>
            </a:r>
            <a:endParaRPr/>
          </a:p>
        </p:txBody>
      </p:sp>
      <p:pic>
        <p:nvPicPr>
          <p:cNvPr id="124" name="Google Shape;124;g3a8b194b14e_0_14" title="ChatGPT Image 25 may 2026, 12_49_47 a.m..png"/>
          <p:cNvPicPr preferRelativeResize="0"/>
          <p:nvPr/>
        </p:nvPicPr>
        <p:blipFill rotWithShape="1">
          <a:blip r:embed="rId4">
            <a:alphaModFix/>
          </a:blip>
          <a:srcRect b="12351" l="0" r="0" t="14437"/>
          <a:stretch/>
        </p:blipFill>
        <p:spPr>
          <a:xfrm>
            <a:off x="584600" y="1751900"/>
            <a:ext cx="7974801" cy="389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3a8b194b14e_0_14"/>
          <p:cNvSpPr/>
          <p:nvPr/>
        </p:nvSpPr>
        <p:spPr>
          <a:xfrm>
            <a:off x="627050" y="1164622"/>
            <a:ext cx="8229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800"/>
              <a:buChar char="•"/>
            </a:pPr>
            <a:r>
              <a:rPr lang="es-CL" sz="1800">
                <a:solidFill>
                  <a:srgbClr val="232F3E"/>
                </a:solidFill>
              </a:rPr>
              <a:t>¿Por qué mi aplicación funciona en mi computador y no en otro?</a:t>
            </a:r>
            <a:endParaRPr sz="1800">
              <a:solidFill>
                <a:srgbClr val="232F3E"/>
              </a:solidFill>
            </a:endParaRPr>
          </a:p>
        </p:txBody>
      </p:sp>
      <p:sp>
        <p:nvSpPr>
          <p:cNvPr id="126" name="Google Shape;126;g3a8b194b14e_0_14"/>
          <p:cNvSpPr/>
          <p:nvPr/>
        </p:nvSpPr>
        <p:spPr>
          <a:xfrm>
            <a:off x="627050" y="5708347"/>
            <a:ext cx="8229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800"/>
              <a:buChar char="•"/>
            </a:pPr>
            <a:r>
              <a:rPr lang="es-CL" sz="1800">
                <a:solidFill>
                  <a:srgbClr val="232F3E"/>
                </a:solidFill>
              </a:rPr>
              <a:t>¿C</a:t>
            </a:r>
            <a:r>
              <a:rPr lang="es-CL" sz="1800">
                <a:solidFill>
                  <a:srgbClr val="232F3E"/>
                </a:solidFill>
              </a:rPr>
              <a:t>ómo evitamos esto</a:t>
            </a:r>
            <a:r>
              <a:rPr lang="es-CL" sz="1800">
                <a:solidFill>
                  <a:srgbClr val="232F3E"/>
                </a:solidFill>
              </a:rPr>
              <a:t>?</a:t>
            </a:r>
            <a:endParaRPr sz="1800">
              <a:solidFill>
                <a:srgbClr val="232F3E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31" name="Google Shape;131;g3a8b194b14e_0_1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g3a8b194b14e_0_1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3" name="Google Shape;133;g3a8b194b14e_0_1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34" name="Google Shape;134;g3a8b194b14e_0_1"/>
          <p:cNvSpPr/>
          <p:nvPr/>
        </p:nvSpPr>
        <p:spPr>
          <a:xfrm>
            <a:off x="627062" y="1164637"/>
            <a:ext cx="82290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800"/>
              <a:buFont typeface="Arial"/>
              <a:buChar char="•"/>
            </a:pPr>
            <a:r>
              <a:rPr b="0" i="0" lang="es-CL" sz="1800">
                <a:solidFill>
                  <a:srgbClr val="232F3E"/>
                </a:solidFill>
                <a:latin typeface="Arial"/>
                <a:ea typeface="Arial"/>
                <a:cs typeface="Arial"/>
                <a:sym typeface="Arial"/>
              </a:rPr>
              <a:t>Docker es una plataforma de software, de código abierto, que le permite crear, probar e implementar aplicaciones rápidamente.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a8b194b14e_0_1"/>
          <p:cNvSpPr txBox="1"/>
          <p:nvPr/>
        </p:nvSpPr>
        <p:spPr>
          <a:xfrm>
            <a:off x="1144588" y="185738"/>
            <a:ext cx="314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¿Qué es Docker?</a:t>
            </a:r>
            <a:endParaRPr/>
          </a:p>
        </p:txBody>
      </p:sp>
      <p:sp>
        <p:nvSpPr>
          <p:cNvPr id="136" name="Google Shape;136;g3a8b194b14e_0_1"/>
          <p:cNvSpPr txBox="1"/>
          <p:nvPr/>
        </p:nvSpPr>
        <p:spPr>
          <a:xfrm>
            <a:off x="627061" y="1955412"/>
            <a:ext cx="8105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800"/>
              <a:buFont typeface="Arial"/>
              <a:buChar char="•"/>
            </a:pPr>
            <a:r>
              <a:rPr b="0" i="0" lang="es-CL" sz="1800">
                <a:solidFill>
                  <a:srgbClr val="232F3E"/>
                </a:solidFill>
                <a:latin typeface="Arial"/>
                <a:ea typeface="Arial"/>
                <a:cs typeface="Arial"/>
                <a:sym typeface="Arial"/>
              </a:rPr>
              <a:t>Docker empaqueta software en unidades estandarizadas llamadas </a:t>
            </a:r>
            <a:r>
              <a:rPr b="0" i="0" lang="es-CL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contenedores</a:t>
            </a:r>
            <a:r>
              <a:rPr b="0" i="0" lang="es-CL" sz="1800">
                <a:solidFill>
                  <a:srgbClr val="232F3E"/>
                </a:solidFill>
                <a:latin typeface="Arial"/>
                <a:ea typeface="Arial"/>
                <a:cs typeface="Arial"/>
                <a:sym typeface="Arial"/>
              </a:rPr>
              <a:t> que incluyen todo lo necesario para que el software se ejecute (incluye bibliotecas, herramientas de sistema, código).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a8b194b14e_0_1"/>
          <p:cNvSpPr txBox="1"/>
          <p:nvPr/>
        </p:nvSpPr>
        <p:spPr>
          <a:xfrm>
            <a:off x="627061" y="3061806"/>
            <a:ext cx="8105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contenedores se encuentran aislados entre sí y se </a:t>
            </a:r>
            <a:r>
              <a:rPr lang="es-CL" sz="1800">
                <a:solidFill>
                  <a:schemeClr val="dk1"/>
                </a:solidFill>
              </a:rPr>
              <a:t>comportan</a:t>
            </a:r>
            <a:r>
              <a:rPr b="0" i="0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como máquinas independientes.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g3a8b194b14e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91234" y="3870736"/>
            <a:ext cx="3898811" cy="2473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8b194b14e_0_26"/>
          <p:cNvSpPr/>
          <p:nvPr/>
        </p:nvSpPr>
        <p:spPr>
          <a:xfrm>
            <a:off x="627050" y="4447572"/>
            <a:ext cx="8229000" cy="12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800"/>
              <a:buChar char="•"/>
            </a:pPr>
            <a:r>
              <a:rPr lang="es-CL" sz="1800">
                <a:solidFill>
                  <a:srgbClr val="232F3E"/>
                </a:solidFill>
              </a:rPr>
              <a:t>Docker </a:t>
            </a:r>
            <a:r>
              <a:rPr lang="es-CL" sz="1800">
                <a:solidFill>
                  <a:schemeClr val="dk1"/>
                </a:solidFill>
              </a:rPr>
              <a:t>genera</a:t>
            </a:r>
            <a:r>
              <a:rPr lang="es-CL" sz="1800">
                <a:solidFill>
                  <a:schemeClr val="dk1"/>
                </a:solidFill>
              </a:rPr>
              <a:t> una caja de transporte para tu software. Esta caja contiene todo lo que la aplicación necesita para funcionar correctamente, independientemente del camión (servidor) o el puerto (entorno) al que se envíe.</a:t>
            </a:r>
            <a:endParaRPr sz="1800">
              <a:solidFill>
                <a:srgbClr val="232F3E"/>
              </a:solidFill>
            </a:endParaRPr>
          </a:p>
        </p:txBody>
      </p:sp>
      <p:pic>
        <p:nvPicPr>
          <p:cNvPr descr="Resultado de imagen para angular logos" id="144" name="Google Shape;144;g3a8b194b14e_0_26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5" name="Google Shape;145;g3a8b194b14e_0_26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6" name="Google Shape;146;g3a8b194b14e_0_26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47" name="Google Shape;147;g3a8b194b14e_0_26"/>
          <p:cNvSpPr txBox="1"/>
          <p:nvPr/>
        </p:nvSpPr>
        <p:spPr>
          <a:xfrm>
            <a:off x="1144607" y="185750"/>
            <a:ext cx="4995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Introducción a Docker</a:t>
            </a:r>
            <a:endParaRPr/>
          </a:p>
        </p:txBody>
      </p:sp>
      <p:sp>
        <p:nvSpPr>
          <p:cNvPr id="148" name="Google Shape;148;g3a8b194b14e_0_26"/>
          <p:cNvSpPr/>
          <p:nvPr/>
        </p:nvSpPr>
        <p:spPr>
          <a:xfrm>
            <a:off x="627050" y="1164626"/>
            <a:ext cx="82290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232F3E"/>
              </a:buClr>
              <a:buSzPts val="1800"/>
              <a:buChar char="•"/>
            </a:pPr>
            <a:r>
              <a:rPr lang="es-CL" sz="1800">
                <a:solidFill>
                  <a:srgbClr val="232F3E"/>
                </a:solidFill>
              </a:rPr>
              <a:t>Docker permite empaquetar una aplicación junto con todo lo necesario para ejecutarla.</a:t>
            </a:r>
            <a:endParaRPr sz="1800">
              <a:solidFill>
                <a:srgbClr val="232F3E"/>
              </a:solidFill>
            </a:endParaRPr>
          </a:p>
        </p:txBody>
      </p:sp>
      <p:pic>
        <p:nvPicPr>
          <p:cNvPr descr="Servicios – Mentoris" id="149" name="Google Shape;149;g3a8b194b14e_0_26"/>
          <p:cNvPicPr preferRelativeResize="0"/>
          <p:nvPr/>
        </p:nvPicPr>
        <p:blipFill rotWithShape="1">
          <a:blip r:embed="rId4">
            <a:alphaModFix/>
          </a:blip>
          <a:srcRect b="6907" l="12328" r="12636" t="20771"/>
          <a:stretch/>
        </p:blipFill>
        <p:spPr>
          <a:xfrm>
            <a:off x="3402323" y="2250176"/>
            <a:ext cx="2339341" cy="175413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a8b194b14e_0_26"/>
          <p:cNvSpPr txBox="1"/>
          <p:nvPr/>
        </p:nvSpPr>
        <p:spPr>
          <a:xfrm>
            <a:off x="6542900" y="2112700"/>
            <a:ext cx="2025900" cy="1827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800">
                <a:solidFill>
                  <a:schemeClr val="dk1"/>
                </a:solidFill>
              </a:rPr>
              <a:t>Aplicación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</a:rPr>
              <a:t>+ dependencias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</a:rPr>
              <a:t>+ configuración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</a:rPr>
              <a:t>+ entorno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</a:rPr>
              <a:t>↓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</a:rPr>
              <a:t>Contenedor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55" name="Google Shape;155;p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5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7" name="Google Shape;157;p5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627061" y="4429357"/>
            <a:ext cx="5766300" cy="17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contenedor de docker aloja todo lo necesario para ejecutar una aplicación. </a:t>
            </a:r>
            <a:endParaRPr/>
          </a:p>
          <a:p>
            <a:pPr indent="-2222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Cada contenedor </a:t>
            </a:r>
            <a:r>
              <a:rPr b="1" i="0"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 creado de una imagen de docker (pastel preparado)</a:t>
            </a:r>
            <a:r>
              <a:rPr b="0" i="0"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/>
          </a:p>
          <a:p>
            <a:pPr indent="-2222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Cada contenedor es una plataforma aislada.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 txBox="1"/>
          <p:nvPr/>
        </p:nvSpPr>
        <p:spPr>
          <a:xfrm>
            <a:off x="1144588" y="185738"/>
            <a:ext cx="670087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Imágenes vs Contenedores de Docker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rvicios – Mentoris" id="160" name="Google Shape;160;p5"/>
          <p:cNvPicPr preferRelativeResize="0"/>
          <p:nvPr/>
        </p:nvPicPr>
        <p:blipFill rotWithShape="1">
          <a:blip r:embed="rId4">
            <a:alphaModFix/>
          </a:blip>
          <a:srcRect b="6907" l="12325" r="12637" t="20770"/>
          <a:stretch/>
        </p:blipFill>
        <p:spPr>
          <a:xfrm>
            <a:off x="6177598" y="4436638"/>
            <a:ext cx="2339341" cy="175413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5"/>
          <p:cNvSpPr/>
          <p:nvPr/>
        </p:nvSpPr>
        <p:spPr>
          <a:xfrm>
            <a:off x="627062" y="1593030"/>
            <a:ext cx="8105776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 imágenes de Docker son </a:t>
            </a:r>
            <a:r>
              <a:rPr b="1" i="0"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plantillas de solo lectura</a:t>
            </a:r>
            <a:r>
              <a:rPr b="1"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(la receta del pastel)</a:t>
            </a:r>
            <a:r>
              <a:rPr b="0" i="0"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2222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Una imagen puede contener el Sistema operativo de CentOS o Ubuntu con apache instalados, pero esto solo nos permitirá crear los contenedores basados en esta configuración. </a:t>
            </a:r>
            <a:endParaRPr/>
          </a:p>
          <a:p>
            <a:pPr indent="-2222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s-CL"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 hacemos cambios en el contenedor ya lanzado, al detenerlo esto no se verá reflejado en la imagen.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642646" y="1186199"/>
            <a:ext cx="12490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Imágenes</a:t>
            </a:r>
            <a:endParaRPr/>
          </a:p>
        </p:txBody>
      </p:sp>
      <p:sp>
        <p:nvSpPr>
          <p:cNvPr id="163" name="Google Shape;163;p5"/>
          <p:cNvSpPr txBox="1"/>
          <p:nvPr/>
        </p:nvSpPr>
        <p:spPr>
          <a:xfrm>
            <a:off x="642646" y="4039580"/>
            <a:ext cx="173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Contenedores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68" name="Google Shape;168;p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" name="Google Shape;169;p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0" name="Google Shape;170;p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627062" y="1164637"/>
            <a:ext cx="822886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contenedor se construye según un conjunto de instrucciones ubicadas en el archivo Dockerfile de cada proyecto. 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flujo de construcción es el siguiente: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1144588" y="185738"/>
            <a:ext cx="635622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Flujo de Construcción de un Docker</a:t>
            </a:r>
            <a:endParaRPr/>
          </a:p>
        </p:txBody>
      </p:sp>
      <p:pic>
        <p:nvPicPr>
          <p:cNvPr id="173" name="Google Shape;173;p7" title="ChatGPT Image 25 may 2026, 01_27_32 a.m..png"/>
          <p:cNvPicPr preferRelativeResize="0"/>
          <p:nvPr/>
        </p:nvPicPr>
        <p:blipFill rotWithShape="1">
          <a:blip r:embed="rId4">
            <a:alphaModFix/>
          </a:blip>
          <a:srcRect b="0" l="0" r="0" t="12311"/>
          <a:stretch/>
        </p:blipFill>
        <p:spPr>
          <a:xfrm>
            <a:off x="1003333" y="2289335"/>
            <a:ext cx="7137343" cy="417234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78" name="Google Shape;178;p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" name="Google Shape;179;p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0" name="Google Shape;180;p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627062" y="1164637"/>
            <a:ext cx="822886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1" i="0" lang="es-CL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Docker</a:t>
            </a:r>
            <a:r>
              <a:rPr b="0" i="0" lang="es-CL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 usa una arquitectura </a:t>
            </a:r>
            <a:r>
              <a:rPr b="1" i="0" lang="es-CL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cliente-servidor</a:t>
            </a:r>
            <a:r>
              <a:rPr b="0" i="0" lang="es-CL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 El cliente de Docker habla con el proceso </a:t>
            </a:r>
            <a:r>
              <a:rPr lang="es-CL" sz="1800">
                <a:solidFill>
                  <a:srgbClr val="333333"/>
                </a:solidFill>
              </a:rPr>
              <a:t>interno </a:t>
            </a:r>
            <a:r>
              <a:rPr b="0" i="0" lang="es-CL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 Docker que hace el trabajo de crear, correr y distribuir los contenedores.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"/>
          <p:cNvSpPr txBox="1"/>
          <p:nvPr/>
        </p:nvSpPr>
        <p:spPr>
          <a:xfrm>
            <a:off x="1144588" y="185738"/>
            <a:ext cx="364234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Arquitectura Docker</a:t>
            </a:r>
            <a:endParaRPr/>
          </a:p>
        </p:txBody>
      </p:sp>
      <p:pic>
        <p:nvPicPr>
          <p:cNvPr id="183" name="Google Shape;18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7113" y="2205020"/>
            <a:ext cx="7509552" cy="3914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88" name="Google Shape;188;p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9" name="Google Shape;189;p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0" name="Google Shape;190;p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91" name="Google Shape;191;p3"/>
          <p:cNvSpPr/>
          <p:nvPr/>
        </p:nvSpPr>
        <p:spPr>
          <a:xfrm>
            <a:off x="627062" y="1164637"/>
            <a:ext cx="822886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Iniciar un contenedor no tiene un gran impacto a diferencia de iniciar una máquina virtual ya que no tiene que iniciar un sistema operativo completo (desde cero).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"/>
          <p:cNvSpPr txBox="1"/>
          <p:nvPr/>
        </p:nvSpPr>
        <p:spPr>
          <a:xfrm>
            <a:off x="1144588" y="185738"/>
            <a:ext cx="348306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Ventajas de Docker</a:t>
            </a:r>
            <a:endParaRPr/>
          </a:p>
        </p:txBody>
      </p:sp>
      <p:sp>
        <p:nvSpPr>
          <p:cNvPr id="193" name="Google Shape;193;p3"/>
          <p:cNvSpPr txBox="1"/>
          <p:nvPr/>
        </p:nvSpPr>
        <p:spPr>
          <a:xfrm>
            <a:off x="627062" y="2276641"/>
            <a:ext cx="8105776" cy="3600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Algunas de las características más notables de un contenedor son:</a:t>
            </a:r>
            <a:endParaRPr/>
          </a:p>
          <a:p>
            <a:pPr indent="-2222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contenedores son más livianos (ya que trabajan directamente sobre el Kernel) que las máquinas virtuales.</a:t>
            </a:r>
            <a:endParaRPr/>
          </a:p>
          <a:p>
            <a:pPr indent="-2222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es necesario instalar un sistema operativo por contenedor.</a:t>
            </a:r>
            <a:endParaRPr/>
          </a:p>
          <a:p>
            <a:pPr indent="-2222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Menor uso de los recursos de la máquina.</a:t>
            </a:r>
            <a:endParaRPr/>
          </a:p>
          <a:p>
            <a:pPr indent="-2222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Mayor cantidad de contenedores por equipo físico.</a:t>
            </a:r>
            <a:endParaRPr/>
          </a:p>
          <a:p>
            <a:pPr indent="-2222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Mejor portabilidad.</a:t>
            </a:r>
            <a:endParaRPr/>
          </a:p>
          <a:p>
            <a:pPr indent="-2222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contenedores pueden desplegarse fácilmente en entornos de integración continua.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98" name="Google Shape;198;g3a8b194b14e_0_53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9" name="Google Shape;199;g3a8b194b14e_0_53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0" name="Google Shape;200;g3a8b194b14e_0_53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01" name="Google Shape;201;g3a8b194b14e_0_53"/>
          <p:cNvSpPr txBox="1"/>
          <p:nvPr/>
        </p:nvSpPr>
        <p:spPr>
          <a:xfrm>
            <a:off x="1144604" y="185750"/>
            <a:ext cx="758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Beneficios de Docker</a:t>
            </a:r>
            <a:endParaRPr/>
          </a:p>
        </p:txBody>
      </p:sp>
      <p:sp>
        <p:nvSpPr>
          <p:cNvPr id="202" name="Google Shape;202;g3a8b194b14e_0_53"/>
          <p:cNvSpPr/>
          <p:nvPr/>
        </p:nvSpPr>
        <p:spPr>
          <a:xfrm>
            <a:off x="627050" y="1164598"/>
            <a:ext cx="8229000" cy="44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Mismo comportamiento en diferentes estaciones (portabilidad)</a:t>
            </a:r>
            <a:endParaRPr sz="1800"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Facilita el trabajo colaborativo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Simplifica despliegues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Evita problemas de configuración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Ahorro de recursos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Adaptable con el mundo real: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Aplicaciones web modernas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Microservicios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Cloud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CI/CD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Despliegues automatizados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07" name="Google Shape;207;p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8" name="Google Shape;208;p8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9" name="Google Shape;209;p8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349269" y="1164637"/>
            <a:ext cx="822886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 todas las imágenes. Con e</a:t>
            </a:r>
            <a:r>
              <a:rPr b="0" i="0" lang="es-CL"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l flag -a veremos todas las imágenes de Docker, incluidas las imágenes intermedias.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"/>
          <p:cNvSpPr txBox="1"/>
          <p:nvPr/>
        </p:nvSpPr>
        <p:spPr>
          <a:xfrm>
            <a:off x="1144605" y="185750"/>
            <a:ext cx="758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Algunos </a:t>
            </a: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Comandos Básicos de Docker</a:t>
            </a:r>
            <a:endParaRPr/>
          </a:p>
        </p:txBody>
      </p:sp>
      <p:pic>
        <p:nvPicPr>
          <p:cNvPr id="212" name="Google Shape;212;p8"/>
          <p:cNvPicPr preferRelativeResize="0"/>
          <p:nvPr/>
        </p:nvPicPr>
        <p:blipFill rotWithShape="1">
          <a:blip r:embed="rId4">
            <a:alphaModFix/>
          </a:blip>
          <a:srcRect b="9546" l="19213" r="16536" t="59377"/>
          <a:stretch/>
        </p:blipFill>
        <p:spPr>
          <a:xfrm>
            <a:off x="513553" y="2327418"/>
            <a:ext cx="7900299" cy="214944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8"/>
          <p:cNvSpPr txBox="1"/>
          <p:nvPr/>
        </p:nvSpPr>
        <p:spPr>
          <a:xfrm>
            <a:off x="622267" y="1852803"/>
            <a:ext cx="45766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docker images -a</a:t>
            </a:r>
            <a:endParaRPr/>
          </a:p>
        </p:txBody>
      </p:sp>
      <p:sp>
        <p:nvSpPr>
          <p:cNvPr id="214" name="Google Shape;214;p8"/>
          <p:cNvSpPr txBox="1"/>
          <p:nvPr/>
        </p:nvSpPr>
        <p:spPr>
          <a:xfrm>
            <a:off x="866795" y="4485359"/>
            <a:ext cx="109036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Repositorio</a:t>
            </a:r>
            <a:endParaRPr/>
          </a:p>
        </p:txBody>
      </p:sp>
      <p:sp>
        <p:nvSpPr>
          <p:cNvPr id="215" name="Google Shape;215;p8"/>
          <p:cNvSpPr txBox="1"/>
          <p:nvPr/>
        </p:nvSpPr>
        <p:spPr>
          <a:xfrm>
            <a:off x="2365417" y="4476859"/>
            <a:ext cx="158729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Etiqueta (versión)</a:t>
            </a:r>
            <a:endParaRPr/>
          </a:p>
        </p:txBody>
      </p:sp>
      <p:sp>
        <p:nvSpPr>
          <p:cNvPr id="216" name="Google Shape;216;p8"/>
          <p:cNvSpPr txBox="1"/>
          <p:nvPr/>
        </p:nvSpPr>
        <p:spPr>
          <a:xfrm>
            <a:off x="4178869" y="4476859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endParaRPr/>
          </a:p>
        </p:txBody>
      </p:sp>
      <p:sp>
        <p:nvSpPr>
          <p:cNvPr id="217" name="Google Shape;217;p8"/>
          <p:cNvSpPr txBox="1"/>
          <p:nvPr/>
        </p:nvSpPr>
        <p:spPr>
          <a:xfrm>
            <a:off x="5650350" y="4476858"/>
            <a:ext cx="165622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Fecha de creación</a:t>
            </a:r>
            <a:endParaRPr/>
          </a:p>
        </p:txBody>
      </p:sp>
      <p:sp>
        <p:nvSpPr>
          <p:cNvPr id="218" name="Google Shape;218;p8"/>
          <p:cNvSpPr txBox="1"/>
          <p:nvPr/>
        </p:nvSpPr>
        <p:spPr>
          <a:xfrm>
            <a:off x="7587080" y="4485359"/>
            <a:ext cx="82041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Tamaño</a:t>
            </a:r>
            <a:endParaRPr/>
          </a:p>
        </p:txBody>
      </p:sp>
      <p:sp>
        <p:nvSpPr>
          <p:cNvPr id="219" name="Google Shape;219;p8"/>
          <p:cNvSpPr txBox="1"/>
          <p:nvPr/>
        </p:nvSpPr>
        <p:spPr>
          <a:xfrm>
            <a:off x="622267" y="5507628"/>
            <a:ext cx="45766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docker system prune -a </a:t>
            </a:r>
            <a:endParaRPr/>
          </a:p>
        </p:txBody>
      </p:sp>
      <p:sp>
        <p:nvSpPr>
          <p:cNvPr id="220" name="Google Shape;220;p8"/>
          <p:cNvSpPr txBox="1"/>
          <p:nvPr/>
        </p:nvSpPr>
        <p:spPr>
          <a:xfrm>
            <a:off x="349269" y="5100275"/>
            <a:ext cx="79551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/>
              <a:buChar char="•"/>
            </a:pPr>
            <a:r>
              <a:rPr b="0" i="0" lang="es-CL"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Para borrar las imágenes sin utilizar: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25" name="Google Shape;225;p9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6" name="Google Shape;226;p9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7" name="Google Shape;227;p9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349269" y="1164637"/>
            <a:ext cx="82288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Descargar una imagen desde el repositorio público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9"/>
          <p:cNvSpPr txBox="1"/>
          <p:nvPr/>
        </p:nvSpPr>
        <p:spPr>
          <a:xfrm>
            <a:off x="1144604" y="185750"/>
            <a:ext cx="752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Algunos </a:t>
            </a: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Comandos Básicos de Docke</a:t>
            </a:r>
            <a:r>
              <a:rPr b="1" lang="es-CL" sz="2800">
                <a:solidFill>
                  <a:srgbClr val="0070C0"/>
                </a:solidFill>
              </a:rPr>
              <a:t>r</a:t>
            </a:r>
            <a:endParaRPr/>
          </a:p>
        </p:txBody>
      </p:sp>
      <p:sp>
        <p:nvSpPr>
          <p:cNvPr id="230" name="Google Shape;230;p9"/>
          <p:cNvSpPr txBox="1"/>
          <p:nvPr/>
        </p:nvSpPr>
        <p:spPr>
          <a:xfrm>
            <a:off x="647217" y="2607254"/>
            <a:ext cx="734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docker build -t </a:t>
            </a:r>
            <a:r>
              <a:rPr lang="es-CL" sz="1600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caguilera</a:t>
            </a:r>
            <a:r>
              <a:rPr lang="es-CL" sz="1600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/backend_server .</a:t>
            </a:r>
            <a:endParaRPr/>
          </a:p>
        </p:txBody>
      </p:sp>
      <p:sp>
        <p:nvSpPr>
          <p:cNvPr id="231" name="Google Shape;231;p9"/>
          <p:cNvSpPr txBox="1"/>
          <p:nvPr/>
        </p:nvSpPr>
        <p:spPr>
          <a:xfrm>
            <a:off x="720719" y="3615102"/>
            <a:ext cx="842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docker run --name=</a:t>
            </a:r>
            <a:r>
              <a:rPr lang="es-CL" sz="1500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BackendServer</a:t>
            </a:r>
            <a:r>
              <a:rPr lang="es-CL" sz="15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 -it --rm -p </a:t>
            </a:r>
            <a:r>
              <a:rPr lang="es-CL" sz="1500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3000:3000 </a:t>
            </a:r>
            <a:r>
              <a:rPr lang="es-CL" sz="1600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caguilera</a:t>
            </a:r>
            <a:r>
              <a:rPr lang="es-CL" sz="1500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/backend_server</a:t>
            </a:r>
            <a:endParaRPr sz="1500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2" name="Google Shape;232;p9"/>
          <p:cNvSpPr txBox="1"/>
          <p:nvPr/>
        </p:nvSpPr>
        <p:spPr>
          <a:xfrm>
            <a:off x="625050" y="1573962"/>
            <a:ext cx="784943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docker pull </a:t>
            </a:r>
            <a:r>
              <a:rPr lang="es-CL" sz="1600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mysql/mysql-server:latest</a:t>
            </a:r>
            <a:endParaRPr sz="1600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349269" y="2181076"/>
            <a:ext cx="82288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Construir un contenedor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430116" y="3208356"/>
            <a:ext cx="82288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Ejecutar un contenedor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451468" y="4134143"/>
            <a:ext cx="82288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Iniciar</a:t>
            </a:r>
            <a:r>
              <a:rPr b="0" i="0" lang="es-CL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un contenedor.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9"/>
          <p:cNvSpPr txBox="1"/>
          <p:nvPr/>
        </p:nvSpPr>
        <p:spPr>
          <a:xfrm>
            <a:off x="750911" y="5543037"/>
            <a:ext cx="457666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docker stop </a:t>
            </a:r>
            <a:r>
              <a:rPr lang="es-CL" sz="1600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6641a8089496</a:t>
            </a:r>
            <a:endParaRPr/>
          </a:p>
        </p:txBody>
      </p:sp>
      <p:sp>
        <p:nvSpPr>
          <p:cNvPr id="237" name="Google Shape;237;p9"/>
          <p:cNvSpPr txBox="1"/>
          <p:nvPr/>
        </p:nvSpPr>
        <p:spPr>
          <a:xfrm>
            <a:off x="749320" y="4520833"/>
            <a:ext cx="604648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docker start </a:t>
            </a:r>
            <a:r>
              <a:rPr lang="es-CL" sz="1600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caguilera</a:t>
            </a:r>
            <a:r>
              <a:rPr lang="es-CL" sz="1600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/backend_server</a:t>
            </a:r>
            <a:endParaRPr sz="1600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430116" y="5081373"/>
            <a:ext cx="82288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s-CL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etener un contenedor en ejecución: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43" name="Google Shape;243;p10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4" name="Google Shape;244;p10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5" name="Google Shape;245;p10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361291" y="2696094"/>
            <a:ext cx="82288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Reiniciar un contenedor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0"/>
          <p:cNvSpPr txBox="1"/>
          <p:nvPr/>
        </p:nvSpPr>
        <p:spPr>
          <a:xfrm>
            <a:off x="1144604" y="185750"/>
            <a:ext cx="758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Algunos </a:t>
            </a: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Comandos Básicos de Docke</a:t>
            </a:r>
            <a:r>
              <a:rPr b="1" lang="es-CL" sz="2800">
                <a:solidFill>
                  <a:srgbClr val="0070C0"/>
                </a:solidFill>
              </a:rPr>
              <a:t>r</a:t>
            </a:r>
            <a:endParaRPr/>
          </a:p>
        </p:txBody>
      </p:sp>
      <p:sp>
        <p:nvSpPr>
          <p:cNvPr id="248" name="Google Shape;248;p10"/>
          <p:cNvSpPr txBox="1"/>
          <p:nvPr/>
        </p:nvSpPr>
        <p:spPr>
          <a:xfrm>
            <a:off x="663910" y="3964773"/>
            <a:ext cx="6976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docker exec -it </a:t>
            </a:r>
            <a:r>
              <a:rPr lang="es-CL" sz="1600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MyMySQLServer</a:t>
            </a:r>
            <a:r>
              <a:rPr lang="es-CL" sz="16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600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mysql -u root -p</a:t>
            </a:r>
            <a:endParaRPr/>
          </a:p>
        </p:txBody>
      </p:sp>
      <p:sp>
        <p:nvSpPr>
          <p:cNvPr id="249" name="Google Shape;249;p10"/>
          <p:cNvSpPr txBox="1"/>
          <p:nvPr/>
        </p:nvSpPr>
        <p:spPr>
          <a:xfrm>
            <a:off x="572111" y="4904996"/>
            <a:ext cx="716028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 docker logs </a:t>
            </a:r>
            <a:r>
              <a:rPr lang="es-CL" sz="1600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MyMySQLServer | grep GENERATED</a:t>
            </a:r>
            <a:endParaRPr/>
          </a:p>
        </p:txBody>
      </p:sp>
      <p:sp>
        <p:nvSpPr>
          <p:cNvPr id="250" name="Google Shape;250;p10"/>
          <p:cNvSpPr txBox="1"/>
          <p:nvPr/>
        </p:nvSpPr>
        <p:spPr>
          <a:xfrm>
            <a:off x="670509" y="5844401"/>
            <a:ext cx="82077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docker inspect --format '{{ .NetworkSettings.IPAddress }}' </a:t>
            </a:r>
            <a:r>
              <a:rPr lang="es-CL" sz="1600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MyMySQLServer</a:t>
            </a:r>
            <a:endParaRPr sz="1600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1" name="Google Shape;251;p10"/>
          <p:cNvSpPr txBox="1"/>
          <p:nvPr/>
        </p:nvSpPr>
        <p:spPr>
          <a:xfrm>
            <a:off x="663910" y="3090446"/>
            <a:ext cx="457666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docker restart </a:t>
            </a:r>
            <a:r>
              <a:rPr lang="es-CL" sz="1600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MyMySQLServer</a:t>
            </a:r>
            <a:endParaRPr sz="1600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356851" y="3575863"/>
            <a:ext cx="82288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Ejecutar un comando dentro de un contenedor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380403" y="4494135"/>
            <a:ext cx="82288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 los logs que generan las aplicaciones en un contenedor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380894" y="5421617"/>
            <a:ext cx="82288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 la información de configuración de un contenedor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0"/>
          <p:cNvSpPr txBox="1"/>
          <p:nvPr/>
        </p:nvSpPr>
        <p:spPr>
          <a:xfrm>
            <a:off x="634302" y="1481725"/>
            <a:ext cx="548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docker ps --filter "status=running"</a:t>
            </a:r>
            <a:endParaRPr/>
          </a:p>
        </p:txBody>
      </p:sp>
      <p:sp>
        <p:nvSpPr>
          <p:cNvPr id="256" name="Google Shape;256;p10"/>
          <p:cNvSpPr txBox="1"/>
          <p:nvPr/>
        </p:nvSpPr>
        <p:spPr>
          <a:xfrm>
            <a:off x="349269" y="1103438"/>
            <a:ext cx="80803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 el listado de contenedores en ejecución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4">
            <a:alphaModFix/>
          </a:blip>
          <a:srcRect b="28634" l="19764" r="37838" t="59901"/>
          <a:stretch/>
        </p:blipFill>
        <p:spPr>
          <a:xfrm>
            <a:off x="374735" y="1899025"/>
            <a:ext cx="4344989" cy="660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0"/>
          <p:cNvPicPr preferRelativeResize="0"/>
          <p:nvPr/>
        </p:nvPicPr>
        <p:blipFill rotWithShape="1">
          <a:blip r:embed="rId4">
            <a:alphaModFix/>
          </a:blip>
          <a:srcRect b="14402" l="51413" r="13190" t="75242"/>
          <a:stretch/>
        </p:blipFill>
        <p:spPr>
          <a:xfrm>
            <a:off x="5040617" y="1902006"/>
            <a:ext cx="3627471" cy="597008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0"/>
          <p:cNvSpPr txBox="1"/>
          <p:nvPr/>
        </p:nvSpPr>
        <p:spPr>
          <a:xfrm>
            <a:off x="4675967" y="2119141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349269" y="1899025"/>
            <a:ext cx="8117700" cy="6591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65" name="Google Shape;265;p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6" name="Google Shape;266;p6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7" name="Google Shape;267;p6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68" name="Google Shape;268;p6"/>
          <p:cNvSpPr/>
          <p:nvPr/>
        </p:nvSpPr>
        <p:spPr>
          <a:xfrm>
            <a:off x="627062" y="1164637"/>
            <a:ext cx="822886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s-CL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Los registros de Docker guardan las imágenes, estos son repos públicos o privados donde podemos subir o descargar imágenes.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6"/>
          <p:cNvSpPr txBox="1"/>
          <p:nvPr/>
        </p:nvSpPr>
        <p:spPr>
          <a:xfrm>
            <a:off x="1144588" y="185738"/>
            <a:ext cx="36824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Registros de Docker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6"/>
          <p:cNvSpPr txBox="1"/>
          <p:nvPr/>
        </p:nvSpPr>
        <p:spPr>
          <a:xfrm>
            <a:off x="627061" y="2059617"/>
            <a:ext cx="620930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s-CL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El registro público lo provee el </a:t>
            </a:r>
            <a:r>
              <a:rPr b="1" i="0" lang="es-CL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Hub de Docker </a:t>
            </a:r>
            <a:r>
              <a:rPr b="0" i="0" lang="es-CL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que sirve una colección de imágenes para nuestro uso.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6"/>
          <p:cNvSpPr txBox="1"/>
          <p:nvPr/>
        </p:nvSpPr>
        <p:spPr>
          <a:xfrm>
            <a:off x="627061" y="2833412"/>
            <a:ext cx="81057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s-CL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Los registros de dockers básicamente son el componente de Distribución de Docker.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2" name="Google Shape;27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51661" y="2098457"/>
            <a:ext cx="178117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7113" y="4046903"/>
            <a:ext cx="7631950" cy="664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7113" y="4770518"/>
            <a:ext cx="7631950" cy="1412437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6"/>
          <p:cNvSpPr txBox="1"/>
          <p:nvPr/>
        </p:nvSpPr>
        <p:spPr>
          <a:xfrm>
            <a:off x="961259" y="3700348"/>
            <a:ext cx="16674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Imágenes oficiales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Luis Gajardo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