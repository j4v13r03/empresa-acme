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086600" cy="8686800"/>
  <p:embeddedFontLst>
    <p:embeddedFont>
      <p:font typeface="Arimo"/>
      <p:regular r:id="rId16"/>
      <p:bold r:id="rId17"/>
      <p:italic r:id="rId18"/>
      <p:boldItalic r:id="rId19"/>
    </p:embeddedFon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vLmwj4t2DiAbcLOJ/dbo+5H63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rimo-boldItalic.fntdata"/><Relationship Id="rId6" Type="http://schemas.openxmlformats.org/officeDocument/2006/relationships/slide" Target="slides/slide1.xml"/><Relationship Id="rId18" Type="http://schemas.openxmlformats.org/officeDocument/2006/relationships/font" Target="fonts/Arim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f8ec46699_0_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Vamos a pasar de una app simple… a una app con estructura</a:t>
            </a:r>
            <a:endParaRPr/>
          </a:p>
        </p:txBody>
      </p:sp>
      <p:sp>
        <p:nvSpPr>
          <p:cNvPr id="125" name="Google Shape;125;g3df8ec46699_0_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f8ec46699_0_2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Esto es solo para tener la base visual… lo importante viene después</a:t>
            </a:r>
            <a:endParaRPr/>
          </a:p>
        </p:txBody>
      </p:sp>
      <p:sp>
        <p:nvSpPr>
          <p:cNvPr id="146" name="Google Shape;146;g3df8ec46699_0_2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f8ec46699_0_7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Esto es solo para tener la base visual… lo importante viene después</a:t>
            </a:r>
            <a:endParaRPr/>
          </a:p>
        </p:txBody>
      </p:sp>
      <p:sp>
        <p:nvSpPr>
          <p:cNvPr id="156" name="Google Shape;156;g3df8ec46699_0_7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/>
              <a:t>Copiar estas imágenes en la carpeta </a:t>
            </a:r>
            <a:r>
              <a:rPr b="1" lang="es-C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gif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6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Aplicando Estilo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Sidebar Simple 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1" r="5906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448353" y="1859571"/>
            <a:ext cx="142539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144588" y="185738"/>
            <a:ext cx="45768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Objetivo de la 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26871" y="5831049"/>
            <a:ext cx="8751315" cy="6579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Hoy vamos a darle estructura real a nuestra aplicación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resentación del layout de una pagina web (SPA) y no de un proyecto de software" id="108" name="Google Shape;10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4952" y="1810976"/>
            <a:ext cx="4394100" cy="439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144588" y="185738"/>
            <a:ext cx="68221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Estilos de Interfaz para Administración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27050" y="1164622"/>
            <a:ext cx="8105700" cy="27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Muchas aplicaciones profesionales requieren interfaces tipo paneles de administración.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Estas interfaces permiten organizar mejor la navegación y el trabajo dentro de la aplicación.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Generalmente están compuestas por: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un menú lateral (navegación)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una barra superior (contexto/título)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un área de contenido (pantallas dinámicas)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4470" y="4058710"/>
            <a:ext cx="3743770" cy="23295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9" name="Google Shape;119;p2"/>
          <p:cNvGrpSpPr/>
          <p:nvPr/>
        </p:nvGrpSpPr>
        <p:grpSpPr>
          <a:xfrm>
            <a:off x="733124" y="4047169"/>
            <a:ext cx="3751201" cy="2352606"/>
            <a:chOff x="1019749" y="3710019"/>
            <a:chExt cx="3751201" cy="2352606"/>
          </a:xfrm>
        </p:grpSpPr>
        <p:sp>
          <p:nvSpPr>
            <p:cNvPr id="120" name="Google Shape;120;p2"/>
            <p:cNvSpPr/>
            <p:nvPr/>
          </p:nvSpPr>
          <p:spPr>
            <a:xfrm>
              <a:off x="1027113" y="3710019"/>
              <a:ext cx="3743700" cy="2352600"/>
            </a:xfrm>
            <a:prstGeom prst="rect">
              <a:avLst/>
            </a:prstGeom>
            <a:solidFill>
              <a:srgbClr val="BBD6EE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2F5496"/>
                  </a:solidFill>
                  <a:latin typeface="Arial"/>
                  <a:ea typeface="Arial"/>
                  <a:cs typeface="Arial"/>
                  <a:sym typeface="Arial"/>
                </a:rPr>
                <a:t>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2F5496"/>
                  </a:solidFill>
                  <a:latin typeface="Arial"/>
                  <a:ea typeface="Arial"/>
                  <a:cs typeface="Arial"/>
                  <a:sym typeface="Arial"/>
                </a:rPr>
                <a:t>             </a:t>
              </a:r>
              <a:r>
                <a:rPr lang="es-CL" sz="1800">
                  <a:solidFill>
                    <a:srgbClr val="2F5496"/>
                  </a:solidFill>
                </a:rPr>
                <a:t>Área</a:t>
              </a:r>
              <a:r>
                <a:rPr lang="es-CL" sz="1800">
                  <a:solidFill>
                    <a:srgbClr val="2F5496"/>
                  </a:solidFill>
                </a:rPr>
                <a:t> de contenido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019749" y="3710025"/>
              <a:ext cx="800100" cy="2352600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2F5496"/>
                  </a:solidFill>
                  <a:latin typeface="Arial"/>
                  <a:ea typeface="Arial"/>
                  <a:cs typeface="Arial"/>
                  <a:sym typeface="Arial"/>
                </a:rPr>
                <a:t>Menú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819850" y="3710025"/>
              <a:ext cx="2951100" cy="5145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Barra </a:t>
              </a:r>
              <a:r>
                <a:rPr lang="es-CL" sz="1800">
                  <a:solidFill>
                    <a:schemeClr val="lt1"/>
                  </a:solidFill>
                </a:rPr>
                <a:t>superior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7" name="Google Shape;127;g3df8ec46699_0_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df8ec46699_0_9"/>
          <p:cNvSpPr txBox="1"/>
          <p:nvPr/>
        </p:nvSpPr>
        <p:spPr>
          <a:xfrm>
            <a:off x="1144588" y="185738"/>
            <a:ext cx="457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 Que Queremos Lograr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g3df8ec46699_0_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g3df8ec46699_0_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df8ec46699_0_9"/>
          <p:cNvPicPr preferRelativeResize="0"/>
          <p:nvPr/>
        </p:nvPicPr>
        <p:blipFill rotWithShape="1">
          <a:blip r:embed="rId4">
            <a:alphaModFix/>
          </a:blip>
          <a:srcRect b="26842" l="0" r="0" t="0"/>
          <a:stretch/>
        </p:blipFill>
        <p:spPr>
          <a:xfrm>
            <a:off x="327625" y="3314615"/>
            <a:ext cx="8488750" cy="3157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g3df8ec46699_0_9"/>
          <p:cNvSpPr/>
          <p:nvPr/>
        </p:nvSpPr>
        <p:spPr>
          <a:xfrm>
            <a:off x="627050" y="1164597"/>
            <a:ext cx="8105700" cy="21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 incorporar un layout de administración simple a nuestra aplicación.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Este layout nos permitirá: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mantener la navegación visible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organizar mejor las pantallas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preparar la aplicación para crecer</a:t>
            </a:r>
            <a:endParaRPr/>
          </a:p>
        </p:txBody>
      </p:sp>
      <p:pic>
        <p:nvPicPr>
          <p:cNvPr id="133" name="Google Shape;133;g3df8ec46699_0_9"/>
          <p:cNvPicPr preferRelativeResize="0"/>
          <p:nvPr/>
        </p:nvPicPr>
        <p:blipFill rotWithShape="1">
          <a:blip r:embed="rId5">
            <a:alphaModFix/>
          </a:blip>
          <a:srcRect b="18033" l="25774" r="24870" t="20166"/>
          <a:stretch/>
        </p:blipFill>
        <p:spPr>
          <a:xfrm>
            <a:off x="6778242" y="2960237"/>
            <a:ext cx="279827" cy="29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f8ec46699_0_9"/>
          <p:cNvSpPr/>
          <p:nvPr/>
        </p:nvSpPr>
        <p:spPr>
          <a:xfrm>
            <a:off x="7058070" y="2923116"/>
            <a:ext cx="175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animación.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627750" y="1225749"/>
            <a:ext cx="8228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simplificar el proceso, utilizaremos un layout ya definido.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Este layout incluye: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estructura HTML base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estilos CSS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recursos visuales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Nuestro objetivo no es construir el diseño desde cero, sino integrarlo en la aplicación.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lang="es-CL" sz="1800">
                <a:solidFill>
                  <a:srgbClr val="0000FF"/>
                </a:solidFill>
              </a:rPr>
              <a:t>En el mundo real, muchas veces no diseñamos desde cero… integramos soluciones existentes.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descr="Resultado de imagen para angular logos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1144588" y="185738"/>
            <a:ext cx="61216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Integrar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Estilo al Proyecto Angular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8" name="Google Shape;148;g3df8ec46699_0_2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df8ec46699_0_24"/>
          <p:cNvSpPr txBox="1"/>
          <p:nvPr/>
        </p:nvSpPr>
        <p:spPr>
          <a:xfrm>
            <a:off x="1144588" y="185738"/>
            <a:ext cx="612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Integrar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Estilo al Proyecto Angular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df8ec46699_0_2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g3df8ec46699_0_2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f8ec46699_0_24"/>
          <p:cNvSpPr/>
          <p:nvPr/>
        </p:nvSpPr>
        <p:spPr>
          <a:xfrm>
            <a:off x="627755" y="3428995"/>
            <a:ext cx="8105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Descomprimir archivo </a:t>
            </a:r>
            <a:r>
              <a:rPr i="1" lang="es-CL" sz="1800">
                <a:solidFill>
                  <a:srgbClr val="0070C0"/>
                </a:solidFill>
              </a:rPr>
              <a:t>public</a:t>
            </a:r>
            <a:r>
              <a:rPr b="0" i="1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s-CL" sz="1800">
                <a:solidFill>
                  <a:srgbClr val="0070C0"/>
                </a:solidFill>
              </a:rPr>
              <a:t>zip</a:t>
            </a:r>
            <a:r>
              <a:rPr b="0" i="1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copiar contenido a la carpeta </a:t>
            </a:r>
            <a:r>
              <a:rPr lang="es-CL" sz="1800">
                <a:solidFill>
                  <a:schemeClr val="dk1"/>
                </a:solidFill>
              </a:rPr>
              <a:t>public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su proyecto (reempl</a:t>
            </a:r>
            <a:r>
              <a:rPr lang="es-CL" sz="1800">
                <a:solidFill>
                  <a:schemeClr val="dk1"/>
                </a:solidFill>
              </a:rPr>
              <a:t>azar </a:t>
            </a:r>
            <a:r>
              <a:rPr lang="es-CL" sz="1800">
                <a:solidFill>
                  <a:schemeClr val="dk1"/>
                </a:solidFill>
              </a:rPr>
              <a:t>imágenes</a:t>
            </a:r>
            <a:r>
              <a:rPr lang="es-CL" sz="1800">
                <a:solidFill>
                  <a:schemeClr val="dk1"/>
                </a:solidFill>
              </a:rPr>
              <a:t>)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el contenido de </a:t>
            </a:r>
            <a:r>
              <a:rPr b="0" i="1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dashboardCSS.txt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reemplazar el estilo de </a:t>
            </a:r>
            <a:r>
              <a:rPr b="0" i="1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app.css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el contenido de </a:t>
            </a:r>
            <a:r>
              <a:rPr b="0" i="1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dashboardHTML.txt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reemplazar el código HTML de </a:t>
            </a:r>
            <a:r>
              <a:rPr b="0" i="1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app.html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f8ec46699_0_24"/>
          <p:cNvSpPr/>
          <p:nvPr/>
        </p:nvSpPr>
        <p:spPr>
          <a:xfrm>
            <a:off x="627750" y="1225774"/>
            <a:ext cx="82281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Copiar los recursos proporcionados al proyecto mediante moodle: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archivos de estilos (CSS) // </a:t>
            </a:r>
            <a:r>
              <a:rPr i="1" lang="es-CL" sz="1800">
                <a:solidFill>
                  <a:srgbClr val="0070C0"/>
                </a:solidFill>
              </a:rPr>
              <a:t>dasboardCSS.txt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estructura HTML base // </a:t>
            </a:r>
            <a:r>
              <a:rPr i="1" lang="es-CL" sz="1800">
                <a:solidFill>
                  <a:srgbClr val="0070C0"/>
                </a:solidFill>
              </a:rPr>
              <a:t>dashboardHTML.txt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recursos estáticos (imágenes, íconos) // </a:t>
            </a:r>
            <a:r>
              <a:rPr i="1" lang="es-CL" sz="1800">
                <a:solidFill>
                  <a:srgbClr val="0070C0"/>
                </a:solidFill>
              </a:rPr>
              <a:t>public.zip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Estos elementos definirán la apariencia del layout.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f8ec46699_0_71"/>
          <p:cNvSpPr/>
          <p:nvPr/>
        </p:nvSpPr>
        <p:spPr>
          <a:xfrm>
            <a:off x="627205" y="4229120"/>
            <a:ext cx="8105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 interfaz se divide en tres áreas principales: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1" lang="es-CL" sz="1800">
                <a:solidFill>
                  <a:srgbClr val="274E13"/>
                </a:solidFill>
              </a:rPr>
              <a:t>Menú lateral</a:t>
            </a:r>
            <a:r>
              <a:rPr lang="es-CL" sz="1800">
                <a:solidFill>
                  <a:schemeClr val="dk1"/>
                </a:solidFill>
              </a:rPr>
              <a:t>: permite navegar entre secciones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1" lang="es-CL" sz="1800">
                <a:solidFill>
                  <a:srgbClr val="D20000"/>
                </a:solidFill>
              </a:rPr>
              <a:t>Barra superior</a:t>
            </a:r>
            <a:r>
              <a:rPr lang="es-CL" sz="1800">
                <a:solidFill>
                  <a:schemeClr val="dk1"/>
                </a:solidFill>
              </a:rPr>
              <a:t>: muestra información general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1" lang="es-CL" sz="1800">
                <a:solidFill>
                  <a:srgbClr val="2E75B5"/>
                </a:solidFill>
              </a:rPr>
              <a:t>Área de contenido</a:t>
            </a:r>
            <a:r>
              <a:rPr lang="es-CL" sz="1800">
                <a:solidFill>
                  <a:schemeClr val="dk1"/>
                </a:solidFill>
              </a:rPr>
              <a:t>: donde se renderizan las pantallas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59" name="Google Shape;159;g3df8ec46699_0_7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df8ec46699_0_71"/>
          <p:cNvSpPr txBox="1"/>
          <p:nvPr/>
        </p:nvSpPr>
        <p:spPr>
          <a:xfrm>
            <a:off x="1144588" y="185738"/>
            <a:ext cx="612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Explicación de la 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g3df8ec46699_0_7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g3df8ec46699_0_7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f8ec46699_0_71"/>
          <p:cNvSpPr/>
          <p:nvPr/>
        </p:nvSpPr>
        <p:spPr>
          <a:xfrm>
            <a:off x="2368784" y="1511455"/>
            <a:ext cx="4417200" cy="2308200"/>
          </a:xfrm>
          <a:prstGeom prst="rect">
            <a:avLst/>
          </a:prstGeom>
          <a:solidFill>
            <a:srgbClr val="BBD6EE"/>
          </a:solidFill>
          <a:ln cap="flat" cmpd="sng" w="186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975" lIns="133975" spcFirstLastPara="1" rIns="133975" wrap="square" tIns="66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2"/>
              <a:buFont typeface="Arial"/>
              <a:buNone/>
            </a:pPr>
            <a:r>
              <a:rPr b="0" i="0" lang="es-CL" sz="2052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b="0" i="0" sz="20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2"/>
              <a:buFont typeface="Arial"/>
              <a:buNone/>
            </a:pPr>
            <a:r>
              <a:rPr b="1" i="0" lang="es-CL" sz="2052" u="none" cap="none" strike="noStrike">
                <a:solidFill>
                  <a:srgbClr val="2E75B5"/>
                </a:solidFill>
              </a:rPr>
              <a:t>             </a:t>
            </a:r>
            <a:r>
              <a:rPr b="1" lang="es-CL" sz="2052">
                <a:solidFill>
                  <a:srgbClr val="2E75B5"/>
                </a:solidFill>
              </a:rPr>
              <a:t>Área de Contenido</a:t>
            </a:r>
            <a:endParaRPr b="1" i="0" sz="2052" u="none" cap="none" strike="noStrike">
              <a:solidFill>
                <a:srgbClr val="2E75B5"/>
              </a:solidFill>
            </a:endParaRPr>
          </a:p>
        </p:txBody>
      </p:sp>
      <p:sp>
        <p:nvSpPr>
          <p:cNvPr id="164" name="Google Shape;164;g3df8ec46699_0_71"/>
          <p:cNvSpPr/>
          <p:nvPr/>
        </p:nvSpPr>
        <p:spPr>
          <a:xfrm>
            <a:off x="2357999" y="1511450"/>
            <a:ext cx="885300" cy="2308200"/>
          </a:xfrm>
          <a:prstGeom prst="rect">
            <a:avLst/>
          </a:prstGeom>
          <a:solidFill>
            <a:srgbClr val="9CC2E5"/>
          </a:solidFill>
          <a:ln cap="flat" cmpd="sng" w="186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975" lIns="133975" spcFirstLastPara="1" rIns="133975" wrap="square" tIns="66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2"/>
              <a:buFont typeface="Arial"/>
              <a:buNone/>
            </a:pPr>
            <a:r>
              <a:rPr b="1" i="0" lang="es-CL" sz="1612" u="none" cap="none" strike="noStrike">
                <a:solidFill>
                  <a:srgbClr val="274E13"/>
                </a:solidFill>
              </a:rPr>
              <a:t>Menú</a:t>
            </a:r>
            <a:endParaRPr b="1" i="0" sz="1612" u="none" cap="none" strike="noStrike">
              <a:solidFill>
                <a:srgbClr val="274E1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2"/>
              <a:buFont typeface="Arial"/>
              <a:buNone/>
            </a:pPr>
            <a:r>
              <a:rPr b="1" lang="es-CL" sz="1612">
                <a:solidFill>
                  <a:srgbClr val="274E13"/>
                </a:solidFill>
              </a:rPr>
              <a:t>lateral</a:t>
            </a:r>
            <a:endParaRPr b="1" sz="1612">
              <a:solidFill>
                <a:srgbClr val="274E13"/>
              </a:solidFill>
            </a:endParaRPr>
          </a:p>
        </p:txBody>
      </p:sp>
      <p:sp>
        <p:nvSpPr>
          <p:cNvPr id="165" name="Google Shape;165;g3df8ec46699_0_71"/>
          <p:cNvSpPr/>
          <p:nvPr/>
        </p:nvSpPr>
        <p:spPr>
          <a:xfrm>
            <a:off x="3243300" y="1511450"/>
            <a:ext cx="3542400" cy="573900"/>
          </a:xfrm>
          <a:prstGeom prst="rect">
            <a:avLst/>
          </a:prstGeom>
          <a:solidFill>
            <a:schemeClr val="accent1"/>
          </a:solidFill>
          <a:ln cap="flat" cmpd="sng" w="186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6975" lIns="133975" spcFirstLastPara="1" rIns="133975" wrap="square" tIns="66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2"/>
              <a:buFont typeface="Arial"/>
              <a:buNone/>
            </a:pPr>
            <a:r>
              <a:rPr b="1" i="0" lang="es-CL" sz="2052" u="none" cap="none" strike="noStrike">
                <a:solidFill>
                  <a:srgbClr val="D20000"/>
                </a:solidFill>
              </a:rPr>
              <a:t>Barra </a:t>
            </a:r>
            <a:r>
              <a:rPr b="1" lang="es-CL" sz="2052">
                <a:solidFill>
                  <a:srgbClr val="D20000"/>
                </a:solidFill>
              </a:rPr>
              <a:t>Superior</a:t>
            </a:r>
            <a:endParaRPr b="1" i="0" sz="2052" u="none" cap="none" strike="noStrike">
              <a:solidFill>
                <a:srgbClr val="D2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5" title="Captura de pantalla 2026-05-08 a la(s) 13.32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50" y="2083196"/>
            <a:ext cx="3892351" cy="15067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1" name="Google Shape;171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/>
        </p:nvSpPr>
        <p:spPr>
          <a:xfrm>
            <a:off x="1144588" y="185738"/>
            <a:ext cx="7175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Explicación de la Estructura de la página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72628" y="1094081"/>
            <a:ext cx="8228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 estructura HTML define cómo se organizan visualmente los elementos.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Esta estructura es fija y actúa como contenedor de la aplicación.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18450" y="2265350"/>
            <a:ext cx="3892200" cy="13245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572634" y="1793906"/>
            <a:ext cx="197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7183850" y="4521084"/>
            <a:ext cx="1468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código se ha simplificado para la explicación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5"/>
          <p:cNvCxnSpPr>
            <a:endCxn id="180" idx="1"/>
          </p:cNvCxnSpPr>
          <p:nvPr/>
        </p:nvCxnSpPr>
        <p:spPr>
          <a:xfrm rot="-5400000">
            <a:off x="4769087" y="2780349"/>
            <a:ext cx="1050900" cy="83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81" name="Google Shape;181;p5"/>
          <p:cNvSpPr/>
          <p:nvPr/>
        </p:nvSpPr>
        <p:spPr>
          <a:xfrm>
            <a:off x="5718447" y="1883953"/>
            <a:ext cx="3014400" cy="1575000"/>
          </a:xfrm>
          <a:prstGeom prst="rect">
            <a:avLst/>
          </a:prstGeom>
          <a:solidFill>
            <a:srgbClr val="BBD6EE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2E75B5"/>
                </a:solidFill>
              </a:rPr>
              <a:t>             </a:t>
            </a:r>
            <a:r>
              <a:rPr b="1" lang="es-CL" sz="1400">
                <a:solidFill>
                  <a:srgbClr val="2E75B5"/>
                </a:solidFill>
              </a:rPr>
              <a:t>Área de Contenido</a:t>
            </a:r>
            <a:endParaRPr b="1" i="0" sz="1400" u="none" cap="none" strike="noStrike">
              <a:solidFill>
                <a:srgbClr val="2E75B5"/>
              </a:solidFill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711087" y="1883949"/>
            <a:ext cx="604200" cy="1575000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74E13"/>
                </a:solidFill>
              </a:rPr>
              <a:t>Menú</a:t>
            </a:r>
            <a:endParaRPr b="1" i="0" sz="1100" u="none" cap="none" strike="noStrike">
              <a:solidFill>
                <a:srgbClr val="274E1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274E13"/>
                </a:solidFill>
              </a:rPr>
              <a:t>lateral</a:t>
            </a:r>
            <a:endParaRPr b="1" sz="1100">
              <a:solidFill>
                <a:srgbClr val="274E13"/>
              </a:solidFill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315239" y="1883949"/>
            <a:ext cx="2417400" cy="391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D20000"/>
                </a:solidFill>
              </a:rPr>
              <a:t>Barra </a:t>
            </a:r>
            <a:r>
              <a:rPr b="1" lang="es-CL" sz="1400">
                <a:solidFill>
                  <a:srgbClr val="D20000"/>
                </a:solidFill>
              </a:rPr>
              <a:t>Superior</a:t>
            </a:r>
            <a:endParaRPr b="1" i="0" sz="1400" u="none" cap="none" strike="noStrike">
              <a:solidFill>
                <a:srgbClr val="D20000"/>
              </a:solidFill>
            </a:endParaRPr>
          </a:p>
        </p:txBody>
      </p:sp>
      <p:pic>
        <p:nvPicPr>
          <p:cNvPr descr="Logotipo&#10;&#10;Descripción generada automáticamente" id="183" name="Google Shape;1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5630" y="2038965"/>
            <a:ext cx="315095" cy="20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 title="Captura de pantalla 2026-05-08 a la(s) 13.36.0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075" y="3632563"/>
            <a:ext cx="6454073" cy="2798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5"/>
          <p:cNvCxnSpPr>
            <a:stCxn id="176" idx="3"/>
            <a:endCxn id="183" idx="1"/>
          </p:cNvCxnSpPr>
          <p:nvPr/>
        </p:nvCxnSpPr>
        <p:spPr>
          <a:xfrm flipH="1" rot="10800000">
            <a:off x="4510650" y="2142500"/>
            <a:ext cx="1344900" cy="785100"/>
          </a:xfrm>
          <a:prstGeom prst="bentConnector3">
            <a:avLst>
              <a:gd fmla="val 17152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186" name="Google Shape;186;p5"/>
          <p:cNvSpPr/>
          <p:nvPr/>
        </p:nvSpPr>
        <p:spPr>
          <a:xfrm>
            <a:off x="627075" y="3819474"/>
            <a:ext cx="6454200" cy="26115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572000" y="5912775"/>
            <a:ext cx="2106000" cy="523200"/>
          </a:xfrm>
          <a:prstGeom prst="wedgeRoundRectCallout">
            <a:avLst>
              <a:gd fmla="val -101760" name="adj1"/>
              <a:gd fmla="val -7768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routerLink de navegaci</a:t>
            </a:r>
            <a:r>
              <a:rPr lang="es-CL"/>
              <a:t>ón</a:t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2" name="Google Shape;192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/>
        </p:nvSpPr>
        <p:spPr>
          <a:xfrm>
            <a:off x="1144588" y="185738"/>
            <a:ext cx="7572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Explicación de la Estructura de la página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72628" y="1094081"/>
            <a:ext cx="8228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resalta cada sección del código respecto de la interfaz.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575034" y="1531831"/>
            <a:ext cx="19736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7376575" y="4804850"/>
            <a:ext cx="16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código se ha simplificado para la explicación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609439" y="1774489"/>
            <a:ext cx="3946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6" title="Captura de pantalla 2026-05-08 a la(s) 13.40.11.png"/>
          <p:cNvPicPr preferRelativeResize="0"/>
          <p:nvPr/>
        </p:nvPicPr>
        <p:blipFill rotWithShape="1">
          <a:blip r:embed="rId4">
            <a:alphaModFix/>
          </a:blip>
          <a:srcRect b="0" l="0" r="7201" t="0"/>
          <a:stretch/>
        </p:blipFill>
        <p:spPr>
          <a:xfrm>
            <a:off x="627075" y="2135075"/>
            <a:ext cx="5860500" cy="2808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627075" y="2671064"/>
            <a:ext cx="5781000" cy="22845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718447" y="1883953"/>
            <a:ext cx="3014400" cy="1575000"/>
          </a:xfrm>
          <a:prstGeom prst="rect">
            <a:avLst/>
          </a:prstGeom>
          <a:solidFill>
            <a:srgbClr val="BBD6EE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2E75B5"/>
                </a:solidFill>
              </a:rPr>
              <a:t>             </a:t>
            </a:r>
            <a:r>
              <a:rPr b="1" lang="es-CL" sz="1400">
                <a:solidFill>
                  <a:srgbClr val="2E75B5"/>
                </a:solidFill>
              </a:rPr>
              <a:t>Área de Contenido</a:t>
            </a:r>
            <a:endParaRPr b="1" i="0" sz="1400" u="none" cap="none" strike="noStrike">
              <a:solidFill>
                <a:srgbClr val="2E75B5"/>
              </a:solidFill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711087" y="1883949"/>
            <a:ext cx="604200" cy="1575000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274E13"/>
                </a:solidFill>
              </a:rPr>
              <a:t>Menú</a:t>
            </a:r>
            <a:endParaRPr b="1" i="0" sz="1100" u="none" cap="none" strike="noStrike">
              <a:solidFill>
                <a:srgbClr val="274E1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CL" sz="1100">
                <a:solidFill>
                  <a:srgbClr val="274E13"/>
                </a:solidFill>
              </a:rPr>
              <a:t>lateral</a:t>
            </a:r>
            <a:endParaRPr b="1" sz="1100">
              <a:solidFill>
                <a:srgbClr val="274E13"/>
              </a:solidFill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315239" y="1883949"/>
            <a:ext cx="2417400" cy="391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25" lIns="91425" spcFirstLastPara="1" rIns="914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D20000"/>
                </a:solidFill>
              </a:rPr>
              <a:t>Barra </a:t>
            </a:r>
            <a:r>
              <a:rPr b="1" lang="es-CL" sz="1400">
                <a:solidFill>
                  <a:srgbClr val="D20000"/>
                </a:solidFill>
              </a:rPr>
              <a:t>Superior</a:t>
            </a:r>
            <a:endParaRPr b="1" i="0" sz="1400" u="none" cap="none" strike="noStrike">
              <a:solidFill>
                <a:srgbClr val="D20000"/>
              </a:solidFill>
            </a:endParaRPr>
          </a:p>
        </p:txBody>
      </p:sp>
      <p:pic>
        <p:nvPicPr>
          <p:cNvPr descr="Logotipo&#10;&#10;Descripción generada automáticamente" id="205" name="Google Shape;2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5630" y="2038965"/>
            <a:ext cx="315095" cy="2070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6"/>
          <p:cNvCxnSpPr>
            <a:stCxn id="201" idx="0"/>
          </p:cNvCxnSpPr>
          <p:nvPr/>
        </p:nvCxnSpPr>
        <p:spPr>
          <a:xfrm rot="-5400000">
            <a:off x="4795725" y="820214"/>
            <a:ext cx="572700" cy="312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207" name="Google Shape;207;p6"/>
          <p:cNvCxnSpPr>
            <a:stCxn id="208" idx="3"/>
          </p:cNvCxnSpPr>
          <p:nvPr/>
        </p:nvCxnSpPr>
        <p:spPr>
          <a:xfrm flipH="1" rot="10800000">
            <a:off x="3401750" y="3273175"/>
            <a:ext cx="3855600" cy="2518800"/>
          </a:xfrm>
          <a:prstGeom prst="bentConnector3">
            <a:avLst>
              <a:gd fmla="val 99798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pic>
        <p:nvPicPr>
          <p:cNvPr id="209" name="Google Shape;209;p6" title="Captura de pantalla 2026-05-08 a la(s) 13.42.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075" y="5093775"/>
            <a:ext cx="2799826" cy="11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>
            <a:off x="652250" y="5482825"/>
            <a:ext cx="2749500" cy="6183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0" y="5912775"/>
            <a:ext cx="3014400" cy="523200"/>
          </a:xfrm>
          <a:prstGeom prst="wedgeRoundRectCallout">
            <a:avLst>
              <a:gd fmla="val -91429" name="adj1"/>
              <a:gd fmla="val -57459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Dentro de esta estructura vamos a integrar nuestro router-outlet</a:t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5" name="Google Shape;215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/>
          <p:nvPr/>
        </p:nvSpPr>
        <p:spPr>
          <a:xfrm>
            <a:off x="1144602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Estilo al Proyecto Angular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7757" y="1225836"/>
            <a:ext cx="8228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Ejecutar la aplicación para visualizar el resultado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1027114" y="1720350"/>
            <a:ext cx="458527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serve -o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27800" y="2267209"/>
            <a:ext cx="82281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Verificamos que el layout se aplica correctamente.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Ahora nuestra aplicación tiene estructura… y podemos integrar la navegación entre pantallas.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El sidebar no es solo diseño… es navegación.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Gracias al routing, podemos cambiar el contenido sin perder la estructura.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