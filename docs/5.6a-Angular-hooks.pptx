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7086600" cy="8686800"/>
  <p:embeddedFontLst>
    <p:embeddedFont>
      <p:font typeface="Arimo"/>
      <p:regular r:id="rId20"/>
      <p:bold r:id="rId21"/>
      <p:italic r:id="rId22"/>
      <p:boldItalic r:id="rId23"/>
    </p:embeddedFont>
    <p:embeddedFont>
      <p:font typeface="Noto Sans"/>
      <p:regular r:id="rId24"/>
      <p:bold r:id="rId25"/>
      <p:italic r:id="rId26"/>
      <p:boldItalic r:id="rId27"/>
    </p:embeddedFont>
    <p:embeddedFont>
      <p:font typeface="Ubuntu Mono"/>
      <p:regular r:id="rId28"/>
      <p:bold r:id="rId29"/>
      <p:italic r:id="rId30"/>
      <p:boldItalic r:id="rId31"/>
    </p:embeddedFont>
    <p:embeddedFont>
      <p:font typeface="Arial Black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gkZ7lql8OrvVeDM3Zox7X8xZ2C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75B924-0B96-48C0-A4AE-E8390CCA1DAF}">
  <a:tblStyle styleId="{A875B924-0B96-48C0-A4AE-E8390CCA1D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regular.fntdata"/><Relationship Id="rId22" Type="http://schemas.openxmlformats.org/officeDocument/2006/relationships/font" Target="fonts/Arimo-italic.fntdata"/><Relationship Id="rId21" Type="http://schemas.openxmlformats.org/officeDocument/2006/relationships/font" Target="fonts/Arimo-bold.fntdata"/><Relationship Id="rId24" Type="http://schemas.openxmlformats.org/officeDocument/2006/relationships/font" Target="fonts/NotoSans-regular.fntdata"/><Relationship Id="rId23" Type="http://schemas.openxmlformats.org/officeDocument/2006/relationships/font" Target="fonts/Arim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otoSans-italic.fntdata"/><Relationship Id="rId25" Type="http://schemas.openxmlformats.org/officeDocument/2006/relationships/font" Target="fonts/NotoSans-bold.fntdata"/><Relationship Id="rId28" Type="http://schemas.openxmlformats.org/officeDocument/2006/relationships/font" Target="fonts/UbuntuMono-regular.fntdata"/><Relationship Id="rId27" Type="http://schemas.openxmlformats.org/officeDocument/2006/relationships/font" Target="fonts/Noto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buntu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buntuMono-boldItalic.fntdata"/><Relationship Id="rId30" Type="http://schemas.openxmlformats.org/officeDocument/2006/relationships/font" Target="fonts/UbuntuMono-italic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ArialBlac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1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517360bf5_0_0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517360bf5_0_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517360bf5_0_51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517360bf5_0_5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517360bf5_0_66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517360bf5_0_6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517360bf5_0_78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517360bf5_0_7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517360bf5_0_87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517360bf5_0_8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Si hoy empiezan un proyecto en Angular… no lo construyen con hooks</a:t>
            </a:r>
            <a:endParaRPr/>
          </a:p>
        </p:txBody>
      </p:sp>
      <p:sp>
        <p:nvSpPr>
          <p:cNvPr id="247" name="Google Shape;247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5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409555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Ciclo de Vida (Hooks)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3688958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945074" y="1859571"/>
            <a:ext cx="81304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/>
          </a:p>
        </p:txBody>
      </p:sp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3" y="287338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838200" y="1800442"/>
            <a:ext cx="569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Todo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componente en Angular tiene un ciclo de vida.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1144602" y="185750"/>
            <a:ext cx="758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Ciclo de Vida en Angular</a:t>
            </a:r>
            <a:endParaRPr b="1" sz="2200">
              <a:solidFill>
                <a:srgbClr val="0070C0"/>
              </a:solidFill>
            </a:endParaRPr>
          </a:p>
        </p:txBody>
      </p:sp>
      <p:cxnSp>
        <p:nvCxnSpPr>
          <p:cNvPr id="105" name="Google Shape;105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838200" y="1169139"/>
            <a:ext cx="7650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¿</a:t>
            </a:r>
            <a:r>
              <a:rPr lang="es-CL" sz="1800">
                <a:solidFill>
                  <a:schemeClr val="dk1"/>
                </a:solidFill>
              </a:rPr>
              <a:t>Cuándo ocurren las cosas dentro de un componente</a:t>
            </a:r>
            <a:r>
              <a:rPr lang="es-CL" sz="1800">
                <a:solidFill>
                  <a:schemeClr val="dk1"/>
                </a:solidFill>
              </a:rPr>
              <a:t>?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8200" y="2623000"/>
            <a:ext cx="7894800" cy="21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>
                <a:solidFill>
                  <a:schemeClr val="dk1"/>
                </a:solidFill>
              </a:rPr>
              <a:t>Nace → se crea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>
                <a:solidFill>
                  <a:schemeClr val="dk1"/>
                </a:solidFill>
              </a:rPr>
              <a:t>Vive → se actualiza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>
                <a:solidFill>
                  <a:schemeClr val="dk1"/>
                </a:solidFill>
              </a:rPr>
              <a:t>Muere → se elimina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Angular ejecuta código en cada etapa.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Podemos conectarnos a esas etapas para obtener un control bastante preciso de nuestra aplicación.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109" name="Google Shape;109;p2"/>
          <p:cNvGrpSpPr/>
          <p:nvPr/>
        </p:nvGrpSpPr>
        <p:grpSpPr>
          <a:xfrm>
            <a:off x="5914833" y="1639030"/>
            <a:ext cx="3005232" cy="1838887"/>
            <a:chOff x="5914833" y="1117792"/>
            <a:chExt cx="3005232" cy="1838887"/>
          </a:xfrm>
        </p:grpSpPr>
        <p:pic>
          <p:nvPicPr>
            <p:cNvPr descr="Resultado de imagen para ciclo de vida" id="110" name="Google Shape;11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24373" y="1291841"/>
              <a:ext cx="2503264" cy="15297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2"/>
            <p:cNvSpPr/>
            <p:nvPr/>
          </p:nvSpPr>
          <p:spPr>
            <a:xfrm>
              <a:off x="5914833" y="1117792"/>
              <a:ext cx="3005232" cy="1177539"/>
            </a:xfrm>
            <a:custGeom>
              <a:rect b="b" l="l" r="r" t="t"/>
              <a:pathLst>
                <a:path extrusionOk="0" h="1177539" w="3005232">
                  <a:moveTo>
                    <a:pt x="243371" y="1177539"/>
                  </a:moveTo>
                  <a:cubicBezTo>
                    <a:pt x="277583" y="1171318"/>
                    <a:pt x="312007" y="1166163"/>
                    <a:pt x="346008" y="1158877"/>
                  </a:cubicBezTo>
                  <a:cubicBezTo>
                    <a:pt x="355625" y="1156816"/>
                    <a:pt x="365402" y="1154323"/>
                    <a:pt x="374000" y="1149547"/>
                  </a:cubicBezTo>
                  <a:cubicBezTo>
                    <a:pt x="464892" y="1099051"/>
                    <a:pt x="394365" y="1121128"/>
                    <a:pt x="467306" y="1102894"/>
                  </a:cubicBezTo>
                  <a:cubicBezTo>
                    <a:pt x="510761" y="1059437"/>
                    <a:pt x="454508" y="1109291"/>
                    <a:pt x="523289" y="1074902"/>
                  </a:cubicBezTo>
                  <a:cubicBezTo>
                    <a:pt x="531157" y="1070968"/>
                    <a:pt x="535082" y="1061736"/>
                    <a:pt x="541951" y="1056241"/>
                  </a:cubicBezTo>
                  <a:cubicBezTo>
                    <a:pt x="567793" y="1035568"/>
                    <a:pt x="568367" y="1038104"/>
                    <a:pt x="597934" y="1028249"/>
                  </a:cubicBezTo>
                  <a:cubicBezTo>
                    <a:pt x="601044" y="1018918"/>
                    <a:pt x="601227" y="1008021"/>
                    <a:pt x="607265" y="1000257"/>
                  </a:cubicBezTo>
                  <a:cubicBezTo>
                    <a:pt x="686342" y="898587"/>
                    <a:pt x="634847" y="974955"/>
                    <a:pt x="691240" y="925612"/>
                  </a:cubicBezTo>
                  <a:cubicBezTo>
                    <a:pt x="757219" y="867881"/>
                    <a:pt x="711498" y="887758"/>
                    <a:pt x="765885" y="869628"/>
                  </a:cubicBezTo>
                  <a:cubicBezTo>
                    <a:pt x="810945" y="824570"/>
                    <a:pt x="753685" y="879388"/>
                    <a:pt x="812538" y="832306"/>
                  </a:cubicBezTo>
                  <a:cubicBezTo>
                    <a:pt x="819407" y="826811"/>
                    <a:pt x="824979" y="819865"/>
                    <a:pt x="831200" y="813645"/>
                  </a:cubicBezTo>
                  <a:cubicBezTo>
                    <a:pt x="860327" y="726257"/>
                    <a:pt x="812613" y="855501"/>
                    <a:pt x="868522" y="757661"/>
                  </a:cubicBezTo>
                  <a:cubicBezTo>
                    <a:pt x="875764" y="744989"/>
                    <a:pt x="877230" y="706281"/>
                    <a:pt x="887183" y="692347"/>
                  </a:cubicBezTo>
                  <a:cubicBezTo>
                    <a:pt x="897409" y="678030"/>
                    <a:pt x="912065" y="667465"/>
                    <a:pt x="924506" y="655024"/>
                  </a:cubicBezTo>
                  <a:cubicBezTo>
                    <a:pt x="960427" y="619103"/>
                    <a:pt x="941519" y="634352"/>
                    <a:pt x="980489" y="608371"/>
                  </a:cubicBezTo>
                  <a:cubicBezTo>
                    <a:pt x="990344" y="578806"/>
                    <a:pt x="987810" y="578227"/>
                    <a:pt x="1008481" y="552388"/>
                  </a:cubicBezTo>
                  <a:cubicBezTo>
                    <a:pt x="1013977" y="545518"/>
                    <a:pt x="1021647" y="540596"/>
                    <a:pt x="1027143" y="533726"/>
                  </a:cubicBezTo>
                  <a:cubicBezTo>
                    <a:pt x="1045503" y="510776"/>
                    <a:pt x="1041939" y="503967"/>
                    <a:pt x="1064465" y="487073"/>
                  </a:cubicBezTo>
                  <a:cubicBezTo>
                    <a:pt x="1082407" y="473616"/>
                    <a:pt x="1120449" y="449751"/>
                    <a:pt x="1120449" y="449751"/>
                  </a:cubicBezTo>
                  <a:cubicBezTo>
                    <a:pt x="1169034" y="376872"/>
                    <a:pt x="1107011" y="457496"/>
                    <a:pt x="1167102" y="412428"/>
                  </a:cubicBezTo>
                  <a:cubicBezTo>
                    <a:pt x="1184696" y="399233"/>
                    <a:pt x="1195456" y="377974"/>
                    <a:pt x="1213755" y="365775"/>
                  </a:cubicBezTo>
                  <a:lnTo>
                    <a:pt x="1269738" y="328453"/>
                  </a:lnTo>
                  <a:cubicBezTo>
                    <a:pt x="1279069" y="322233"/>
                    <a:pt x="1287091" y="313338"/>
                    <a:pt x="1297730" y="309792"/>
                  </a:cubicBezTo>
                  <a:cubicBezTo>
                    <a:pt x="1307061" y="306682"/>
                    <a:pt x="1316925" y="304860"/>
                    <a:pt x="1325722" y="300461"/>
                  </a:cubicBezTo>
                  <a:cubicBezTo>
                    <a:pt x="1335752" y="295446"/>
                    <a:pt x="1343684" y="286815"/>
                    <a:pt x="1353714" y="281800"/>
                  </a:cubicBezTo>
                  <a:cubicBezTo>
                    <a:pt x="1368633" y="274341"/>
                    <a:pt x="1405070" y="267127"/>
                    <a:pt x="1419028" y="263139"/>
                  </a:cubicBezTo>
                  <a:cubicBezTo>
                    <a:pt x="1428485" y="260437"/>
                    <a:pt x="1437689" y="256918"/>
                    <a:pt x="1447020" y="253808"/>
                  </a:cubicBezTo>
                  <a:cubicBezTo>
                    <a:pt x="1499893" y="256918"/>
                    <a:pt x="1552893" y="258344"/>
                    <a:pt x="1605640" y="263139"/>
                  </a:cubicBezTo>
                  <a:cubicBezTo>
                    <a:pt x="1621434" y="264575"/>
                    <a:pt x="1636908" y="268623"/>
                    <a:pt x="1652294" y="272469"/>
                  </a:cubicBezTo>
                  <a:cubicBezTo>
                    <a:pt x="1661835" y="274854"/>
                    <a:pt x="1670479" y="281046"/>
                    <a:pt x="1680285" y="281800"/>
                  </a:cubicBezTo>
                  <a:cubicBezTo>
                    <a:pt x="1751676" y="287292"/>
                    <a:pt x="1823354" y="288020"/>
                    <a:pt x="1894889" y="291130"/>
                  </a:cubicBezTo>
                  <a:cubicBezTo>
                    <a:pt x="1932212" y="297351"/>
                    <a:pt x="1970961" y="297827"/>
                    <a:pt x="2006857" y="309792"/>
                  </a:cubicBezTo>
                  <a:cubicBezTo>
                    <a:pt x="2016188" y="312902"/>
                    <a:pt x="2025090" y="317902"/>
                    <a:pt x="2034849" y="319122"/>
                  </a:cubicBezTo>
                  <a:cubicBezTo>
                    <a:pt x="2075088" y="324152"/>
                    <a:pt x="2115714" y="325343"/>
                    <a:pt x="2156147" y="328453"/>
                  </a:cubicBezTo>
                  <a:cubicBezTo>
                    <a:pt x="2165477" y="331563"/>
                    <a:pt x="2174423" y="336250"/>
                    <a:pt x="2184138" y="337784"/>
                  </a:cubicBezTo>
                  <a:cubicBezTo>
                    <a:pt x="2233675" y="345606"/>
                    <a:pt x="2333428" y="356445"/>
                    <a:pt x="2333428" y="356445"/>
                  </a:cubicBezTo>
                  <a:lnTo>
                    <a:pt x="2389412" y="375106"/>
                  </a:lnTo>
                  <a:cubicBezTo>
                    <a:pt x="2398743" y="378216"/>
                    <a:pt x="2407760" y="382508"/>
                    <a:pt x="2417404" y="384437"/>
                  </a:cubicBezTo>
                  <a:lnTo>
                    <a:pt x="2464057" y="393767"/>
                  </a:lnTo>
                  <a:cubicBezTo>
                    <a:pt x="2522697" y="432860"/>
                    <a:pt x="2462786" y="399111"/>
                    <a:pt x="2576024" y="421759"/>
                  </a:cubicBezTo>
                  <a:cubicBezTo>
                    <a:pt x="2595313" y="425617"/>
                    <a:pt x="2612435" y="438463"/>
                    <a:pt x="2632008" y="440420"/>
                  </a:cubicBezTo>
                  <a:lnTo>
                    <a:pt x="2725314" y="449751"/>
                  </a:lnTo>
                  <a:cubicBezTo>
                    <a:pt x="2762011" y="461983"/>
                    <a:pt x="2781990" y="463187"/>
                    <a:pt x="2809289" y="487073"/>
                  </a:cubicBezTo>
                  <a:cubicBezTo>
                    <a:pt x="2875268" y="544804"/>
                    <a:pt x="2829547" y="524927"/>
                    <a:pt x="2883934" y="543057"/>
                  </a:cubicBezTo>
                  <a:cubicBezTo>
                    <a:pt x="2985414" y="524606"/>
                    <a:pt x="2978639" y="556828"/>
                    <a:pt x="2995902" y="496404"/>
                  </a:cubicBezTo>
                  <a:cubicBezTo>
                    <a:pt x="2999425" y="484074"/>
                    <a:pt x="3002122" y="471522"/>
                    <a:pt x="3005232" y="459081"/>
                  </a:cubicBezTo>
                  <a:cubicBezTo>
                    <a:pt x="3002122" y="399987"/>
                    <a:pt x="3004271" y="340381"/>
                    <a:pt x="2995902" y="281800"/>
                  </a:cubicBezTo>
                  <a:cubicBezTo>
                    <a:pt x="2994658" y="273091"/>
                    <a:pt x="2981766" y="270682"/>
                    <a:pt x="2977240" y="263139"/>
                  </a:cubicBezTo>
                  <a:cubicBezTo>
                    <a:pt x="2972180" y="254705"/>
                    <a:pt x="2972308" y="243944"/>
                    <a:pt x="2967910" y="235147"/>
                  </a:cubicBezTo>
                  <a:cubicBezTo>
                    <a:pt x="2962895" y="225117"/>
                    <a:pt x="2954264" y="217185"/>
                    <a:pt x="2949249" y="207155"/>
                  </a:cubicBezTo>
                  <a:cubicBezTo>
                    <a:pt x="2936678" y="182013"/>
                    <a:pt x="2945024" y="171967"/>
                    <a:pt x="2921257" y="151171"/>
                  </a:cubicBezTo>
                  <a:cubicBezTo>
                    <a:pt x="2904378" y="136402"/>
                    <a:pt x="2883934" y="126290"/>
                    <a:pt x="2865273" y="113849"/>
                  </a:cubicBezTo>
                  <a:cubicBezTo>
                    <a:pt x="2855942" y="107629"/>
                    <a:pt x="2845210" y="103118"/>
                    <a:pt x="2837281" y="95188"/>
                  </a:cubicBezTo>
                  <a:cubicBezTo>
                    <a:pt x="2802761" y="60666"/>
                    <a:pt x="2825941" y="81407"/>
                    <a:pt x="2762636" y="39204"/>
                  </a:cubicBezTo>
                  <a:cubicBezTo>
                    <a:pt x="2753306" y="32984"/>
                    <a:pt x="2745524" y="23263"/>
                    <a:pt x="2734645" y="20543"/>
                  </a:cubicBezTo>
                  <a:lnTo>
                    <a:pt x="2697322" y="11212"/>
                  </a:lnTo>
                  <a:lnTo>
                    <a:pt x="2324098" y="20543"/>
                  </a:lnTo>
                  <a:cubicBezTo>
                    <a:pt x="2276090" y="22463"/>
                    <a:pt x="2214466" y="32205"/>
                    <a:pt x="2165477" y="39204"/>
                  </a:cubicBezTo>
                  <a:cubicBezTo>
                    <a:pt x="2109493" y="36094"/>
                    <a:pt x="2053366" y="34949"/>
                    <a:pt x="1997526" y="29873"/>
                  </a:cubicBezTo>
                  <a:cubicBezTo>
                    <a:pt x="1984755" y="28712"/>
                    <a:pt x="1972940" y="22041"/>
                    <a:pt x="1960204" y="20543"/>
                  </a:cubicBezTo>
                  <a:cubicBezTo>
                    <a:pt x="1919930" y="15805"/>
                    <a:pt x="1879339" y="14322"/>
                    <a:pt x="1838906" y="11212"/>
                  </a:cubicBezTo>
                  <a:cubicBezTo>
                    <a:pt x="1738000" y="-14015"/>
                    <a:pt x="1854556" y="11212"/>
                    <a:pt x="1633632" y="11212"/>
                  </a:cubicBezTo>
                  <a:cubicBezTo>
                    <a:pt x="1471871" y="11212"/>
                    <a:pt x="1310171" y="4991"/>
                    <a:pt x="1148440" y="1881"/>
                  </a:cubicBezTo>
                  <a:lnTo>
                    <a:pt x="905845" y="11212"/>
                  </a:lnTo>
                  <a:cubicBezTo>
                    <a:pt x="570428" y="28866"/>
                    <a:pt x="1082147" y="12976"/>
                    <a:pt x="625926" y="29873"/>
                  </a:cubicBezTo>
                  <a:lnTo>
                    <a:pt x="290024" y="39204"/>
                  </a:lnTo>
                  <a:cubicBezTo>
                    <a:pt x="271363" y="45424"/>
                    <a:pt x="252015" y="49876"/>
                    <a:pt x="234040" y="57865"/>
                  </a:cubicBezTo>
                  <a:cubicBezTo>
                    <a:pt x="204381" y="71047"/>
                    <a:pt x="209544" y="76724"/>
                    <a:pt x="187387" y="95188"/>
                  </a:cubicBezTo>
                  <a:cubicBezTo>
                    <a:pt x="175441" y="105143"/>
                    <a:pt x="162506" y="113849"/>
                    <a:pt x="150065" y="123179"/>
                  </a:cubicBezTo>
                  <a:cubicBezTo>
                    <a:pt x="103852" y="200200"/>
                    <a:pt x="144991" y="143908"/>
                    <a:pt x="75420" y="207155"/>
                  </a:cubicBezTo>
                  <a:cubicBezTo>
                    <a:pt x="55892" y="224908"/>
                    <a:pt x="19436" y="263139"/>
                    <a:pt x="19436" y="263139"/>
                  </a:cubicBezTo>
                  <a:cubicBezTo>
                    <a:pt x="16326" y="272469"/>
                    <a:pt x="12239" y="281529"/>
                    <a:pt x="10106" y="291130"/>
                  </a:cubicBezTo>
                  <a:cubicBezTo>
                    <a:pt x="-2467" y="347708"/>
                    <a:pt x="-4242" y="378247"/>
                    <a:pt x="10106" y="440420"/>
                  </a:cubicBezTo>
                  <a:cubicBezTo>
                    <a:pt x="12628" y="451347"/>
                    <a:pt x="22547" y="459081"/>
                    <a:pt x="28767" y="468412"/>
                  </a:cubicBezTo>
                  <a:cubicBezTo>
                    <a:pt x="31877" y="515065"/>
                    <a:pt x="35574" y="561683"/>
                    <a:pt x="38098" y="608371"/>
                  </a:cubicBezTo>
                  <a:cubicBezTo>
                    <a:pt x="41795" y="676766"/>
                    <a:pt x="41966" y="745368"/>
                    <a:pt x="47428" y="813645"/>
                  </a:cubicBezTo>
                  <a:cubicBezTo>
                    <a:pt x="48999" y="833279"/>
                    <a:pt x="69555" y="863320"/>
                    <a:pt x="75420" y="878959"/>
                  </a:cubicBezTo>
                  <a:cubicBezTo>
                    <a:pt x="84383" y="902861"/>
                    <a:pt x="82808" y="921726"/>
                    <a:pt x="94081" y="944273"/>
                  </a:cubicBezTo>
                  <a:cubicBezTo>
                    <a:pt x="99096" y="954303"/>
                    <a:pt x="106522" y="962934"/>
                    <a:pt x="112743" y="972265"/>
                  </a:cubicBezTo>
                  <a:cubicBezTo>
                    <a:pt x="144108" y="1066367"/>
                    <a:pt x="96244" y="920381"/>
                    <a:pt x="131404" y="1037579"/>
                  </a:cubicBezTo>
                  <a:cubicBezTo>
                    <a:pt x="137056" y="1056420"/>
                    <a:pt x="143845" y="1074902"/>
                    <a:pt x="150065" y="1093563"/>
                  </a:cubicBezTo>
                  <a:cubicBezTo>
                    <a:pt x="156211" y="1112002"/>
                    <a:pt x="161615" y="1136393"/>
                    <a:pt x="178057" y="1149547"/>
                  </a:cubicBezTo>
                  <a:cubicBezTo>
                    <a:pt x="185737" y="1155691"/>
                    <a:pt x="196718" y="1155767"/>
                    <a:pt x="206049" y="1158877"/>
                  </a:cubicBezTo>
                  <a:lnTo>
                    <a:pt x="243371" y="1177539"/>
                  </a:lnTo>
                  <a:close/>
                </a:path>
              </a:pathLst>
            </a:cu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6130212" y="2164702"/>
              <a:ext cx="2724539" cy="791977"/>
            </a:xfrm>
            <a:custGeom>
              <a:rect b="b" l="l" r="r" t="t"/>
              <a:pathLst>
                <a:path extrusionOk="0" h="791977" w="2724539">
                  <a:moveTo>
                    <a:pt x="223935" y="27992"/>
                  </a:moveTo>
                  <a:cubicBezTo>
                    <a:pt x="230155" y="40433"/>
                    <a:pt x="211155" y="58963"/>
                    <a:pt x="205274" y="74645"/>
                  </a:cubicBezTo>
                  <a:cubicBezTo>
                    <a:pt x="201821" y="83854"/>
                    <a:pt x="200342" y="93840"/>
                    <a:pt x="195943" y="102637"/>
                  </a:cubicBezTo>
                  <a:cubicBezTo>
                    <a:pt x="190928" y="112667"/>
                    <a:pt x="182297" y="120599"/>
                    <a:pt x="177282" y="130629"/>
                  </a:cubicBezTo>
                  <a:cubicBezTo>
                    <a:pt x="172884" y="139426"/>
                    <a:pt x="173852" y="150752"/>
                    <a:pt x="167951" y="158620"/>
                  </a:cubicBezTo>
                  <a:cubicBezTo>
                    <a:pt x="154755" y="176214"/>
                    <a:pt x="121298" y="205274"/>
                    <a:pt x="121298" y="205274"/>
                  </a:cubicBezTo>
                  <a:cubicBezTo>
                    <a:pt x="98286" y="297327"/>
                    <a:pt x="128958" y="201837"/>
                    <a:pt x="93306" y="261257"/>
                  </a:cubicBezTo>
                  <a:cubicBezTo>
                    <a:pt x="88246" y="269691"/>
                    <a:pt x="88374" y="280452"/>
                    <a:pt x="83976" y="289249"/>
                  </a:cubicBezTo>
                  <a:cubicBezTo>
                    <a:pt x="47798" y="361608"/>
                    <a:pt x="79440" y="274867"/>
                    <a:pt x="55984" y="345233"/>
                  </a:cubicBezTo>
                  <a:cubicBezTo>
                    <a:pt x="52874" y="373225"/>
                    <a:pt x="46653" y="401044"/>
                    <a:pt x="46653" y="429208"/>
                  </a:cubicBezTo>
                  <a:cubicBezTo>
                    <a:pt x="46653" y="446040"/>
                    <a:pt x="65211" y="473871"/>
                    <a:pt x="74645" y="485192"/>
                  </a:cubicBezTo>
                  <a:cubicBezTo>
                    <a:pt x="89385" y="502880"/>
                    <a:pt x="109658" y="521360"/>
                    <a:pt x="130629" y="531845"/>
                  </a:cubicBezTo>
                  <a:cubicBezTo>
                    <a:pt x="150640" y="541851"/>
                    <a:pt x="186104" y="546246"/>
                    <a:pt x="205274" y="550506"/>
                  </a:cubicBezTo>
                  <a:cubicBezTo>
                    <a:pt x="217792" y="553288"/>
                    <a:pt x="230155" y="556727"/>
                    <a:pt x="242596" y="559837"/>
                  </a:cubicBezTo>
                  <a:cubicBezTo>
                    <a:pt x="304800" y="556727"/>
                    <a:pt x="367281" y="557141"/>
                    <a:pt x="429208" y="550506"/>
                  </a:cubicBezTo>
                  <a:cubicBezTo>
                    <a:pt x="454709" y="547774"/>
                    <a:pt x="478971" y="538065"/>
                    <a:pt x="503853" y="531845"/>
                  </a:cubicBezTo>
                  <a:lnTo>
                    <a:pt x="541176" y="522514"/>
                  </a:lnTo>
                  <a:cubicBezTo>
                    <a:pt x="609600" y="525624"/>
                    <a:pt x="678156" y="526591"/>
                    <a:pt x="746449" y="531845"/>
                  </a:cubicBezTo>
                  <a:cubicBezTo>
                    <a:pt x="759235" y="532829"/>
                    <a:pt x="771027" y="539760"/>
                    <a:pt x="783772" y="541176"/>
                  </a:cubicBezTo>
                  <a:cubicBezTo>
                    <a:pt x="827159" y="545997"/>
                    <a:pt x="870810" y="548150"/>
                    <a:pt x="914400" y="550506"/>
                  </a:cubicBezTo>
                  <a:cubicBezTo>
                    <a:pt x="1147172" y="563088"/>
                    <a:pt x="1284127" y="563362"/>
                    <a:pt x="1539551" y="569167"/>
                  </a:cubicBezTo>
                  <a:cubicBezTo>
                    <a:pt x="1579984" y="566057"/>
                    <a:pt x="1620586" y="564668"/>
                    <a:pt x="1660849" y="559837"/>
                  </a:cubicBezTo>
                  <a:cubicBezTo>
                    <a:pt x="1698417" y="555329"/>
                    <a:pt x="1735272" y="545869"/>
                    <a:pt x="1772817" y="541176"/>
                  </a:cubicBezTo>
                  <a:lnTo>
                    <a:pt x="1847461" y="531845"/>
                  </a:lnTo>
                  <a:cubicBezTo>
                    <a:pt x="1880032" y="499276"/>
                    <a:pt x="1857779" y="515965"/>
                    <a:pt x="1922106" y="494522"/>
                  </a:cubicBezTo>
                  <a:lnTo>
                    <a:pt x="1950098" y="485192"/>
                  </a:lnTo>
                  <a:cubicBezTo>
                    <a:pt x="2009929" y="445305"/>
                    <a:pt x="1973789" y="461085"/>
                    <a:pt x="2099388" y="475861"/>
                  </a:cubicBezTo>
                  <a:cubicBezTo>
                    <a:pt x="2112124" y="477359"/>
                    <a:pt x="2124171" y="482505"/>
                    <a:pt x="2136710" y="485192"/>
                  </a:cubicBezTo>
                  <a:cubicBezTo>
                    <a:pt x="2167724" y="491838"/>
                    <a:pt x="2198544" y="499919"/>
                    <a:pt x="2230017" y="503853"/>
                  </a:cubicBezTo>
                  <a:cubicBezTo>
                    <a:pt x="2254898" y="506963"/>
                    <a:pt x="2279927" y="509062"/>
                    <a:pt x="2304661" y="513184"/>
                  </a:cubicBezTo>
                  <a:cubicBezTo>
                    <a:pt x="2317310" y="515292"/>
                    <a:pt x="2329466" y="519732"/>
                    <a:pt x="2341984" y="522514"/>
                  </a:cubicBezTo>
                  <a:cubicBezTo>
                    <a:pt x="2357465" y="525954"/>
                    <a:pt x="2373086" y="528735"/>
                    <a:pt x="2388637" y="531845"/>
                  </a:cubicBezTo>
                  <a:lnTo>
                    <a:pt x="2565919" y="522514"/>
                  </a:lnTo>
                  <a:cubicBezTo>
                    <a:pt x="2700015" y="513574"/>
                    <a:pt x="2627720" y="506379"/>
                    <a:pt x="2724539" y="522514"/>
                  </a:cubicBezTo>
                  <a:cubicBezTo>
                    <a:pt x="2721429" y="584718"/>
                    <a:pt x="2726349" y="647850"/>
                    <a:pt x="2715208" y="709127"/>
                  </a:cubicBezTo>
                  <a:cubicBezTo>
                    <a:pt x="2713395" y="719101"/>
                    <a:pt x="2667718" y="736646"/>
                    <a:pt x="2659225" y="737118"/>
                  </a:cubicBezTo>
                  <a:cubicBezTo>
                    <a:pt x="2556699" y="742814"/>
                    <a:pt x="2453952" y="743339"/>
                    <a:pt x="2351315" y="746449"/>
                  </a:cubicBezTo>
                  <a:cubicBezTo>
                    <a:pt x="1900837" y="836547"/>
                    <a:pt x="2273275" y="765110"/>
                    <a:pt x="1063690" y="765110"/>
                  </a:cubicBezTo>
                  <a:cubicBezTo>
                    <a:pt x="926806" y="765110"/>
                    <a:pt x="789976" y="759529"/>
                    <a:pt x="653143" y="755780"/>
                  </a:cubicBezTo>
                  <a:cubicBezTo>
                    <a:pt x="479342" y="751018"/>
                    <a:pt x="330797" y="744292"/>
                    <a:pt x="158621" y="737118"/>
                  </a:cubicBezTo>
                  <a:cubicBezTo>
                    <a:pt x="137114" y="733534"/>
                    <a:pt x="97617" y="729943"/>
                    <a:pt x="74645" y="718457"/>
                  </a:cubicBezTo>
                  <a:cubicBezTo>
                    <a:pt x="64615" y="713442"/>
                    <a:pt x="55984" y="706016"/>
                    <a:pt x="46653" y="699796"/>
                  </a:cubicBezTo>
                  <a:cubicBezTo>
                    <a:pt x="534" y="630616"/>
                    <a:pt x="13730" y="665804"/>
                    <a:pt x="0" y="597159"/>
                  </a:cubicBezTo>
                  <a:cubicBezTo>
                    <a:pt x="2440" y="531294"/>
                    <a:pt x="2711" y="356959"/>
                    <a:pt x="18661" y="261257"/>
                  </a:cubicBezTo>
                  <a:cubicBezTo>
                    <a:pt x="22951" y="235516"/>
                    <a:pt x="36943" y="220219"/>
                    <a:pt x="46653" y="195943"/>
                  </a:cubicBezTo>
                  <a:cubicBezTo>
                    <a:pt x="78880" y="115377"/>
                    <a:pt x="54565" y="166937"/>
                    <a:pt x="74645" y="93306"/>
                  </a:cubicBezTo>
                  <a:cubicBezTo>
                    <a:pt x="79821" y="74328"/>
                    <a:pt x="79396" y="51231"/>
                    <a:pt x="93306" y="37322"/>
                  </a:cubicBezTo>
                  <a:cubicBezTo>
                    <a:pt x="99527" y="31102"/>
                    <a:pt x="104100" y="22595"/>
                    <a:pt x="111968" y="18661"/>
                  </a:cubicBezTo>
                  <a:cubicBezTo>
                    <a:pt x="129562" y="9864"/>
                    <a:pt x="167951" y="0"/>
                    <a:pt x="167951" y="0"/>
                  </a:cubicBezTo>
                  <a:cubicBezTo>
                    <a:pt x="201844" y="11298"/>
                    <a:pt x="217715" y="15551"/>
                    <a:pt x="223935" y="2799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7" name="Google Shape;117;g3d517360bf5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d517360bf5_0_0"/>
          <p:cNvSpPr txBox="1"/>
          <p:nvPr/>
        </p:nvSpPr>
        <p:spPr>
          <a:xfrm>
            <a:off x="1144588" y="185738"/>
            <a:ext cx="653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</a:t>
            </a:r>
            <a:r>
              <a:rPr b="1" lang="es-CL" sz="2800">
                <a:solidFill>
                  <a:srgbClr val="0070C0"/>
                </a:solidFill>
              </a:rPr>
              <a:t>son los hooks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cxnSp>
        <p:nvCxnSpPr>
          <p:cNvPr id="119" name="Google Shape;119;g3d517360bf5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g3d517360bf5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1" name="Google Shape;121;g3d517360bf5_0_0"/>
          <p:cNvSpPr/>
          <p:nvPr/>
        </p:nvSpPr>
        <p:spPr>
          <a:xfrm>
            <a:off x="875425" y="2589204"/>
            <a:ext cx="7891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hooks son eventos </a:t>
            </a: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que se ejecutan </a:t>
            </a:r>
            <a:r>
              <a:rPr lang="es-CL" sz="18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durante cada una de </a:t>
            </a:r>
            <a:r>
              <a:rPr lang="es-CL" sz="1800">
                <a:solidFill>
                  <a:srgbClr val="212121"/>
                </a:solidFill>
              </a:rPr>
              <a:t>las</a:t>
            </a:r>
            <a:r>
              <a:rPr lang="es-CL" sz="18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fases del ciclo de vida. 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517360bf5_0_0"/>
          <p:cNvSpPr/>
          <p:nvPr/>
        </p:nvSpPr>
        <p:spPr>
          <a:xfrm>
            <a:off x="875425" y="1279200"/>
            <a:ext cx="7891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Hooks = momentos donde puedo ejecutar código.</a:t>
            </a:r>
            <a:endParaRPr/>
          </a:p>
        </p:txBody>
      </p:sp>
      <p:sp>
        <p:nvSpPr>
          <p:cNvPr id="123" name="Google Shape;123;g3d517360bf5_0_0"/>
          <p:cNvSpPr/>
          <p:nvPr/>
        </p:nvSpPr>
        <p:spPr>
          <a:xfrm>
            <a:off x="875425" y="1837402"/>
            <a:ext cx="7891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</a:rPr>
              <a:t>Son funciones que Angular llama automáticamente en ciertos momentos del componente.</a:t>
            </a:r>
            <a:endParaRPr sz="1800">
              <a:solidFill>
                <a:srgbClr val="333333"/>
              </a:solidFill>
            </a:endParaRPr>
          </a:p>
        </p:txBody>
      </p:sp>
      <p:sp>
        <p:nvSpPr>
          <p:cNvPr id="124" name="Google Shape;124;g3d517360bf5_0_0"/>
          <p:cNvSpPr/>
          <p:nvPr/>
        </p:nvSpPr>
        <p:spPr>
          <a:xfrm>
            <a:off x="875425" y="3341004"/>
            <a:ext cx="7891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12121"/>
                </a:solidFill>
              </a:rPr>
              <a:t>El constructor de un componente NO es un hook.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d517360bf5_0_0"/>
          <p:cNvSpPr/>
          <p:nvPr/>
        </p:nvSpPr>
        <p:spPr>
          <a:xfrm>
            <a:off x="875425" y="3908267"/>
            <a:ext cx="7891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12121"/>
                </a:solidFill>
              </a:rPr>
              <a:t>El constructor se usa para inyectar servicios y dependencias</a:t>
            </a:r>
            <a:r>
              <a:rPr lang="es-CL" sz="1800">
                <a:solidFill>
                  <a:srgbClr val="212121"/>
                </a:solidFill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d517360bf5_0_0"/>
          <p:cNvSpPr/>
          <p:nvPr/>
        </p:nvSpPr>
        <p:spPr>
          <a:xfrm>
            <a:off x="875425" y="4462767"/>
            <a:ext cx="7891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12121"/>
                </a:solidFill>
              </a:rPr>
              <a:t>Los hooks </a:t>
            </a:r>
            <a:r>
              <a:rPr b="1" lang="es-CL" sz="1800">
                <a:solidFill>
                  <a:srgbClr val="212121"/>
                </a:solidFill>
              </a:rPr>
              <a:t>NO</a:t>
            </a:r>
            <a:r>
              <a:rPr lang="es-CL" sz="1800">
                <a:solidFill>
                  <a:srgbClr val="212121"/>
                </a:solidFill>
              </a:rPr>
              <a:t> se usan para aplicar l</a:t>
            </a:r>
            <a:r>
              <a:rPr lang="es-CL" sz="1800">
                <a:solidFill>
                  <a:srgbClr val="212121"/>
                </a:solidFill>
              </a:rPr>
              <a:t>ógica, realizar cálculos o generar datos</a:t>
            </a:r>
            <a:r>
              <a:rPr lang="es-CL" sz="1800">
                <a:solidFill>
                  <a:srgbClr val="212121"/>
                </a:solidFill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1" name="Google Shape;131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 txBox="1"/>
          <p:nvPr/>
        </p:nvSpPr>
        <p:spPr>
          <a:xfrm>
            <a:off x="1144614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Hooks </a:t>
            </a:r>
            <a:r>
              <a:rPr b="1" lang="es-CL" sz="2800">
                <a:solidFill>
                  <a:srgbClr val="0070C0"/>
                </a:solidFill>
              </a:rPr>
              <a:t>mas importantes</a:t>
            </a:r>
            <a:endParaRPr/>
          </a:p>
        </p:txBody>
      </p:sp>
      <p:cxnSp>
        <p:nvCxnSpPr>
          <p:cNvPr id="133" name="Google Shape;133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838200" y="1212850"/>
            <a:ext cx="78946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Son los </a:t>
            </a:r>
            <a:r>
              <a:rPr lang="es-CL" sz="1800">
                <a:solidFill>
                  <a:schemeClr val="dk1"/>
                </a:solidFill>
              </a:rPr>
              <a:t>más</a:t>
            </a:r>
            <a:r>
              <a:rPr lang="es-CL" sz="1800">
                <a:solidFill>
                  <a:schemeClr val="dk1"/>
                </a:solidFill>
              </a:rPr>
              <a:t> usados, pero no son los únicos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descr="Imagen relacionada" id="136" name="Google Shape;136;p3"/>
          <p:cNvPicPr preferRelativeResize="0"/>
          <p:nvPr/>
        </p:nvPicPr>
        <p:blipFill rotWithShape="1">
          <a:blip r:embed="rId4">
            <a:alphaModFix/>
          </a:blip>
          <a:srcRect b="64518" l="0" r="0" t="25053"/>
          <a:stretch/>
        </p:blipFill>
        <p:spPr>
          <a:xfrm>
            <a:off x="671800" y="2380974"/>
            <a:ext cx="3666475" cy="402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3907650" y="2286000"/>
            <a:ext cx="4651200" cy="480600"/>
          </a:xfrm>
          <a:prstGeom prst="wedgeRectCallout">
            <a:avLst>
              <a:gd fmla="val -59250" name="adj1"/>
              <a:gd fmla="val -661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ejecuta cuando se carga la directiva de un componente.</a:t>
            </a:r>
            <a:endParaRPr/>
          </a:p>
        </p:txBody>
      </p:sp>
      <p:pic>
        <p:nvPicPr>
          <p:cNvPr descr="Imagen relacionada" id="138" name="Google Shape;138;p3"/>
          <p:cNvPicPr preferRelativeResize="0"/>
          <p:nvPr/>
        </p:nvPicPr>
        <p:blipFill rotWithShape="1">
          <a:blip r:embed="rId4">
            <a:alphaModFix/>
          </a:blip>
          <a:srcRect b="4429" l="0" r="0" t="85142"/>
          <a:stretch/>
        </p:blipFill>
        <p:spPr>
          <a:xfrm>
            <a:off x="671800" y="3682073"/>
            <a:ext cx="3666475" cy="402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39" name="Google Shape;139;p3"/>
          <p:cNvPicPr preferRelativeResize="0"/>
          <p:nvPr/>
        </p:nvPicPr>
        <p:blipFill rotWithShape="1">
          <a:blip r:embed="rId4">
            <a:alphaModFix/>
          </a:blip>
          <a:srcRect b="75216" l="0" r="0" t="15205"/>
          <a:stretch/>
        </p:blipFill>
        <p:spPr>
          <a:xfrm>
            <a:off x="671800" y="3039712"/>
            <a:ext cx="3666475" cy="36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3907650" y="2992272"/>
            <a:ext cx="4651200" cy="480600"/>
          </a:xfrm>
          <a:prstGeom prst="wedgeRectCallout">
            <a:avLst>
              <a:gd fmla="val -60414" name="adj1"/>
              <a:gd fmla="val -304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ejecuta cada vez que cambia el valor de una propiedad del componente. Es el primero en ejecutarse.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3907650" y="3682078"/>
            <a:ext cx="4651200" cy="480600"/>
          </a:xfrm>
          <a:prstGeom prst="wedgeRectCallout">
            <a:avLst>
              <a:gd fmla="val -61386" name="adj1"/>
              <a:gd fmla="val -636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ejecuta justo antes de eliminar una instancia de un componente.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6" name="Google Shape;146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" name="Google Shape;148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838200" y="1212850"/>
            <a:ext cx="78946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El método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ngOnInit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es un hook,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ejecuta (solo una vez) cuando cargamos la directiva de nuestro componente (cuando se inicia el componente).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944030" y="2271925"/>
            <a:ext cx="7788900" cy="169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las guías de Angular, el método 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ngOnInit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tiene los siguientes propósitos: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Se usa para iniciar cosas puntuales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por ejemplo obtener datos por medio de un servicio para utilizarlos dentro del componente.</a:t>
            </a:r>
            <a:endParaRPr/>
          </a:p>
          <a:p>
            <a:pPr indent="-2222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variables de instancia basadas en las propiedades tipo Input. 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1144588" y="185738"/>
            <a:ext cx="48157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¿Cómo funciona ngOnInit?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6" name="Google Shape;156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1144588" y="185738"/>
            <a:ext cx="58160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¿Cómo funciona ngOnChanges?</a:t>
            </a:r>
            <a:endParaRPr/>
          </a:p>
        </p:txBody>
      </p:sp>
      <p:cxnSp>
        <p:nvCxnSpPr>
          <p:cNvPr id="158" name="Google Shape;158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838200" y="1212850"/>
            <a:ext cx="78946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El método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ngOnChanges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es un hook, que se </a:t>
            </a:r>
            <a:r>
              <a:rPr lang="es-CL" sz="1800">
                <a:solidFill>
                  <a:srgbClr val="222222"/>
                </a:solidFill>
              </a:rPr>
              <a:t>ejecuta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cuando detecta cambios </a:t>
            </a:r>
            <a:r>
              <a:rPr lang="es-CL" sz="1800">
                <a:solidFill>
                  <a:srgbClr val="222222"/>
                </a:solidFill>
              </a:rPr>
              <a:t>que vienen del componente padre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1707150" y="3027738"/>
            <a:ext cx="57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valor = input&lt;</a:t>
            </a:r>
            <a:r>
              <a:rPr lang="es-CL" sz="1800">
                <a:solidFill>
                  <a:srgbClr val="9900FF"/>
                </a:solidFill>
                <a:latin typeface="Ubuntu Mono"/>
                <a:ea typeface="Ubuntu Mono"/>
                <a:cs typeface="Ubuntu Mono"/>
                <a:sym typeface="Ubuntu Mono"/>
              </a:rPr>
              <a:t>string</a:t>
            </a:r>
            <a:r>
              <a:rPr lang="es-CL" sz="18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&gt;('', { alias: </a:t>
            </a:r>
            <a:r>
              <a:rPr lang="es-CL" sz="18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'mensaje'</a:t>
            </a:r>
            <a:r>
              <a:rPr lang="es-CL" sz="18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})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707147" y="4406145"/>
            <a:ext cx="677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6FE0"/>
                </a:solidFill>
                <a:latin typeface="Ubuntu Mono"/>
                <a:ea typeface="Ubuntu Mono"/>
                <a:cs typeface="Ubuntu Mono"/>
                <a:sym typeface="Ubuntu Mono"/>
              </a:rPr>
              <a:t>&lt;</a:t>
            </a:r>
            <a:r>
              <a:rPr lang="es-CL" sz="1800">
                <a:solidFill>
                  <a:srgbClr val="9900FF"/>
                </a:solidFill>
                <a:latin typeface="Ubuntu Mono"/>
                <a:ea typeface="Ubuntu Mono"/>
                <a:cs typeface="Ubuntu Mono"/>
                <a:sym typeface="Ubuntu Mono"/>
              </a:rPr>
              <a:t>child-component</a:t>
            </a:r>
            <a:r>
              <a:rPr lang="es-CL" sz="1800">
                <a:solidFill>
                  <a:srgbClr val="006FE0"/>
                </a:solidFill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s-CL" sz="1800">
                <a:solidFill>
                  <a:srgbClr val="333333"/>
                </a:solidFill>
                <a:latin typeface="Ubuntu Mono"/>
                <a:ea typeface="Ubuntu Mono"/>
                <a:cs typeface="Ubuntu Mono"/>
                <a:sym typeface="Ubuntu Mono"/>
              </a:rPr>
              <a:t>[</a:t>
            </a:r>
            <a:r>
              <a:rPr lang="es-CL" sz="1800">
                <a:solidFill>
                  <a:srgbClr val="002D7A"/>
                </a:solidFill>
                <a:latin typeface="Ubuntu Mono"/>
                <a:ea typeface="Ubuntu Mono"/>
                <a:cs typeface="Ubuntu Mono"/>
                <a:sym typeface="Ubuntu Mono"/>
              </a:rPr>
              <a:t>mensahe</a:t>
            </a:r>
            <a:r>
              <a:rPr lang="es-CL" sz="1800">
                <a:solidFill>
                  <a:srgbClr val="333333"/>
                </a:solidFill>
                <a:latin typeface="Ubuntu Mono"/>
                <a:ea typeface="Ubuntu Mono"/>
                <a:cs typeface="Ubuntu Mono"/>
                <a:sym typeface="Ubuntu Mono"/>
              </a:rPr>
              <a:t>]</a:t>
            </a:r>
            <a:r>
              <a:rPr lang="es-CL" sz="1800">
                <a:solidFill>
                  <a:srgbClr val="006FE0"/>
                </a:solidFill>
                <a:latin typeface="Ubuntu Mono"/>
                <a:ea typeface="Ubuntu Mono"/>
                <a:cs typeface="Ubuntu Mono"/>
                <a:sym typeface="Ubuntu Mono"/>
              </a:rPr>
              <a:t>=</a:t>
            </a:r>
            <a:r>
              <a:rPr lang="es-CL" sz="1800">
                <a:solidFill>
                  <a:srgbClr val="002D7A"/>
                </a:solidFill>
                <a:latin typeface="Ubuntu Mono"/>
                <a:ea typeface="Ubuntu Mono"/>
                <a:cs typeface="Ubuntu Mono"/>
                <a:sym typeface="Ubuntu Mono"/>
              </a:rPr>
              <a:t>message</a:t>
            </a:r>
            <a:r>
              <a:rPr lang="es-CL" sz="1800">
                <a:solidFill>
                  <a:srgbClr val="006FE0"/>
                </a:solidFill>
                <a:latin typeface="Ubuntu Mono"/>
                <a:ea typeface="Ubuntu Mono"/>
                <a:cs typeface="Ubuntu Mono"/>
                <a:sym typeface="Ubuntu Mono"/>
              </a:rPr>
              <a:t>&gt;&lt;/</a:t>
            </a:r>
            <a:r>
              <a:rPr lang="es-CL" sz="1800">
                <a:solidFill>
                  <a:srgbClr val="9900FF"/>
                </a:solidFill>
                <a:latin typeface="Ubuntu Mono"/>
                <a:ea typeface="Ubuntu Mono"/>
                <a:cs typeface="Ubuntu Mono"/>
                <a:sym typeface="Ubuntu Mono"/>
              </a:rPr>
              <a:t>child-component</a:t>
            </a:r>
            <a:r>
              <a:rPr lang="es-CL" sz="1800">
                <a:solidFill>
                  <a:srgbClr val="006FE0"/>
                </a:solidFill>
                <a:latin typeface="Ubuntu Mono"/>
                <a:ea typeface="Ubuntu Mono"/>
                <a:cs typeface="Ubuntu Mono"/>
                <a:sym typeface="Ubuntu Mono"/>
              </a:rPr>
              <a:t>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838200" y="2019285"/>
            <a:ext cx="78946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Ejemplo: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1327996" y="3563812"/>
            <a:ext cx="74043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Luego el padre pasa los datos al componente hijo utilizando binding de atributo.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327996" y="4971472"/>
            <a:ext cx="73961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Cada vez que el padre cambia el valor de la propiedad, Angular genera el evento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OnChanges</a:t>
            </a:r>
            <a:r>
              <a:rPr lang="es-CL" sz="18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 en el componente hijo.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1328452" y="2491703"/>
            <a:ext cx="740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El componente hijo usa la propiedad </a:t>
            </a:r>
            <a:r>
              <a:rPr lang="es-CL" sz="18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s-CL" sz="18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1" name="Google Shape;171;g3d517360bf5_0_51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d517360bf5_0_51"/>
          <p:cNvSpPr txBox="1"/>
          <p:nvPr/>
        </p:nvSpPr>
        <p:spPr>
          <a:xfrm>
            <a:off x="1144588" y="185738"/>
            <a:ext cx="58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¿Cómo funciona ngOn</a:t>
            </a:r>
            <a:r>
              <a:rPr b="1" lang="es-CL" sz="2800">
                <a:solidFill>
                  <a:srgbClr val="0070C0"/>
                </a:solidFill>
              </a:rPr>
              <a:t>Destroy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cxnSp>
        <p:nvCxnSpPr>
          <p:cNvPr id="173" name="Google Shape;173;g3d517360bf5_0_5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g3d517360bf5_0_5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5" name="Google Shape;175;g3d517360bf5_0_51"/>
          <p:cNvSpPr/>
          <p:nvPr/>
        </p:nvSpPr>
        <p:spPr>
          <a:xfrm>
            <a:off x="838200" y="1212850"/>
            <a:ext cx="7894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El método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ngOnDestroy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es un hook, que se dispara cuando </a:t>
            </a:r>
            <a:r>
              <a:rPr lang="es-CL" sz="1800">
                <a:solidFill>
                  <a:srgbClr val="222222"/>
                </a:solidFill>
              </a:rPr>
              <a:t>el componente desaparece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d517360bf5_0_51"/>
          <p:cNvSpPr/>
          <p:nvPr/>
        </p:nvSpPr>
        <p:spPr>
          <a:xfrm>
            <a:off x="944030" y="2271925"/>
            <a:ext cx="7788900" cy="169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las guías de Angular, el método 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ngOnDestroy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tiene los siguientes propósitos:</a:t>
            </a:r>
            <a:endParaRPr/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</a:t>
            </a:r>
            <a:r>
              <a:rPr lang="es-CL" sz="1800">
                <a:solidFill>
                  <a:schemeClr val="dk1"/>
                </a:solidFill>
              </a:rPr>
              <a:t>limpieza de recursos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por ejemplo </a:t>
            </a:r>
            <a:r>
              <a:rPr lang="es-CL" sz="1800">
                <a:solidFill>
                  <a:schemeClr val="dk1"/>
                </a:solidFill>
              </a:rPr>
              <a:t>borrar algunos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datos utilizarlos dentro del componente.</a:t>
            </a:r>
            <a:endParaRPr/>
          </a:p>
          <a:p>
            <a:pPr indent="-2222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Cancelar procesos: por ejemplo finalizar el ciclo de un intervalo.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			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7" name="Google Shape;177;g3d517360bf5_0_51"/>
          <p:cNvSpPr/>
          <p:nvPr/>
        </p:nvSpPr>
        <p:spPr>
          <a:xfrm>
            <a:off x="2300250" y="4006100"/>
            <a:ext cx="45435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9900FF"/>
                </a:solidFill>
                <a:latin typeface="Ubuntu Mono"/>
                <a:ea typeface="Ubuntu Mono"/>
                <a:cs typeface="Ubuntu Mono"/>
                <a:sym typeface="Ubuntu Mono"/>
              </a:rPr>
              <a:t>ngOnDestroy</a:t>
            </a:r>
            <a:r>
              <a:rPr lang="es-CL" sz="1800">
                <a:solidFill>
                  <a:srgbClr val="333333"/>
                </a:solidFill>
                <a:latin typeface="Ubuntu Mono"/>
                <a:ea typeface="Ubuntu Mono"/>
                <a:cs typeface="Ubuntu Mono"/>
                <a:sym typeface="Ubuntu Mono"/>
              </a:rPr>
              <a:t>() {</a:t>
            </a:r>
            <a:endParaRPr sz="1800">
              <a:solidFill>
                <a:srgbClr val="333333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rgbClr val="9900FF"/>
                </a:solidFill>
                <a:latin typeface="Ubuntu Mono"/>
                <a:ea typeface="Ubuntu Mono"/>
                <a:cs typeface="Ubuntu Mono"/>
                <a:sym typeface="Ubuntu Mono"/>
              </a:rPr>
              <a:t>clearInterval</a:t>
            </a:r>
            <a:r>
              <a:rPr lang="es-CL" sz="1800">
                <a:solidFill>
                  <a:srgbClr val="333333"/>
                </a:solidFill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s-CL" sz="1800">
                <a:solidFill>
                  <a:srgbClr val="D20000"/>
                </a:solidFill>
                <a:latin typeface="Ubuntu Mono"/>
                <a:ea typeface="Ubuntu Mono"/>
                <a:cs typeface="Ubuntu Mono"/>
                <a:sym typeface="Ubuntu Mono"/>
              </a:rPr>
              <a:t>this.</a:t>
            </a:r>
            <a:r>
              <a:rPr lang="es-CL" sz="1800">
                <a:solidFill>
                  <a:srgbClr val="333333"/>
                </a:solidFill>
                <a:latin typeface="Ubuntu Mono"/>
                <a:ea typeface="Ubuntu Mono"/>
                <a:cs typeface="Ubuntu Mono"/>
                <a:sym typeface="Ubuntu Mono"/>
              </a:rPr>
              <a:t>intervalId);</a:t>
            </a:r>
            <a:endParaRPr sz="1800">
              <a:solidFill>
                <a:srgbClr val="333333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333333"/>
                </a:solidFill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800">
              <a:solidFill>
                <a:srgbClr val="333333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2" name="Google Shape;182;g3d517360bf5_0_6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d517360bf5_0_66"/>
          <p:cNvSpPr txBox="1"/>
          <p:nvPr/>
        </p:nvSpPr>
        <p:spPr>
          <a:xfrm>
            <a:off x="1144588" y="185738"/>
            <a:ext cx="58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Evolución de los Hooks</a:t>
            </a:r>
            <a:endParaRPr/>
          </a:p>
        </p:txBody>
      </p:sp>
      <p:cxnSp>
        <p:nvCxnSpPr>
          <p:cNvPr id="184" name="Google Shape;184;g3d517360bf5_0_6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g3d517360bf5_0_6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6" name="Google Shape;186;g3d517360bf5_0_66"/>
          <p:cNvSpPr/>
          <p:nvPr/>
        </p:nvSpPr>
        <p:spPr>
          <a:xfrm>
            <a:off x="838200" y="1212850"/>
            <a:ext cx="78945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22222"/>
                </a:solidFill>
              </a:rPr>
              <a:t>Antes </a:t>
            </a:r>
            <a:r>
              <a:rPr lang="es-CL" sz="1800">
                <a:solidFill>
                  <a:srgbClr val="222222"/>
                </a:solidFill>
              </a:rPr>
              <a:t>trabajabamos</a:t>
            </a:r>
            <a:r>
              <a:rPr lang="es-CL" sz="1800">
                <a:solidFill>
                  <a:srgbClr val="222222"/>
                </a:solidFill>
              </a:rPr>
              <a:t> así:</a:t>
            </a:r>
            <a:endParaRPr sz="18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s-CL" sz="1800">
                <a:solidFill>
                  <a:srgbClr val="222222"/>
                </a:solidFill>
              </a:rPr>
              <a:t>Teníamos que decirle a Angular que hacer.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87" name="Google Shape;187;g3d517360bf5_0_66"/>
          <p:cNvSpPr/>
          <p:nvPr/>
        </p:nvSpPr>
        <p:spPr>
          <a:xfrm>
            <a:off x="838200" y="3321850"/>
            <a:ext cx="78945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22222"/>
                </a:solidFill>
              </a:rPr>
              <a:t>Hoy Angular cambió</a:t>
            </a:r>
            <a:r>
              <a:rPr lang="es-CL" sz="1800">
                <a:solidFill>
                  <a:srgbClr val="222222"/>
                </a:solidFill>
              </a:rPr>
              <a:t>:</a:t>
            </a:r>
            <a:endParaRPr sz="18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s-CL" sz="1800">
                <a:solidFill>
                  <a:srgbClr val="222222"/>
                </a:solidFill>
              </a:rPr>
              <a:t>Angular ahora reacciona solo</a:t>
            </a:r>
            <a:r>
              <a:rPr lang="es-CL" sz="1800">
                <a:solidFill>
                  <a:srgbClr val="222222"/>
                </a:solidFill>
              </a:rPr>
              <a:t>.</a:t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s-CL" sz="1800">
                <a:solidFill>
                  <a:srgbClr val="222222"/>
                </a:solidFill>
              </a:rPr>
              <a:t>El Antes y el Hoy </a:t>
            </a:r>
            <a:r>
              <a:rPr b="1" lang="es-CL" sz="1800">
                <a:solidFill>
                  <a:srgbClr val="222222"/>
                </a:solidFill>
              </a:rPr>
              <a:t>No son equivalentes</a:t>
            </a:r>
            <a:r>
              <a:rPr lang="es-CL" sz="1800">
                <a:solidFill>
                  <a:srgbClr val="222222"/>
                </a:solidFill>
              </a:rPr>
              <a:t>: signals reemplazan muchos usos de hooks, pero no los elimina.</a:t>
            </a:r>
            <a:endParaRPr sz="1800">
              <a:solidFill>
                <a:srgbClr val="222222"/>
              </a:solidFill>
            </a:endParaRPr>
          </a:p>
        </p:txBody>
      </p:sp>
      <p:pic>
        <p:nvPicPr>
          <p:cNvPr id="188" name="Google Shape;188;g3d517360bf5_0_66" title="Captura de pantalla 2026-04-09 a la(s) 17.23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4600" y="1652025"/>
            <a:ext cx="3952876" cy="11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d517360bf5_0_66" title="Captura de pantalla 2026-04-09 a la(s) 17.26.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4600" y="3797138"/>
            <a:ext cx="4252924" cy="9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4" name="Google Shape;194;g3d517360bf5_0_7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d517360bf5_0_78"/>
          <p:cNvSpPr txBox="1"/>
          <p:nvPr/>
        </p:nvSpPr>
        <p:spPr>
          <a:xfrm>
            <a:off x="1144588" y="185738"/>
            <a:ext cx="581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Cambio de paradigma</a:t>
            </a:r>
            <a:endParaRPr/>
          </a:p>
        </p:txBody>
      </p:sp>
      <p:cxnSp>
        <p:nvCxnSpPr>
          <p:cNvPr id="196" name="Google Shape;196;g3d517360bf5_0_7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g3d517360bf5_0_7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graphicFrame>
        <p:nvGraphicFramePr>
          <p:cNvPr id="198" name="Google Shape;198;g3d517360bf5_0_78"/>
          <p:cNvGraphicFramePr/>
          <p:nvPr/>
        </p:nvGraphicFramePr>
        <p:xfrm>
          <a:off x="952500" y="16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{A875B924-0B96-48C0-A4AE-E8390CCA1DAF}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/>
                        <a:t>Hook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/>
                        <a:t>Antes (Angular clásico)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/>
                        <a:t>Ahora (Angular moderno)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8D8D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/>
                        <a:t>ngOnInit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Inicializar datos y hacer cálculos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Usar </a:t>
                      </a:r>
                      <a:r>
                        <a:rPr lang="es-CL" sz="1100">
                          <a:solidFill>
                            <a:srgbClr val="188038"/>
                          </a:solidFill>
                        </a:rPr>
                        <a:t>signal()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para estado inicial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/>
                        <a:t>ngOnChanges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Recalcular cuando cambian datos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Usar </a:t>
                      </a:r>
                      <a:r>
                        <a:rPr lang="es-CL" sz="1100">
                          <a:solidFill>
                            <a:srgbClr val="188038"/>
                          </a:solidFill>
                        </a:rPr>
                        <a:t>computed()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para reaccionar automáticamente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/>
                        <a:t>ngOnDestroy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Limpiar manualmente (intervalos, subscripciones)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Solo para casos puntuales de limpieza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9" name="Google Shape;199;g3d517360bf5_0_78"/>
          <p:cNvSpPr/>
          <p:nvPr/>
        </p:nvSpPr>
        <p:spPr>
          <a:xfrm>
            <a:off x="624750" y="3984625"/>
            <a:ext cx="7894500" cy="17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s-CL" sz="1800">
                <a:solidFill>
                  <a:srgbClr val="222222"/>
                </a:solidFill>
              </a:rPr>
              <a:t>Antes reaccionabamos con los hooks… ahora Angular reacciona </a:t>
            </a:r>
            <a:r>
              <a:rPr lang="es-CL" sz="1800">
                <a:solidFill>
                  <a:srgbClr val="222222"/>
                </a:solidFill>
              </a:rPr>
              <a:t>automáticamente.</a:t>
            </a:r>
            <a:endParaRPr sz="1800">
              <a:solidFill>
                <a:srgbClr val="222222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s-CL" sz="1800">
                <a:solidFill>
                  <a:srgbClr val="222222"/>
                </a:solidFill>
              </a:rPr>
              <a:t>Hoy los hooks NO están en el flujo principal de la aplicación, por eso no los usamos para controlar la vista</a:t>
            </a:r>
            <a:endParaRPr sz="1800">
              <a:solidFill>
                <a:srgbClr val="222222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s-CL" sz="1800">
                <a:solidFill>
                  <a:srgbClr val="222222"/>
                </a:solidFill>
              </a:rPr>
              <a:t>Hoy resolvemos la mayoría de los casos con Signals.</a:t>
            </a:r>
            <a:endParaRPr sz="1800"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4" name="Google Shape;204;g3d517360bf5_0_8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d517360bf5_0_87"/>
          <p:cNvSpPr txBox="1"/>
          <p:nvPr/>
        </p:nvSpPr>
        <p:spPr>
          <a:xfrm>
            <a:off x="1144604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Entonces.. ¿Para que sirven hoy?</a:t>
            </a:r>
            <a:endParaRPr/>
          </a:p>
        </p:txBody>
      </p:sp>
      <p:cxnSp>
        <p:nvCxnSpPr>
          <p:cNvPr id="206" name="Google Shape;206;g3d517360bf5_0_8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g3d517360bf5_0_87"/>
          <p:cNvSpPr/>
          <p:nvPr/>
        </p:nvSpPr>
        <p:spPr>
          <a:xfrm>
            <a:off x="838200" y="1212850"/>
            <a:ext cx="7894500" cy="4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22222"/>
                </a:solidFill>
              </a:rPr>
              <a:t>Los hooks siguen existiendo para:</a:t>
            </a:r>
            <a:endParaRPr sz="1800">
              <a:solidFill>
                <a:srgbClr val="222222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○"/>
            </a:pPr>
            <a:r>
              <a:rPr lang="es-CL" sz="1800">
                <a:solidFill>
                  <a:srgbClr val="222222"/>
                </a:solidFill>
              </a:rPr>
              <a:t>Iniciar algo puntual (ngOnInit)</a:t>
            </a:r>
            <a:endParaRPr sz="1800">
              <a:solidFill>
                <a:srgbClr val="22222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○"/>
            </a:pPr>
            <a:r>
              <a:rPr lang="es-CL" sz="1800">
                <a:solidFill>
                  <a:srgbClr val="222222"/>
                </a:solidFill>
              </a:rPr>
              <a:t>Reaccionar a input externo (ngOnChanges)</a:t>
            </a:r>
            <a:endParaRPr sz="1800">
              <a:solidFill>
                <a:srgbClr val="22222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○"/>
            </a:pPr>
            <a:r>
              <a:rPr lang="es-CL" sz="1800">
                <a:solidFill>
                  <a:srgbClr val="222222"/>
                </a:solidFill>
              </a:rPr>
              <a:t>Limpiar (ngOnDestroy)</a:t>
            </a:r>
            <a:endParaRPr sz="1800">
              <a:solidFill>
                <a:srgbClr val="22222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s-CL" sz="1800">
                <a:solidFill>
                  <a:srgbClr val="222222"/>
                </a:solidFill>
              </a:rPr>
              <a:t>No se usan para:</a:t>
            </a:r>
            <a:endParaRPr sz="18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○"/>
            </a:pPr>
            <a:r>
              <a:rPr lang="es-CL" sz="1800">
                <a:solidFill>
                  <a:srgbClr val="222222"/>
                </a:solidFill>
              </a:rPr>
              <a:t>Realizar cálculos.</a:t>
            </a:r>
            <a:endParaRPr sz="1800">
              <a:solidFill>
                <a:srgbClr val="22222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○"/>
            </a:pPr>
            <a:r>
              <a:rPr lang="es-CL" sz="1800">
                <a:solidFill>
                  <a:srgbClr val="222222"/>
                </a:solidFill>
              </a:rPr>
              <a:t>Sincronizar datos.</a:t>
            </a:r>
            <a:endParaRPr sz="1800">
              <a:solidFill>
                <a:srgbClr val="22222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○"/>
            </a:pPr>
            <a:r>
              <a:rPr lang="es-CL" sz="1800">
                <a:solidFill>
                  <a:srgbClr val="222222"/>
                </a:solidFill>
              </a:rPr>
              <a:t>Lógica reactiva.</a:t>
            </a:r>
            <a:endParaRPr sz="1800">
              <a:solidFill>
                <a:srgbClr val="22222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b="1" lang="es-CL" sz="1800">
                <a:solidFill>
                  <a:srgbClr val="222222"/>
                </a:solidFill>
              </a:rPr>
              <a:t>Si es un cálculo → computed</a:t>
            </a:r>
            <a:endParaRPr b="1" sz="1800">
              <a:solidFill>
                <a:srgbClr val="222222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s-CL" sz="1800">
                <a:solidFill>
                  <a:srgbClr val="222222"/>
                </a:solidFill>
              </a:rPr>
              <a:t>Si es un evento de vida → hook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208" name="Google Shape;208;g3d517360bf5_0_8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3" name="Google Shape;213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 txBox="1"/>
          <p:nvPr/>
        </p:nvSpPr>
        <p:spPr>
          <a:xfrm>
            <a:off x="1144606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¿Cómo </a:t>
            </a:r>
            <a:r>
              <a:rPr b="1" lang="es-CL" sz="2800">
                <a:solidFill>
                  <a:srgbClr val="0070C0"/>
                </a:solidFill>
              </a:rPr>
              <a:t>probamos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 sz="2800">
                <a:solidFill>
                  <a:srgbClr val="0070C0"/>
                </a:solidFill>
              </a:rPr>
              <a:t>los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Hook?</a:t>
            </a:r>
            <a:endParaRPr/>
          </a:p>
        </p:txBody>
      </p:sp>
      <p:cxnSp>
        <p:nvCxnSpPr>
          <p:cNvPr id="215" name="Google Shape;215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653629" y="1413714"/>
            <a:ext cx="160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6" title="Captura de pantalla 2026-04-09 a la(s) 17.49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0801" y="1717200"/>
            <a:ext cx="3376966" cy="338772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6"/>
          <p:cNvSpPr/>
          <p:nvPr/>
        </p:nvSpPr>
        <p:spPr>
          <a:xfrm>
            <a:off x="4929367" y="1413714"/>
            <a:ext cx="160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>
                <a:solidFill>
                  <a:srgbClr val="0033CC"/>
                </a:solidFill>
                <a:highlight>
                  <a:srgbClr val="FFFF00"/>
                </a:highlight>
              </a:rPr>
              <a:t>product-list</a:t>
            </a: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135138" y="2054825"/>
            <a:ext cx="3108300" cy="29754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6" title="Captura de pantalla 2026-04-09 a la(s) 18.02.4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75" y="1717114"/>
            <a:ext cx="3316200" cy="370794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6"/>
          <p:cNvSpPr/>
          <p:nvPr/>
        </p:nvSpPr>
        <p:spPr>
          <a:xfrm>
            <a:off x="856425" y="2054825"/>
            <a:ext cx="3108300" cy="32733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315425" y="2624575"/>
            <a:ext cx="649200" cy="480600"/>
          </a:xfrm>
          <a:prstGeom prst="wedgeRectCallout">
            <a:avLst>
              <a:gd fmla="val -208568" name="adj1"/>
              <a:gd fmla="val -734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Hook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3419475" y="3268425"/>
            <a:ext cx="649200" cy="480600"/>
          </a:xfrm>
          <a:prstGeom prst="wedgeRectCallout">
            <a:avLst>
              <a:gd fmla="val -208568" name="adj1"/>
              <a:gd fmla="val -734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Hook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3419475" y="3912275"/>
            <a:ext cx="649200" cy="480600"/>
          </a:xfrm>
          <a:prstGeom prst="wedgeRectCallout">
            <a:avLst>
              <a:gd fmla="val -208568" name="adj1"/>
              <a:gd fmla="val -734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Hook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7883450" y="2836550"/>
            <a:ext cx="649200" cy="480600"/>
          </a:xfrm>
          <a:prstGeom prst="wedgeRectCallout">
            <a:avLst>
              <a:gd fmla="val -234338" name="adj1"/>
              <a:gd fmla="val -1581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Hook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8083650" y="3621875"/>
            <a:ext cx="649200" cy="480600"/>
          </a:xfrm>
          <a:prstGeom prst="wedgeRectCallout">
            <a:avLst>
              <a:gd fmla="val -234338" name="adj1"/>
              <a:gd fmla="val -1581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Hook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8051600" y="4407200"/>
            <a:ext cx="649200" cy="480600"/>
          </a:xfrm>
          <a:prstGeom prst="wedgeRectCallout">
            <a:avLst>
              <a:gd fmla="val -234338" name="adj1"/>
              <a:gd fmla="val -1581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Hook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3199750" y="1228625"/>
            <a:ext cx="1521300" cy="888600"/>
          </a:xfrm>
          <a:prstGeom prst="wedgeRectCallout">
            <a:avLst>
              <a:gd fmla="val -129642" name="adj1"/>
              <a:gd fmla="val 5139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No es un hook, pero este evento ocurre antes del cliclo de vida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7745450" y="1328450"/>
            <a:ext cx="1521300" cy="888600"/>
          </a:xfrm>
          <a:prstGeom prst="wedgeRectCallout">
            <a:avLst>
              <a:gd fmla="val -129642" name="adj1"/>
              <a:gd fmla="val 5139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No es un hook, pero este evento ocurre antes del cliclo de vida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411150" y="5328125"/>
            <a:ext cx="1970400" cy="480600"/>
          </a:xfrm>
          <a:prstGeom prst="wedgeRectCallout">
            <a:avLst>
              <a:gd fmla="val -126110" name="adj1"/>
              <a:gd fmla="val -16239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Propiedad para probar el </a:t>
            </a:r>
            <a:r>
              <a:rPr b="1" lang="es-CL">
                <a:solidFill>
                  <a:schemeClr val="dk1"/>
                </a:solidFill>
              </a:rPr>
              <a:t>ngOnDestroy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6" name="Google Shape;236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 txBox="1"/>
          <p:nvPr/>
        </p:nvSpPr>
        <p:spPr>
          <a:xfrm>
            <a:off x="1144588" y="185738"/>
            <a:ext cx="53335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¿Cómo probamos los Hook?</a:t>
            </a:r>
            <a:endParaRPr/>
          </a:p>
        </p:txBody>
      </p:sp>
      <p:cxnSp>
        <p:nvCxnSpPr>
          <p:cNvPr id="238" name="Google Shape;238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9" name="Google Shape;239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1409154" y="1405259"/>
            <a:ext cx="180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7" title="Captura de pantalla 2026-04-09 a la(s) 18.04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9150" y="1713053"/>
            <a:ext cx="6325700" cy="326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7"/>
          <p:cNvSpPr/>
          <p:nvPr/>
        </p:nvSpPr>
        <p:spPr>
          <a:xfrm>
            <a:off x="1409175" y="3212125"/>
            <a:ext cx="6325800" cy="17685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115575" y="4129275"/>
            <a:ext cx="2949000" cy="480600"/>
          </a:xfrm>
          <a:prstGeom prst="wedgeRectCallout">
            <a:avLst>
              <a:gd fmla="val -127518" name="adj1"/>
              <a:gd fmla="val 4211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Usamos la directiva @if para mostrar u ocultar el hijo</a:t>
            </a:r>
            <a:endParaRPr b="1"/>
          </a:p>
        </p:txBody>
      </p:sp>
      <p:sp>
        <p:nvSpPr>
          <p:cNvPr id="244" name="Google Shape;244;p7"/>
          <p:cNvSpPr/>
          <p:nvPr/>
        </p:nvSpPr>
        <p:spPr>
          <a:xfrm>
            <a:off x="6362575" y="3307825"/>
            <a:ext cx="2949000" cy="480600"/>
          </a:xfrm>
          <a:prstGeom prst="wedgeRectCallout">
            <a:avLst>
              <a:gd fmla="val -92538" name="adj1"/>
              <a:gd fmla="val -2246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Usamos el bot</a:t>
            </a:r>
            <a:r>
              <a:rPr lang="es-CL">
                <a:solidFill>
                  <a:schemeClr val="dk1"/>
                </a:solidFill>
              </a:rPr>
              <a:t>ón que permitirá mostrar u ocultar al hijo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9" name="Google Shape;249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1" name="Google Shape;251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1144588" y="185738"/>
            <a:ext cx="533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¿Cómo probamos los Hook?</a:t>
            </a:r>
            <a:endParaRPr/>
          </a:p>
        </p:txBody>
      </p:sp>
      <p:pic>
        <p:nvPicPr>
          <p:cNvPr id="253" name="Google Shape;253;p8" title="Captura de pantalla 2026-04-09 a la(s) 18.05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525" y="1567911"/>
            <a:ext cx="7458949" cy="37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842525" y="3939500"/>
            <a:ext cx="7458900" cy="1350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