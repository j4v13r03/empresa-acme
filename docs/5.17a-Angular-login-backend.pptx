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</p:sldIdLst>
  <p:sldSz cy="6858000" cx="9144000"/>
  <p:notesSz cx="7086600" cy="8686800"/>
  <p:embeddedFontLst>
    <p:embeddedFont>
      <p:font typeface="Arimo"/>
      <p:regular r:id="rId32"/>
      <p:bold r:id="rId33"/>
      <p:italic r:id="rId34"/>
      <p:boldItalic r:id="rId35"/>
    </p:embeddedFont>
    <p:embeddedFont>
      <p:font typeface="Arial Black"/>
      <p:regular r:id="rId3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37" roundtripDataSignature="AMtx7mih3Wru2+FEmHwGHkDIxR/e0ggeB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font" Target="fonts/Arimo-bold.fntdata"/><Relationship Id="rId10" Type="http://schemas.openxmlformats.org/officeDocument/2006/relationships/slide" Target="slides/slide5.xml"/><Relationship Id="rId32" Type="http://schemas.openxmlformats.org/officeDocument/2006/relationships/font" Target="fonts/Arimo-regular.fntdata"/><Relationship Id="rId13" Type="http://schemas.openxmlformats.org/officeDocument/2006/relationships/slide" Target="slides/slide8.xml"/><Relationship Id="rId35" Type="http://schemas.openxmlformats.org/officeDocument/2006/relationships/font" Target="fonts/Arimo-boldItalic.fntdata"/><Relationship Id="rId12" Type="http://schemas.openxmlformats.org/officeDocument/2006/relationships/slide" Target="slides/slide7.xml"/><Relationship Id="rId34" Type="http://schemas.openxmlformats.org/officeDocument/2006/relationships/font" Target="fonts/Arimo-italic.fntdata"/><Relationship Id="rId15" Type="http://schemas.openxmlformats.org/officeDocument/2006/relationships/slide" Target="slides/slide10.xml"/><Relationship Id="rId37" Type="http://customschemas.google.com/relationships/presentationmetadata" Target="metadata"/><Relationship Id="rId14" Type="http://schemas.openxmlformats.org/officeDocument/2006/relationships/slide" Target="slides/slide9.xml"/><Relationship Id="rId36" Type="http://schemas.openxmlformats.org/officeDocument/2006/relationships/font" Target="fonts/ArialBlack-regular.fntdata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2"/>
            <a:ext cx="3071502" cy="436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4013494" y="2"/>
            <a:ext cx="3071502" cy="436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589088" y="1085850"/>
            <a:ext cx="3908425" cy="29305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709302" y="4180227"/>
            <a:ext cx="5667996" cy="34207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250680"/>
            <a:ext cx="3071502" cy="4361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4013494" y="8250680"/>
            <a:ext cx="3071502" cy="4361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s-CL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/>
          <p:nvPr>
            <p:ph idx="2" type="sldImg"/>
          </p:nvPr>
        </p:nvSpPr>
        <p:spPr>
          <a:xfrm>
            <a:off x="1589088" y="1085850"/>
            <a:ext cx="3908425" cy="29305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86" name="Google Shape;86;p1:notes"/>
          <p:cNvSpPr txBox="1"/>
          <p:nvPr>
            <p:ph idx="1" type="body"/>
          </p:nvPr>
        </p:nvSpPr>
        <p:spPr>
          <a:xfrm>
            <a:off x="709302" y="4180227"/>
            <a:ext cx="5667996" cy="34207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7" name="Google Shape;87;p1:notes"/>
          <p:cNvSpPr txBox="1"/>
          <p:nvPr>
            <p:ph idx="12" type="sldNum"/>
          </p:nvPr>
        </p:nvSpPr>
        <p:spPr>
          <a:xfrm>
            <a:off x="4013494" y="8250680"/>
            <a:ext cx="3071502" cy="4361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b="0" i="0" lang="es-CL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dfb3139cd5_0_107:notes"/>
          <p:cNvSpPr txBox="1"/>
          <p:nvPr>
            <p:ph idx="1" type="body"/>
          </p:nvPr>
        </p:nvSpPr>
        <p:spPr>
          <a:xfrm>
            <a:off x="709302" y="4180227"/>
            <a:ext cx="5667900" cy="342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0" name="Google Shape;100;g3dfb3139cd5_0_107:notes"/>
          <p:cNvSpPr/>
          <p:nvPr>
            <p:ph idx="2" type="sldImg"/>
          </p:nvPr>
        </p:nvSpPr>
        <p:spPr>
          <a:xfrm>
            <a:off x="1589088" y="1085850"/>
            <a:ext cx="3908400" cy="2930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:notes"/>
          <p:cNvSpPr txBox="1"/>
          <p:nvPr>
            <p:ph idx="1" type="body"/>
          </p:nvPr>
        </p:nvSpPr>
        <p:spPr>
          <a:xfrm>
            <a:off x="709302" y="4180227"/>
            <a:ext cx="5667996" cy="34207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0" name="Google Shape;110;p2:notes"/>
          <p:cNvSpPr/>
          <p:nvPr>
            <p:ph idx="2" type="sldImg"/>
          </p:nvPr>
        </p:nvSpPr>
        <p:spPr>
          <a:xfrm>
            <a:off x="1589088" y="1085850"/>
            <a:ext cx="3908425" cy="29305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3:notes"/>
          <p:cNvSpPr txBox="1"/>
          <p:nvPr>
            <p:ph idx="1" type="body"/>
          </p:nvPr>
        </p:nvSpPr>
        <p:spPr>
          <a:xfrm>
            <a:off x="709302" y="4180227"/>
            <a:ext cx="5667996" cy="34207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8" name="Google Shape;128;p3:notes"/>
          <p:cNvSpPr/>
          <p:nvPr>
            <p:ph idx="2" type="sldImg"/>
          </p:nvPr>
        </p:nvSpPr>
        <p:spPr>
          <a:xfrm>
            <a:off x="1589088" y="1085850"/>
            <a:ext cx="3908425" cy="29305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4:notes"/>
          <p:cNvSpPr txBox="1"/>
          <p:nvPr>
            <p:ph idx="1" type="body"/>
          </p:nvPr>
        </p:nvSpPr>
        <p:spPr>
          <a:xfrm>
            <a:off x="709302" y="4180227"/>
            <a:ext cx="5667996" cy="34207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0" name="Google Shape;140;p4:notes"/>
          <p:cNvSpPr/>
          <p:nvPr>
            <p:ph idx="2" type="sldImg"/>
          </p:nvPr>
        </p:nvSpPr>
        <p:spPr>
          <a:xfrm>
            <a:off x="1589088" y="1085850"/>
            <a:ext cx="3908425" cy="29305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5:notes"/>
          <p:cNvSpPr txBox="1"/>
          <p:nvPr>
            <p:ph idx="1" type="body"/>
          </p:nvPr>
        </p:nvSpPr>
        <p:spPr>
          <a:xfrm>
            <a:off x="709302" y="4180227"/>
            <a:ext cx="5667996" cy="34207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2" name="Google Shape;152;p5:notes"/>
          <p:cNvSpPr/>
          <p:nvPr>
            <p:ph idx="2" type="sldImg"/>
          </p:nvPr>
        </p:nvSpPr>
        <p:spPr>
          <a:xfrm>
            <a:off x="1589088" y="1085850"/>
            <a:ext cx="3908425" cy="29305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6:notes"/>
          <p:cNvSpPr txBox="1"/>
          <p:nvPr>
            <p:ph idx="1" type="body"/>
          </p:nvPr>
        </p:nvSpPr>
        <p:spPr>
          <a:xfrm>
            <a:off x="709302" y="4180227"/>
            <a:ext cx="5667996" cy="34207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7" name="Google Shape;167;p6:notes"/>
          <p:cNvSpPr/>
          <p:nvPr>
            <p:ph idx="2" type="sldImg"/>
          </p:nvPr>
        </p:nvSpPr>
        <p:spPr>
          <a:xfrm>
            <a:off x="1589088" y="1085850"/>
            <a:ext cx="3908425" cy="29305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dfb3139cd5_0_5:notes"/>
          <p:cNvSpPr txBox="1"/>
          <p:nvPr>
            <p:ph idx="1" type="body"/>
          </p:nvPr>
        </p:nvSpPr>
        <p:spPr>
          <a:xfrm>
            <a:off x="709302" y="4180227"/>
            <a:ext cx="5667900" cy="342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2" name="Google Shape;182;g3dfb3139cd5_0_5:notes"/>
          <p:cNvSpPr/>
          <p:nvPr>
            <p:ph idx="2" type="sldImg"/>
          </p:nvPr>
        </p:nvSpPr>
        <p:spPr>
          <a:xfrm>
            <a:off x="1589088" y="1085850"/>
            <a:ext cx="3908400" cy="2930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7:notes"/>
          <p:cNvSpPr txBox="1"/>
          <p:nvPr>
            <p:ph idx="1" type="body"/>
          </p:nvPr>
        </p:nvSpPr>
        <p:spPr>
          <a:xfrm>
            <a:off x="709302" y="4180227"/>
            <a:ext cx="5667996" cy="34207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1" name="Google Shape;201;p7:notes"/>
          <p:cNvSpPr/>
          <p:nvPr>
            <p:ph idx="2" type="sldImg"/>
          </p:nvPr>
        </p:nvSpPr>
        <p:spPr>
          <a:xfrm>
            <a:off x="1589088" y="1085850"/>
            <a:ext cx="3908425" cy="29305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8:notes"/>
          <p:cNvSpPr txBox="1"/>
          <p:nvPr>
            <p:ph idx="1" type="body"/>
          </p:nvPr>
        </p:nvSpPr>
        <p:spPr>
          <a:xfrm>
            <a:off x="709302" y="4180227"/>
            <a:ext cx="5667996" cy="34207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2" name="Google Shape;212;p8:notes"/>
          <p:cNvSpPr/>
          <p:nvPr>
            <p:ph idx="2" type="sldImg"/>
          </p:nvPr>
        </p:nvSpPr>
        <p:spPr>
          <a:xfrm>
            <a:off x="1589088" y="1085850"/>
            <a:ext cx="3908425" cy="29305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3dfb3139cd5_0_35:notes"/>
          <p:cNvSpPr txBox="1"/>
          <p:nvPr>
            <p:ph idx="1" type="body"/>
          </p:nvPr>
        </p:nvSpPr>
        <p:spPr>
          <a:xfrm>
            <a:off x="709302" y="4180227"/>
            <a:ext cx="5667900" cy="342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2" name="Google Shape;232;g3dfb3139cd5_0_35:notes"/>
          <p:cNvSpPr/>
          <p:nvPr>
            <p:ph idx="2" type="sldImg"/>
          </p:nvPr>
        </p:nvSpPr>
        <p:spPr>
          <a:xfrm>
            <a:off x="1589088" y="1085850"/>
            <a:ext cx="3908400" cy="2930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3dfb3139cd5_0_54:notes"/>
          <p:cNvSpPr txBox="1"/>
          <p:nvPr>
            <p:ph idx="1" type="body"/>
          </p:nvPr>
        </p:nvSpPr>
        <p:spPr>
          <a:xfrm>
            <a:off x="709302" y="4180227"/>
            <a:ext cx="5667900" cy="342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1" name="Google Shape;251;g3dfb3139cd5_0_54:notes"/>
          <p:cNvSpPr/>
          <p:nvPr>
            <p:ph idx="2" type="sldImg"/>
          </p:nvPr>
        </p:nvSpPr>
        <p:spPr>
          <a:xfrm>
            <a:off x="1589088" y="1085850"/>
            <a:ext cx="3908400" cy="2930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g3dfb3139cd5_0_72:notes"/>
          <p:cNvSpPr txBox="1"/>
          <p:nvPr>
            <p:ph idx="1" type="body"/>
          </p:nvPr>
        </p:nvSpPr>
        <p:spPr>
          <a:xfrm>
            <a:off x="709302" y="4180227"/>
            <a:ext cx="5667900" cy="342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7" name="Google Shape;267;g3dfb3139cd5_0_72:notes"/>
          <p:cNvSpPr/>
          <p:nvPr>
            <p:ph idx="2" type="sldImg"/>
          </p:nvPr>
        </p:nvSpPr>
        <p:spPr>
          <a:xfrm>
            <a:off x="1589088" y="1085850"/>
            <a:ext cx="3908400" cy="2930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g3dfb3139cd5_0_92:notes"/>
          <p:cNvSpPr txBox="1"/>
          <p:nvPr>
            <p:ph idx="1" type="body"/>
          </p:nvPr>
        </p:nvSpPr>
        <p:spPr>
          <a:xfrm>
            <a:off x="709302" y="4180227"/>
            <a:ext cx="5667900" cy="342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83" name="Google Shape;283;g3dfb3139cd5_0_92:notes"/>
          <p:cNvSpPr/>
          <p:nvPr>
            <p:ph idx="2" type="sldImg"/>
          </p:nvPr>
        </p:nvSpPr>
        <p:spPr>
          <a:xfrm>
            <a:off x="1589088" y="1085850"/>
            <a:ext cx="3908400" cy="2930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3dfb3139cd5_0_193:notes"/>
          <p:cNvSpPr txBox="1"/>
          <p:nvPr>
            <p:ph idx="1" type="body"/>
          </p:nvPr>
        </p:nvSpPr>
        <p:spPr>
          <a:xfrm>
            <a:off x="709302" y="4180227"/>
            <a:ext cx="5667900" cy="342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99" name="Google Shape;299;g3dfb3139cd5_0_193:notes"/>
          <p:cNvSpPr/>
          <p:nvPr>
            <p:ph idx="2" type="sldImg"/>
          </p:nvPr>
        </p:nvSpPr>
        <p:spPr>
          <a:xfrm>
            <a:off x="1589088" y="1085850"/>
            <a:ext cx="3908400" cy="2930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39aacdd4c9b_0_0:notes"/>
          <p:cNvSpPr txBox="1"/>
          <p:nvPr>
            <p:ph idx="1" type="body"/>
          </p:nvPr>
        </p:nvSpPr>
        <p:spPr>
          <a:xfrm>
            <a:off x="709302" y="4180227"/>
            <a:ext cx="5667900" cy="342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08" name="Google Shape;308;g39aacdd4c9b_0_0:notes"/>
          <p:cNvSpPr/>
          <p:nvPr>
            <p:ph idx="2" type="sldImg"/>
          </p:nvPr>
        </p:nvSpPr>
        <p:spPr>
          <a:xfrm>
            <a:off x="1589088" y="1085850"/>
            <a:ext cx="3908400" cy="2930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g39aacdd4c9b_0_8:notes"/>
          <p:cNvSpPr txBox="1"/>
          <p:nvPr>
            <p:ph idx="1" type="body"/>
          </p:nvPr>
        </p:nvSpPr>
        <p:spPr>
          <a:xfrm>
            <a:off x="709302" y="4180227"/>
            <a:ext cx="5667900" cy="342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17" name="Google Shape;317;g39aacdd4c9b_0_8:notes"/>
          <p:cNvSpPr/>
          <p:nvPr>
            <p:ph idx="2" type="sldImg"/>
          </p:nvPr>
        </p:nvSpPr>
        <p:spPr>
          <a:xfrm>
            <a:off x="1589088" y="1085850"/>
            <a:ext cx="3908400" cy="2930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g39aacdd4c9b_0_26:notes"/>
          <p:cNvSpPr txBox="1"/>
          <p:nvPr>
            <p:ph idx="1" type="body"/>
          </p:nvPr>
        </p:nvSpPr>
        <p:spPr>
          <a:xfrm>
            <a:off x="709302" y="4180227"/>
            <a:ext cx="5667900" cy="342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36" name="Google Shape;336;g39aacdd4c9b_0_26:notes"/>
          <p:cNvSpPr/>
          <p:nvPr>
            <p:ph idx="2" type="sldImg"/>
          </p:nvPr>
        </p:nvSpPr>
        <p:spPr>
          <a:xfrm>
            <a:off x="1589088" y="1085850"/>
            <a:ext cx="3908400" cy="2930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g39aacdd4c9b_0_42:notes"/>
          <p:cNvSpPr txBox="1"/>
          <p:nvPr>
            <p:ph idx="1" type="body"/>
          </p:nvPr>
        </p:nvSpPr>
        <p:spPr>
          <a:xfrm>
            <a:off x="709302" y="4180227"/>
            <a:ext cx="5667900" cy="342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53" name="Google Shape;353;g39aacdd4c9b_0_42:notes"/>
          <p:cNvSpPr/>
          <p:nvPr>
            <p:ph idx="2" type="sldImg"/>
          </p:nvPr>
        </p:nvSpPr>
        <p:spPr>
          <a:xfrm>
            <a:off x="1589088" y="1085850"/>
            <a:ext cx="3908400" cy="2930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g39aacdd4c9b_0_51:notes"/>
          <p:cNvSpPr txBox="1"/>
          <p:nvPr>
            <p:ph idx="1" type="body"/>
          </p:nvPr>
        </p:nvSpPr>
        <p:spPr>
          <a:xfrm>
            <a:off x="709302" y="4180227"/>
            <a:ext cx="5667900" cy="342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63" name="Google Shape;363;g39aacdd4c9b_0_51:notes"/>
          <p:cNvSpPr/>
          <p:nvPr>
            <p:ph idx="2" type="sldImg"/>
          </p:nvPr>
        </p:nvSpPr>
        <p:spPr>
          <a:xfrm>
            <a:off x="1589088" y="1085850"/>
            <a:ext cx="3908400" cy="2930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g39aacdd4c9b_0_70:notes"/>
          <p:cNvSpPr txBox="1"/>
          <p:nvPr>
            <p:ph idx="1" type="body"/>
          </p:nvPr>
        </p:nvSpPr>
        <p:spPr>
          <a:xfrm>
            <a:off x="709302" y="4180227"/>
            <a:ext cx="5667900" cy="342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83" name="Google Shape;383;g39aacdd4c9b_0_70:notes"/>
          <p:cNvSpPr/>
          <p:nvPr>
            <p:ph idx="2" type="sldImg"/>
          </p:nvPr>
        </p:nvSpPr>
        <p:spPr>
          <a:xfrm>
            <a:off x="1589088" y="1085850"/>
            <a:ext cx="3908400" cy="2930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g39aacdd4c9b_0_79:notes"/>
          <p:cNvSpPr txBox="1"/>
          <p:nvPr>
            <p:ph idx="1" type="body"/>
          </p:nvPr>
        </p:nvSpPr>
        <p:spPr>
          <a:xfrm>
            <a:off x="709302" y="4180227"/>
            <a:ext cx="5667900" cy="342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97" name="Google Shape;397;g39aacdd4c9b_0_79:notes"/>
          <p:cNvSpPr/>
          <p:nvPr>
            <p:ph idx="2" type="sldImg"/>
          </p:nvPr>
        </p:nvSpPr>
        <p:spPr>
          <a:xfrm>
            <a:off x="1589088" y="1085850"/>
            <a:ext cx="3908400" cy="2930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g39aacdd4c9b_0_111:notes"/>
          <p:cNvSpPr txBox="1"/>
          <p:nvPr>
            <p:ph idx="1" type="body"/>
          </p:nvPr>
        </p:nvSpPr>
        <p:spPr>
          <a:xfrm>
            <a:off x="709302" y="4180227"/>
            <a:ext cx="5667900" cy="342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30" name="Google Shape;430;g39aacdd4c9b_0_111:notes"/>
          <p:cNvSpPr/>
          <p:nvPr>
            <p:ph idx="2" type="sldImg"/>
          </p:nvPr>
        </p:nvSpPr>
        <p:spPr>
          <a:xfrm>
            <a:off x="1589088" y="1085850"/>
            <a:ext cx="3908400" cy="2930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g39aacdd4c9b_0_128:notes"/>
          <p:cNvSpPr txBox="1"/>
          <p:nvPr>
            <p:ph idx="1" type="body"/>
          </p:nvPr>
        </p:nvSpPr>
        <p:spPr>
          <a:xfrm>
            <a:off x="709302" y="4180227"/>
            <a:ext cx="5667900" cy="342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50" name="Google Shape;450;g39aacdd4c9b_0_128:notes"/>
          <p:cNvSpPr/>
          <p:nvPr>
            <p:ph idx="2" type="sldImg"/>
          </p:nvPr>
        </p:nvSpPr>
        <p:spPr>
          <a:xfrm>
            <a:off x="1589088" y="1085850"/>
            <a:ext cx="3908400" cy="2930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3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g39aacdd4c9b_0_138:notes"/>
          <p:cNvSpPr txBox="1"/>
          <p:nvPr>
            <p:ph idx="1" type="body"/>
          </p:nvPr>
        </p:nvSpPr>
        <p:spPr>
          <a:xfrm>
            <a:off x="709302" y="4180227"/>
            <a:ext cx="5667900" cy="342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65" name="Google Shape;465;g39aacdd4c9b_0_138:notes"/>
          <p:cNvSpPr/>
          <p:nvPr>
            <p:ph idx="2" type="sldImg"/>
          </p:nvPr>
        </p:nvSpPr>
        <p:spPr>
          <a:xfrm>
            <a:off x="1589088" y="1085850"/>
            <a:ext cx="3908400" cy="2930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g39aacdd4c9b_0_148:notes"/>
          <p:cNvSpPr txBox="1"/>
          <p:nvPr>
            <p:ph idx="1" type="body"/>
          </p:nvPr>
        </p:nvSpPr>
        <p:spPr>
          <a:xfrm>
            <a:off x="709302" y="4180227"/>
            <a:ext cx="5667900" cy="342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81" name="Google Shape;481;g39aacdd4c9b_0_148:notes"/>
          <p:cNvSpPr/>
          <p:nvPr>
            <p:ph idx="2" type="sldImg"/>
          </p:nvPr>
        </p:nvSpPr>
        <p:spPr>
          <a:xfrm>
            <a:off x="1589088" y="1085850"/>
            <a:ext cx="3908400" cy="2930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1"/>
          <p:cNvSpPr txBox="1"/>
          <p:nvPr>
            <p:ph type="ctrTitle"/>
          </p:nvPr>
        </p:nvSpPr>
        <p:spPr>
          <a:xfrm>
            <a:off x="1143000" y="1122363"/>
            <a:ext cx="6858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5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1"/>
          <p:cNvSpPr txBox="1"/>
          <p:nvPr>
            <p:ph idx="1" type="subTitle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8" name="Google Shape;18;p21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1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1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o el título" type="titleOnly">
  <p:cSld name="TITLE_ONLY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2"/>
          <p:cNvSpPr txBox="1"/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2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22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2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23"/>
          <p:cNvSpPr txBox="1"/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23"/>
          <p:cNvSpPr txBox="1"/>
          <p:nvPr>
            <p:ph idx="1" type="body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9" name="Google Shape;29;p23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23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3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4"/>
          <p:cNvSpPr txBox="1"/>
          <p:nvPr>
            <p:ph type="title"/>
          </p:nvPr>
        </p:nvSpPr>
        <p:spPr>
          <a:xfrm>
            <a:off x="623888" y="1709739"/>
            <a:ext cx="78867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5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24"/>
          <p:cNvSpPr txBox="1"/>
          <p:nvPr>
            <p:ph idx="1" type="body"/>
          </p:nvPr>
        </p:nvSpPr>
        <p:spPr>
          <a:xfrm>
            <a:off x="623888" y="4589464"/>
            <a:ext cx="78867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5" name="Google Shape;35;p24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24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24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25"/>
          <p:cNvSpPr txBox="1"/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25"/>
          <p:cNvSpPr txBox="1"/>
          <p:nvPr>
            <p:ph idx="1" type="body"/>
          </p:nvPr>
        </p:nvSpPr>
        <p:spPr>
          <a:xfrm>
            <a:off x="628650" y="1825625"/>
            <a:ext cx="38862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1" name="Google Shape;41;p25"/>
          <p:cNvSpPr txBox="1"/>
          <p:nvPr>
            <p:ph idx="2" type="body"/>
          </p:nvPr>
        </p:nvSpPr>
        <p:spPr>
          <a:xfrm>
            <a:off x="4629150" y="1825625"/>
            <a:ext cx="38862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25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25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25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6"/>
          <p:cNvSpPr txBox="1"/>
          <p:nvPr>
            <p:ph type="title"/>
          </p:nvPr>
        </p:nvSpPr>
        <p:spPr>
          <a:xfrm>
            <a:off x="629841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6"/>
          <p:cNvSpPr txBox="1"/>
          <p:nvPr>
            <p:ph idx="1" type="body"/>
          </p:nvPr>
        </p:nvSpPr>
        <p:spPr>
          <a:xfrm>
            <a:off x="629842" y="1681163"/>
            <a:ext cx="3868340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b="1" sz="135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8" name="Google Shape;48;p26"/>
          <p:cNvSpPr txBox="1"/>
          <p:nvPr>
            <p:ph idx="2" type="body"/>
          </p:nvPr>
        </p:nvSpPr>
        <p:spPr>
          <a:xfrm>
            <a:off x="629842" y="2505075"/>
            <a:ext cx="3868340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9" name="Google Shape;49;p26"/>
          <p:cNvSpPr txBox="1"/>
          <p:nvPr>
            <p:ph idx="3" type="body"/>
          </p:nvPr>
        </p:nvSpPr>
        <p:spPr>
          <a:xfrm>
            <a:off x="4629150" y="1681163"/>
            <a:ext cx="3887391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b="1" sz="135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50" name="Google Shape;50;p26"/>
          <p:cNvSpPr txBox="1"/>
          <p:nvPr>
            <p:ph idx="4" type="body"/>
          </p:nvPr>
        </p:nvSpPr>
        <p:spPr>
          <a:xfrm>
            <a:off x="4629150" y="2505075"/>
            <a:ext cx="3887391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1" name="Google Shape;51;p26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6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6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7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7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27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8"/>
          <p:cNvSpPr txBox="1"/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8"/>
          <p:cNvSpPr txBox="1"/>
          <p:nvPr>
            <p:ph idx="1" type="body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61" name="Google Shape;61;p28"/>
          <p:cNvSpPr txBox="1"/>
          <p:nvPr>
            <p:ph idx="2" type="body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/>
        </p:txBody>
      </p:sp>
      <p:sp>
        <p:nvSpPr>
          <p:cNvPr id="62" name="Google Shape;62;p28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8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28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9"/>
          <p:cNvSpPr txBox="1"/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9"/>
          <p:cNvSpPr/>
          <p:nvPr>
            <p:ph idx="2" type="pic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29"/>
          <p:cNvSpPr txBox="1"/>
          <p:nvPr>
            <p:ph idx="1" type="body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/>
        </p:txBody>
      </p:sp>
      <p:sp>
        <p:nvSpPr>
          <p:cNvPr id="69" name="Google Shape;69;p29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9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29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30"/>
          <p:cNvSpPr txBox="1"/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30"/>
          <p:cNvSpPr txBox="1"/>
          <p:nvPr>
            <p:ph idx="1" type="body"/>
          </p:nvPr>
        </p:nvSpPr>
        <p:spPr>
          <a:xfrm rot="5400000">
            <a:off x="2396331" y="57944"/>
            <a:ext cx="4351338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30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30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30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31"/>
          <p:cNvSpPr txBox="1"/>
          <p:nvPr>
            <p:ph type="title"/>
          </p:nvPr>
        </p:nvSpPr>
        <p:spPr>
          <a:xfrm rot="5400000">
            <a:off x="4623594" y="2285207"/>
            <a:ext cx="5811838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31"/>
          <p:cNvSpPr txBox="1"/>
          <p:nvPr>
            <p:ph idx="1" type="body"/>
          </p:nvPr>
        </p:nvSpPr>
        <p:spPr>
          <a:xfrm rot="5400000">
            <a:off x="623094" y="370681"/>
            <a:ext cx="5811838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31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31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31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0"/>
          <p:cNvSpPr txBox="1"/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" name="Google Shape;11;p20"/>
          <p:cNvSpPr txBox="1"/>
          <p:nvPr>
            <p:ph idx="1" type="body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1150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  <a:def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1150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  <a:def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20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20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20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jpg"/><Relationship Id="rId4" Type="http://schemas.openxmlformats.org/officeDocument/2006/relationships/image" Target="../media/image8.png"/><Relationship Id="rId5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3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Relationship Id="rId4" Type="http://schemas.openxmlformats.org/officeDocument/2006/relationships/image" Target="../media/image20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Relationship Id="rId4" Type="http://schemas.openxmlformats.org/officeDocument/2006/relationships/image" Target="../media/image1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5.png"/><Relationship Id="rId4" Type="http://schemas.openxmlformats.org/officeDocument/2006/relationships/image" Target="../media/image11.png"/><Relationship Id="rId5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5.png"/><Relationship Id="rId4" Type="http://schemas.openxmlformats.org/officeDocument/2006/relationships/image" Target="../media/image5.png"/><Relationship Id="rId5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Relationship Id="rId4" Type="http://schemas.openxmlformats.org/officeDocument/2006/relationships/image" Target="../media/image2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Relationship Id="rId4" Type="http://schemas.openxmlformats.org/officeDocument/2006/relationships/image" Target="../media/image2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6.png"/><Relationship Id="rId4" Type="http://schemas.openxmlformats.org/officeDocument/2006/relationships/image" Target="../media/image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4.png"/><Relationship Id="rId4" Type="http://schemas.openxmlformats.org/officeDocument/2006/relationships/image" Target="../media/image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1.png"/><Relationship Id="rId4" Type="http://schemas.openxmlformats.org/officeDocument/2006/relationships/image" Target="../media/image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0.png"/><Relationship Id="rId4" Type="http://schemas.openxmlformats.org/officeDocument/2006/relationships/image" Target="../media/image5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0.png"/><Relationship Id="rId4" Type="http://schemas.openxmlformats.org/officeDocument/2006/relationships/image" Target="../media/image5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5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5.png"/><Relationship Id="rId4" Type="http://schemas.openxmlformats.org/officeDocument/2006/relationships/image" Target="../media/image17.jp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3.jpg"/><Relationship Id="rId7" Type="http://schemas.openxmlformats.org/officeDocument/2006/relationships/image" Target="../media/image13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5.png"/><Relationship Id="rId4" Type="http://schemas.openxmlformats.org/officeDocument/2006/relationships/image" Target="../media/image18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5.png"/><Relationship Id="rId4" Type="http://schemas.openxmlformats.org/officeDocument/2006/relationships/image" Target="../media/image21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4.png"/><Relationship Id="rId4" Type="http://schemas.openxmlformats.org/officeDocument/2006/relationships/image" Target="../media/image5.png"/><Relationship Id="rId5" Type="http://schemas.openxmlformats.org/officeDocument/2006/relationships/image" Target="../media/image22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5.png"/><Relationship Id="rId4" Type="http://schemas.openxmlformats.org/officeDocument/2006/relationships/image" Target="../media/image33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3.jpg"/><Relationship Id="rId7" Type="http://schemas.openxmlformats.org/officeDocument/2006/relationships/image" Target="../media/image13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6.png"/><Relationship Id="rId4" Type="http://schemas.openxmlformats.org/officeDocument/2006/relationships/image" Target="../media/image5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5.png"/><Relationship Id="rId4" Type="http://schemas.openxmlformats.org/officeDocument/2006/relationships/image" Target="../media/image27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5.png"/><Relationship Id="rId4" Type="http://schemas.openxmlformats.org/officeDocument/2006/relationships/image" Target="../media/image29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5.png"/><Relationship Id="rId4" Type="http://schemas.openxmlformats.org/officeDocument/2006/relationships/image" Target="../media/image3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"/>
          <p:cNvSpPr txBox="1"/>
          <p:nvPr>
            <p:ph type="ctrTitle"/>
          </p:nvPr>
        </p:nvSpPr>
        <p:spPr>
          <a:xfrm>
            <a:off x="3352800" y="2157413"/>
            <a:ext cx="5567363" cy="965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s-CL" sz="4800">
                <a:solidFill>
                  <a:srgbClr val="D20000"/>
                </a:solidFill>
                <a:latin typeface="Arial Black"/>
                <a:ea typeface="Arial Black"/>
                <a:cs typeface="Arial Black"/>
                <a:sym typeface="Arial Black"/>
              </a:rPr>
              <a:t>ANGULAR</a:t>
            </a:r>
            <a:endParaRPr b="1">
              <a:solidFill>
                <a:srgbClr val="D20000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90" name="Google Shape;90;p1"/>
          <p:cNvSpPr txBox="1"/>
          <p:nvPr>
            <p:ph idx="1" type="subTitle"/>
          </p:nvPr>
        </p:nvSpPr>
        <p:spPr>
          <a:xfrm>
            <a:off x="762000" y="5095875"/>
            <a:ext cx="78486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2000"/>
              <a:buFont typeface="Arial"/>
              <a:buNone/>
            </a:pPr>
            <a:r>
              <a:rPr lang="es-CL" sz="2000">
                <a:solidFill>
                  <a:srgbClr val="404040"/>
                </a:solidFill>
              </a:rPr>
              <a:t>César Aguilera Sepúlveda</a:t>
            </a:r>
            <a:endParaRPr/>
          </a:p>
          <a:p>
            <a:pPr indent="0" lvl="0" marL="0" rtl="0" algn="ctr">
              <a:spcBef>
                <a:spcPts val="700"/>
              </a:spcBef>
              <a:spcAft>
                <a:spcPts val="0"/>
              </a:spcAft>
              <a:buClr>
                <a:srgbClr val="0033CC"/>
              </a:buClr>
              <a:buSzPts val="2000"/>
              <a:buFont typeface="Arial"/>
              <a:buNone/>
            </a:pPr>
            <a:r>
              <a:rPr i="1" lang="es-CL" sz="2000">
                <a:solidFill>
                  <a:srgbClr val="0033CC"/>
                </a:solidFill>
              </a:rPr>
              <a:t>caguilsepulveda@gmail.com</a:t>
            </a:r>
            <a:endParaRPr sz="2000">
              <a:solidFill>
                <a:srgbClr val="3F3F3F"/>
              </a:solidFill>
            </a:endParaRPr>
          </a:p>
        </p:txBody>
      </p:sp>
      <p:pic>
        <p:nvPicPr>
          <p:cNvPr descr="escudo_color" id="91" name="Google Shape;91;p1"/>
          <p:cNvPicPr preferRelativeResize="0"/>
          <p:nvPr/>
        </p:nvPicPr>
        <p:blipFill rotWithShape="1">
          <a:blip r:embed="rId3">
            <a:alphaModFix/>
          </a:blip>
          <a:srcRect b="0" l="0" r="2506" t="0"/>
          <a:stretch/>
        </p:blipFill>
        <p:spPr>
          <a:xfrm>
            <a:off x="304800" y="304800"/>
            <a:ext cx="1600200" cy="1019175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"/>
          <p:cNvSpPr/>
          <p:nvPr/>
        </p:nvSpPr>
        <p:spPr>
          <a:xfrm>
            <a:off x="3352800" y="3090863"/>
            <a:ext cx="5078413" cy="9541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s-CL" sz="28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Validar Usuarios - Backend</a:t>
            </a:r>
            <a:endParaRPr b="1" i="0" sz="2800" u="none" cap="none" strike="noStrike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1"/>
          <p:cNvSpPr/>
          <p:nvPr/>
        </p:nvSpPr>
        <p:spPr>
          <a:xfrm>
            <a:off x="190500" y="6477000"/>
            <a:ext cx="8724900" cy="312738"/>
          </a:xfrm>
          <a:prstGeom prst="roundRect">
            <a:avLst>
              <a:gd fmla="val 16667" name="adj"/>
            </a:avLst>
          </a:prstGeom>
          <a:solidFill>
            <a:srgbClr val="0070C0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-CL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Desarrollo FrontEnd con Angular – código 634529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1"/>
          <p:cNvSpPr/>
          <p:nvPr/>
        </p:nvSpPr>
        <p:spPr>
          <a:xfrm>
            <a:off x="3429000" y="4224587"/>
            <a:ext cx="5181600" cy="46037"/>
          </a:xfrm>
          <a:prstGeom prst="rect">
            <a:avLst/>
          </a:prstGeom>
          <a:solidFill>
            <a:srgbClr val="FF0000"/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5" name="Google Shape;95;p1"/>
          <p:cNvPicPr preferRelativeResize="0"/>
          <p:nvPr/>
        </p:nvPicPr>
        <p:blipFill rotWithShape="1">
          <a:blip r:embed="rId4">
            <a:alphaModFix/>
          </a:blip>
          <a:srcRect b="0" l="6231" r="5906" t="0"/>
          <a:stretch/>
        </p:blipFill>
        <p:spPr>
          <a:xfrm>
            <a:off x="762000" y="2206625"/>
            <a:ext cx="2386013" cy="2593975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"/>
          <p:cNvSpPr txBox="1"/>
          <p:nvPr/>
        </p:nvSpPr>
        <p:spPr>
          <a:xfrm>
            <a:off x="6871376" y="1859571"/>
            <a:ext cx="2045753" cy="144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00"/>
              <a:buFont typeface="Arial"/>
              <a:buNone/>
            </a:pPr>
            <a:r>
              <a:rPr b="1" i="0" lang="es-CL" sz="8800" u="none" cap="none" strike="noStrike">
                <a:solidFill>
                  <a:srgbClr val="7F7F7F"/>
                </a:solidFill>
                <a:latin typeface="Consolas"/>
                <a:ea typeface="Consolas"/>
                <a:cs typeface="Consolas"/>
                <a:sym typeface="Consolas"/>
              </a:rPr>
              <a:t>17a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7" name="Google Shape;97;p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033668" y="228150"/>
            <a:ext cx="1897170" cy="110840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esultado de imagen para angular logos" id="102" name="Google Shape;102;g3dfb3139cd5_0_107"/>
          <p:cNvPicPr preferRelativeResize="0"/>
          <p:nvPr/>
        </p:nvPicPr>
        <p:blipFill rotWithShape="1">
          <a:blip r:embed="rId3">
            <a:alphaModFix/>
          </a:blip>
          <a:srcRect b="0" l="51972" r="0" t="0"/>
          <a:stretch/>
        </p:blipFill>
        <p:spPr>
          <a:xfrm>
            <a:off x="227013" y="85725"/>
            <a:ext cx="800100" cy="830263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g3dfb3139cd5_0_107"/>
          <p:cNvSpPr txBox="1"/>
          <p:nvPr/>
        </p:nvSpPr>
        <p:spPr>
          <a:xfrm>
            <a:off x="1144588" y="185738"/>
            <a:ext cx="45768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lang="es-CL" sz="2800">
                <a:solidFill>
                  <a:srgbClr val="0070C0"/>
                </a:solidFill>
              </a:rPr>
              <a:t>Objetivo de la Unidad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4" name="Google Shape;104;g3dfb3139cd5_0_107"/>
          <p:cNvCxnSpPr/>
          <p:nvPr/>
        </p:nvCxnSpPr>
        <p:spPr>
          <a:xfrm>
            <a:off x="1206500" y="858838"/>
            <a:ext cx="7526400" cy="0"/>
          </a:xfrm>
          <a:prstGeom prst="straightConnector1">
            <a:avLst/>
          </a:prstGeom>
          <a:noFill/>
          <a:ln cap="flat" cmpd="sng" w="28575">
            <a:solidFill>
              <a:srgbClr val="2E75B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05" name="Google Shape;105;g3dfb3139cd5_0_107"/>
          <p:cNvSpPr/>
          <p:nvPr/>
        </p:nvSpPr>
        <p:spPr>
          <a:xfrm>
            <a:off x="0" y="6537325"/>
            <a:ext cx="9144000" cy="312600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-CL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Desarrollo FrontEnd con Angular – código 634529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g3dfb3139cd5_0_107"/>
          <p:cNvSpPr/>
          <p:nvPr/>
        </p:nvSpPr>
        <p:spPr>
          <a:xfrm>
            <a:off x="226871" y="5831049"/>
            <a:ext cx="8751300" cy="65790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g3dfb3139cd5_0_107"/>
          <p:cNvSpPr/>
          <p:nvPr/>
        </p:nvSpPr>
        <p:spPr>
          <a:xfrm>
            <a:off x="627062" y="1164637"/>
            <a:ext cx="8105700" cy="6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dk1"/>
                </a:solidFill>
              </a:rPr>
              <a:t>Hoy vamos a construir</a:t>
            </a:r>
            <a:r>
              <a:rPr lang="es-CL" sz="1800">
                <a:solidFill>
                  <a:schemeClr val="dk1"/>
                </a:solidFill>
              </a:rPr>
              <a:t> un flujo básico de registro y login conectado a un backend real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esultado de imagen para angular logos" id="112" name="Google Shape;112;p2"/>
          <p:cNvPicPr preferRelativeResize="0"/>
          <p:nvPr/>
        </p:nvPicPr>
        <p:blipFill rotWithShape="1">
          <a:blip r:embed="rId3">
            <a:alphaModFix/>
          </a:blip>
          <a:srcRect b="0" l="51971" r="0" t="0"/>
          <a:stretch/>
        </p:blipFill>
        <p:spPr>
          <a:xfrm>
            <a:off x="227013" y="85725"/>
            <a:ext cx="800100" cy="830263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2"/>
          <p:cNvSpPr txBox="1"/>
          <p:nvPr/>
        </p:nvSpPr>
        <p:spPr>
          <a:xfrm>
            <a:off x="1144588" y="185738"/>
            <a:ext cx="6774611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s-CL" sz="2800" u="none" cap="none" strike="noStrik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Procedimiento de Registro de Usuario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4" name="Google Shape;114;p2"/>
          <p:cNvCxnSpPr/>
          <p:nvPr/>
        </p:nvCxnSpPr>
        <p:spPr>
          <a:xfrm>
            <a:off x="1206500" y="858838"/>
            <a:ext cx="7526338" cy="0"/>
          </a:xfrm>
          <a:prstGeom prst="straightConnector1">
            <a:avLst/>
          </a:prstGeom>
          <a:noFill/>
          <a:ln cap="flat" cmpd="sng" w="28575">
            <a:solidFill>
              <a:srgbClr val="2E75B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15" name="Google Shape;115;p2"/>
          <p:cNvSpPr/>
          <p:nvPr/>
        </p:nvSpPr>
        <p:spPr>
          <a:xfrm>
            <a:off x="0" y="6537325"/>
            <a:ext cx="9144000" cy="312738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-CL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Desarrollo FrontEnd con Angular – código 634529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2"/>
          <p:cNvSpPr/>
          <p:nvPr/>
        </p:nvSpPr>
        <p:spPr>
          <a:xfrm>
            <a:off x="627062" y="1164637"/>
            <a:ext cx="8105775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s-CL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En un procedimiento tradicional de registro de un nuevo usuario, el usuario envía sus datos (incluido un nombre de usuario y password) al servidor. 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ng. Daniel Aroni Acero - IESTP-DESAGUADERO" id="117" name="Google Shape;117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60715" y="3721757"/>
            <a:ext cx="2064907" cy="2076926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2"/>
          <p:cNvSpPr/>
          <p:nvPr/>
        </p:nvSpPr>
        <p:spPr>
          <a:xfrm>
            <a:off x="3348020" y="4025832"/>
            <a:ext cx="2264363" cy="550791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s-CL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Usuario/Password</a:t>
            </a:r>
            <a:endParaRPr b="0" i="0" sz="1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2"/>
          <p:cNvSpPr/>
          <p:nvPr/>
        </p:nvSpPr>
        <p:spPr>
          <a:xfrm flipH="1">
            <a:off x="3348020" y="4821419"/>
            <a:ext cx="2264363" cy="550791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s-CL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Aceptado/Rechazado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Server Icons - Iconshock" id="120" name="Google Shape;120;p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590208" y="3388825"/>
            <a:ext cx="2438400" cy="2438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cono Base de datos Gratis de iMod Icons" id="121" name="Google Shape;121;p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173271" y="4856717"/>
            <a:ext cx="1087739" cy="1087739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2"/>
          <p:cNvSpPr txBox="1"/>
          <p:nvPr/>
        </p:nvSpPr>
        <p:spPr>
          <a:xfrm>
            <a:off x="1650307" y="5575124"/>
            <a:ext cx="97975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CL" sz="1800" u="none" cap="none" strike="noStrike">
                <a:solidFill>
                  <a:srgbClr val="41719C"/>
                </a:solidFill>
                <a:latin typeface="Arial"/>
                <a:ea typeface="Arial"/>
                <a:cs typeface="Arial"/>
                <a:sym typeface="Arial"/>
              </a:rPr>
              <a:t>Usuario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2"/>
          <p:cNvSpPr txBox="1"/>
          <p:nvPr/>
        </p:nvSpPr>
        <p:spPr>
          <a:xfrm>
            <a:off x="6213799" y="5752424"/>
            <a:ext cx="104387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CL" sz="1800" u="none" cap="none" strike="noStrike">
                <a:solidFill>
                  <a:srgbClr val="41719C"/>
                </a:solidFill>
                <a:latin typeface="Arial"/>
                <a:ea typeface="Arial"/>
                <a:cs typeface="Arial"/>
                <a:sym typeface="Arial"/>
              </a:rPr>
              <a:t>Servidor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2"/>
          <p:cNvSpPr/>
          <p:nvPr/>
        </p:nvSpPr>
        <p:spPr>
          <a:xfrm>
            <a:off x="627062" y="2640017"/>
            <a:ext cx="8105775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s-CL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El servidor guarda los datos en la base de datos, pero antes debe </a:t>
            </a:r>
            <a:r>
              <a:rPr lang="es-CL" sz="1800">
                <a:solidFill>
                  <a:schemeClr val="dk1"/>
                </a:solidFill>
              </a:rPr>
              <a:t>hashear</a:t>
            </a:r>
            <a:r>
              <a:rPr b="0" i="0" lang="es-CL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la password agregando un nivel de seguridad al proceso.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2"/>
          <p:cNvSpPr/>
          <p:nvPr/>
        </p:nvSpPr>
        <p:spPr>
          <a:xfrm>
            <a:off x="627062" y="1899025"/>
            <a:ext cx="8105775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s-CL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El servidor puede verificar que el usuario no existe previamente antes de insertar los datos en la base de datos.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esultado de imagen para angular logos" id="130" name="Google Shape;130;p3"/>
          <p:cNvPicPr preferRelativeResize="0"/>
          <p:nvPr/>
        </p:nvPicPr>
        <p:blipFill rotWithShape="1">
          <a:blip r:embed="rId3">
            <a:alphaModFix/>
          </a:blip>
          <a:srcRect b="0" l="51971" r="0" t="0"/>
          <a:stretch/>
        </p:blipFill>
        <p:spPr>
          <a:xfrm>
            <a:off x="227013" y="85725"/>
            <a:ext cx="800100" cy="830263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3"/>
          <p:cNvSpPr txBox="1"/>
          <p:nvPr/>
        </p:nvSpPr>
        <p:spPr>
          <a:xfrm>
            <a:off x="1144588" y="185738"/>
            <a:ext cx="7831567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s-CL" sz="2800" u="none" cap="none" strike="noStrik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Agregar Tabla de Usuarios en Base de Datos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32" name="Google Shape;132;p3"/>
          <p:cNvCxnSpPr/>
          <p:nvPr/>
        </p:nvCxnSpPr>
        <p:spPr>
          <a:xfrm>
            <a:off x="1206500" y="858838"/>
            <a:ext cx="7526338" cy="0"/>
          </a:xfrm>
          <a:prstGeom prst="straightConnector1">
            <a:avLst/>
          </a:prstGeom>
          <a:noFill/>
          <a:ln cap="flat" cmpd="sng" w="28575">
            <a:solidFill>
              <a:srgbClr val="2E75B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33" name="Google Shape;133;p3"/>
          <p:cNvSpPr/>
          <p:nvPr/>
        </p:nvSpPr>
        <p:spPr>
          <a:xfrm>
            <a:off x="0" y="6537325"/>
            <a:ext cx="9144000" cy="312738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-CL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Desarrollo FrontEnd con Angular – código 634529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3"/>
          <p:cNvSpPr/>
          <p:nvPr/>
        </p:nvSpPr>
        <p:spPr>
          <a:xfrm>
            <a:off x="627062" y="1164637"/>
            <a:ext cx="8105775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chemeClr val="dk1"/>
                </a:solidFill>
              </a:rPr>
              <a:t>Para poner en </a:t>
            </a:r>
            <a:r>
              <a:rPr lang="es-CL" sz="1800">
                <a:solidFill>
                  <a:schemeClr val="dk1"/>
                </a:solidFill>
              </a:rPr>
              <a:t>práctica</a:t>
            </a:r>
            <a:r>
              <a:rPr lang="es-CL" sz="1800">
                <a:solidFill>
                  <a:schemeClr val="dk1"/>
                </a:solidFill>
              </a:rPr>
              <a:t> un registro de usuario, vamos a </a:t>
            </a:r>
            <a:r>
              <a:rPr b="0" i="0" lang="es-CL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Implementar la base de datos “USUARIOS” la cual almacenará los datos esenciales para la validación de credenciales.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3"/>
          <p:cNvSpPr txBox="1"/>
          <p:nvPr/>
        </p:nvSpPr>
        <p:spPr>
          <a:xfrm>
            <a:off x="994953" y="2327650"/>
            <a:ext cx="1170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-CL" sz="1400" u="none" cap="none" strike="noStrike">
                <a:solidFill>
                  <a:schemeClr val="dk1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usuarios.sql</a:t>
            </a:r>
            <a:endParaRPr b="0" i="0" sz="1400" u="none" cap="none" strike="noStrike">
              <a:solidFill>
                <a:schemeClr val="dk1"/>
              </a:solidFill>
              <a:highlight>
                <a:srgbClr val="FFFF00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3"/>
          <p:cNvSpPr/>
          <p:nvPr/>
        </p:nvSpPr>
        <p:spPr>
          <a:xfrm>
            <a:off x="621807" y="5303618"/>
            <a:ext cx="8105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s-CL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Ejecutar este script desde el gestor (por ejemplo: PHPMyAdmin)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7" name="Google Shape;137;p3" title="Captura de pantalla 2026-05-08 a la(s) 14.43.5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27126" y="2597723"/>
            <a:ext cx="5142640" cy="2200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esultado de imagen para angular logos" id="142" name="Google Shape;142;p4"/>
          <p:cNvPicPr preferRelativeResize="0"/>
          <p:nvPr/>
        </p:nvPicPr>
        <p:blipFill rotWithShape="1">
          <a:blip r:embed="rId3">
            <a:alphaModFix/>
          </a:blip>
          <a:srcRect b="0" l="51971" r="0" t="0"/>
          <a:stretch/>
        </p:blipFill>
        <p:spPr>
          <a:xfrm>
            <a:off x="227013" y="85725"/>
            <a:ext cx="800100" cy="830263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4"/>
          <p:cNvSpPr txBox="1"/>
          <p:nvPr/>
        </p:nvSpPr>
        <p:spPr>
          <a:xfrm>
            <a:off x="1144601" y="185750"/>
            <a:ext cx="75264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lang="es-CL" sz="2800">
                <a:solidFill>
                  <a:srgbClr val="0070C0"/>
                </a:solidFill>
              </a:rPr>
              <a:t>Registro de usuarios en nuestro backend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4" name="Google Shape;144;p4"/>
          <p:cNvCxnSpPr/>
          <p:nvPr/>
        </p:nvCxnSpPr>
        <p:spPr>
          <a:xfrm>
            <a:off x="1206500" y="858838"/>
            <a:ext cx="7526338" cy="0"/>
          </a:xfrm>
          <a:prstGeom prst="straightConnector1">
            <a:avLst/>
          </a:prstGeom>
          <a:noFill/>
          <a:ln cap="flat" cmpd="sng" w="28575">
            <a:solidFill>
              <a:srgbClr val="2E75B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45" name="Google Shape;145;p4"/>
          <p:cNvSpPr/>
          <p:nvPr/>
        </p:nvSpPr>
        <p:spPr>
          <a:xfrm>
            <a:off x="0" y="6537325"/>
            <a:ext cx="9144000" cy="312738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-CL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Desarrollo FrontEnd con Angular – código 634529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4"/>
          <p:cNvSpPr/>
          <p:nvPr/>
        </p:nvSpPr>
        <p:spPr>
          <a:xfrm>
            <a:off x="627062" y="1164637"/>
            <a:ext cx="8105775" cy="14773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s-CL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Preparamos los datos y credenciales a guardar en la Base de Datos.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s-CL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Aplicamos una función de hashing a la contraseña antes de almacenarla.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s-CL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Usamos la librería </a:t>
            </a:r>
            <a:r>
              <a:rPr b="1" i="0" lang="es-CL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bcrypt</a:t>
            </a:r>
            <a:r>
              <a:rPr b="0" i="0" lang="es-CL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 para calcular el hash asociado a la password.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4"/>
          <p:cNvSpPr/>
          <p:nvPr/>
        </p:nvSpPr>
        <p:spPr>
          <a:xfrm>
            <a:off x="633883" y="5369750"/>
            <a:ext cx="7737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s-CL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Instalar bcrypt en NodeJS de nuestro backend:</a:t>
            </a:r>
            <a:endParaRPr b="0" i="0" sz="1800" u="none" cap="none" strike="noStrike">
              <a:solidFill>
                <a:srgbClr val="0033CC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48" name="Google Shape;148;p4"/>
          <p:cNvSpPr/>
          <p:nvPr/>
        </p:nvSpPr>
        <p:spPr>
          <a:xfrm>
            <a:off x="900060" y="5813623"/>
            <a:ext cx="284404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CL" sz="1800" u="none" cap="none" strike="noStrike">
                <a:solidFill>
                  <a:srgbClr val="C00000"/>
                </a:solidFill>
                <a:latin typeface="Consolas"/>
                <a:ea typeface="Consolas"/>
                <a:cs typeface="Consolas"/>
                <a:sym typeface="Consolas"/>
              </a:rPr>
              <a:t>&gt; npm i bcrypt --save</a:t>
            </a:r>
            <a:endParaRPr b="0" i="0" sz="1800" u="none" cap="none" strike="noStrike">
              <a:solidFill>
                <a:srgbClr val="C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descr="Resultado de imagen para bcrypt" id="149" name="Google Shape;149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00060" y="2768888"/>
            <a:ext cx="7471616" cy="20300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4" name="Google Shape;154;p5" title="Captura de pantalla 2026-05-08 a la(s) 14.23.59.png"/>
          <p:cNvPicPr preferRelativeResize="0"/>
          <p:nvPr/>
        </p:nvPicPr>
        <p:blipFill rotWithShape="1">
          <a:blip r:embed="rId3">
            <a:alphaModFix/>
          </a:blip>
          <a:srcRect b="0" l="0" r="27969" t="0"/>
          <a:stretch/>
        </p:blipFill>
        <p:spPr>
          <a:xfrm>
            <a:off x="485775" y="2283800"/>
            <a:ext cx="8053274" cy="1965282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5" title="Captura de pantalla 2026-05-08 a la(s) 14.24.46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40550" y="3428413"/>
            <a:ext cx="3198501" cy="4250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Resultado de imagen para angular logos" id="156" name="Google Shape;156;p5"/>
          <p:cNvPicPr preferRelativeResize="0"/>
          <p:nvPr/>
        </p:nvPicPr>
        <p:blipFill rotWithShape="1">
          <a:blip r:embed="rId5">
            <a:alphaModFix/>
          </a:blip>
          <a:srcRect b="0" l="51971" r="0" t="0"/>
          <a:stretch/>
        </p:blipFill>
        <p:spPr>
          <a:xfrm>
            <a:off x="227013" y="85725"/>
            <a:ext cx="800100" cy="830263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5"/>
          <p:cNvSpPr txBox="1"/>
          <p:nvPr/>
        </p:nvSpPr>
        <p:spPr>
          <a:xfrm>
            <a:off x="1144588" y="185738"/>
            <a:ext cx="7152920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s-CL" sz="2800" u="none" cap="none" strike="noStrik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Procedimiento: Registro de un Usuario…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8" name="Google Shape;158;p5"/>
          <p:cNvCxnSpPr/>
          <p:nvPr/>
        </p:nvCxnSpPr>
        <p:spPr>
          <a:xfrm>
            <a:off x="1206500" y="858838"/>
            <a:ext cx="7526338" cy="0"/>
          </a:xfrm>
          <a:prstGeom prst="straightConnector1">
            <a:avLst/>
          </a:prstGeom>
          <a:noFill/>
          <a:ln cap="flat" cmpd="sng" w="28575">
            <a:solidFill>
              <a:srgbClr val="2E75B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59" name="Google Shape;159;p5"/>
          <p:cNvSpPr/>
          <p:nvPr/>
        </p:nvSpPr>
        <p:spPr>
          <a:xfrm>
            <a:off x="0" y="6537325"/>
            <a:ext cx="9144000" cy="312738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-CL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Desarrollo FrontEnd con Angular – código 634529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5"/>
          <p:cNvSpPr/>
          <p:nvPr/>
        </p:nvSpPr>
        <p:spPr>
          <a:xfrm>
            <a:off x="627062" y="1164637"/>
            <a:ext cx="8105775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s-CL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Habilitamos nuestro </a:t>
            </a:r>
            <a:r>
              <a:rPr lang="es-CL" sz="1800">
                <a:solidFill>
                  <a:schemeClr val="dk1"/>
                </a:solidFill>
              </a:rPr>
              <a:t>backend</a:t>
            </a:r>
            <a:r>
              <a:rPr b="0" i="0" lang="es-CL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para que permita peticiones que </a:t>
            </a:r>
            <a:r>
              <a:rPr lang="es-CL" sz="1800">
                <a:solidFill>
                  <a:schemeClr val="dk1"/>
                </a:solidFill>
              </a:rPr>
              <a:t>incorporan</a:t>
            </a:r>
            <a:r>
              <a:rPr b="0" i="0" lang="es-CL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cierta seguridad en los encabezados.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5"/>
          <p:cNvSpPr txBox="1"/>
          <p:nvPr/>
        </p:nvSpPr>
        <p:spPr>
          <a:xfrm>
            <a:off x="427255" y="1976013"/>
            <a:ext cx="662361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-CL" sz="1400" u="none" cap="none" strike="noStrike">
                <a:solidFill>
                  <a:schemeClr val="dk1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app.js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5"/>
          <p:cNvSpPr/>
          <p:nvPr/>
        </p:nvSpPr>
        <p:spPr>
          <a:xfrm>
            <a:off x="560750" y="2569000"/>
            <a:ext cx="7978200" cy="1320900"/>
          </a:xfrm>
          <a:prstGeom prst="rect">
            <a:avLst/>
          </a:prstGeom>
          <a:solidFill>
            <a:srgbClr val="FFFF00">
              <a:alpha val="9803"/>
            </a:srgbClr>
          </a:solidFill>
          <a:ln cap="flat" cmpd="sng" w="28575">
            <a:solidFill>
              <a:srgbClr val="FFFF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5"/>
          <p:cNvSpPr/>
          <p:nvPr/>
        </p:nvSpPr>
        <p:spPr>
          <a:xfrm>
            <a:off x="560756" y="4502620"/>
            <a:ext cx="2872800" cy="884100"/>
          </a:xfrm>
          <a:prstGeom prst="wedgeRoundRectCallout">
            <a:avLst>
              <a:gd fmla="val -27976" name="adj1"/>
              <a:gd fmla="val -114780" name="adj2"/>
              <a:gd fmla="val 16667" name="adj3"/>
            </a:avLst>
          </a:prstGeom>
          <a:solidFill>
            <a:srgbClr val="F7CAAC"/>
          </a:solidFill>
          <a:ln cap="flat" cmpd="sng" w="12700">
            <a:solidFill>
              <a:srgbClr val="C55A1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-CL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 instrucción next() permite que la ejecución no se detenga y siga evaluando el calce con la siguiente URL en las funciones de más abajo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5"/>
          <p:cNvSpPr/>
          <p:nvPr/>
        </p:nvSpPr>
        <p:spPr>
          <a:xfrm>
            <a:off x="4196243" y="4594527"/>
            <a:ext cx="2872800" cy="700200"/>
          </a:xfrm>
          <a:prstGeom prst="wedgeRoundRectCallout">
            <a:avLst>
              <a:gd fmla="val -125446" name="adj1"/>
              <a:gd fmla="val -242981" name="adj2"/>
              <a:gd fmla="val 16667" name="adj3"/>
            </a:avLst>
          </a:prstGeom>
          <a:solidFill>
            <a:srgbClr val="F7CAAC"/>
          </a:solidFill>
          <a:ln cap="flat" cmpd="sng" w="12700">
            <a:solidFill>
              <a:srgbClr val="C55A1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-CL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Estos encabezados permiten la utilización de diversos métodos para seguridad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Google Shape;169;p6" title="Captura de pantalla 2026-05-08 a la(s) 14.34.4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7050" y="2190330"/>
            <a:ext cx="7670448" cy="337685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Resultado de imagen para angular logos" id="170" name="Google Shape;170;p6"/>
          <p:cNvPicPr preferRelativeResize="0"/>
          <p:nvPr/>
        </p:nvPicPr>
        <p:blipFill rotWithShape="1">
          <a:blip r:embed="rId4">
            <a:alphaModFix/>
          </a:blip>
          <a:srcRect b="0" l="51971" r="0" t="0"/>
          <a:stretch/>
        </p:blipFill>
        <p:spPr>
          <a:xfrm>
            <a:off x="227013" y="85725"/>
            <a:ext cx="800100" cy="830263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6"/>
          <p:cNvSpPr txBox="1"/>
          <p:nvPr/>
        </p:nvSpPr>
        <p:spPr>
          <a:xfrm>
            <a:off x="1144588" y="185738"/>
            <a:ext cx="7152920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s-CL" sz="2800" u="none" cap="none" strike="noStrik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Procedimiento: Registro de un Usuario…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72" name="Google Shape;172;p6"/>
          <p:cNvCxnSpPr/>
          <p:nvPr/>
        </p:nvCxnSpPr>
        <p:spPr>
          <a:xfrm>
            <a:off x="1206500" y="858838"/>
            <a:ext cx="7526338" cy="0"/>
          </a:xfrm>
          <a:prstGeom prst="straightConnector1">
            <a:avLst/>
          </a:prstGeom>
          <a:noFill/>
          <a:ln cap="flat" cmpd="sng" w="28575">
            <a:solidFill>
              <a:srgbClr val="2E75B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73" name="Google Shape;173;p6"/>
          <p:cNvSpPr/>
          <p:nvPr/>
        </p:nvSpPr>
        <p:spPr>
          <a:xfrm>
            <a:off x="0" y="6537325"/>
            <a:ext cx="9144000" cy="312738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-CL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Desarrollo FrontEnd con Angular – código 634529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6"/>
          <p:cNvSpPr/>
          <p:nvPr/>
        </p:nvSpPr>
        <p:spPr>
          <a:xfrm>
            <a:off x="627062" y="1164637"/>
            <a:ext cx="810577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chemeClr val="dk1"/>
                </a:solidFill>
              </a:rPr>
              <a:t>Implementamos el registro de usuarios en nuestro backend.</a:t>
            </a:r>
            <a:endParaRPr sz="1800">
              <a:solidFill>
                <a:schemeClr val="dk1"/>
              </a:solidFill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s-CL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Lo importante es </a:t>
            </a:r>
            <a:r>
              <a:rPr lang="es-CL" sz="1800">
                <a:solidFill>
                  <a:schemeClr val="dk1"/>
                </a:solidFill>
              </a:rPr>
              <a:t>hashear</a:t>
            </a:r>
            <a:r>
              <a:rPr b="0" i="0" lang="es-CL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la password antes de almacenarla en la BD.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6"/>
          <p:cNvSpPr/>
          <p:nvPr/>
        </p:nvSpPr>
        <p:spPr>
          <a:xfrm>
            <a:off x="933725" y="2873080"/>
            <a:ext cx="5015100" cy="183600"/>
          </a:xfrm>
          <a:prstGeom prst="rect">
            <a:avLst/>
          </a:prstGeom>
          <a:solidFill>
            <a:srgbClr val="FFFF00">
              <a:alpha val="9803"/>
            </a:srgbClr>
          </a:solidFill>
          <a:ln cap="flat" cmpd="sng" w="28575">
            <a:solidFill>
              <a:srgbClr val="FFFF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6"/>
          <p:cNvSpPr txBox="1"/>
          <p:nvPr/>
        </p:nvSpPr>
        <p:spPr>
          <a:xfrm>
            <a:off x="627062" y="1880931"/>
            <a:ext cx="6624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-CL" sz="1400" u="none" cap="none" strike="noStrike">
                <a:solidFill>
                  <a:schemeClr val="dk1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app.js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6"/>
          <p:cNvSpPr/>
          <p:nvPr/>
        </p:nvSpPr>
        <p:spPr>
          <a:xfrm>
            <a:off x="777864" y="5754865"/>
            <a:ext cx="2440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s-CL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Iniciar el servidor:</a:t>
            </a:r>
            <a:endParaRPr b="0" i="0" sz="1800" u="none" cap="none" strike="noStrike">
              <a:solidFill>
                <a:srgbClr val="0033CC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78" name="Google Shape;178;p6"/>
          <p:cNvSpPr/>
          <p:nvPr/>
        </p:nvSpPr>
        <p:spPr>
          <a:xfrm>
            <a:off x="1144609" y="6124159"/>
            <a:ext cx="1957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CL" sz="1800" u="none" cap="none" strike="noStrike">
                <a:solidFill>
                  <a:srgbClr val="C00000"/>
                </a:solidFill>
                <a:latin typeface="Consolas"/>
                <a:ea typeface="Consolas"/>
                <a:cs typeface="Consolas"/>
                <a:sym typeface="Consolas"/>
              </a:rPr>
              <a:t>&gt; npm start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9" name="Google Shape;179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225037" y="5238953"/>
            <a:ext cx="2962275" cy="219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esultado de imagen para angular logos" id="184" name="Google Shape;184;g3dfb3139cd5_0_5"/>
          <p:cNvPicPr preferRelativeResize="0"/>
          <p:nvPr/>
        </p:nvPicPr>
        <p:blipFill rotWithShape="1">
          <a:blip r:embed="rId3">
            <a:alphaModFix/>
          </a:blip>
          <a:srcRect b="0" l="51972" r="0" t="0"/>
          <a:stretch/>
        </p:blipFill>
        <p:spPr>
          <a:xfrm>
            <a:off x="227013" y="85725"/>
            <a:ext cx="800100" cy="830263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g3dfb3139cd5_0_5"/>
          <p:cNvSpPr txBox="1"/>
          <p:nvPr/>
        </p:nvSpPr>
        <p:spPr>
          <a:xfrm>
            <a:off x="1144588" y="185738"/>
            <a:ext cx="71529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lang="es-CL" sz="2800">
                <a:solidFill>
                  <a:srgbClr val="0070C0"/>
                </a:solidFill>
              </a:rPr>
              <a:t>Probar</a:t>
            </a:r>
            <a:r>
              <a:rPr b="1" i="0" lang="es-CL" sz="2800" u="none" cap="none" strike="noStrik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 Registro de un Usuar</a:t>
            </a:r>
            <a:r>
              <a:rPr b="1" lang="es-CL" sz="2800">
                <a:solidFill>
                  <a:srgbClr val="0070C0"/>
                </a:solidFill>
              </a:rPr>
              <a:t>io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86" name="Google Shape;186;g3dfb3139cd5_0_5"/>
          <p:cNvCxnSpPr/>
          <p:nvPr/>
        </p:nvCxnSpPr>
        <p:spPr>
          <a:xfrm>
            <a:off x="1206500" y="858838"/>
            <a:ext cx="7526400" cy="0"/>
          </a:xfrm>
          <a:prstGeom prst="straightConnector1">
            <a:avLst/>
          </a:prstGeom>
          <a:noFill/>
          <a:ln cap="flat" cmpd="sng" w="28575">
            <a:solidFill>
              <a:srgbClr val="2E75B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87" name="Google Shape;187;g3dfb3139cd5_0_5"/>
          <p:cNvSpPr/>
          <p:nvPr/>
        </p:nvSpPr>
        <p:spPr>
          <a:xfrm>
            <a:off x="0" y="6537325"/>
            <a:ext cx="9144000" cy="312600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-CL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Desarrollo FrontEnd con Angular – código 634529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g3dfb3139cd5_0_5"/>
          <p:cNvSpPr/>
          <p:nvPr/>
        </p:nvSpPr>
        <p:spPr>
          <a:xfrm>
            <a:off x="627062" y="1164637"/>
            <a:ext cx="8105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chemeClr val="dk1"/>
                </a:solidFill>
              </a:rPr>
              <a:t>Al igual que con las otras operaciones del backend probaremos la operación de registro con Postman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9" name="Google Shape;189;g3dfb3139cd5_0_5" title="Captura de pantalla 2026-05-08 a la(s) 14.47.30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11088" y="1867950"/>
            <a:ext cx="7019927" cy="4335349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90" name="Google Shape;190;g3dfb3139cd5_0_5"/>
          <p:cNvSpPr/>
          <p:nvPr/>
        </p:nvSpPr>
        <p:spPr>
          <a:xfrm>
            <a:off x="1290900" y="1989600"/>
            <a:ext cx="3138300" cy="312600"/>
          </a:xfrm>
          <a:prstGeom prst="rect">
            <a:avLst/>
          </a:prstGeom>
          <a:solidFill>
            <a:srgbClr val="FFFF00">
              <a:alpha val="9800"/>
            </a:srgbClr>
          </a:solidFill>
          <a:ln cap="flat" cmpd="sng" w="28575">
            <a:solidFill>
              <a:srgbClr val="FFFF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g3dfb3139cd5_0_5"/>
          <p:cNvSpPr/>
          <p:nvPr/>
        </p:nvSpPr>
        <p:spPr>
          <a:xfrm>
            <a:off x="1290900" y="3272700"/>
            <a:ext cx="4566900" cy="882300"/>
          </a:xfrm>
          <a:prstGeom prst="rect">
            <a:avLst/>
          </a:prstGeom>
          <a:solidFill>
            <a:srgbClr val="FFFF00">
              <a:alpha val="9800"/>
            </a:srgbClr>
          </a:solidFill>
          <a:ln cap="flat" cmpd="sng" w="28575">
            <a:solidFill>
              <a:srgbClr val="FFFF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g3dfb3139cd5_0_5"/>
          <p:cNvSpPr/>
          <p:nvPr/>
        </p:nvSpPr>
        <p:spPr>
          <a:xfrm>
            <a:off x="2400550" y="2699225"/>
            <a:ext cx="1671300" cy="312600"/>
          </a:xfrm>
          <a:prstGeom prst="rect">
            <a:avLst/>
          </a:prstGeom>
          <a:solidFill>
            <a:srgbClr val="FFFF00">
              <a:alpha val="9800"/>
            </a:srgbClr>
          </a:solidFill>
          <a:ln cap="flat" cmpd="sng" w="28575">
            <a:solidFill>
              <a:srgbClr val="FFFF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g3dfb3139cd5_0_5"/>
          <p:cNvSpPr/>
          <p:nvPr/>
        </p:nvSpPr>
        <p:spPr>
          <a:xfrm>
            <a:off x="1667050" y="5385275"/>
            <a:ext cx="3138300" cy="758400"/>
          </a:xfrm>
          <a:prstGeom prst="rect">
            <a:avLst/>
          </a:prstGeom>
          <a:solidFill>
            <a:srgbClr val="FFFF00">
              <a:alpha val="9800"/>
            </a:srgbClr>
          </a:solidFill>
          <a:ln cap="flat" cmpd="sng" w="28575">
            <a:solidFill>
              <a:srgbClr val="FFFF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g3dfb3139cd5_0_5"/>
          <p:cNvSpPr/>
          <p:nvPr/>
        </p:nvSpPr>
        <p:spPr>
          <a:xfrm>
            <a:off x="5147025" y="2127725"/>
            <a:ext cx="2182500" cy="369300"/>
          </a:xfrm>
          <a:prstGeom prst="wedgeRoundRectCallout">
            <a:avLst>
              <a:gd fmla="val -78471" name="adj1"/>
              <a:gd fmla="val -41793" name="adj2"/>
              <a:gd fmla="val 16667" name="adj3"/>
            </a:avLst>
          </a:prstGeom>
          <a:solidFill>
            <a:srgbClr val="F7CAAC"/>
          </a:solidFill>
          <a:ln cap="flat" cmpd="sng" w="12700">
            <a:solidFill>
              <a:srgbClr val="C55A1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-CL" sz="1200">
                <a:solidFill>
                  <a:schemeClr val="dk1"/>
                </a:solidFill>
              </a:rPr>
              <a:t>URL de registro de usuarios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g3dfb3139cd5_0_5"/>
          <p:cNvSpPr/>
          <p:nvPr/>
        </p:nvSpPr>
        <p:spPr>
          <a:xfrm>
            <a:off x="141625" y="2423000"/>
            <a:ext cx="2182500" cy="369300"/>
          </a:xfrm>
          <a:prstGeom prst="wedgeRoundRectCallout">
            <a:avLst>
              <a:gd fmla="val 16830" name="adj1"/>
              <a:gd fmla="val -87097" name="adj2"/>
              <a:gd fmla="val 16667" name="adj3"/>
            </a:avLst>
          </a:prstGeom>
          <a:solidFill>
            <a:srgbClr val="F7CAAC"/>
          </a:solidFill>
          <a:ln cap="flat" cmpd="sng" w="12700">
            <a:solidFill>
              <a:srgbClr val="C55A1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-CL" sz="1200">
                <a:solidFill>
                  <a:schemeClr val="dk1"/>
                </a:solidFill>
              </a:rPr>
              <a:t>Método para registro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g3dfb3139cd5_0_5"/>
          <p:cNvSpPr/>
          <p:nvPr/>
        </p:nvSpPr>
        <p:spPr>
          <a:xfrm>
            <a:off x="4685050" y="2862463"/>
            <a:ext cx="2182500" cy="369300"/>
          </a:xfrm>
          <a:prstGeom prst="wedgeRoundRectCallout">
            <a:avLst>
              <a:gd fmla="val -78471" name="adj1"/>
              <a:gd fmla="val -41793" name="adj2"/>
              <a:gd fmla="val 16667" name="adj3"/>
            </a:avLst>
          </a:prstGeom>
          <a:solidFill>
            <a:srgbClr val="F7CAAC"/>
          </a:solidFill>
          <a:ln cap="flat" cmpd="sng" w="12700">
            <a:solidFill>
              <a:srgbClr val="C55A1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-CL" sz="1200">
                <a:solidFill>
                  <a:schemeClr val="dk1"/>
                </a:solidFill>
              </a:rPr>
              <a:t>Formato de ingreso de datos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g3dfb3139cd5_0_5"/>
          <p:cNvSpPr/>
          <p:nvPr/>
        </p:nvSpPr>
        <p:spPr>
          <a:xfrm>
            <a:off x="6266200" y="4043563"/>
            <a:ext cx="2182500" cy="369300"/>
          </a:xfrm>
          <a:prstGeom prst="wedgeRoundRectCallout">
            <a:avLst>
              <a:gd fmla="val -78471" name="adj1"/>
              <a:gd fmla="val -41793" name="adj2"/>
              <a:gd fmla="val 16667" name="adj3"/>
            </a:avLst>
          </a:prstGeom>
          <a:solidFill>
            <a:srgbClr val="F7CAAC"/>
          </a:solidFill>
          <a:ln cap="flat" cmpd="sng" w="12700">
            <a:solidFill>
              <a:srgbClr val="C55A1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-CL" sz="1200">
                <a:solidFill>
                  <a:schemeClr val="dk1"/>
                </a:solidFill>
              </a:rPr>
              <a:t>Datos para el registro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g3dfb3139cd5_0_5"/>
          <p:cNvSpPr/>
          <p:nvPr/>
        </p:nvSpPr>
        <p:spPr>
          <a:xfrm>
            <a:off x="5375625" y="5774363"/>
            <a:ext cx="2182500" cy="369300"/>
          </a:xfrm>
          <a:prstGeom prst="wedgeRoundRectCallout">
            <a:avLst>
              <a:gd fmla="val -78471" name="adj1"/>
              <a:gd fmla="val -41793" name="adj2"/>
              <a:gd fmla="val 16667" name="adj3"/>
            </a:avLst>
          </a:prstGeom>
          <a:solidFill>
            <a:srgbClr val="F7CAAC"/>
          </a:solidFill>
          <a:ln cap="flat" cmpd="sng" w="12700">
            <a:solidFill>
              <a:srgbClr val="C55A1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-CL" sz="1200">
                <a:solidFill>
                  <a:schemeClr val="dk1"/>
                </a:solidFill>
              </a:rPr>
              <a:t>Respuesta del servicio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7"/>
          <p:cNvSpPr/>
          <p:nvPr/>
        </p:nvSpPr>
        <p:spPr>
          <a:xfrm>
            <a:off x="627062" y="1164637"/>
            <a:ext cx="8105775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chemeClr val="dk1"/>
                </a:solidFill>
              </a:rPr>
              <a:t>Verificamos el registro observando el resultado en la base de datos.</a:t>
            </a:r>
            <a:endParaRPr b="0" i="0" sz="1800" u="none" cap="none" strike="noStrike">
              <a:solidFill>
                <a:srgbClr val="0033C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Resultado de imagen para angular logos" id="204" name="Google Shape;204;p7"/>
          <p:cNvPicPr preferRelativeResize="0"/>
          <p:nvPr/>
        </p:nvPicPr>
        <p:blipFill rotWithShape="1">
          <a:blip r:embed="rId3">
            <a:alphaModFix/>
          </a:blip>
          <a:srcRect b="0" l="51971" r="0" t="0"/>
          <a:stretch/>
        </p:blipFill>
        <p:spPr>
          <a:xfrm>
            <a:off x="227013" y="85725"/>
            <a:ext cx="800100" cy="830263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7"/>
          <p:cNvSpPr txBox="1"/>
          <p:nvPr/>
        </p:nvSpPr>
        <p:spPr>
          <a:xfrm>
            <a:off x="1144588" y="185738"/>
            <a:ext cx="771236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lang="es-CL" sz="2800">
                <a:solidFill>
                  <a:srgbClr val="0070C0"/>
                </a:solidFill>
              </a:rPr>
              <a:t>Verificar</a:t>
            </a:r>
            <a:r>
              <a:rPr b="1" i="0" lang="es-CL" sz="2800" u="none" cap="none" strike="noStrik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 el Registro de un Usuario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06" name="Google Shape;206;p7"/>
          <p:cNvCxnSpPr/>
          <p:nvPr/>
        </p:nvCxnSpPr>
        <p:spPr>
          <a:xfrm>
            <a:off x="1206500" y="858838"/>
            <a:ext cx="7526338" cy="0"/>
          </a:xfrm>
          <a:prstGeom prst="straightConnector1">
            <a:avLst/>
          </a:prstGeom>
          <a:noFill/>
          <a:ln cap="flat" cmpd="sng" w="28575">
            <a:solidFill>
              <a:srgbClr val="2E75B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07" name="Google Shape;207;p7"/>
          <p:cNvSpPr/>
          <p:nvPr/>
        </p:nvSpPr>
        <p:spPr>
          <a:xfrm>
            <a:off x="0" y="6537325"/>
            <a:ext cx="9144000" cy="312738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-CL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Desarrollo FrontEnd con Angular – código 634529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8" name="Google Shape;208;p7" title="Captura de pantalla 2026-05-08 a la(s) 14.48.25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90525" y="1889537"/>
            <a:ext cx="8362952" cy="3078925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7"/>
          <p:cNvSpPr/>
          <p:nvPr/>
        </p:nvSpPr>
        <p:spPr>
          <a:xfrm>
            <a:off x="4315075" y="3466850"/>
            <a:ext cx="2700000" cy="523200"/>
          </a:xfrm>
          <a:prstGeom prst="rect">
            <a:avLst/>
          </a:prstGeom>
          <a:solidFill>
            <a:srgbClr val="FFFF00">
              <a:alpha val="9800"/>
            </a:srgbClr>
          </a:solidFill>
          <a:ln cap="flat" cmpd="sng" w="28575">
            <a:solidFill>
              <a:srgbClr val="FFFF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4" name="Google Shape;214;p8" title="Captura de pantalla 2026-05-08 a la(s) 15.01.1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46013" y="1765004"/>
            <a:ext cx="6051965" cy="477232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Resultado de imagen para angular logos" id="215" name="Google Shape;215;p8"/>
          <p:cNvPicPr preferRelativeResize="0"/>
          <p:nvPr/>
        </p:nvPicPr>
        <p:blipFill rotWithShape="1">
          <a:blip r:embed="rId4">
            <a:alphaModFix/>
          </a:blip>
          <a:srcRect b="0" l="51971" r="0" t="0"/>
          <a:stretch/>
        </p:blipFill>
        <p:spPr>
          <a:xfrm>
            <a:off x="227013" y="85725"/>
            <a:ext cx="800100" cy="830263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8"/>
          <p:cNvSpPr txBox="1"/>
          <p:nvPr/>
        </p:nvSpPr>
        <p:spPr>
          <a:xfrm>
            <a:off x="1144588" y="185738"/>
            <a:ext cx="6015814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s-CL" sz="2800" u="none" cap="none" strike="noStrik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Verificación de un Usuario (Login)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17" name="Google Shape;217;p8"/>
          <p:cNvCxnSpPr/>
          <p:nvPr/>
        </p:nvCxnSpPr>
        <p:spPr>
          <a:xfrm>
            <a:off x="1206500" y="858838"/>
            <a:ext cx="7526338" cy="0"/>
          </a:xfrm>
          <a:prstGeom prst="straightConnector1">
            <a:avLst/>
          </a:prstGeom>
          <a:noFill/>
          <a:ln cap="flat" cmpd="sng" w="28575">
            <a:solidFill>
              <a:srgbClr val="2E75B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18" name="Google Shape;218;p8"/>
          <p:cNvSpPr/>
          <p:nvPr/>
        </p:nvSpPr>
        <p:spPr>
          <a:xfrm>
            <a:off x="0" y="6537325"/>
            <a:ext cx="9144000" cy="312738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-CL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Desarrollo FrontEnd con Angular – código 634529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" name="Google Shape;219;p8"/>
          <p:cNvSpPr/>
          <p:nvPr/>
        </p:nvSpPr>
        <p:spPr>
          <a:xfrm>
            <a:off x="627062" y="1164637"/>
            <a:ext cx="810577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chemeClr val="dk1"/>
                </a:solidFill>
              </a:rPr>
              <a:t>Implementamos</a:t>
            </a:r>
            <a:r>
              <a:rPr lang="es-CL" sz="1800">
                <a:solidFill>
                  <a:schemeClr val="dk1"/>
                </a:solidFill>
              </a:rPr>
              <a:t> un</a:t>
            </a:r>
            <a:r>
              <a:rPr b="0" i="0" lang="es-CL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s-CL" sz="1800">
                <a:solidFill>
                  <a:schemeClr val="dk1"/>
                </a:solidFill>
              </a:rPr>
              <a:t>login</a:t>
            </a:r>
            <a:r>
              <a:rPr b="0" i="0" lang="es-CL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de un usuario – Verificar si el email existe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" name="Google Shape;220;p8"/>
          <p:cNvSpPr txBox="1"/>
          <p:nvPr/>
        </p:nvSpPr>
        <p:spPr>
          <a:xfrm>
            <a:off x="482228" y="1625467"/>
            <a:ext cx="6624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-CL" sz="1400" u="none" cap="none" strike="noStrike">
                <a:solidFill>
                  <a:schemeClr val="dk1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app.js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p8"/>
          <p:cNvSpPr/>
          <p:nvPr/>
        </p:nvSpPr>
        <p:spPr>
          <a:xfrm flipH="1">
            <a:off x="4759650" y="2830827"/>
            <a:ext cx="306000" cy="715200"/>
          </a:xfrm>
          <a:prstGeom prst="leftBrace">
            <a:avLst>
              <a:gd fmla="val 8333" name="adj1"/>
              <a:gd fmla="val 50000" name="adj2"/>
            </a:avLst>
          </a:prstGeom>
          <a:noFill/>
          <a:ln cap="flat" cmpd="sng" w="952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8"/>
          <p:cNvSpPr/>
          <p:nvPr/>
        </p:nvSpPr>
        <p:spPr>
          <a:xfrm flipH="1">
            <a:off x="5010300" y="4082846"/>
            <a:ext cx="306000" cy="870000"/>
          </a:xfrm>
          <a:prstGeom prst="leftBrace">
            <a:avLst>
              <a:gd fmla="val 8333" name="adj1"/>
              <a:gd fmla="val 50000" name="adj2"/>
            </a:avLst>
          </a:prstGeom>
          <a:noFill/>
          <a:ln cap="flat" cmpd="sng" w="952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8"/>
          <p:cNvSpPr txBox="1"/>
          <p:nvPr/>
        </p:nvSpPr>
        <p:spPr>
          <a:xfrm>
            <a:off x="5065641" y="2530666"/>
            <a:ext cx="29592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-CL" sz="11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Verificar error con la base de datos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p8"/>
          <p:cNvSpPr txBox="1"/>
          <p:nvPr/>
        </p:nvSpPr>
        <p:spPr>
          <a:xfrm>
            <a:off x="5316304" y="4335396"/>
            <a:ext cx="21963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s-CL">
                <a:solidFill>
                  <a:srgbClr val="FF0000"/>
                </a:solidFill>
              </a:rPr>
              <a:t>Compara</a:t>
            </a:r>
            <a:r>
              <a:rPr b="0" i="0" lang="es-CL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si </a:t>
            </a:r>
            <a:r>
              <a:rPr lang="es-CL">
                <a:solidFill>
                  <a:srgbClr val="FF0000"/>
                </a:solidFill>
              </a:rPr>
              <a:t>contraseña es correcta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225;p8"/>
          <p:cNvSpPr txBox="1"/>
          <p:nvPr/>
        </p:nvSpPr>
        <p:spPr>
          <a:xfrm>
            <a:off x="1042150" y="5537497"/>
            <a:ext cx="492443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-CL" sz="24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…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26" name="Google Shape;226;p8"/>
          <p:cNvCxnSpPr>
            <a:endCxn id="223" idx="1"/>
          </p:cNvCxnSpPr>
          <p:nvPr/>
        </p:nvCxnSpPr>
        <p:spPr>
          <a:xfrm flipH="1" rot="10800000">
            <a:off x="3686241" y="2661466"/>
            <a:ext cx="1379400" cy="54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27" name="Google Shape;227;p8"/>
          <p:cNvSpPr txBox="1"/>
          <p:nvPr/>
        </p:nvSpPr>
        <p:spPr>
          <a:xfrm>
            <a:off x="5106879" y="3034533"/>
            <a:ext cx="21963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-CL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Verificar si el email existe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228;p8"/>
          <p:cNvSpPr/>
          <p:nvPr/>
        </p:nvSpPr>
        <p:spPr>
          <a:xfrm>
            <a:off x="2114800" y="2773225"/>
            <a:ext cx="2700000" cy="830400"/>
          </a:xfrm>
          <a:prstGeom prst="rect">
            <a:avLst/>
          </a:prstGeom>
          <a:solidFill>
            <a:srgbClr val="FFFF00">
              <a:alpha val="98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" name="Google Shape;229;p8"/>
          <p:cNvSpPr/>
          <p:nvPr/>
        </p:nvSpPr>
        <p:spPr>
          <a:xfrm>
            <a:off x="2397350" y="4030525"/>
            <a:ext cx="2700000" cy="979500"/>
          </a:xfrm>
          <a:prstGeom prst="rect">
            <a:avLst/>
          </a:prstGeom>
          <a:solidFill>
            <a:srgbClr val="FFFF00">
              <a:alpha val="98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4" name="Google Shape;234;g3dfb3139cd5_0_35" title="Captura de pantalla 2026-05-08 a la(s) 15.00.07.png"/>
          <p:cNvPicPr preferRelativeResize="0"/>
          <p:nvPr/>
        </p:nvPicPr>
        <p:blipFill rotWithShape="1">
          <a:blip r:embed="rId3">
            <a:alphaModFix/>
          </a:blip>
          <a:srcRect b="0" l="0" r="0" t="6951"/>
          <a:stretch/>
        </p:blipFill>
        <p:spPr>
          <a:xfrm>
            <a:off x="1482863" y="1839700"/>
            <a:ext cx="6178277" cy="4639967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descr="Resultado de imagen para angular logos" id="235" name="Google Shape;235;g3dfb3139cd5_0_35"/>
          <p:cNvPicPr preferRelativeResize="0"/>
          <p:nvPr/>
        </p:nvPicPr>
        <p:blipFill rotWithShape="1">
          <a:blip r:embed="rId4">
            <a:alphaModFix/>
          </a:blip>
          <a:srcRect b="0" l="51972" r="0" t="0"/>
          <a:stretch/>
        </p:blipFill>
        <p:spPr>
          <a:xfrm>
            <a:off x="227013" y="85725"/>
            <a:ext cx="800100" cy="830263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g3dfb3139cd5_0_35"/>
          <p:cNvSpPr txBox="1"/>
          <p:nvPr/>
        </p:nvSpPr>
        <p:spPr>
          <a:xfrm>
            <a:off x="1144588" y="185738"/>
            <a:ext cx="71529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lang="es-CL" sz="2800">
                <a:solidFill>
                  <a:srgbClr val="0070C0"/>
                </a:solidFill>
              </a:rPr>
              <a:t>Probar</a:t>
            </a:r>
            <a:r>
              <a:rPr b="1" i="0" lang="es-CL" sz="2800" u="none" cap="none" strike="noStrik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lang="es-CL" sz="2800">
                <a:solidFill>
                  <a:srgbClr val="0070C0"/>
                </a:solidFill>
              </a:rPr>
              <a:t>Login</a:t>
            </a:r>
            <a:r>
              <a:rPr b="1" i="0" lang="es-CL" sz="2800" u="none" cap="none" strike="noStrik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 de un Usuar</a:t>
            </a:r>
            <a:r>
              <a:rPr b="1" lang="es-CL" sz="2800">
                <a:solidFill>
                  <a:srgbClr val="0070C0"/>
                </a:solidFill>
              </a:rPr>
              <a:t>io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37" name="Google Shape;237;g3dfb3139cd5_0_35"/>
          <p:cNvCxnSpPr/>
          <p:nvPr/>
        </p:nvCxnSpPr>
        <p:spPr>
          <a:xfrm>
            <a:off x="1206500" y="858838"/>
            <a:ext cx="7526400" cy="0"/>
          </a:xfrm>
          <a:prstGeom prst="straightConnector1">
            <a:avLst/>
          </a:prstGeom>
          <a:noFill/>
          <a:ln cap="flat" cmpd="sng" w="28575">
            <a:solidFill>
              <a:srgbClr val="2E75B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38" name="Google Shape;238;g3dfb3139cd5_0_35"/>
          <p:cNvSpPr/>
          <p:nvPr/>
        </p:nvSpPr>
        <p:spPr>
          <a:xfrm>
            <a:off x="0" y="6537325"/>
            <a:ext cx="9144000" cy="312600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-CL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Desarrollo FrontEnd con Angular – código 634529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" name="Google Shape;239;g3dfb3139cd5_0_35"/>
          <p:cNvSpPr/>
          <p:nvPr/>
        </p:nvSpPr>
        <p:spPr>
          <a:xfrm>
            <a:off x="627062" y="1164637"/>
            <a:ext cx="8105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chemeClr val="dk1"/>
                </a:solidFill>
              </a:rPr>
              <a:t>Al igual que con las otras operaciones del backend probaremos la operación de login con Postman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g3dfb3139cd5_0_35"/>
          <p:cNvSpPr/>
          <p:nvPr/>
        </p:nvSpPr>
        <p:spPr>
          <a:xfrm>
            <a:off x="1546750" y="1909475"/>
            <a:ext cx="3138300" cy="312600"/>
          </a:xfrm>
          <a:prstGeom prst="rect">
            <a:avLst/>
          </a:prstGeom>
          <a:solidFill>
            <a:srgbClr val="FFFF00">
              <a:alpha val="9800"/>
            </a:srgbClr>
          </a:solidFill>
          <a:ln cap="flat" cmpd="sng" w="28575">
            <a:solidFill>
              <a:srgbClr val="FFFF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" name="Google Shape;241;g3dfb3139cd5_0_35"/>
          <p:cNvSpPr/>
          <p:nvPr/>
        </p:nvSpPr>
        <p:spPr>
          <a:xfrm>
            <a:off x="1667050" y="3084575"/>
            <a:ext cx="3962100" cy="523200"/>
          </a:xfrm>
          <a:prstGeom prst="rect">
            <a:avLst/>
          </a:prstGeom>
          <a:solidFill>
            <a:srgbClr val="FFFF00">
              <a:alpha val="9800"/>
            </a:srgbClr>
          </a:solidFill>
          <a:ln cap="flat" cmpd="sng" w="28575">
            <a:solidFill>
              <a:srgbClr val="FFFF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" name="Google Shape;242;g3dfb3139cd5_0_35"/>
          <p:cNvSpPr/>
          <p:nvPr/>
        </p:nvSpPr>
        <p:spPr>
          <a:xfrm>
            <a:off x="2400550" y="2497025"/>
            <a:ext cx="1671300" cy="312600"/>
          </a:xfrm>
          <a:prstGeom prst="rect">
            <a:avLst/>
          </a:prstGeom>
          <a:solidFill>
            <a:srgbClr val="FFFF00">
              <a:alpha val="9800"/>
            </a:srgbClr>
          </a:solidFill>
          <a:ln cap="flat" cmpd="sng" w="28575">
            <a:solidFill>
              <a:srgbClr val="FFFF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" name="Google Shape;243;g3dfb3139cd5_0_35"/>
          <p:cNvSpPr/>
          <p:nvPr/>
        </p:nvSpPr>
        <p:spPr>
          <a:xfrm>
            <a:off x="1848025" y="4910850"/>
            <a:ext cx="4695600" cy="1568700"/>
          </a:xfrm>
          <a:prstGeom prst="rect">
            <a:avLst/>
          </a:prstGeom>
          <a:solidFill>
            <a:srgbClr val="FFFF00">
              <a:alpha val="9800"/>
            </a:srgbClr>
          </a:solidFill>
          <a:ln cap="flat" cmpd="sng" w="28575">
            <a:solidFill>
              <a:srgbClr val="FFFF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" name="Google Shape;244;g3dfb3139cd5_0_35"/>
          <p:cNvSpPr/>
          <p:nvPr/>
        </p:nvSpPr>
        <p:spPr>
          <a:xfrm>
            <a:off x="5147025" y="2127725"/>
            <a:ext cx="2182500" cy="369300"/>
          </a:xfrm>
          <a:prstGeom prst="wedgeRoundRectCallout">
            <a:avLst>
              <a:gd fmla="val -78471" name="adj1"/>
              <a:gd fmla="val -41793" name="adj2"/>
              <a:gd fmla="val 16667" name="adj3"/>
            </a:avLst>
          </a:prstGeom>
          <a:solidFill>
            <a:srgbClr val="F7CAAC"/>
          </a:solidFill>
          <a:ln cap="flat" cmpd="sng" w="12700">
            <a:solidFill>
              <a:srgbClr val="C55A1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-CL" sz="1200">
                <a:solidFill>
                  <a:schemeClr val="dk1"/>
                </a:solidFill>
              </a:rPr>
              <a:t>URL de login de usuarios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" name="Google Shape;245;g3dfb3139cd5_0_35"/>
          <p:cNvSpPr/>
          <p:nvPr/>
        </p:nvSpPr>
        <p:spPr>
          <a:xfrm>
            <a:off x="341650" y="2330900"/>
            <a:ext cx="2182500" cy="369300"/>
          </a:xfrm>
          <a:prstGeom prst="wedgeRoundRectCallout">
            <a:avLst>
              <a:gd fmla="val 16830" name="adj1"/>
              <a:gd fmla="val -87097" name="adj2"/>
              <a:gd fmla="val 16667" name="adj3"/>
            </a:avLst>
          </a:prstGeom>
          <a:solidFill>
            <a:srgbClr val="F7CAAC"/>
          </a:solidFill>
          <a:ln cap="flat" cmpd="sng" w="12700">
            <a:solidFill>
              <a:srgbClr val="C55A1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-CL" sz="1200">
                <a:solidFill>
                  <a:schemeClr val="dk1"/>
                </a:solidFill>
              </a:rPr>
              <a:t>Método para login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" name="Google Shape;246;g3dfb3139cd5_0_35"/>
          <p:cNvSpPr/>
          <p:nvPr/>
        </p:nvSpPr>
        <p:spPr>
          <a:xfrm>
            <a:off x="4685050" y="2700200"/>
            <a:ext cx="2182500" cy="369300"/>
          </a:xfrm>
          <a:prstGeom prst="wedgeRoundRectCallout">
            <a:avLst>
              <a:gd fmla="val -78471" name="adj1"/>
              <a:gd fmla="val -41793" name="adj2"/>
              <a:gd fmla="val 16667" name="adj3"/>
            </a:avLst>
          </a:prstGeom>
          <a:solidFill>
            <a:srgbClr val="F7CAAC"/>
          </a:solidFill>
          <a:ln cap="flat" cmpd="sng" w="12700">
            <a:solidFill>
              <a:srgbClr val="C55A1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-CL" sz="1200">
                <a:solidFill>
                  <a:schemeClr val="dk1"/>
                </a:solidFill>
              </a:rPr>
              <a:t>Formato de ingreso de datos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" name="Google Shape;247;g3dfb3139cd5_0_35"/>
          <p:cNvSpPr/>
          <p:nvPr/>
        </p:nvSpPr>
        <p:spPr>
          <a:xfrm>
            <a:off x="6009025" y="3469488"/>
            <a:ext cx="2182500" cy="369300"/>
          </a:xfrm>
          <a:prstGeom prst="wedgeRoundRectCallout">
            <a:avLst>
              <a:gd fmla="val -78471" name="adj1"/>
              <a:gd fmla="val -41793" name="adj2"/>
              <a:gd fmla="val 16667" name="adj3"/>
            </a:avLst>
          </a:prstGeom>
          <a:solidFill>
            <a:srgbClr val="F7CAAC"/>
          </a:solidFill>
          <a:ln cap="flat" cmpd="sng" w="12700">
            <a:solidFill>
              <a:srgbClr val="C55A1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-CL" sz="1200">
                <a:solidFill>
                  <a:schemeClr val="dk1"/>
                </a:solidFill>
              </a:rPr>
              <a:t>Datos para el login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8" name="Google Shape;248;g3dfb3139cd5_0_35"/>
          <p:cNvSpPr/>
          <p:nvPr/>
        </p:nvSpPr>
        <p:spPr>
          <a:xfrm>
            <a:off x="5375625" y="5774363"/>
            <a:ext cx="2182500" cy="369300"/>
          </a:xfrm>
          <a:prstGeom prst="wedgeRoundRectCallout">
            <a:avLst>
              <a:gd fmla="val -78471" name="adj1"/>
              <a:gd fmla="val -41793" name="adj2"/>
              <a:gd fmla="val 16667" name="adj3"/>
            </a:avLst>
          </a:prstGeom>
          <a:solidFill>
            <a:srgbClr val="F7CAAC"/>
          </a:solidFill>
          <a:ln cap="flat" cmpd="sng" w="12700">
            <a:solidFill>
              <a:srgbClr val="C55A1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-CL" sz="1200">
                <a:solidFill>
                  <a:schemeClr val="dk1"/>
                </a:solidFill>
              </a:rPr>
              <a:t>Respuesta exitosa del servicio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3" name="Google Shape;253;g3dfb3139cd5_0_54" title="Captura de pantalla 2026-05-08 a la(s) 15.00.2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28679" y="1839699"/>
            <a:ext cx="6784749" cy="4634667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descr="Resultado de imagen para angular logos" id="254" name="Google Shape;254;g3dfb3139cd5_0_54"/>
          <p:cNvPicPr preferRelativeResize="0"/>
          <p:nvPr/>
        </p:nvPicPr>
        <p:blipFill rotWithShape="1">
          <a:blip r:embed="rId4">
            <a:alphaModFix/>
          </a:blip>
          <a:srcRect b="0" l="51972" r="0" t="0"/>
          <a:stretch/>
        </p:blipFill>
        <p:spPr>
          <a:xfrm>
            <a:off x="227013" y="85725"/>
            <a:ext cx="800100" cy="830263"/>
          </a:xfrm>
          <a:prstGeom prst="rect">
            <a:avLst/>
          </a:prstGeom>
          <a:noFill/>
          <a:ln>
            <a:noFill/>
          </a:ln>
        </p:spPr>
      </p:pic>
      <p:sp>
        <p:nvSpPr>
          <p:cNvPr id="255" name="Google Shape;255;g3dfb3139cd5_0_54"/>
          <p:cNvSpPr txBox="1"/>
          <p:nvPr/>
        </p:nvSpPr>
        <p:spPr>
          <a:xfrm>
            <a:off x="1144588" y="185738"/>
            <a:ext cx="71529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lang="es-CL" sz="2800">
                <a:solidFill>
                  <a:srgbClr val="0070C0"/>
                </a:solidFill>
              </a:rPr>
              <a:t>Probar</a:t>
            </a:r>
            <a:r>
              <a:rPr b="1" i="0" lang="es-CL" sz="2800" u="none" cap="none" strike="noStrik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lang="es-CL" sz="2800">
                <a:solidFill>
                  <a:srgbClr val="0070C0"/>
                </a:solidFill>
              </a:rPr>
              <a:t>Login</a:t>
            </a:r>
            <a:r>
              <a:rPr b="1" i="0" lang="es-CL" sz="2800" u="none" cap="none" strike="noStrik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 de un Usuar</a:t>
            </a:r>
            <a:r>
              <a:rPr b="1" lang="es-CL" sz="2800">
                <a:solidFill>
                  <a:srgbClr val="0070C0"/>
                </a:solidFill>
              </a:rPr>
              <a:t>io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56" name="Google Shape;256;g3dfb3139cd5_0_54"/>
          <p:cNvCxnSpPr/>
          <p:nvPr/>
        </p:nvCxnSpPr>
        <p:spPr>
          <a:xfrm>
            <a:off x="1206500" y="858838"/>
            <a:ext cx="7526400" cy="0"/>
          </a:xfrm>
          <a:prstGeom prst="straightConnector1">
            <a:avLst/>
          </a:prstGeom>
          <a:noFill/>
          <a:ln cap="flat" cmpd="sng" w="28575">
            <a:solidFill>
              <a:srgbClr val="2E75B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57" name="Google Shape;257;g3dfb3139cd5_0_54"/>
          <p:cNvSpPr/>
          <p:nvPr/>
        </p:nvSpPr>
        <p:spPr>
          <a:xfrm>
            <a:off x="0" y="6537325"/>
            <a:ext cx="9144000" cy="312600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-CL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Desarrollo FrontEnd con Angular – código 634529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8" name="Google Shape;258;g3dfb3139cd5_0_54"/>
          <p:cNvSpPr/>
          <p:nvPr/>
        </p:nvSpPr>
        <p:spPr>
          <a:xfrm>
            <a:off x="627062" y="1164637"/>
            <a:ext cx="8105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chemeClr val="dk1"/>
                </a:solidFill>
              </a:rPr>
              <a:t>Al igual que con las otras operaciones del backend probaremos la operación de login con Postman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9" name="Google Shape;259;g3dfb3139cd5_0_54"/>
          <p:cNvSpPr/>
          <p:nvPr/>
        </p:nvSpPr>
        <p:spPr>
          <a:xfrm>
            <a:off x="1418350" y="2253575"/>
            <a:ext cx="3202200" cy="312600"/>
          </a:xfrm>
          <a:prstGeom prst="rect">
            <a:avLst/>
          </a:prstGeom>
          <a:solidFill>
            <a:srgbClr val="FFFF00">
              <a:alpha val="9800"/>
            </a:srgbClr>
          </a:solidFill>
          <a:ln cap="flat" cmpd="sng" w="28575">
            <a:solidFill>
              <a:srgbClr val="FFFF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" name="Google Shape;260;g3dfb3139cd5_0_54"/>
          <p:cNvSpPr/>
          <p:nvPr/>
        </p:nvSpPr>
        <p:spPr>
          <a:xfrm>
            <a:off x="1781350" y="3532250"/>
            <a:ext cx="3962100" cy="523200"/>
          </a:xfrm>
          <a:prstGeom prst="rect">
            <a:avLst/>
          </a:prstGeom>
          <a:solidFill>
            <a:srgbClr val="FFFF00">
              <a:alpha val="9800"/>
            </a:srgbClr>
          </a:solidFill>
          <a:ln cap="flat" cmpd="sng" w="28575">
            <a:solidFill>
              <a:srgbClr val="FFFF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" name="Google Shape;261;g3dfb3139cd5_0_54"/>
          <p:cNvSpPr/>
          <p:nvPr/>
        </p:nvSpPr>
        <p:spPr>
          <a:xfrm>
            <a:off x="2476750" y="2925650"/>
            <a:ext cx="1671300" cy="312600"/>
          </a:xfrm>
          <a:prstGeom prst="rect">
            <a:avLst/>
          </a:prstGeom>
          <a:solidFill>
            <a:srgbClr val="FFFF00">
              <a:alpha val="9800"/>
            </a:srgbClr>
          </a:solidFill>
          <a:ln cap="flat" cmpd="sng" w="28575">
            <a:solidFill>
              <a:srgbClr val="FFFF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" name="Google Shape;262;g3dfb3139cd5_0_54"/>
          <p:cNvSpPr/>
          <p:nvPr/>
        </p:nvSpPr>
        <p:spPr>
          <a:xfrm>
            <a:off x="1781350" y="5501400"/>
            <a:ext cx="2704800" cy="728100"/>
          </a:xfrm>
          <a:prstGeom prst="rect">
            <a:avLst/>
          </a:prstGeom>
          <a:solidFill>
            <a:srgbClr val="FFFF00">
              <a:alpha val="9800"/>
            </a:srgbClr>
          </a:solidFill>
          <a:ln cap="flat" cmpd="sng" w="28575">
            <a:solidFill>
              <a:srgbClr val="FFFF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3" name="Google Shape;263;g3dfb3139cd5_0_54"/>
          <p:cNvSpPr/>
          <p:nvPr/>
        </p:nvSpPr>
        <p:spPr>
          <a:xfrm>
            <a:off x="6047125" y="3774288"/>
            <a:ext cx="2182500" cy="369300"/>
          </a:xfrm>
          <a:prstGeom prst="wedgeRoundRectCallout">
            <a:avLst>
              <a:gd fmla="val -78471" name="adj1"/>
              <a:gd fmla="val -41793" name="adj2"/>
              <a:gd fmla="val 16667" name="adj3"/>
            </a:avLst>
          </a:prstGeom>
          <a:solidFill>
            <a:srgbClr val="F7CAAC"/>
          </a:solidFill>
          <a:ln cap="flat" cmpd="sng" w="12700">
            <a:solidFill>
              <a:srgbClr val="C55A1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-CL" sz="1200">
                <a:solidFill>
                  <a:schemeClr val="dk1"/>
                </a:solidFill>
              </a:rPr>
              <a:t>Datos para el login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" name="Google Shape;264;g3dfb3139cd5_0_54"/>
          <p:cNvSpPr/>
          <p:nvPr/>
        </p:nvSpPr>
        <p:spPr>
          <a:xfrm>
            <a:off x="4908900" y="5860188"/>
            <a:ext cx="2182500" cy="369300"/>
          </a:xfrm>
          <a:prstGeom prst="wedgeRoundRectCallout">
            <a:avLst>
              <a:gd fmla="val -78471" name="adj1"/>
              <a:gd fmla="val -41793" name="adj2"/>
              <a:gd fmla="val 16667" name="adj3"/>
            </a:avLst>
          </a:prstGeom>
          <a:solidFill>
            <a:srgbClr val="F7CAAC"/>
          </a:solidFill>
          <a:ln cap="flat" cmpd="sng" w="12700">
            <a:solidFill>
              <a:srgbClr val="C55A1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-CL" sz="1200">
                <a:solidFill>
                  <a:schemeClr val="dk1"/>
                </a:solidFill>
              </a:rPr>
              <a:t>Respuesta del servicio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9" name="Google Shape;269;g3dfb3139cd5_0_72" title="Captura de pantalla 2026-05-08 a la(s) 15.00.47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32400" y="1909477"/>
            <a:ext cx="7377275" cy="4483725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descr="Resultado de imagen para angular logos" id="270" name="Google Shape;270;g3dfb3139cd5_0_72"/>
          <p:cNvPicPr preferRelativeResize="0"/>
          <p:nvPr/>
        </p:nvPicPr>
        <p:blipFill rotWithShape="1">
          <a:blip r:embed="rId4">
            <a:alphaModFix/>
          </a:blip>
          <a:srcRect b="0" l="51972" r="0" t="0"/>
          <a:stretch/>
        </p:blipFill>
        <p:spPr>
          <a:xfrm>
            <a:off x="227013" y="85725"/>
            <a:ext cx="800100" cy="830263"/>
          </a:xfrm>
          <a:prstGeom prst="rect">
            <a:avLst/>
          </a:prstGeom>
          <a:noFill/>
          <a:ln>
            <a:noFill/>
          </a:ln>
        </p:spPr>
      </p:pic>
      <p:sp>
        <p:nvSpPr>
          <p:cNvPr id="271" name="Google Shape;271;g3dfb3139cd5_0_72"/>
          <p:cNvSpPr txBox="1"/>
          <p:nvPr/>
        </p:nvSpPr>
        <p:spPr>
          <a:xfrm>
            <a:off x="1144588" y="185738"/>
            <a:ext cx="71529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lang="es-CL" sz="2800">
                <a:solidFill>
                  <a:srgbClr val="0070C0"/>
                </a:solidFill>
              </a:rPr>
              <a:t>Probar</a:t>
            </a:r>
            <a:r>
              <a:rPr b="1" i="0" lang="es-CL" sz="2800" u="none" cap="none" strike="noStrik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lang="es-CL" sz="2800">
                <a:solidFill>
                  <a:srgbClr val="0070C0"/>
                </a:solidFill>
              </a:rPr>
              <a:t>Login</a:t>
            </a:r>
            <a:r>
              <a:rPr b="1" i="0" lang="es-CL" sz="2800" u="none" cap="none" strike="noStrik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 de un Usuar</a:t>
            </a:r>
            <a:r>
              <a:rPr b="1" lang="es-CL" sz="2800">
                <a:solidFill>
                  <a:srgbClr val="0070C0"/>
                </a:solidFill>
              </a:rPr>
              <a:t>io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72" name="Google Shape;272;g3dfb3139cd5_0_72"/>
          <p:cNvCxnSpPr/>
          <p:nvPr/>
        </p:nvCxnSpPr>
        <p:spPr>
          <a:xfrm>
            <a:off x="1206500" y="858838"/>
            <a:ext cx="7526400" cy="0"/>
          </a:xfrm>
          <a:prstGeom prst="straightConnector1">
            <a:avLst/>
          </a:prstGeom>
          <a:noFill/>
          <a:ln cap="flat" cmpd="sng" w="28575">
            <a:solidFill>
              <a:srgbClr val="2E75B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73" name="Google Shape;273;g3dfb3139cd5_0_72"/>
          <p:cNvSpPr/>
          <p:nvPr/>
        </p:nvSpPr>
        <p:spPr>
          <a:xfrm>
            <a:off x="0" y="6537325"/>
            <a:ext cx="9144000" cy="312600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-CL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Desarrollo FrontEnd con Angular – código 634529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" name="Google Shape;274;g3dfb3139cd5_0_72"/>
          <p:cNvSpPr/>
          <p:nvPr/>
        </p:nvSpPr>
        <p:spPr>
          <a:xfrm>
            <a:off x="627062" y="1164637"/>
            <a:ext cx="8105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chemeClr val="dk1"/>
                </a:solidFill>
              </a:rPr>
              <a:t>Al igual que con las otras operaciones del backend probaremos la operación de login con Postman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" name="Google Shape;275;g3dfb3139cd5_0_72"/>
          <p:cNvSpPr/>
          <p:nvPr/>
        </p:nvSpPr>
        <p:spPr>
          <a:xfrm>
            <a:off x="1206500" y="2071400"/>
            <a:ext cx="3138300" cy="312600"/>
          </a:xfrm>
          <a:prstGeom prst="rect">
            <a:avLst/>
          </a:prstGeom>
          <a:solidFill>
            <a:srgbClr val="FFFF00">
              <a:alpha val="9800"/>
            </a:srgbClr>
          </a:solidFill>
          <a:ln cap="flat" cmpd="sng" w="28575">
            <a:solidFill>
              <a:srgbClr val="FFFF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" name="Google Shape;276;g3dfb3139cd5_0_72"/>
          <p:cNvSpPr/>
          <p:nvPr/>
        </p:nvSpPr>
        <p:spPr>
          <a:xfrm>
            <a:off x="1524175" y="3436488"/>
            <a:ext cx="3962100" cy="523200"/>
          </a:xfrm>
          <a:prstGeom prst="rect">
            <a:avLst/>
          </a:prstGeom>
          <a:solidFill>
            <a:srgbClr val="FFFF00">
              <a:alpha val="9800"/>
            </a:srgbClr>
          </a:solidFill>
          <a:ln cap="flat" cmpd="sng" w="28575">
            <a:solidFill>
              <a:srgbClr val="FFFF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7" name="Google Shape;277;g3dfb3139cd5_0_72"/>
          <p:cNvSpPr/>
          <p:nvPr/>
        </p:nvSpPr>
        <p:spPr>
          <a:xfrm>
            <a:off x="2400550" y="2497025"/>
            <a:ext cx="1671300" cy="312600"/>
          </a:xfrm>
          <a:prstGeom prst="rect">
            <a:avLst/>
          </a:prstGeom>
          <a:solidFill>
            <a:srgbClr val="FFFF00">
              <a:alpha val="9800"/>
            </a:srgbClr>
          </a:solidFill>
          <a:ln cap="flat" cmpd="sng" w="28575">
            <a:solidFill>
              <a:srgbClr val="FFFF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" name="Google Shape;278;g3dfb3139cd5_0_72"/>
          <p:cNvSpPr/>
          <p:nvPr/>
        </p:nvSpPr>
        <p:spPr>
          <a:xfrm>
            <a:off x="1619425" y="5606175"/>
            <a:ext cx="4695600" cy="727800"/>
          </a:xfrm>
          <a:prstGeom prst="rect">
            <a:avLst/>
          </a:prstGeom>
          <a:solidFill>
            <a:srgbClr val="FFFF00">
              <a:alpha val="9800"/>
            </a:srgbClr>
          </a:solidFill>
          <a:ln cap="flat" cmpd="sng" w="28575">
            <a:solidFill>
              <a:srgbClr val="FFFF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9" name="Google Shape;279;g3dfb3139cd5_0_72"/>
          <p:cNvSpPr/>
          <p:nvPr/>
        </p:nvSpPr>
        <p:spPr>
          <a:xfrm>
            <a:off x="5961400" y="3698088"/>
            <a:ext cx="2182500" cy="369300"/>
          </a:xfrm>
          <a:prstGeom prst="wedgeRoundRectCallout">
            <a:avLst>
              <a:gd fmla="val -78471" name="adj1"/>
              <a:gd fmla="val -41793" name="adj2"/>
              <a:gd fmla="val 16667" name="adj3"/>
            </a:avLst>
          </a:prstGeom>
          <a:solidFill>
            <a:srgbClr val="F7CAAC"/>
          </a:solidFill>
          <a:ln cap="flat" cmpd="sng" w="12700">
            <a:solidFill>
              <a:srgbClr val="C55A1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-CL" sz="1200">
                <a:solidFill>
                  <a:schemeClr val="dk1"/>
                </a:solidFill>
              </a:rPr>
              <a:t>Datos para el login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0" name="Google Shape;280;g3dfb3139cd5_0_72"/>
          <p:cNvSpPr/>
          <p:nvPr/>
        </p:nvSpPr>
        <p:spPr>
          <a:xfrm>
            <a:off x="5680425" y="5869613"/>
            <a:ext cx="2182500" cy="369300"/>
          </a:xfrm>
          <a:prstGeom prst="wedgeRoundRectCallout">
            <a:avLst>
              <a:gd fmla="val -78471" name="adj1"/>
              <a:gd fmla="val -41793" name="adj2"/>
              <a:gd fmla="val 16667" name="adj3"/>
            </a:avLst>
          </a:prstGeom>
          <a:solidFill>
            <a:srgbClr val="F7CAAC"/>
          </a:solidFill>
          <a:ln cap="flat" cmpd="sng" w="12700">
            <a:solidFill>
              <a:srgbClr val="C55A1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-CL" sz="1200">
                <a:solidFill>
                  <a:schemeClr val="dk1"/>
                </a:solidFill>
              </a:rPr>
              <a:t>Respuesta del servicio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5" name="Google Shape;285;g3dfb3139cd5_0_92" title="Captura de pantalla 2026-05-08 a la(s) 15.00.47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32400" y="1909477"/>
            <a:ext cx="7377275" cy="4483725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descr="Resultado de imagen para angular logos" id="286" name="Google Shape;286;g3dfb3139cd5_0_92"/>
          <p:cNvPicPr preferRelativeResize="0"/>
          <p:nvPr/>
        </p:nvPicPr>
        <p:blipFill rotWithShape="1">
          <a:blip r:embed="rId4">
            <a:alphaModFix/>
          </a:blip>
          <a:srcRect b="0" l="51972" r="0" t="0"/>
          <a:stretch/>
        </p:blipFill>
        <p:spPr>
          <a:xfrm>
            <a:off x="227013" y="85725"/>
            <a:ext cx="800100" cy="830263"/>
          </a:xfrm>
          <a:prstGeom prst="rect">
            <a:avLst/>
          </a:prstGeom>
          <a:noFill/>
          <a:ln>
            <a:noFill/>
          </a:ln>
        </p:spPr>
      </p:pic>
      <p:sp>
        <p:nvSpPr>
          <p:cNvPr id="287" name="Google Shape;287;g3dfb3139cd5_0_92"/>
          <p:cNvSpPr txBox="1"/>
          <p:nvPr/>
        </p:nvSpPr>
        <p:spPr>
          <a:xfrm>
            <a:off x="1144588" y="185738"/>
            <a:ext cx="71529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lang="es-CL" sz="2800">
                <a:solidFill>
                  <a:srgbClr val="0070C0"/>
                </a:solidFill>
              </a:rPr>
              <a:t>Probar</a:t>
            </a:r>
            <a:r>
              <a:rPr b="1" i="0" lang="es-CL" sz="2800" u="none" cap="none" strike="noStrik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lang="es-CL" sz="2800">
                <a:solidFill>
                  <a:srgbClr val="0070C0"/>
                </a:solidFill>
              </a:rPr>
              <a:t>Login</a:t>
            </a:r>
            <a:r>
              <a:rPr b="1" i="0" lang="es-CL" sz="2800" u="none" cap="none" strike="noStrik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 de un Usuar</a:t>
            </a:r>
            <a:r>
              <a:rPr b="1" lang="es-CL" sz="2800">
                <a:solidFill>
                  <a:srgbClr val="0070C0"/>
                </a:solidFill>
              </a:rPr>
              <a:t>io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88" name="Google Shape;288;g3dfb3139cd5_0_92"/>
          <p:cNvCxnSpPr/>
          <p:nvPr/>
        </p:nvCxnSpPr>
        <p:spPr>
          <a:xfrm>
            <a:off x="1206500" y="858838"/>
            <a:ext cx="7526400" cy="0"/>
          </a:xfrm>
          <a:prstGeom prst="straightConnector1">
            <a:avLst/>
          </a:prstGeom>
          <a:noFill/>
          <a:ln cap="flat" cmpd="sng" w="28575">
            <a:solidFill>
              <a:srgbClr val="2E75B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89" name="Google Shape;289;g3dfb3139cd5_0_92"/>
          <p:cNvSpPr/>
          <p:nvPr/>
        </p:nvSpPr>
        <p:spPr>
          <a:xfrm>
            <a:off x="0" y="6537325"/>
            <a:ext cx="9144000" cy="312600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-CL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Desarrollo FrontEnd con Angular – código 634529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0" name="Google Shape;290;g3dfb3139cd5_0_92"/>
          <p:cNvSpPr/>
          <p:nvPr/>
        </p:nvSpPr>
        <p:spPr>
          <a:xfrm>
            <a:off x="627062" y="1164637"/>
            <a:ext cx="8105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chemeClr val="dk1"/>
                </a:solidFill>
              </a:rPr>
              <a:t>Al igual que con las otras operaciones del backend probaremos la operación de login con Postman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1" name="Google Shape;291;g3dfb3139cd5_0_92"/>
          <p:cNvSpPr/>
          <p:nvPr/>
        </p:nvSpPr>
        <p:spPr>
          <a:xfrm>
            <a:off x="1206500" y="2071400"/>
            <a:ext cx="3138300" cy="312600"/>
          </a:xfrm>
          <a:prstGeom prst="rect">
            <a:avLst/>
          </a:prstGeom>
          <a:solidFill>
            <a:srgbClr val="FFFF00">
              <a:alpha val="9800"/>
            </a:srgbClr>
          </a:solidFill>
          <a:ln cap="flat" cmpd="sng" w="28575">
            <a:solidFill>
              <a:srgbClr val="FFFF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2" name="Google Shape;292;g3dfb3139cd5_0_92"/>
          <p:cNvSpPr/>
          <p:nvPr/>
        </p:nvSpPr>
        <p:spPr>
          <a:xfrm>
            <a:off x="1524175" y="3436488"/>
            <a:ext cx="3962100" cy="523200"/>
          </a:xfrm>
          <a:prstGeom prst="rect">
            <a:avLst/>
          </a:prstGeom>
          <a:solidFill>
            <a:srgbClr val="FFFF00">
              <a:alpha val="9800"/>
            </a:srgbClr>
          </a:solidFill>
          <a:ln cap="flat" cmpd="sng" w="28575">
            <a:solidFill>
              <a:srgbClr val="FFFF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3" name="Google Shape;293;g3dfb3139cd5_0_92"/>
          <p:cNvSpPr/>
          <p:nvPr/>
        </p:nvSpPr>
        <p:spPr>
          <a:xfrm>
            <a:off x="2400550" y="2497025"/>
            <a:ext cx="1671300" cy="312600"/>
          </a:xfrm>
          <a:prstGeom prst="rect">
            <a:avLst/>
          </a:prstGeom>
          <a:solidFill>
            <a:srgbClr val="FFFF00">
              <a:alpha val="9800"/>
            </a:srgbClr>
          </a:solidFill>
          <a:ln cap="flat" cmpd="sng" w="28575">
            <a:solidFill>
              <a:srgbClr val="FFFF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4" name="Google Shape;294;g3dfb3139cd5_0_92"/>
          <p:cNvSpPr/>
          <p:nvPr/>
        </p:nvSpPr>
        <p:spPr>
          <a:xfrm>
            <a:off x="1619425" y="5606175"/>
            <a:ext cx="4695600" cy="727800"/>
          </a:xfrm>
          <a:prstGeom prst="rect">
            <a:avLst/>
          </a:prstGeom>
          <a:solidFill>
            <a:srgbClr val="FFFF00">
              <a:alpha val="9800"/>
            </a:srgbClr>
          </a:solidFill>
          <a:ln cap="flat" cmpd="sng" w="28575">
            <a:solidFill>
              <a:srgbClr val="FFFF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5" name="Google Shape;295;g3dfb3139cd5_0_92"/>
          <p:cNvSpPr/>
          <p:nvPr/>
        </p:nvSpPr>
        <p:spPr>
          <a:xfrm>
            <a:off x="5961400" y="3698088"/>
            <a:ext cx="2182500" cy="369300"/>
          </a:xfrm>
          <a:prstGeom prst="wedgeRoundRectCallout">
            <a:avLst>
              <a:gd fmla="val -78471" name="adj1"/>
              <a:gd fmla="val -41793" name="adj2"/>
              <a:gd fmla="val 16667" name="adj3"/>
            </a:avLst>
          </a:prstGeom>
          <a:solidFill>
            <a:srgbClr val="F7CAAC"/>
          </a:solidFill>
          <a:ln cap="flat" cmpd="sng" w="12700">
            <a:solidFill>
              <a:srgbClr val="C55A1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-CL" sz="1200">
                <a:solidFill>
                  <a:schemeClr val="dk1"/>
                </a:solidFill>
              </a:rPr>
              <a:t>Datos para el login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6" name="Google Shape;296;g3dfb3139cd5_0_92"/>
          <p:cNvSpPr/>
          <p:nvPr/>
        </p:nvSpPr>
        <p:spPr>
          <a:xfrm>
            <a:off x="5680425" y="5869613"/>
            <a:ext cx="2182500" cy="369300"/>
          </a:xfrm>
          <a:prstGeom prst="wedgeRoundRectCallout">
            <a:avLst>
              <a:gd fmla="val -78471" name="adj1"/>
              <a:gd fmla="val -41793" name="adj2"/>
              <a:gd fmla="val 16667" name="adj3"/>
            </a:avLst>
          </a:prstGeom>
          <a:solidFill>
            <a:srgbClr val="F7CAAC"/>
          </a:solidFill>
          <a:ln cap="flat" cmpd="sng" w="12700">
            <a:solidFill>
              <a:srgbClr val="C55A1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-CL" sz="1200">
                <a:solidFill>
                  <a:schemeClr val="dk1"/>
                </a:solidFill>
              </a:rPr>
              <a:t>Respuesta del servicio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esultado de imagen para angular logos" id="301" name="Google Shape;301;g3dfb3139cd5_0_193"/>
          <p:cNvPicPr preferRelativeResize="0"/>
          <p:nvPr/>
        </p:nvPicPr>
        <p:blipFill rotWithShape="1">
          <a:blip r:embed="rId3">
            <a:alphaModFix/>
          </a:blip>
          <a:srcRect b="0" l="51972" r="0" t="0"/>
          <a:stretch/>
        </p:blipFill>
        <p:spPr>
          <a:xfrm>
            <a:off x="227013" y="85725"/>
            <a:ext cx="800100" cy="830263"/>
          </a:xfrm>
          <a:prstGeom prst="rect">
            <a:avLst/>
          </a:prstGeom>
          <a:noFill/>
          <a:ln>
            <a:noFill/>
          </a:ln>
        </p:spPr>
      </p:pic>
      <p:sp>
        <p:nvSpPr>
          <p:cNvPr id="302" name="Google Shape;302;g3dfb3139cd5_0_193"/>
          <p:cNvSpPr txBox="1"/>
          <p:nvPr/>
        </p:nvSpPr>
        <p:spPr>
          <a:xfrm>
            <a:off x="1144588" y="185738"/>
            <a:ext cx="71529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lang="es-CL" sz="2800">
                <a:solidFill>
                  <a:srgbClr val="0070C0"/>
                </a:solidFill>
              </a:rPr>
              <a:t>Cierre Primera Parte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03" name="Google Shape;303;g3dfb3139cd5_0_193"/>
          <p:cNvCxnSpPr/>
          <p:nvPr/>
        </p:nvCxnSpPr>
        <p:spPr>
          <a:xfrm>
            <a:off x="1206500" y="858838"/>
            <a:ext cx="7526400" cy="0"/>
          </a:xfrm>
          <a:prstGeom prst="straightConnector1">
            <a:avLst/>
          </a:prstGeom>
          <a:noFill/>
          <a:ln cap="flat" cmpd="sng" w="28575">
            <a:solidFill>
              <a:srgbClr val="2E75B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04" name="Google Shape;304;g3dfb3139cd5_0_193"/>
          <p:cNvSpPr/>
          <p:nvPr/>
        </p:nvSpPr>
        <p:spPr>
          <a:xfrm>
            <a:off x="0" y="6537325"/>
            <a:ext cx="9144000" cy="312600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-CL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Desarrollo FrontEnd con Angular – código 634529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5" name="Google Shape;305;g3dfb3139cd5_0_193"/>
          <p:cNvSpPr/>
          <p:nvPr/>
        </p:nvSpPr>
        <p:spPr>
          <a:xfrm>
            <a:off x="627050" y="1164596"/>
            <a:ext cx="8105700" cy="127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chemeClr val="dk1"/>
                </a:solidFill>
              </a:rPr>
              <a:t>Hasta ahora validamos usuarios de forma tradicional.</a:t>
            </a:r>
            <a:endParaRPr sz="1800">
              <a:solidFill>
                <a:schemeClr val="dk1"/>
              </a:solidFill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chemeClr val="dk1"/>
                </a:solidFill>
              </a:rPr>
              <a:t>En la siguiente etapa veremos cómo mantener la identidad del usuario utilizando tokens.</a:t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esultado de imagen para angular logos" id="310" name="Google Shape;310;g39aacdd4c9b_0_0"/>
          <p:cNvPicPr preferRelativeResize="0"/>
          <p:nvPr/>
        </p:nvPicPr>
        <p:blipFill rotWithShape="1">
          <a:blip r:embed="rId3">
            <a:alphaModFix/>
          </a:blip>
          <a:srcRect b="0" l="51972" r="0" t="0"/>
          <a:stretch/>
        </p:blipFill>
        <p:spPr>
          <a:xfrm>
            <a:off x="227013" y="85725"/>
            <a:ext cx="800100" cy="830263"/>
          </a:xfrm>
          <a:prstGeom prst="rect">
            <a:avLst/>
          </a:prstGeom>
          <a:noFill/>
          <a:ln>
            <a:noFill/>
          </a:ln>
        </p:spPr>
      </p:pic>
      <p:sp>
        <p:nvSpPr>
          <p:cNvPr id="311" name="Google Shape;311;g39aacdd4c9b_0_0"/>
          <p:cNvSpPr/>
          <p:nvPr/>
        </p:nvSpPr>
        <p:spPr>
          <a:xfrm>
            <a:off x="0" y="6537325"/>
            <a:ext cx="9144000" cy="312600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-CL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Desarrollo FrontEnd con Angular – código 634529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2" name="Google Shape;312;g39aacdd4c9b_0_0"/>
          <p:cNvSpPr/>
          <p:nvPr/>
        </p:nvSpPr>
        <p:spPr>
          <a:xfrm>
            <a:off x="1940443" y="1409433"/>
            <a:ext cx="5569200" cy="12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s-CL" sz="3600" u="none" cap="none" strike="noStrik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Validación de Identidad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s-CL" sz="3600" u="none" cap="none" strike="noStrik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por Token</a:t>
            </a:r>
            <a:endParaRPr b="1" i="0" sz="3600" u="none" cap="none" strike="noStrike">
              <a:solidFill>
                <a:srgbClr val="0070C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Resultado de imagen para json web token" id="313" name="Google Shape;313;g39aacdd4c9b_0_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368836" y="2817010"/>
            <a:ext cx="4104250" cy="1246666"/>
          </a:xfrm>
          <a:prstGeom prst="rect">
            <a:avLst/>
          </a:prstGeom>
          <a:noFill/>
          <a:ln>
            <a:noFill/>
          </a:ln>
        </p:spPr>
      </p:pic>
      <p:sp>
        <p:nvSpPr>
          <p:cNvPr id="314" name="Google Shape;314;g39aacdd4c9b_0_0"/>
          <p:cNvSpPr/>
          <p:nvPr/>
        </p:nvSpPr>
        <p:spPr>
          <a:xfrm>
            <a:off x="1787445" y="4093214"/>
            <a:ext cx="5569200" cy="5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s-CL" sz="3200" u="none" cap="none" strike="noStrike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rPr>
              <a:t>BackEnd</a:t>
            </a:r>
            <a:endParaRPr b="0" i="0" sz="3200" u="none" cap="none" strike="noStrike">
              <a:solidFill>
                <a:srgbClr val="A5A5A5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esultado de imagen para angular logos" id="319" name="Google Shape;319;g39aacdd4c9b_0_8"/>
          <p:cNvPicPr preferRelativeResize="0"/>
          <p:nvPr/>
        </p:nvPicPr>
        <p:blipFill rotWithShape="1">
          <a:blip r:embed="rId3">
            <a:alphaModFix/>
          </a:blip>
          <a:srcRect b="0" l="51972" r="0" t="0"/>
          <a:stretch/>
        </p:blipFill>
        <p:spPr>
          <a:xfrm>
            <a:off x="227013" y="85725"/>
            <a:ext cx="800100" cy="830263"/>
          </a:xfrm>
          <a:prstGeom prst="rect">
            <a:avLst/>
          </a:prstGeom>
          <a:noFill/>
          <a:ln>
            <a:noFill/>
          </a:ln>
        </p:spPr>
      </p:pic>
      <p:sp>
        <p:nvSpPr>
          <p:cNvPr id="320" name="Google Shape;320;g39aacdd4c9b_0_8"/>
          <p:cNvSpPr txBox="1"/>
          <p:nvPr/>
        </p:nvSpPr>
        <p:spPr>
          <a:xfrm>
            <a:off x="1144588" y="185738"/>
            <a:ext cx="48837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s-CL" sz="2800" u="none" cap="none" strike="noStrik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¿Qué es JSON Web Token?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21" name="Google Shape;321;g39aacdd4c9b_0_8"/>
          <p:cNvCxnSpPr/>
          <p:nvPr/>
        </p:nvCxnSpPr>
        <p:spPr>
          <a:xfrm>
            <a:off x="1206500" y="858838"/>
            <a:ext cx="7526400" cy="0"/>
          </a:xfrm>
          <a:prstGeom prst="straightConnector1">
            <a:avLst/>
          </a:prstGeom>
          <a:noFill/>
          <a:ln cap="flat" cmpd="sng" w="28575">
            <a:solidFill>
              <a:srgbClr val="2E75B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22" name="Google Shape;322;g39aacdd4c9b_0_8"/>
          <p:cNvSpPr/>
          <p:nvPr/>
        </p:nvSpPr>
        <p:spPr>
          <a:xfrm>
            <a:off x="0" y="6537325"/>
            <a:ext cx="9144000" cy="312600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-CL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Desarrollo FrontEnd con Angular – código 634529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ng. Daniel Aroni Acero - IESTP-DESAGUADERO" id="323" name="Google Shape;323;g39aacdd4c9b_0_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60715" y="3721757"/>
            <a:ext cx="2064907" cy="2076926"/>
          </a:xfrm>
          <a:prstGeom prst="rect">
            <a:avLst/>
          </a:prstGeom>
          <a:noFill/>
          <a:ln>
            <a:noFill/>
          </a:ln>
        </p:spPr>
      </p:pic>
      <p:sp>
        <p:nvSpPr>
          <p:cNvPr id="324" name="Google Shape;324;g39aacdd4c9b_0_8"/>
          <p:cNvSpPr/>
          <p:nvPr/>
        </p:nvSpPr>
        <p:spPr>
          <a:xfrm>
            <a:off x="3348020" y="4025832"/>
            <a:ext cx="2264400" cy="5508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s-CL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Usuario/Password</a:t>
            </a:r>
            <a:endParaRPr b="0" i="0" sz="1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5" name="Google Shape;325;g39aacdd4c9b_0_8"/>
          <p:cNvSpPr/>
          <p:nvPr/>
        </p:nvSpPr>
        <p:spPr>
          <a:xfrm flipH="1">
            <a:off x="3347983" y="4821419"/>
            <a:ext cx="2264400" cy="5508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F0000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s-CL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Token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Server Icons - Iconshock" id="326" name="Google Shape;326;g39aacdd4c9b_0_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590208" y="3388825"/>
            <a:ext cx="2438400" cy="2438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cono Base de datos Gratis de iMod Icons" id="327" name="Google Shape;327;g39aacdd4c9b_0_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173271" y="4856717"/>
            <a:ext cx="1087739" cy="1087739"/>
          </a:xfrm>
          <a:prstGeom prst="rect">
            <a:avLst/>
          </a:prstGeom>
          <a:noFill/>
          <a:ln>
            <a:noFill/>
          </a:ln>
        </p:spPr>
      </p:pic>
      <p:sp>
        <p:nvSpPr>
          <p:cNvPr id="328" name="Google Shape;328;g39aacdd4c9b_0_8"/>
          <p:cNvSpPr txBox="1"/>
          <p:nvPr/>
        </p:nvSpPr>
        <p:spPr>
          <a:xfrm>
            <a:off x="1650307" y="5575124"/>
            <a:ext cx="979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CL" sz="1800" u="none" cap="none" strike="noStrike">
                <a:solidFill>
                  <a:srgbClr val="41719C"/>
                </a:solidFill>
                <a:latin typeface="Arial"/>
                <a:ea typeface="Arial"/>
                <a:cs typeface="Arial"/>
                <a:sym typeface="Arial"/>
              </a:rPr>
              <a:t>Usuario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9" name="Google Shape;329;g39aacdd4c9b_0_8"/>
          <p:cNvSpPr txBox="1"/>
          <p:nvPr/>
        </p:nvSpPr>
        <p:spPr>
          <a:xfrm>
            <a:off x="6213799" y="5752424"/>
            <a:ext cx="1044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CL" sz="1800" u="none" cap="none" strike="noStrike">
                <a:solidFill>
                  <a:srgbClr val="41719C"/>
                </a:solidFill>
                <a:latin typeface="Arial"/>
                <a:ea typeface="Arial"/>
                <a:cs typeface="Arial"/>
                <a:sym typeface="Arial"/>
              </a:rPr>
              <a:t>Servidor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0" name="Google Shape;330;g39aacdd4c9b_0_8"/>
          <p:cNvSpPr txBox="1"/>
          <p:nvPr/>
        </p:nvSpPr>
        <p:spPr>
          <a:xfrm>
            <a:off x="6942134" y="4662945"/>
            <a:ext cx="1601700" cy="2769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-CL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Usuario/Password   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Marca de verificación" id="331" name="Google Shape;331;g39aacdd4c9b_0_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341871" y="4581246"/>
            <a:ext cx="369332" cy="369332"/>
          </a:xfrm>
          <a:prstGeom prst="rect">
            <a:avLst/>
          </a:prstGeom>
          <a:noFill/>
          <a:ln>
            <a:noFill/>
          </a:ln>
        </p:spPr>
      </p:pic>
      <p:sp>
        <p:nvSpPr>
          <p:cNvPr id="332" name="Google Shape;332;g39aacdd4c9b_0_8"/>
          <p:cNvSpPr/>
          <p:nvPr/>
        </p:nvSpPr>
        <p:spPr>
          <a:xfrm>
            <a:off x="605428" y="1342889"/>
            <a:ext cx="8105700" cy="6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i="1" lang="es-CL" sz="1800">
                <a:solidFill>
                  <a:srgbClr val="0000FF"/>
                </a:solidFill>
              </a:rPr>
              <a:t>JWT</a:t>
            </a:r>
            <a:r>
              <a:rPr i="1" lang="es-CL" sz="1800">
                <a:solidFill>
                  <a:schemeClr val="dk1"/>
                </a:solidFill>
              </a:rPr>
              <a:t> es un formato utilizado para </a:t>
            </a:r>
            <a:r>
              <a:rPr b="1" i="1" lang="es-CL" sz="1800">
                <a:solidFill>
                  <a:schemeClr val="dk1"/>
                </a:solidFill>
              </a:rPr>
              <a:t>representar</a:t>
            </a:r>
            <a:r>
              <a:rPr i="1" lang="es-CL" sz="1800">
                <a:solidFill>
                  <a:schemeClr val="dk1"/>
                </a:solidFill>
              </a:rPr>
              <a:t> </a:t>
            </a:r>
            <a:r>
              <a:rPr i="1" lang="es-CL" sz="1800">
                <a:solidFill>
                  <a:srgbClr val="0000FF"/>
                </a:solidFill>
              </a:rPr>
              <a:t>la identidad validada de un usuario</a:t>
            </a:r>
            <a:r>
              <a:rPr i="1" lang="es-CL" sz="1800">
                <a:solidFill>
                  <a:schemeClr val="dk1"/>
                </a:solidFill>
              </a:rPr>
              <a:t>.</a:t>
            </a:r>
            <a:endParaRPr b="0" i="0" sz="1800" u="none" cap="none" strike="noStrike">
              <a:solidFill>
                <a:srgbClr val="0033CC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33" name="Google Shape;333;g39aacdd4c9b_0_8"/>
          <p:cNvSpPr txBox="1"/>
          <p:nvPr/>
        </p:nvSpPr>
        <p:spPr>
          <a:xfrm>
            <a:off x="602658" y="2158816"/>
            <a:ext cx="81057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s-CL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 utilizan para autenticar a los usuarios, para ello, el usuario requiere de un login tradicional (user/pass). Una vez, que el Backend valida que el usuario y contraseña son correctos, este retorna un token al usuario. 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esultado de imagen para angular logos" id="338" name="Google Shape;338;g39aacdd4c9b_0_26"/>
          <p:cNvPicPr preferRelativeResize="0"/>
          <p:nvPr/>
        </p:nvPicPr>
        <p:blipFill rotWithShape="1">
          <a:blip r:embed="rId3">
            <a:alphaModFix/>
          </a:blip>
          <a:srcRect b="0" l="51972" r="0" t="0"/>
          <a:stretch/>
        </p:blipFill>
        <p:spPr>
          <a:xfrm>
            <a:off x="227013" y="85725"/>
            <a:ext cx="800100" cy="830263"/>
          </a:xfrm>
          <a:prstGeom prst="rect">
            <a:avLst/>
          </a:prstGeom>
          <a:noFill/>
          <a:ln>
            <a:noFill/>
          </a:ln>
        </p:spPr>
      </p:pic>
      <p:sp>
        <p:nvSpPr>
          <p:cNvPr id="339" name="Google Shape;339;g39aacdd4c9b_0_26"/>
          <p:cNvSpPr txBox="1"/>
          <p:nvPr/>
        </p:nvSpPr>
        <p:spPr>
          <a:xfrm>
            <a:off x="1144588" y="185738"/>
            <a:ext cx="33543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s-CL" sz="2800" u="none" cap="none" strike="noStrik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¿Qué es el Token?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40" name="Google Shape;340;g39aacdd4c9b_0_26"/>
          <p:cNvCxnSpPr/>
          <p:nvPr/>
        </p:nvCxnSpPr>
        <p:spPr>
          <a:xfrm>
            <a:off x="1206500" y="858838"/>
            <a:ext cx="7526400" cy="0"/>
          </a:xfrm>
          <a:prstGeom prst="straightConnector1">
            <a:avLst/>
          </a:prstGeom>
          <a:noFill/>
          <a:ln cap="flat" cmpd="sng" w="28575">
            <a:solidFill>
              <a:srgbClr val="2E75B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41" name="Google Shape;341;g39aacdd4c9b_0_26"/>
          <p:cNvSpPr/>
          <p:nvPr/>
        </p:nvSpPr>
        <p:spPr>
          <a:xfrm>
            <a:off x="0" y="6537325"/>
            <a:ext cx="9144000" cy="312600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-CL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Desarrollo FrontEnd con Angular – código 634529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https://cdn-images-1.medium.com/max/1000/1*4W8JT5yod3lBvYSL6uN1DQ.png" id="342" name="Google Shape;342;g39aacdd4c9b_0_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143607" y="1285563"/>
            <a:ext cx="4526935" cy="4880548"/>
          </a:xfrm>
          <a:prstGeom prst="rect">
            <a:avLst/>
          </a:prstGeom>
          <a:noFill/>
          <a:ln>
            <a:noFill/>
          </a:ln>
        </p:spPr>
      </p:pic>
      <p:sp>
        <p:nvSpPr>
          <p:cNvPr id="343" name="Google Shape;343;g39aacdd4c9b_0_26"/>
          <p:cNvSpPr/>
          <p:nvPr/>
        </p:nvSpPr>
        <p:spPr>
          <a:xfrm>
            <a:off x="777662" y="2475072"/>
            <a:ext cx="33660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s-CL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El token se compone de un </a:t>
            </a:r>
            <a:r>
              <a:rPr b="0" i="0" lang="es-CL" sz="1800" u="none" cap="none" strike="noStrike">
                <a:solidFill>
                  <a:srgbClr val="0033CC"/>
                </a:solidFill>
                <a:latin typeface="Arial"/>
                <a:ea typeface="Arial"/>
                <a:cs typeface="Arial"/>
                <a:sym typeface="Arial"/>
              </a:rPr>
              <a:t>encabezado</a:t>
            </a:r>
            <a:r>
              <a:rPr b="0" i="0" lang="es-CL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una</a:t>
            </a:r>
            <a:r>
              <a:rPr b="0" i="0" lang="es-CL" sz="1800" u="none" cap="none" strike="noStrike">
                <a:solidFill>
                  <a:srgbClr val="0033CC"/>
                </a:solidFill>
                <a:latin typeface="Arial"/>
                <a:ea typeface="Arial"/>
                <a:cs typeface="Arial"/>
                <a:sym typeface="Arial"/>
              </a:rPr>
              <a:t> carga útil </a:t>
            </a:r>
            <a:r>
              <a:rPr b="0" i="0" lang="es-CL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 una</a:t>
            </a:r>
            <a:r>
              <a:rPr b="0" i="0" lang="es-CL" sz="1800" u="none" cap="none" strike="noStrike">
                <a:solidFill>
                  <a:srgbClr val="0033CC"/>
                </a:solidFill>
                <a:latin typeface="Arial"/>
                <a:ea typeface="Arial"/>
                <a:cs typeface="Arial"/>
                <a:sym typeface="Arial"/>
              </a:rPr>
              <a:t> firma</a:t>
            </a:r>
            <a:r>
              <a:rPr b="0" i="0" lang="es-CL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4" name="Google Shape;344;g39aacdd4c9b_0_26"/>
          <p:cNvSpPr/>
          <p:nvPr/>
        </p:nvSpPr>
        <p:spPr>
          <a:xfrm>
            <a:off x="5551184" y="2808671"/>
            <a:ext cx="2876400" cy="918000"/>
          </a:xfrm>
          <a:prstGeom prst="rect">
            <a:avLst/>
          </a:prstGeom>
          <a:solidFill>
            <a:srgbClr val="92D050"/>
          </a:solidFill>
          <a:ln cap="flat" cmpd="sng" w="12700">
            <a:solidFill>
              <a:srgbClr val="92D05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-CL" sz="1400" u="none" cap="none" strike="noStrik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{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-CL" sz="1400" u="none" cap="none" strike="noStrik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  “alg”: “HS256”,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-CL" sz="1400" u="none" cap="none" strike="noStrik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  “typ”: “JWT”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-CL" sz="1400" u="none" cap="none" strike="noStrik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5" name="Google Shape;345;g39aacdd4c9b_0_26"/>
          <p:cNvSpPr/>
          <p:nvPr/>
        </p:nvSpPr>
        <p:spPr>
          <a:xfrm>
            <a:off x="5551184" y="3857393"/>
            <a:ext cx="2876400" cy="918000"/>
          </a:xfrm>
          <a:prstGeom prst="rect">
            <a:avLst/>
          </a:prstGeom>
          <a:solidFill>
            <a:srgbClr val="FF9999"/>
          </a:solidFill>
          <a:ln cap="flat" cmpd="sng" w="12700">
            <a:solidFill>
              <a:srgbClr val="FF999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-CL" sz="1200" u="none" cap="none" strike="noStrik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{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-CL" sz="1200" u="none" cap="none" strike="noStrik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  “sub”: “1234567890”,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-CL" sz="1200" u="none" cap="none" strike="noStrik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  “name”: “Juan Pérez”,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-CL" sz="1200" u="none" cap="none" strike="noStrik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  “admin”: true 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-CL" sz="1200" u="none" cap="none" strike="noStrik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6" name="Google Shape;346;g39aacdd4c9b_0_26"/>
          <p:cNvSpPr/>
          <p:nvPr/>
        </p:nvSpPr>
        <p:spPr>
          <a:xfrm>
            <a:off x="5551184" y="4854502"/>
            <a:ext cx="2876400" cy="918000"/>
          </a:xfrm>
          <a:prstGeom prst="rect">
            <a:avLst/>
          </a:prstGeom>
          <a:solidFill>
            <a:srgbClr val="9CC2E5"/>
          </a:solidFill>
          <a:ln cap="flat" cmpd="sng" w="12700">
            <a:solidFill>
              <a:srgbClr val="9CC2E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-CL" sz="1200" u="none" cap="none" strike="noStrik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HMACSHA256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-CL" sz="1200" u="none" cap="none" strike="noStrik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  base64UrlEncode(header) + “.” + base64UrlEncode(payload), secretKey)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-CL" sz="1200" u="none" cap="none" strike="noStrik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0" i="0" sz="12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7" name="Google Shape;347;g39aacdd4c9b_0_26"/>
          <p:cNvSpPr/>
          <p:nvPr/>
        </p:nvSpPr>
        <p:spPr>
          <a:xfrm>
            <a:off x="6989360" y="5876960"/>
            <a:ext cx="1520400" cy="26670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8" name="Google Shape;348;g39aacdd4c9b_0_26"/>
          <p:cNvSpPr/>
          <p:nvPr/>
        </p:nvSpPr>
        <p:spPr>
          <a:xfrm>
            <a:off x="777662" y="3825126"/>
            <a:ext cx="3366000" cy="6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s-CL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Instalar la librería jwt en nodeJS: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9" name="Google Shape;349;g39aacdd4c9b_0_26"/>
          <p:cNvSpPr/>
          <p:nvPr/>
        </p:nvSpPr>
        <p:spPr>
          <a:xfrm>
            <a:off x="900060" y="4620421"/>
            <a:ext cx="3214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s-CL" sz="1600" u="none" cap="none" strike="noStrike">
                <a:solidFill>
                  <a:srgbClr val="C00000"/>
                </a:solidFill>
                <a:latin typeface="Consolas"/>
                <a:ea typeface="Consolas"/>
                <a:cs typeface="Consolas"/>
                <a:sym typeface="Consolas"/>
              </a:rPr>
              <a:t>&gt; npm i jsonwebtoken --save</a:t>
            </a:r>
            <a:endParaRPr b="0" i="0" sz="1600" u="none" cap="none" strike="noStrike">
              <a:solidFill>
                <a:srgbClr val="C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50" name="Google Shape;350;g39aacdd4c9b_0_26"/>
          <p:cNvSpPr/>
          <p:nvPr/>
        </p:nvSpPr>
        <p:spPr>
          <a:xfrm>
            <a:off x="777662" y="1230053"/>
            <a:ext cx="45270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s-CL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Un token es una cadena alfanumérica con caracteres aparentemente aleatorios.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esultado de imagen para angular logos" id="355" name="Google Shape;355;g39aacdd4c9b_0_42"/>
          <p:cNvPicPr preferRelativeResize="0"/>
          <p:nvPr/>
        </p:nvPicPr>
        <p:blipFill rotWithShape="1">
          <a:blip r:embed="rId3">
            <a:alphaModFix/>
          </a:blip>
          <a:srcRect b="0" l="51972" r="0" t="0"/>
          <a:stretch/>
        </p:blipFill>
        <p:spPr>
          <a:xfrm>
            <a:off x="227013" y="85725"/>
            <a:ext cx="800100" cy="830263"/>
          </a:xfrm>
          <a:prstGeom prst="rect">
            <a:avLst/>
          </a:prstGeom>
          <a:noFill/>
          <a:ln>
            <a:noFill/>
          </a:ln>
        </p:spPr>
      </p:pic>
      <p:sp>
        <p:nvSpPr>
          <p:cNvPr id="356" name="Google Shape;356;g39aacdd4c9b_0_42"/>
          <p:cNvSpPr txBox="1"/>
          <p:nvPr/>
        </p:nvSpPr>
        <p:spPr>
          <a:xfrm>
            <a:off x="1144588" y="185738"/>
            <a:ext cx="32343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s-CL" sz="2800" u="none" cap="none" strike="noStrik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Generar un Token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57" name="Google Shape;357;g39aacdd4c9b_0_42"/>
          <p:cNvCxnSpPr/>
          <p:nvPr/>
        </p:nvCxnSpPr>
        <p:spPr>
          <a:xfrm>
            <a:off x="1206500" y="858838"/>
            <a:ext cx="7526400" cy="0"/>
          </a:xfrm>
          <a:prstGeom prst="straightConnector1">
            <a:avLst/>
          </a:prstGeom>
          <a:noFill/>
          <a:ln cap="flat" cmpd="sng" w="28575">
            <a:solidFill>
              <a:srgbClr val="2E75B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58" name="Google Shape;358;g39aacdd4c9b_0_42"/>
          <p:cNvSpPr/>
          <p:nvPr/>
        </p:nvSpPr>
        <p:spPr>
          <a:xfrm>
            <a:off x="0" y="6537325"/>
            <a:ext cx="9144000" cy="312600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-CL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Desarrollo FrontEnd con Angular – código 634529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59" name="Google Shape;359;g39aacdd4c9b_0_4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27113" y="1075553"/>
            <a:ext cx="7278025" cy="5335144"/>
          </a:xfrm>
          <a:prstGeom prst="rect">
            <a:avLst/>
          </a:prstGeom>
          <a:noFill/>
          <a:ln>
            <a:noFill/>
          </a:ln>
        </p:spPr>
      </p:pic>
      <p:sp>
        <p:nvSpPr>
          <p:cNvPr id="360" name="Google Shape;360;g39aacdd4c9b_0_42"/>
          <p:cNvSpPr/>
          <p:nvPr/>
        </p:nvSpPr>
        <p:spPr>
          <a:xfrm>
            <a:off x="3761521" y="1348234"/>
            <a:ext cx="1620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CL" sz="1800" u="none" cap="none" strike="noStrike">
                <a:solidFill>
                  <a:srgbClr val="0033CC"/>
                </a:solidFill>
                <a:latin typeface="Arial"/>
                <a:ea typeface="Arial"/>
                <a:cs typeface="Arial"/>
                <a:sym typeface="Arial"/>
              </a:rPr>
              <a:t>(https://jwt.io/)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5" name="Google Shape;365;g39aacdd4c9b_0_51" title="Captura de pantalla 2026-05-08 a la(s) 17.20.07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9625" y="3158875"/>
            <a:ext cx="7893851" cy="2935195"/>
          </a:xfrm>
          <a:prstGeom prst="rect">
            <a:avLst/>
          </a:prstGeom>
          <a:noFill/>
          <a:ln>
            <a:noFill/>
          </a:ln>
        </p:spPr>
      </p:pic>
      <p:sp>
        <p:nvSpPr>
          <p:cNvPr id="366" name="Google Shape;366;g39aacdd4c9b_0_51"/>
          <p:cNvSpPr/>
          <p:nvPr/>
        </p:nvSpPr>
        <p:spPr>
          <a:xfrm>
            <a:off x="660482" y="3900352"/>
            <a:ext cx="7893900" cy="735900"/>
          </a:xfrm>
          <a:prstGeom prst="rect">
            <a:avLst/>
          </a:prstGeom>
          <a:solidFill>
            <a:srgbClr val="FFFF00">
              <a:alpha val="9800"/>
            </a:srgbClr>
          </a:solidFill>
          <a:ln cap="flat" cmpd="sng" w="28575">
            <a:solidFill>
              <a:srgbClr val="FFFF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Resultado de imagen para angular logos" id="367" name="Google Shape;367;g39aacdd4c9b_0_51"/>
          <p:cNvPicPr preferRelativeResize="0"/>
          <p:nvPr/>
        </p:nvPicPr>
        <p:blipFill rotWithShape="1">
          <a:blip r:embed="rId4">
            <a:alphaModFix/>
          </a:blip>
          <a:srcRect b="0" l="51972" r="0" t="0"/>
          <a:stretch/>
        </p:blipFill>
        <p:spPr>
          <a:xfrm>
            <a:off x="227013" y="85725"/>
            <a:ext cx="800100" cy="830263"/>
          </a:xfrm>
          <a:prstGeom prst="rect">
            <a:avLst/>
          </a:prstGeom>
          <a:noFill/>
          <a:ln>
            <a:noFill/>
          </a:ln>
        </p:spPr>
      </p:pic>
      <p:sp>
        <p:nvSpPr>
          <p:cNvPr id="368" name="Google Shape;368;g39aacdd4c9b_0_51"/>
          <p:cNvSpPr txBox="1"/>
          <p:nvPr/>
        </p:nvSpPr>
        <p:spPr>
          <a:xfrm>
            <a:off x="1144588" y="185738"/>
            <a:ext cx="72834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s-CL" sz="2800" u="none" cap="none" strike="noStrik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Autenticación Mediante JSON Web Token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69" name="Google Shape;369;g39aacdd4c9b_0_51"/>
          <p:cNvCxnSpPr/>
          <p:nvPr/>
        </p:nvCxnSpPr>
        <p:spPr>
          <a:xfrm>
            <a:off x="1206500" y="858838"/>
            <a:ext cx="7526400" cy="0"/>
          </a:xfrm>
          <a:prstGeom prst="straightConnector1">
            <a:avLst/>
          </a:prstGeom>
          <a:noFill/>
          <a:ln cap="flat" cmpd="sng" w="28575">
            <a:solidFill>
              <a:srgbClr val="2E75B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70" name="Google Shape;370;g39aacdd4c9b_0_51"/>
          <p:cNvSpPr/>
          <p:nvPr/>
        </p:nvSpPr>
        <p:spPr>
          <a:xfrm>
            <a:off x="0" y="6537325"/>
            <a:ext cx="9144000" cy="312600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-CL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Desarrollo FrontEnd con Angular – código 634529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1" name="Google Shape;371;g39aacdd4c9b_0_51"/>
          <p:cNvSpPr/>
          <p:nvPr/>
        </p:nvSpPr>
        <p:spPr>
          <a:xfrm>
            <a:off x="627062" y="1164637"/>
            <a:ext cx="8105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s-CL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Modificar el servicio web de login para que retorne un token (JWT)</a:t>
            </a:r>
            <a:endParaRPr b="0" i="0" sz="1800" u="none" cap="none" strike="noStrike">
              <a:solidFill>
                <a:srgbClr val="0033CC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72" name="Google Shape;372;g39aacdd4c9b_0_51"/>
          <p:cNvSpPr txBox="1"/>
          <p:nvPr/>
        </p:nvSpPr>
        <p:spPr>
          <a:xfrm>
            <a:off x="6831113" y="3078811"/>
            <a:ext cx="132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-CL" sz="1400" u="none" cap="none" strike="noStrike">
                <a:solidFill>
                  <a:srgbClr val="0033CC"/>
                </a:solidFill>
                <a:latin typeface="Arial"/>
                <a:ea typeface="Arial"/>
                <a:cs typeface="Arial"/>
                <a:sym typeface="Arial"/>
              </a:rPr>
              <a:t>4 horas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-CL" sz="1400" u="none" cap="none" strike="noStrike">
                <a:solidFill>
                  <a:srgbClr val="0033CC"/>
                </a:solidFill>
                <a:latin typeface="Arial"/>
                <a:ea typeface="Arial"/>
                <a:cs typeface="Arial"/>
                <a:sym typeface="Arial"/>
              </a:rPr>
              <a:t>(en segundos)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3" name="Google Shape;373;g39aacdd4c9b_0_51"/>
          <p:cNvSpPr/>
          <p:nvPr/>
        </p:nvSpPr>
        <p:spPr>
          <a:xfrm>
            <a:off x="7372467" y="3629139"/>
            <a:ext cx="244800" cy="2712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FF0000"/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4" name="Google Shape;374;g39aacdd4c9b_0_51"/>
          <p:cNvSpPr txBox="1"/>
          <p:nvPr/>
        </p:nvSpPr>
        <p:spPr>
          <a:xfrm>
            <a:off x="5100657" y="3233583"/>
            <a:ext cx="7425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-CL" sz="1400" u="none" cap="none" strike="noStrike">
                <a:solidFill>
                  <a:srgbClr val="0033CC"/>
                </a:solidFill>
                <a:latin typeface="Arial"/>
                <a:ea typeface="Arial"/>
                <a:cs typeface="Arial"/>
                <a:sym typeface="Arial"/>
              </a:rPr>
              <a:t>semilla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5" name="Google Shape;375;g39aacdd4c9b_0_51"/>
          <p:cNvSpPr/>
          <p:nvPr/>
        </p:nvSpPr>
        <p:spPr>
          <a:xfrm>
            <a:off x="5349489" y="3601989"/>
            <a:ext cx="244800" cy="2712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FF0000"/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6" name="Google Shape;376;g39aacdd4c9b_0_51"/>
          <p:cNvSpPr/>
          <p:nvPr/>
        </p:nvSpPr>
        <p:spPr>
          <a:xfrm rot="5400000">
            <a:off x="2738285" y="5349827"/>
            <a:ext cx="244800" cy="2712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FF0000"/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7" name="Google Shape;377;g39aacdd4c9b_0_51"/>
          <p:cNvSpPr txBox="1"/>
          <p:nvPr/>
        </p:nvSpPr>
        <p:spPr>
          <a:xfrm>
            <a:off x="610882" y="1665792"/>
            <a:ext cx="6624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-CL" sz="1400" u="none" cap="none" strike="noStrike">
                <a:solidFill>
                  <a:schemeClr val="dk1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app.js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8" name="Google Shape;378;g39aacdd4c9b_0_51"/>
          <p:cNvSpPr txBox="1"/>
          <p:nvPr/>
        </p:nvSpPr>
        <p:spPr>
          <a:xfrm>
            <a:off x="695932" y="2723371"/>
            <a:ext cx="492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-CL" sz="2400" u="none" cap="none" strike="noStrike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rPr>
              <a:t>…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9" name="Google Shape;379;g39aacdd4c9b_0_51"/>
          <p:cNvSpPr/>
          <p:nvPr/>
        </p:nvSpPr>
        <p:spPr>
          <a:xfrm>
            <a:off x="1109162" y="5393104"/>
            <a:ext cx="1551600" cy="241800"/>
          </a:xfrm>
          <a:prstGeom prst="rect">
            <a:avLst/>
          </a:prstGeom>
          <a:solidFill>
            <a:srgbClr val="FFFF00">
              <a:alpha val="9800"/>
            </a:srgbClr>
          </a:solidFill>
          <a:ln cap="flat" cmpd="sng" w="28575">
            <a:solidFill>
              <a:srgbClr val="FFFF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80" name="Google Shape;380;g39aacdd4c9b_0_51" title="Captura de pantalla 2026-05-08 a la(s) 17.19.37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89625" y="1977175"/>
            <a:ext cx="6504400" cy="934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esultado de imagen para angular logos" id="385" name="Google Shape;385;g39aacdd4c9b_0_70"/>
          <p:cNvPicPr preferRelativeResize="0"/>
          <p:nvPr/>
        </p:nvPicPr>
        <p:blipFill rotWithShape="1">
          <a:blip r:embed="rId3">
            <a:alphaModFix/>
          </a:blip>
          <a:srcRect b="0" l="51972" r="0" t="0"/>
          <a:stretch/>
        </p:blipFill>
        <p:spPr>
          <a:xfrm>
            <a:off x="227013" y="85725"/>
            <a:ext cx="800100" cy="83026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86" name="Google Shape;386;g39aacdd4c9b_0_70"/>
          <p:cNvCxnSpPr/>
          <p:nvPr/>
        </p:nvCxnSpPr>
        <p:spPr>
          <a:xfrm>
            <a:off x="1206500" y="858838"/>
            <a:ext cx="7526400" cy="0"/>
          </a:xfrm>
          <a:prstGeom prst="straightConnector1">
            <a:avLst/>
          </a:prstGeom>
          <a:noFill/>
          <a:ln cap="flat" cmpd="sng" w="28575">
            <a:solidFill>
              <a:srgbClr val="2E75B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87" name="Google Shape;387;g39aacdd4c9b_0_70"/>
          <p:cNvSpPr/>
          <p:nvPr/>
        </p:nvSpPr>
        <p:spPr>
          <a:xfrm>
            <a:off x="0" y="6537325"/>
            <a:ext cx="9144000" cy="312600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-CL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Desarrollo FrontEnd con Angular – código 634529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8" name="Google Shape;388;g39aacdd4c9b_0_70"/>
          <p:cNvSpPr/>
          <p:nvPr/>
        </p:nvSpPr>
        <p:spPr>
          <a:xfrm>
            <a:off x="627062" y="1164637"/>
            <a:ext cx="8105700" cy="6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s-CL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Probar con postman el servicio de login que retorna un token JWT</a:t>
            </a:r>
            <a:endParaRPr b="0" i="0" sz="1800" u="none" cap="none" strike="noStrike">
              <a:solidFill>
                <a:srgbClr val="0033CC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89" name="Google Shape;389;g39aacdd4c9b_0_70"/>
          <p:cNvSpPr txBox="1"/>
          <p:nvPr/>
        </p:nvSpPr>
        <p:spPr>
          <a:xfrm>
            <a:off x="1144588" y="185738"/>
            <a:ext cx="76440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s-CL" sz="2800" u="none" cap="none" strike="noStrik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Autenticación Mediante JSON Web Token…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90" name="Google Shape;390;g39aacdd4c9b_0_70" title="Captura de pantalla 2026-05-08 a la(s) 17.22.41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30125" y="1810818"/>
            <a:ext cx="6683747" cy="4421556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391" name="Google Shape;391;g39aacdd4c9b_0_70"/>
          <p:cNvSpPr/>
          <p:nvPr/>
        </p:nvSpPr>
        <p:spPr>
          <a:xfrm>
            <a:off x="1292225" y="1810825"/>
            <a:ext cx="3138300" cy="312600"/>
          </a:xfrm>
          <a:prstGeom prst="rect">
            <a:avLst/>
          </a:prstGeom>
          <a:solidFill>
            <a:srgbClr val="FFFF00">
              <a:alpha val="9800"/>
            </a:srgbClr>
          </a:solidFill>
          <a:ln cap="flat" cmpd="sng" w="28575">
            <a:solidFill>
              <a:srgbClr val="FFFF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2" name="Google Shape;392;g39aacdd4c9b_0_70"/>
          <p:cNvSpPr/>
          <p:nvPr/>
        </p:nvSpPr>
        <p:spPr>
          <a:xfrm>
            <a:off x="1701800" y="3541800"/>
            <a:ext cx="5970600" cy="2630400"/>
          </a:xfrm>
          <a:prstGeom prst="rect">
            <a:avLst/>
          </a:prstGeom>
          <a:solidFill>
            <a:srgbClr val="FFFF00">
              <a:alpha val="9800"/>
            </a:srgbClr>
          </a:solidFill>
          <a:ln cap="flat" cmpd="sng" w="28575">
            <a:solidFill>
              <a:srgbClr val="FFFF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3" name="Google Shape;393;g39aacdd4c9b_0_70"/>
          <p:cNvSpPr/>
          <p:nvPr/>
        </p:nvSpPr>
        <p:spPr>
          <a:xfrm>
            <a:off x="5147025" y="2127725"/>
            <a:ext cx="2182500" cy="369300"/>
          </a:xfrm>
          <a:prstGeom prst="wedgeRoundRectCallout">
            <a:avLst>
              <a:gd fmla="val -78471" name="adj1"/>
              <a:gd fmla="val -41793" name="adj2"/>
              <a:gd fmla="val 16667" name="adj3"/>
            </a:avLst>
          </a:prstGeom>
          <a:solidFill>
            <a:srgbClr val="F7CAAC"/>
          </a:solidFill>
          <a:ln cap="flat" cmpd="sng" w="12700">
            <a:solidFill>
              <a:srgbClr val="C55A1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-CL" sz="1200">
                <a:solidFill>
                  <a:schemeClr val="dk1"/>
                </a:solidFill>
              </a:rPr>
              <a:t>URL de login de usuarios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4" name="Google Shape;394;g39aacdd4c9b_0_70"/>
          <p:cNvSpPr/>
          <p:nvPr/>
        </p:nvSpPr>
        <p:spPr>
          <a:xfrm>
            <a:off x="5356575" y="5243525"/>
            <a:ext cx="2182500" cy="463500"/>
          </a:xfrm>
          <a:prstGeom prst="wedgeRoundRectCallout">
            <a:avLst>
              <a:gd fmla="val -76128" name="adj1"/>
              <a:gd fmla="val -28425" name="adj2"/>
              <a:gd fmla="val 16667" name="adj3"/>
            </a:avLst>
          </a:prstGeom>
          <a:solidFill>
            <a:srgbClr val="F7CAAC"/>
          </a:solidFill>
          <a:ln cap="flat" cmpd="sng" w="12700">
            <a:solidFill>
              <a:srgbClr val="C55A1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-CL" sz="1200">
                <a:solidFill>
                  <a:schemeClr val="dk1"/>
                </a:solidFill>
              </a:rPr>
              <a:t>Respuesta del servicio incluye </a:t>
            </a:r>
            <a:r>
              <a:rPr b="1" lang="es-CL" sz="1200">
                <a:solidFill>
                  <a:schemeClr val="dk1"/>
                </a:solidFill>
              </a:rPr>
              <a:t>token JWT</a:t>
            </a:r>
            <a:endParaRPr b="1" i="0" sz="1400" u="none" cap="none" strike="noStrike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esultado de imagen para angular logos" id="399" name="Google Shape;399;g39aacdd4c9b_0_79"/>
          <p:cNvPicPr preferRelativeResize="0"/>
          <p:nvPr/>
        </p:nvPicPr>
        <p:blipFill rotWithShape="1">
          <a:blip r:embed="rId3">
            <a:alphaModFix/>
          </a:blip>
          <a:srcRect b="0" l="51972" r="0" t="0"/>
          <a:stretch/>
        </p:blipFill>
        <p:spPr>
          <a:xfrm>
            <a:off x="227013" y="85725"/>
            <a:ext cx="800100" cy="83026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00" name="Google Shape;400;g39aacdd4c9b_0_79"/>
          <p:cNvCxnSpPr/>
          <p:nvPr/>
        </p:nvCxnSpPr>
        <p:spPr>
          <a:xfrm>
            <a:off x="1206500" y="858838"/>
            <a:ext cx="7526400" cy="0"/>
          </a:xfrm>
          <a:prstGeom prst="straightConnector1">
            <a:avLst/>
          </a:prstGeom>
          <a:noFill/>
          <a:ln cap="flat" cmpd="sng" w="28575">
            <a:solidFill>
              <a:srgbClr val="2E75B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401" name="Google Shape;401;g39aacdd4c9b_0_79"/>
          <p:cNvSpPr/>
          <p:nvPr/>
        </p:nvSpPr>
        <p:spPr>
          <a:xfrm>
            <a:off x="0" y="6537325"/>
            <a:ext cx="9144000" cy="312600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-CL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Desarrollo FrontEnd con Angular – código 634529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2" name="Google Shape;402;g39aacdd4c9b_0_79"/>
          <p:cNvSpPr/>
          <p:nvPr/>
        </p:nvSpPr>
        <p:spPr>
          <a:xfrm>
            <a:off x="627062" y="1164637"/>
            <a:ext cx="8105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s-CL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 debe definir qué servicios serán protegidos en nuestro backend:</a:t>
            </a:r>
            <a:endParaRPr b="0" i="0" sz="1800" u="none" cap="none" strike="noStrike">
              <a:solidFill>
                <a:srgbClr val="0033CC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03" name="Google Shape;403;g39aacdd4c9b_0_79"/>
          <p:cNvSpPr txBox="1"/>
          <p:nvPr/>
        </p:nvSpPr>
        <p:spPr>
          <a:xfrm>
            <a:off x="1144588" y="185738"/>
            <a:ext cx="65343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s-CL" sz="2800" u="none" cap="none" strike="noStrik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Definir Servicios Públicos y Privados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4" name="Google Shape;404;g39aacdd4c9b_0_79"/>
          <p:cNvSpPr/>
          <p:nvPr/>
        </p:nvSpPr>
        <p:spPr>
          <a:xfrm>
            <a:off x="4573384" y="2321863"/>
            <a:ext cx="427500" cy="1346400"/>
          </a:xfrm>
          <a:prstGeom prst="rightBrace">
            <a:avLst>
              <a:gd fmla="val 8333" name="adj1"/>
              <a:gd fmla="val 50000" name="adj2"/>
            </a:avLst>
          </a:prstGeom>
          <a:noFill/>
          <a:ln cap="flat" cmpd="sng" w="19050">
            <a:solidFill>
              <a:srgbClr val="0033CC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5" name="Google Shape;405;g39aacdd4c9b_0_79"/>
          <p:cNvSpPr/>
          <p:nvPr/>
        </p:nvSpPr>
        <p:spPr>
          <a:xfrm>
            <a:off x="5110189" y="2807276"/>
            <a:ext cx="3516300" cy="37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CL" sz="1800" u="none" cap="none" strike="noStrike">
                <a:solidFill>
                  <a:srgbClr val="0033CC"/>
                </a:solidFill>
                <a:latin typeface="Calibri"/>
                <a:ea typeface="Calibri"/>
                <a:cs typeface="Calibri"/>
                <a:sym typeface="Calibri"/>
              </a:rPr>
              <a:t>Requerirán autorización por Token. </a:t>
            </a:r>
            <a:endParaRPr b="0" i="0" sz="1800" u="none" cap="none" strike="noStrike">
              <a:solidFill>
                <a:srgbClr val="0033C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g39aacdd4c9b_0_79"/>
          <p:cNvSpPr txBox="1"/>
          <p:nvPr/>
        </p:nvSpPr>
        <p:spPr>
          <a:xfrm>
            <a:off x="1042150" y="1706450"/>
            <a:ext cx="4869600" cy="19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lang="es-CL" sz="1800">
                <a:solidFill>
                  <a:srgbClr val="92D050"/>
                </a:solidFill>
              </a:rPr>
              <a:t>POST</a:t>
            </a:r>
            <a:r>
              <a:rPr b="1" i="0" lang="es-CL" sz="1800" u="none" cap="none" strike="noStrike">
                <a:solidFill>
                  <a:srgbClr val="FF99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-CL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Usuario: </a:t>
            </a:r>
            <a:r>
              <a:rPr lang="es-CL" sz="1800">
                <a:solidFill>
                  <a:schemeClr val="dk1"/>
                </a:solidFill>
              </a:rPr>
              <a:t>Crear Usuarios</a:t>
            </a:r>
            <a:endParaRPr b="1" i="0" sz="1800" u="none" cap="none" strike="noStrike">
              <a:solidFill>
                <a:srgbClr val="92D05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sz="18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sz="18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CL" sz="1800" u="none" cap="none" strike="noStrike">
                <a:solidFill>
                  <a:srgbClr val="FF9900"/>
                </a:solidFill>
                <a:latin typeface="Arial"/>
                <a:ea typeface="Arial"/>
                <a:cs typeface="Arial"/>
                <a:sym typeface="Arial"/>
              </a:rPr>
              <a:t>POST  </a:t>
            </a:r>
            <a:r>
              <a:rPr lang="es-CL" sz="1800">
                <a:solidFill>
                  <a:schemeClr val="dk1"/>
                </a:solidFill>
              </a:rPr>
              <a:t>Producto</a:t>
            </a:r>
            <a:r>
              <a:rPr b="0" i="0" lang="es-CL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Crear </a:t>
            </a:r>
            <a:r>
              <a:rPr lang="es-CL" sz="1800">
                <a:solidFill>
                  <a:schemeClr val="dk1"/>
                </a:solidFill>
              </a:rPr>
              <a:t>producto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CL" sz="1800" u="none" cap="none" strike="noStrike">
                <a:solidFill>
                  <a:srgbClr val="00B0F0"/>
                </a:solidFill>
                <a:latin typeface="Arial"/>
                <a:ea typeface="Arial"/>
                <a:cs typeface="Arial"/>
                <a:sym typeface="Arial"/>
              </a:rPr>
              <a:t>PUT</a:t>
            </a:r>
            <a:r>
              <a:rPr b="1" i="0" lang="es-CL" sz="1800" u="none" cap="none" strike="noStrike">
                <a:solidFill>
                  <a:srgbClr val="FF99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s-CL" sz="1800">
                <a:solidFill>
                  <a:schemeClr val="dk1"/>
                </a:solidFill>
              </a:rPr>
              <a:t>Producto</a:t>
            </a:r>
            <a:r>
              <a:rPr b="0" i="0" lang="es-CL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Actualizar </a:t>
            </a:r>
            <a:r>
              <a:rPr lang="es-CL" sz="1800">
                <a:solidFill>
                  <a:schemeClr val="dk1"/>
                </a:solidFill>
              </a:rPr>
              <a:t>producto</a:t>
            </a:r>
            <a:endParaRPr b="1" i="0" sz="1800" u="none" cap="none" strike="noStrike">
              <a:solidFill>
                <a:srgbClr val="00B0F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CL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DEL</a:t>
            </a:r>
            <a:r>
              <a:rPr b="1" i="0" lang="es-CL" sz="1800" u="none" cap="none" strike="noStrike">
                <a:solidFill>
                  <a:srgbClr val="FF99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s-CL" sz="1800">
                <a:solidFill>
                  <a:schemeClr val="dk1"/>
                </a:solidFill>
              </a:rPr>
              <a:t>Producto</a:t>
            </a:r>
            <a:r>
              <a:rPr b="0" i="0" lang="es-CL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Borrar </a:t>
            </a:r>
            <a:r>
              <a:rPr lang="es-CL" sz="1800">
                <a:solidFill>
                  <a:schemeClr val="dk1"/>
                </a:solidFill>
              </a:rPr>
              <a:t>producto</a:t>
            </a:r>
            <a:endParaRPr b="1" i="0" sz="1800" u="none" cap="none" strike="noStrike">
              <a:solidFill>
                <a:srgbClr val="FF99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7" name="Google Shape;407;g39aacdd4c9b_0_79"/>
          <p:cNvSpPr/>
          <p:nvPr/>
        </p:nvSpPr>
        <p:spPr>
          <a:xfrm>
            <a:off x="5475154" y="1693541"/>
            <a:ext cx="873600" cy="37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CL" sz="1800" u="none" cap="none" strike="noStrike">
                <a:solidFill>
                  <a:srgbClr val="0033CC"/>
                </a:solidFill>
                <a:latin typeface="Calibri"/>
                <a:ea typeface="Calibri"/>
                <a:cs typeface="Calibri"/>
                <a:sym typeface="Calibri"/>
              </a:rPr>
              <a:t>Público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8" name="Google Shape;408;g39aacdd4c9b_0_79"/>
          <p:cNvSpPr/>
          <p:nvPr/>
        </p:nvSpPr>
        <p:spPr>
          <a:xfrm>
            <a:off x="5149162" y="2551815"/>
            <a:ext cx="891300" cy="37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CL" sz="1800" u="none" cap="none" strike="noStrike">
                <a:solidFill>
                  <a:srgbClr val="0033CC"/>
                </a:solidFill>
                <a:latin typeface="Calibri"/>
                <a:ea typeface="Calibri"/>
                <a:cs typeface="Calibri"/>
                <a:sym typeface="Calibri"/>
              </a:rPr>
              <a:t>Privado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ng. Daniel Aroni Acero - IESTP-DESAGUADERO" id="409" name="Google Shape;409;g39aacdd4c9b_0_7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38840" y="3979567"/>
            <a:ext cx="2064907" cy="2076926"/>
          </a:xfrm>
          <a:prstGeom prst="rect">
            <a:avLst/>
          </a:prstGeom>
          <a:noFill/>
          <a:ln>
            <a:noFill/>
          </a:ln>
        </p:spPr>
      </p:pic>
      <p:sp>
        <p:nvSpPr>
          <p:cNvPr id="410" name="Google Shape;410;g39aacdd4c9b_0_79"/>
          <p:cNvSpPr/>
          <p:nvPr/>
        </p:nvSpPr>
        <p:spPr>
          <a:xfrm>
            <a:off x="3215058" y="4001795"/>
            <a:ext cx="2264400" cy="4047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-CL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Usuario/Password</a:t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1" name="Google Shape;411;g39aacdd4c9b_0_79"/>
          <p:cNvSpPr/>
          <p:nvPr/>
        </p:nvSpPr>
        <p:spPr>
          <a:xfrm flipH="1">
            <a:off x="3163502" y="4468596"/>
            <a:ext cx="2264400" cy="4047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F0000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-CL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Token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Server Icons - Iconshock" id="412" name="Google Shape;412;g39aacdd4c9b_0_7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468333" y="3646635"/>
            <a:ext cx="2438400" cy="2438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cono Base de datos Gratis de iMod Icons" id="413" name="Google Shape;413;g39aacdd4c9b_0_7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051396" y="5114527"/>
            <a:ext cx="1087739" cy="1087739"/>
          </a:xfrm>
          <a:prstGeom prst="rect">
            <a:avLst/>
          </a:prstGeom>
          <a:noFill/>
          <a:ln>
            <a:noFill/>
          </a:ln>
        </p:spPr>
      </p:pic>
      <p:sp>
        <p:nvSpPr>
          <p:cNvPr id="414" name="Google Shape;414;g39aacdd4c9b_0_79"/>
          <p:cNvSpPr txBox="1"/>
          <p:nvPr/>
        </p:nvSpPr>
        <p:spPr>
          <a:xfrm>
            <a:off x="1528432" y="5832934"/>
            <a:ext cx="979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CL" sz="1800" u="none" cap="none" strike="noStrike">
                <a:solidFill>
                  <a:srgbClr val="41719C"/>
                </a:solidFill>
                <a:latin typeface="Arial"/>
                <a:ea typeface="Arial"/>
                <a:cs typeface="Arial"/>
                <a:sym typeface="Arial"/>
              </a:rPr>
              <a:t>Usuario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5" name="Google Shape;415;g39aacdd4c9b_0_79"/>
          <p:cNvSpPr txBox="1"/>
          <p:nvPr/>
        </p:nvSpPr>
        <p:spPr>
          <a:xfrm>
            <a:off x="6091924" y="6010234"/>
            <a:ext cx="1044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CL" sz="1800" u="none" cap="none" strike="noStrike">
                <a:solidFill>
                  <a:srgbClr val="41719C"/>
                </a:solidFill>
                <a:latin typeface="Arial"/>
                <a:ea typeface="Arial"/>
                <a:cs typeface="Arial"/>
                <a:sym typeface="Arial"/>
              </a:rPr>
              <a:t>Servidor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6" name="Google Shape;416;g39aacdd4c9b_0_79"/>
          <p:cNvSpPr txBox="1"/>
          <p:nvPr/>
        </p:nvSpPr>
        <p:spPr>
          <a:xfrm>
            <a:off x="7076697" y="4006643"/>
            <a:ext cx="1601700" cy="4617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-CL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Validar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-CL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Usuario/Password   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Marca de verificación" id="417" name="Google Shape;417;g39aacdd4c9b_0_7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363505" y="3868143"/>
            <a:ext cx="369332" cy="369332"/>
          </a:xfrm>
          <a:prstGeom prst="rect">
            <a:avLst/>
          </a:prstGeom>
          <a:noFill/>
          <a:ln>
            <a:noFill/>
          </a:ln>
        </p:spPr>
      </p:pic>
      <p:sp>
        <p:nvSpPr>
          <p:cNvPr id="418" name="Google Shape;418;g39aacdd4c9b_0_79"/>
          <p:cNvSpPr txBox="1"/>
          <p:nvPr/>
        </p:nvSpPr>
        <p:spPr>
          <a:xfrm>
            <a:off x="7293372" y="4790180"/>
            <a:ext cx="966300" cy="4617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-CL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Validar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-CL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Token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Marca de verificación" id="419" name="Google Shape;419;g39aacdd4c9b_0_7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006694" y="4686788"/>
            <a:ext cx="369332" cy="369332"/>
          </a:xfrm>
          <a:prstGeom prst="rect">
            <a:avLst/>
          </a:prstGeom>
          <a:noFill/>
          <a:ln>
            <a:noFill/>
          </a:ln>
        </p:spPr>
      </p:pic>
      <p:sp>
        <p:nvSpPr>
          <p:cNvPr id="420" name="Google Shape;420;g39aacdd4c9b_0_79"/>
          <p:cNvSpPr/>
          <p:nvPr/>
        </p:nvSpPr>
        <p:spPr>
          <a:xfrm>
            <a:off x="3172933" y="5189127"/>
            <a:ext cx="2264400" cy="4047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F0000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s-CL" sz="800">
                <a:solidFill>
                  <a:schemeClr val="lt1"/>
                </a:solidFill>
              </a:rPr>
              <a:t>Request (Authorization: Bearer TOKEN)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1" name="Google Shape;421;g39aacdd4c9b_0_79"/>
          <p:cNvSpPr/>
          <p:nvPr/>
        </p:nvSpPr>
        <p:spPr>
          <a:xfrm flipH="1">
            <a:off x="3121377" y="5655928"/>
            <a:ext cx="2264400" cy="4047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-CL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Datos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2" name="Google Shape;422;g39aacdd4c9b_0_79"/>
          <p:cNvSpPr/>
          <p:nvPr/>
        </p:nvSpPr>
        <p:spPr>
          <a:xfrm>
            <a:off x="3286614" y="3939623"/>
            <a:ext cx="255300" cy="258000"/>
          </a:xfrm>
          <a:prstGeom prst="flowChartConnector">
            <a:avLst/>
          </a:prstGeom>
          <a:solidFill>
            <a:srgbClr val="92D050"/>
          </a:solidFill>
          <a:ln cap="flat" cmpd="sng" w="12700">
            <a:solidFill>
              <a:srgbClr val="00B05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CL" sz="1800" u="none" cap="none" strike="noStrike">
                <a:solidFill>
                  <a:srgbClr val="548135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3" name="Google Shape;423;g39aacdd4c9b_0_79"/>
          <p:cNvSpPr/>
          <p:nvPr/>
        </p:nvSpPr>
        <p:spPr>
          <a:xfrm>
            <a:off x="8498760" y="4261052"/>
            <a:ext cx="255300" cy="258000"/>
          </a:xfrm>
          <a:prstGeom prst="flowChartConnector">
            <a:avLst/>
          </a:prstGeom>
          <a:solidFill>
            <a:srgbClr val="92D050"/>
          </a:solidFill>
          <a:ln cap="flat" cmpd="sng" w="12700">
            <a:solidFill>
              <a:srgbClr val="00B05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CL" sz="1800" u="none" cap="none" strike="noStrike">
                <a:solidFill>
                  <a:srgbClr val="548135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4" name="Google Shape;424;g39aacdd4c9b_0_79"/>
          <p:cNvSpPr/>
          <p:nvPr/>
        </p:nvSpPr>
        <p:spPr>
          <a:xfrm>
            <a:off x="4928786" y="4541956"/>
            <a:ext cx="255300" cy="258000"/>
          </a:xfrm>
          <a:prstGeom prst="flowChartConnector">
            <a:avLst/>
          </a:prstGeom>
          <a:solidFill>
            <a:srgbClr val="92D050"/>
          </a:solidFill>
          <a:ln cap="flat" cmpd="sng" w="12700">
            <a:solidFill>
              <a:srgbClr val="00B05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CL" sz="1800" u="none" cap="none" strike="noStrike">
                <a:solidFill>
                  <a:srgbClr val="548135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5" name="Google Shape;425;g39aacdd4c9b_0_79"/>
          <p:cNvSpPr/>
          <p:nvPr/>
        </p:nvSpPr>
        <p:spPr>
          <a:xfrm>
            <a:off x="3103747" y="5122891"/>
            <a:ext cx="255300" cy="258000"/>
          </a:xfrm>
          <a:prstGeom prst="flowChartConnector">
            <a:avLst/>
          </a:prstGeom>
          <a:solidFill>
            <a:srgbClr val="92D050"/>
          </a:solidFill>
          <a:ln cap="flat" cmpd="sng" w="12700">
            <a:solidFill>
              <a:srgbClr val="00B05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CL" sz="1800" u="none" cap="none" strike="noStrike">
                <a:solidFill>
                  <a:srgbClr val="548135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6" name="Google Shape;426;g39aacdd4c9b_0_79"/>
          <p:cNvSpPr/>
          <p:nvPr/>
        </p:nvSpPr>
        <p:spPr>
          <a:xfrm>
            <a:off x="8105160" y="5049335"/>
            <a:ext cx="255300" cy="258000"/>
          </a:xfrm>
          <a:prstGeom prst="flowChartConnector">
            <a:avLst/>
          </a:prstGeom>
          <a:solidFill>
            <a:srgbClr val="92D050"/>
          </a:solidFill>
          <a:ln cap="flat" cmpd="sng" w="12700">
            <a:solidFill>
              <a:srgbClr val="00B05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CL" sz="1800" u="none" cap="none" strike="noStrike">
                <a:solidFill>
                  <a:srgbClr val="548135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7" name="Google Shape;427;g39aacdd4c9b_0_79"/>
          <p:cNvSpPr/>
          <p:nvPr/>
        </p:nvSpPr>
        <p:spPr>
          <a:xfrm>
            <a:off x="4928786" y="5729288"/>
            <a:ext cx="255300" cy="258000"/>
          </a:xfrm>
          <a:prstGeom prst="flowChartConnector">
            <a:avLst/>
          </a:prstGeom>
          <a:solidFill>
            <a:srgbClr val="92D050"/>
          </a:solidFill>
          <a:ln cap="flat" cmpd="sng" w="12700">
            <a:solidFill>
              <a:srgbClr val="00B05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CL" sz="1800" u="none" cap="none" strike="noStrike">
                <a:solidFill>
                  <a:srgbClr val="548135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2" name="Google Shape;432;g39aacdd4c9b_0_111" title="Captura de pantalla 2026-05-08 a la(s) 17.24.26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60274" y="1825464"/>
            <a:ext cx="4353948" cy="40259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Resultado de imagen para angular logos" id="433" name="Google Shape;433;g39aacdd4c9b_0_111"/>
          <p:cNvPicPr preferRelativeResize="0"/>
          <p:nvPr/>
        </p:nvPicPr>
        <p:blipFill rotWithShape="1">
          <a:blip r:embed="rId4">
            <a:alphaModFix/>
          </a:blip>
          <a:srcRect b="0" l="51972" r="0" t="0"/>
          <a:stretch/>
        </p:blipFill>
        <p:spPr>
          <a:xfrm>
            <a:off x="227013" y="85725"/>
            <a:ext cx="800100" cy="83026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34" name="Google Shape;434;g39aacdd4c9b_0_111"/>
          <p:cNvCxnSpPr/>
          <p:nvPr/>
        </p:nvCxnSpPr>
        <p:spPr>
          <a:xfrm>
            <a:off x="1206500" y="858838"/>
            <a:ext cx="7526400" cy="0"/>
          </a:xfrm>
          <a:prstGeom prst="straightConnector1">
            <a:avLst/>
          </a:prstGeom>
          <a:noFill/>
          <a:ln cap="flat" cmpd="sng" w="28575">
            <a:solidFill>
              <a:srgbClr val="2E75B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435" name="Google Shape;435;g39aacdd4c9b_0_111"/>
          <p:cNvSpPr/>
          <p:nvPr/>
        </p:nvSpPr>
        <p:spPr>
          <a:xfrm>
            <a:off x="0" y="6537325"/>
            <a:ext cx="9144000" cy="312600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-CL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Desarrollo FrontEnd con Angular – código 634529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6" name="Google Shape;436;g39aacdd4c9b_0_111"/>
          <p:cNvSpPr/>
          <p:nvPr/>
        </p:nvSpPr>
        <p:spPr>
          <a:xfrm>
            <a:off x="627062" y="1164637"/>
            <a:ext cx="8105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s-CL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Controlar el acceso de un usuario mediante JWT</a:t>
            </a:r>
            <a:endParaRPr b="0" i="0" sz="1800" u="none" cap="none" strike="noStrike">
              <a:solidFill>
                <a:srgbClr val="0033CC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37" name="Google Shape;437;g39aacdd4c9b_0_111"/>
          <p:cNvSpPr txBox="1"/>
          <p:nvPr/>
        </p:nvSpPr>
        <p:spPr>
          <a:xfrm>
            <a:off x="1144588" y="185738"/>
            <a:ext cx="75738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s-CL" sz="2800" u="none" cap="none" strike="noStrik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Implementar Validación JWT en el Backend</a:t>
            </a:r>
            <a:endParaRPr b="1" i="0" sz="2800" u="none" cap="none" strike="noStrike">
              <a:solidFill>
                <a:srgbClr val="0070C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8" name="Google Shape;438;g39aacdd4c9b_0_111"/>
          <p:cNvSpPr/>
          <p:nvPr/>
        </p:nvSpPr>
        <p:spPr>
          <a:xfrm rot="5400000">
            <a:off x="2575863" y="5034491"/>
            <a:ext cx="244800" cy="2712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FF0000"/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9" name="Google Shape;439;g39aacdd4c9b_0_111"/>
          <p:cNvSpPr/>
          <p:nvPr/>
        </p:nvSpPr>
        <p:spPr>
          <a:xfrm>
            <a:off x="3113756" y="5106716"/>
            <a:ext cx="4869300" cy="5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s-CL" sz="1600" u="none" cap="none" strike="noStrike">
                <a:solidFill>
                  <a:srgbClr val="0033CC"/>
                </a:solidFill>
                <a:latin typeface="Arial"/>
                <a:ea typeface="Arial"/>
                <a:cs typeface="Arial"/>
                <a:sym typeface="Arial"/>
              </a:rPr>
              <a:t>next() permite continuar con el chequeo de la siguiente url y ejecutará aquella en la cual calce</a:t>
            </a:r>
            <a:endParaRPr b="0" i="0" sz="1600" u="none" cap="none" strike="noStrike">
              <a:solidFill>
                <a:srgbClr val="0033CC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40" name="Google Shape;440;g39aacdd4c9b_0_111"/>
          <p:cNvSpPr/>
          <p:nvPr/>
        </p:nvSpPr>
        <p:spPr>
          <a:xfrm>
            <a:off x="5734775" y="1839701"/>
            <a:ext cx="2814600" cy="307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s-CL" sz="16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app.use(</a:t>
            </a:r>
            <a:r>
              <a:rPr lang="es-CL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function …</a:t>
            </a:r>
            <a:r>
              <a:rPr b="0" i="0" lang="es-CL" sz="16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rgbClr val="0033CC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-CL" sz="1600">
                <a:solidFill>
                  <a:srgbClr val="0033CC"/>
                </a:solidFill>
                <a:latin typeface="Consolas"/>
                <a:ea typeface="Consolas"/>
                <a:cs typeface="Consolas"/>
                <a:sym typeface="Consolas"/>
              </a:rPr>
              <a:t>c</a:t>
            </a:r>
            <a:r>
              <a:rPr b="0" i="0" lang="es-CL" sz="1600" u="none" cap="none" strike="noStrike">
                <a:solidFill>
                  <a:srgbClr val="0033CC"/>
                </a:solidFill>
                <a:latin typeface="Arial"/>
                <a:ea typeface="Arial"/>
                <a:cs typeface="Arial"/>
                <a:sym typeface="Arial"/>
              </a:rPr>
              <a:t>alzará con todas las solicitudes web. Se debe colocar antes de las funcionalidades que se desee controlar el acceso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33CC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s-CL" sz="1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OJO: debe ubicarse después de ‘/login’, sino el login quedar</a:t>
            </a:r>
            <a:r>
              <a:rPr lang="es-CL" sz="1600">
                <a:solidFill>
                  <a:srgbClr val="FF0000"/>
                </a:solidFill>
              </a:rPr>
              <a:t>á privado</a:t>
            </a:r>
            <a:endParaRPr b="0" i="0" sz="16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1" name="Google Shape;441;g39aacdd4c9b_0_111"/>
          <p:cNvSpPr txBox="1"/>
          <p:nvPr/>
        </p:nvSpPr>
        <p:spPr>
          <a:xfrm>
            <a:off x="960278" y="5999162"/>
            <a:ext cx="4923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2" name="Google Shape;442;g39aacdd4c9b_0_111"/>
          <p:cNvSpPr txBox="1"/>
          <p:nvPr/>
        </p:nvSpPr>
        <p:spPr>
          <a:xfrm>
            <a:off x="875318" y="1527844"/>
            <a:ext cx="6624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-CL" sz="1400" u="none" cap="none" strike="noStrike">
                <a:solidFill>
                  <a:schemeClr val="dk1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app.js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3" name="Google Shape;443;g39aacdd4c9b_0_111"/>
          <p:cNvSpPr/>
          <p:nvPr/>
        </p:nvSpPr>
        <p:spPr>
          <a:xfrm rot="-5400000">
            <a:off x="1040314" y="2174844"/>
            <a:ext cx="244800" cy="2712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FF0000"/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4" name="Google Shape;444;g39aacdd4c9b_0_111"/>
          <p:cNvSpPr/>
          <p:nvPr/>
        </p:nvSpPr>
        <p:spPr>
          <a:xfrm rot="-5400000">
            <a:off x="1040314" y="3596543"/>
            <a:ext cx="244800" cy="2712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FF0000"/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5" name="Google Shape;445;g39aacdd4c9b_0_111"/>
          <p:cNvSpPr/>
          <p:nvPr/>
        </p:nvSpPr>
        <p:spPr>
          <a:xfrm>
            <a:off x="1298325" y="2154150"/>
            <a:ext cx="3845100" cy="312600"/>
          </a:xfrm>
          <a:prstGeom prst="rect">
            <a:avLst/>
          </a:prstGeom>
          <a:solidFill>
            <a:srgbClr val="FFFF00">
              <a:alpha val="9800"/>
            </a:srgbClr>
          </a:solidFill>
          <a:ln cap="flat" cmpd="sng" w="28575">
            <a:solidFill>
              <a:srgbClr val="FFFF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6" name="Google Shape;446;g39aacdd4c9b_0_111"/>
          <p:cNvSpPr/>
          <p:nvPr/>
        </p:nvSpPr>
        <p:spPr>
          <a:xfrm>
            <a:off x="1298325" y="3575825"/>
            <a:ext cx="3845100" cy="312600"/>
          </a:xfrm>
          <a:prstGeom prst="rect">
            <a:avLst/>
          </a:prstGeom>
          <a:solidFill>
            <a:srgbClr val="FFFF00">
              <a:alpha val="9800"/>
            </a:srgbClr>
          </a:solidFill>
          <a:ln cap="flat" cmpd="sng" w="28575">
            <a:solidFill>
              <a:srgbClr val="FFFF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7" name="Google Shape;447;g39aacdd4c9b_0_111"/>
          <p:cNvSpPr/>
          <p:nvPr/>
        </p:nvSpPr>
        <p:spPr>
          <a:xfrm>
            <a:off x="1736475" y="4997500"/>
            <a:ext cx="800100" cy="312600"/>
          </a:xfrm>
          <a:prstGeom prst="rect">
            <a:avLst/>
          </a:prstGeom>
          <a:solidFill>
            <a:srgbClr val="FFFF00">
              <a:alpha val="9800"/>
            </a:srgbClr>
          </a:solidFill>
          <a:ln cap="flat" cmpd="sng" w="28575">
            <a:solidFill>
              <a:srgbClr val="FFFF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esultado de imagen para angular logos" id="452" name="Google Shape;452;g39aacdd4c9b_0_128"/>
          <p:cNvPicPr preferRelativeResize="0"/>
          <p:nvPr/>
        </p:nvPicPr>
        <p:blipFill rotWithShape="1">
          <a:blip r:embed="rId3">
            <a:alphaModFix/>
          </a:blip>
          <a:srcRect b="0" l="51972" r="0" t="0"/>
          <a:stretch/>
        </p:blipFill>
        <p:spPr>
          <a:xfrm>
            <a:off x="227013" y="85725"/>
            <a:ext cx="800100" cy="83026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53" name="Google Shape;453;g39aacdd4c9b_0_128"/>
          <p:cNvCxnSpPr/>
          <p:nvPr/>
        </p:nvCxnSpPr>
        <p:spPr>
          <a:xfrm>
            <a:off x="1206500" y="858838"/>
            <a:ext cx="7526400" cy="0"/>
          </a:xfrm>
          <a:prstGeom prst="straightConnector1">
            <a:avLst/>
          </a:prstGeom>
          <a:noFill/>
          <a:ln cap="flat" cmpd="sng" w="28575">
            <a:solidFill>
              <a:srgbClr val="2E75B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454" name="Google Shape;454;g39aacdd4c9b_0_128"/>
          <p:cNvSpPr/>
          <p:nvPr/>
        </p:nvSpPr>
        <p:spPr>
          <a:xfrm>
            <a:off x="0" y="6537325"/>
            <a:ext cx="9144000" cy="312600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-CL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Desarrollo FrontEnd con Angular – código 634529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5" name="Google Shape;455;g39aacdd4c9b_0_128"/>
          <p:cNvSpPr/>
          <p:nvPr/>
        </p:nvSpPr>
        <p:spPr>
          <a:xfrm>
            <a:off x="627062" y="1164637"/>
            <a:ext cx="8105700" cy="6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s-CL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Probar el servicio protegido (</a:t>
            </a:r>
            <a:r>
              <a:rPr lang="es-CL" sz="1800">
                <a:solidFill>
                  <a:schemeClr val="dk1"/>
                </a:solidFill>
              </a:rPr>
              <a:t>consultar un producto</a:t>
            </a:r>
            <a:r>
              <a:rPr b="0" i="0" lang="es-CL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 con postman, primero sin realizar el login y luego la </a:t>
            </a:r>
            <a:r>
              <a:rPr lang="es-CL" sz="1800">
                <a:solidFill>
                  <a:schemeClr val="dk1"/>
                </a:solidFill>
              </a:rPr>
              <a:t>consulta</a:t>
            </a:r>
            <a:r>
              <a:rPr b="0" i="0" lang="es-CL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1800" u="none" cap="none" strike="noStrike">
              <a:solidFill>
                <a:srgbClr val="0033CC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56" name="Google Shape;456;g39aacdd4c9b_0_128"/>
          <p:cNvSpPr txBox="1"/>
          <p:nvPr/>
        </p:nvSpPr>
        <p:spPr>
          <a:xfrm>
            <a:off x="1144588" y="185738"/>
            <a:ext cx="46740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s-CL" sz="2800" u="none" cap="none" strike="noStrik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Probar  la Validación JWT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57" name="Google Shape;457;g39aacdd4c9b_0_128" title="Captura de pantalla 2026-05-08 a la(s) 17.26.12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20315" y="1986325"/>
            <a:ext cx="7519173" cy="3423513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458" name="Google Shape;458;g39aacdd4c9b_0_128"/>
          <p:cNvSpPr/>
          <p:nvPr/>
        </p:nvSpPr>
        <p:spPr>
          <a:xfrm>
            <a:off x="1027125" y="2102313"/>
            <a:ext cx="3138300" cy="312600"/>
          </a:xfrm>
          <a:prstGeom prst="rect">
            <a:avLst/>
          </a:prstGeom>
          <a:solidFill>
            <a:srgbClr val="FFFF00">
              <a:alpha val="9800"/>
            </a:srgbClr>
          </a:solidFill>
          <a:ln cap="flat" cmpd="sng" w="28575">
            <a:solidFill>
              <a:srgbClr val="FFFF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9" name="Google Shape;459;g39aacdd4c9b_0_128"/>
          <p:cNvSpPr/>
          <p:nvPr/>
        </p:nvSpPr>
        <p:spPr>
          <a:xfrm>
            <a:off x="948900" y="4054950"/>
            <a:ext cx="4594800" cy="1326300"/>
          </a:xfrm>
          <a:prstGeom prst="rect">
            <a:avLst/>
          </a:prstGeom>
          <a:solidFill>
            <a:srgbClr val="FFFF00">
              <a:alpha val="9800"/>
            </a:srgbClr>
          </a:solidFill>
          <a:ln cap="flat" cmpd="sng" w="28575">
            <a:solidFill>
              <a:srgbClr val="FFFF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0" name="Google Shape;460;g39aacdd4c9b_0_128"/>
          <p:cNvSpPr/>
          <p:nvPr/>
        </p:nvSpPr>
        <p:spPr>
          <a:xfrm>
            <a:off x="5147025" y="2127725"/>
            <a:ext cx="2182500" cy="369300"/>
          </a:xfrm>
          <a:prstGeom prst="wedgeRoundRectCallout">
            <a:avLst>
              <a:gd fmla="val -94022" name="adj1"/>
              <a:gd fmla="val -18745" name="adj2"/>
              <a:gd fmla="val 16667" name="adj3"/>
            </a:avLst>
          </a:prstGeom>
          <a:solidFill>
            <a:srgbClr val="F7CAAC"/>
          </a:solidFill>
          <a:ln cap="flat" cmpd="sng" w="12700">
            <a:solidFill>
              <a:srgbClr val="C55A1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-CL" sz="1200">
                <a:solidFill>
                  <a:schemeClr val="dk1"/>
                </a:solidFill>
              </a:rPr>
              <a:t>URL de consultar un producto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1" name="Google Shape;461;g39aacdd4c9b_0_128"/>
          <p:cNvSpPr/>
          <p:nvPr/>
        </p:nvSpPr>
        <p:spPr>
          <a:xfrm>
            <a:off x="6257000" y="4866150"/>
            <a:ext cx="2182500" cy="448800"/>
          </a:xfrm>
          <a:prstGeom prst="wedgeRoundRectCallout">
            <a:avLst>
              <a:gd fmla="val -94022" name="adj1"/>
              <a:gd fmla="val -18745" name="adj2"/>
              <a:gd fmla="val 16667" name="adj3"/>
            </a:avLst>
          </a:prstGeom>
          <a:solidFill>
            <a:srgbClr val="F7CAAC"/>
          </a:solidFill>
          <a:ln cap="flat" cmpd="sng" w="12700">
            <a:solidFill>
              <a:srgbClr val="C55A1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-CL" sz="1200">
                <a:solidFill>
                  <a:schemeClr val="dk1"/>
                </a:solidFill>
              </a:rPr>
              <a:t>Respuesta </a:t>
            </a:r>
            <a:r>
              <a:rPr b="1" lang="es-CL" sz="1200">
                <a:solidFill>
                  <a:schemeClr val="dk1"/>
                </a:solidFill>
              </a:rPr>
              <a:t>No Autorizada </a:t>
            </a:r>
            <a:r>
              <a:rPr lang="es-CL" sz="1200">
                <a:solidFill>
                  <a:schemeClr val="dk1"/>
                </a:solidFill>
              </a:rPr>
              <a:t>del servicio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2" name="Google Shape;462;g39aacdd4c9b_0_128"/>
          <p:cNvSpPr/>
          <p:nvPr/>
        </p:nvSpPr>
        <p:spPr>
          <a:xfrm>
            <a:off x="777899" y="5754875"/>
            <a:ext cx="7661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chemeClr val="dk1"/>
                </a:solidFill>
              </a:rPr>
              <a:t>La respuesta </a:t>
            </a:r>
            <a:r>
              <a:rPr b="1" lang="es-CL" sz="1800">
                <a:solidFill>
                  <a:schemeClr val="dk1"/>
                </a:solidFill>
              </a:rPr>
              <a:t>No Autorizada</a:t>
            </a:r>
            <a:r>
              <a:rPr lang="es-CL" sz="1800">
                <a:solidFill>
                  <a:schemeClr val="dk1"/>
                </a:solidFill>
              </a:rPr>
              <a:t> ocurre porque el servicio ahora exige un token</a:t>
            </a:r>
            <a:endParaRPr b="0" i="0" sz="1800" u="none" cap="none" strike="noStrike">
              <a:solidFill>
                <a:srgbClr val="0033CC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6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g39aacdd4c9b_0_138"/>
          <p:cNvSpPr/>
          <p:nvPr/>
        </p:nvSpPr>
        <p:spPr>
          <a:xfrm>
            <a:off x="627062" y="1164637"/>
            <a:ext cx="8105700" cy="6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s-CL" sz="1800">
                <a:solidFill>
                  <a:schemeClr val="dk1"/>
                </a:solidFill>
              </a:rPr>
              <a:t>¿Dónde agregar el token que requiere la operación protegida?</a:t>
            </a:r>
            <a:endParaRPr b="0" i="0" sz="1800" u="none" cap="none" strike="noStrike">
              <a:solidFill>
                <a:srgbClr val="0033CC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descr="Resultado de imagen para angular logos" id="468" name="Google Shape;468;g39aacdd4c9b_0_138"/>
          <p:cNvPicPr preferRelativeResize="0"/>
          <p:nvPr/>
        </p:nvPicPr>
        <p:blipFill rotWithShape="1">
          <a:blip r:embed="rId3">
            <a:alphaModFix/>
          </a:blip>
          <a:srcRect b="0" l="51972" r="0" t="0"/>
          <a:stretch/>
        </p:blipFill>
        <p:spPr>
          <a:xfrm>
            <a:off x="227013" y="85725"/>
            <a:ext cx="800100" cy="83026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69" name="Google Shape;469;g39aacdd4c9b_0_138"/>
          <p:cNvCxnSpPr/>
          <p:nvPr/>
        </p:nvCxnSpPr>
        <p:spPr>
          <a:xfrm>
            <a:off x="1206500" y="858838"/>
            <a:ext cx="7526400" cy="0"/>
          </a:xfrm>
          <a:prstGeom prst="straightConnector1">
            <a:avLst/>
          </a:prstGeom>
          <a:noFill/>
          <a:ln cap="flat" cmpd="sng" w="28575">
            <a:solidFill>
              <a:srgbClr val="2E75B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470" name="Google Shape;470;g39aacdd4c9b_0_138"/>
          <p:cNvSpPr/>
          <p:nvPr/>
        </p:nvSpPr>
        <p:spPr>
          <a:xfrm>
            <a:off x="0" y="6537325"/>
            <a:ext cx="9144000" cy="312600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-CL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Desarrollo FrontEnd con Angular – código 634529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1" name="Google Shape;471;g39aacdd4c9b_0_138"/>
          <p:cNvSpPr txBox="1"/>
          <p:nvPr/>
        </p:nvSpPr>
        <p:spPr>
          <a:xfrm>
            <a:off x="1144588" y="185738"/>
            <a:ext cx="46740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s-CL" sz="2800" u="none" cap="none" strike="noStrik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Probar  la Validación JWT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72" name="Google Shape;472;g39aacdd4c9b_0_138" title="Captura de pantalla 2026-05-08 a la(s) 17.26.57.png"/>
          <p:cNvPicPr preferRelativeResize="0"/>
          <p:nvPr/>
        </p:nvPicPr>
        <p:blipFill rotWithShape="1">
          <a:blip r:embed="rId4">
            <a:alphaModFix/>
          </a:blip>
          <a:srcRect b="42290" l="0" r="0" t="0"/>
          <a:stretch/>
        </p:blipFill>
        <p:spPr>
          <a:xfrm>
            <a:off x="160563" y="2116612"/>
            <a:ext cx="8822873" cy="239825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473" name="Google Shape;473;g39aacdd4c9b_0_138"/>
          <p:cNvSpPr/>
          <p:nvPr/>
        </p:nvSpPr>
        <p:spPr>
          <a:xfrm>
            <a:off x="227025" y="3429000"/>
            <a:ext cx="2044800" cy="312600"/>
          </a:xfrm>
          <a:prstGeom prst="rect">
            <a:avLst/>
          </a:prstGeom>
          <a:solidFill>
            <a:srgbClr val="FFFF00">
              <a:alpha val="9800"/>
            </a:srgbClr>
          </a:solidFill>
          <a:ln cap="flat" cmpd="sng" w="28575">
            <a:solidFill>
              <a:srgbClr val="FFFF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4" name="Google Shape;474;g39aacdd4c9b_0_138"/>
          <p:cNvSpPr/>
          <p:nvPr/>
        </p:nvSpPr>
        <p:spPr>
          <a:xfrm>
            <a:off x="5737250" y="3429000"/>
            <a:ext cx="2892300" cy="312600"/>
          </a:xfrm>
          <a:prstGeom prst="rect">
            <a:avLst/>
          </a:prstGeom>
          <a:solidFill>
            <a:srgbClr val="FFFF00">
              <a:alpha val="9800"/>
            </a:srgbClr>
          </a:solidFill>
          <a:ln cap="flat" cmpd="sng" w="28575">
            <a:solidFill>
              <a:srgbClr val="FFFF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5" name="Google Shape;475;g39aacdd4c9b_0_138"/>
          <p:cNvSpPr/>
          <p:nvPr/>
        </p:nvSpPr>
        <p:spPr>
          <a:xfrm>
            <a:off x="303225" y="2266500"/>
            <a:ext cx="3497400" cy="405300"/>
          </a:xfrm>
          <a:prstGeom prst="rect">
            <a:avLst/>
          </a:prstGeom>
          <a:solidFill>
            <a:srgbClr val="FFFF00">
              <a:alpha val="9800"/>
            </a:srgbClr>
          </a:solidFill>
          <a:ln cap="flat" cmpd="sng" w="28575">
            <a:solidFill>
              <a:srgbClr val="FFFF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6" name="Google Shape;476;g39aacdd4c9b_0_138"/>
          <p:cNvSpPr/>
          <p:nvPr/>
        </p:nvSpPr>
        <p:spPr>
          <a:xfrm>
            <a:off x="4746975" y="2302500"/>
            <a:ext cx="2182500" cy="369300"/>
          </a:xfrm>
          <a:prstGeom prst="wedgeRoundRectCallout">
            <a:avLst>
              <a:gd fmla="val -94022" name="adj1"/>
              <a:gd fmla="val -18745" name="adj2"/>
              <a:gd fmla="val 16667" name="adj3"/>
            </a:avLst>
          </a:prstGeom>
          <a:solidFill>
            <a:srgbClr val="F7CAAC"/>
          </a:solidFill>
          <a:ln cap="flat" cmpd="sng" w="12700">
            <a:solidFill>
              <a:srgbClr val="C55A1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-CL" sz="1200">
                <a:solidFill>
                  <a:schemeClr val="dk1"/>
                </a:solidFill>
              </a:rPr>
              <a:t>URL de consultar un producto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7" name="Google Shape;477;g39aacdd4c9b_0_138"/>
          <p:cNvSpPr/>
          <p:nvPr/>
        </p:nvSpPr>
        <p:spPr>
          <a:xfrm>
            <a:off x="2846725" y="3513454"/>
            <a:ext cx="2182500" cy="523200"/>
          </a:xfrm>
          <a:prstGeom prst="wedgeRoundRectCallout">
            <a:avLst>
              <a:gd fmla="val -94022" name="adj1"/>
              <a:gd fmla="val -18745" name="adj2"/>
              <a:gd fmla="val 16667" name="adj3"/>
            </a:avLst>
          </a:prstGeom>
          <a:solidFill>
            <a:srgbClr val="F7CAAC"/>
          </a:solidFill>
          <a:ln cap="flat" cmpd="sng" w="12700">
            <a:solidFill>
              <a:srgbClr val="C55A1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-CL" sz="1200">
                <a:solidFill>
                  <a:schemeClr val="dk1"/>
                </a:solidFill>
              </a:rPr>
              <a:t>Tipo de autorización a usar: </a:t>
            </a:r>
            <a:r>
              <a:rPr b="1" lang="es-CL" sz="1200">
                <a:solidFill>
                  <a:schemeClr val="dk1"/>
                </a:solidFill>
              </a:rPr>
              <a:t>Bearer</a:t>
            </a:r>
            <a:endParaRPr b="1" i="0" sz="1400" u="none" cap="none" strike="noStrike">
              <a:solidFill>
                <a:srgbClr val="000000"/>
              </a:solidFill>
            </a:endParaRPr>
          </a:p>
        </p:txBody>
      </p:sp>
      <p:sp>
        <p:nvSpPr>
          <p:cNvPr id="478" name="Google Shape;478;g39aacdd4c9b_0_138"/>
          <p:cNvSpPr/>
          <p:nvPr/>
        </p:nvSpPr>
        <p:spPr>
          <a:xfrm>
            <a:off x="6256675" y="4437379"/>
            <a:ext cx="2182500" cy="523200"/>
          </a:xfrm>
          <a:prstGeom prst="wedgeRoundRectCallout">
            <a:avLst>
              <a:gd fmla="val -11974" name="adj1"/>
              <a:gd fmla="val -193579" name="adj2"/>
              <a:gd fmla="val 16667" name="adj3"/>
            </a:avLst>
          </a:prstGeom>
          <a:solidFill>
            <a:srgbClr val="F7CAAC"/>
          </a:solidFill>
          <a:ln cap="flat" cmpd="sng" w="12700">
            <a:solidFill>
              <a:srgbClr val="C55A1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-CL" sz="1200">
                <a:solidFill>
                  <a:schemeClr val="dk1"/>
                </a:solidFill>
              </a:rPr>
              <a:t>Token proporcionado en el </a:t>
            </a:r>
            <a:r>
              <a:rPr b="1" lang="es-CL" sz="1200">
                <a:solidFill>
                  <a:schemeClr val="dk1"/>
                </a:solidFill>
              </a:rPr>
              <a:t>/login</a:t>
            </a:r>
            <a:endParaRPr b="1" i="0" sz="1400" u="none" cap="none" strike="noStrike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2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esultado de imagen para angular logos" id="483" name="Google Shape;483;g39aacdd4c9b_0_148"/>
          <p:cNvPicPr preferRelativeResize="0"/>
          <p:nvPr/>
        </p:nvPicPr>
        <p:blipFill rotWithShape="1">
          <a:blip r:embed="rId3">
            <a:alphaModFix/>
          </a:blip>
          <a:srcRect b="0" l="51972" r="0" t="0"/>
          <a:stretch/>
        </p:blipFill>
        <p:spPr>
          <a:xfrm>
            <a:off x="227013" y="85725"/>
            <a:ext cx="800100" cy="83026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84" name="Google Shape;484;g39aacdd4c9b_0_148"/>
          <p:cNvCxnSpPr/>
          <p:nvPr/>
        </p:nvCxnSpPr>
        <p:spPr>
          <a:xfrm>
            <a:off x="1206500" y="858838"/>
            <a:ext cx="7526400" cy="0"/>
          </a:xfrm>
          <a:prstGeom prst="straightConnector1">
            <a:avLst/>
          </a:prstGeom>
          <a:noFill/>
          <a:ln cap="flat" cmpd="sng" w="28575">
            <a:solidFill>
              <a:srgbClr val="2E75B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485" name="Google Shape;485;g39aacdd4c9b_0_148"/>
          <p:cNvSpPr/>
          <p:nvPr/>
        </p:nvSpPr>
        <p:spPr>
          <a:xfrm>
            <a:off x="0" y="6537325"/>
            <a:ext cx="9144000" cy="312600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-CL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Desarrollo FrontEnd con Angular – código 634529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6" name="Google Shape;486;g39aacdd4c9b_0_148"/>
          <p:cNvSpPr txBox="1"/>
          <p:nvPr/>
        </p:nvSpPr>
        <p:spPr>
          <a:xfrm>
            <a:off x="1144588" y="185738"/>
            <a:ext cx="46740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s-CL" sz="2800" u="none" cap="none" strike="noStrik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Probar  la Validación JWT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87" name="Google Shape;487;g39aacdd4c9b_0_148" title="Captura de pantalla 2026-05-08 a la(s) 17.27.11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38938" y="2002295"/>
            <a:ext cx="6866119" cy="4382629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488" name="Google Shape;488;g39aacdd4c9b_0_148"/>
          <p:cNvSpPr/>
          <p:nvPr/>
        </p:nvSpPr>
        <p:spPr>
          <a:xfrm>
            <a:off x="1206500" y="2038300"/>
            <a:ext cx="3497400" cy="369300"/>
          </a:xfrm>
          <a:prstGeom prst="rect">
            <a:avLst/>
          </a:prstGeom>
          <a:solidFill>
            <a:srgbClr val="FFFF00">
              <a:alpha val="9800"/>
            </a:srgbClr>
          </a:solidFill>
          <a:ln cap="flat" cmpd="sng" w="28575">
            <a:solidFill>
              <a:srgbClr val="FFFF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9" name="Google Shape;489;g39aacdd4c9b_0_148"/>
          <p:cNvSpPr/>
          <p:nvPr/>
        </p:nvSpPr>
        <p:spPr>
          <a:xfrm>
            <a:off x="1206500" y="2986075"/>
            <a:ext cx="1579500" cy="312600"/>
          </a:xfrm>
          <a:prstGeom prst="rect">
            <a:avLst/>
          </a:prstGeom>
          <a:solidFill>
            <a:srgbClr val="FFFF00">
              <a:alpha val="9800"/>
            </a:srgbClr>
          </a:solidFill>
          <a:ln cap="flat" cmpd="sng" w="28575">
            <a:solidFill>
              <a:srgbClr val="FFFF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0" name="Google Shape;490;g39aacdd4c9b_0_148"/>
          <p:cNvSpPr/>
          <p:nvPr/>
        </p:nvSpPr>
        <p:spPr>
          <a:xfrm>
            <a:off x="5480075" y="2914650"/>
            <a:ext cx="2335200" cy="312600"/>
          </a:xfrm>
          <a:prstGeom prst="rect">
            <a:avLst/>
          </a:prstGeom>
          <a:solidFill>
            <a:srgbClr val="FFFF00">
              <a:alpha val="9800"/>
            </a:srgbClr>
          </a:solidFill>
          <a:ln cap="flat" cmpd="sng" w="28575">
            <a:solidFill>
              <a:srgbClr val="FFFF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1" name="Google Shape;491;g39aacdd4c9b_0_148"/>
          <p:cNvSpPr/>
          <p:nvPr/>
        </p:nvSpPr>
        <p:spPr>
          <a:xfrm>
            <a:off x="1173175" y="3862863"/>
            <a:ext cx="6156300" cy="2507700"/>
          </a:xfrm>
          <a:prstGeom prst="rect">
            <a:avLst/>
          </a:prstGeom>
          <a:solidFill>
            <a:srgbClr val="FFFF00">
              <a:alpha val="9800"/>
            </a:srgbClr>
          </a:solidFill>
          <a:ln cap="flat" cmpd="sng" w="28575">
            <a:solidFill>
              <a:srgbClr val="FFFF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2" name="Google Shape;492;g39aacdd4c9b_0_148"/>
          <p:cNvSpPr/>
          <p:nvPr/>
        </p:nvSpPr>
        <p:spPr>
          <a:xfrm>
            <a:off x="5389925" y="2101263"/>
            <a:ext cx="2182500" cy="369300"/>
          </a:xfrm>
          <a:prstGeom prst="wedgeRoundRectCallout">
            <a:avLst>
              <a:gd fmla="val -94022" name="adj1"/>
              <a:gd fmla="val -18745" name="adj2"/>
              <a:gd fmla="val 16667" name="adj3"/>
            </a:avLst>
          </a:prstGeom>
          <a:solidFill>
            <a:srgbClr val="F7CAAC"/>
          </a:solidFill>
          <a:ln cap="flat" cmpd="sng" w="12700">
            <a:solidFill>
              <a:srgbClr val="C55A1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-CL" sz="1200">
                <a:solidFill>
                  <a:schemeClr val="dk1"/>
                </a:solidFill>
              </a:rPr>
              <a:t>URL de consultar un producto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3" name="Google Shape;493;g39aacdd4c9b_0_148"/>
          <p:cNvSpPr/>
          <p:nvPr/>
        </p:nvSpPr>
        <p:spPr>
          <a:xfrm>
            <a:off x="3160075" y="2986079"/>
            <a:ext cx="2182500" cy="523200"/>
          </a:xfrm>
          <a:prstGeom prst="wedgeRoundRectCallout">
            <a:avLst>
              <a:gd fmla="val -94022" name="adj1"/>
              <a:gd fmla="val -18745" name="adj2"/>
              <a:gd fmla="val 16667" name="adj3"/>
            </a:avLst>
          </a:prstGeom>
          <a:solidFill>
            <a:srgbClr val="F7CAAC"/>
          </a:solidFill>
          <a:ln cap="flat" cmpd="sng" w="12700">
            <a:solidFill>
              <a:srgbClr val="C55A1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-CL" sz="1200">
                <a:solidFill>
                  <a:schemeClr val="dk1"/>
                </a:solidFill>
              </a:rPr>
              <a:t>Tipo de autorización a usar: </a:t>
            </a:r>
            <a:r>
              <a:rPr b="1" lang="es-CL" sz="1200">
                <a:solidFill>
                  <a:schemeClr val="dk1"/>
                </a:solidFill>
              </a:rPr>
              <a:t>Bearer</a:t>
            </a:r>
            <a:endParaRPr b="1" i="0" sz="1400" u="none" cap="none" strike="noStrike">
              <a:solidFill>
                <a:srgbClr val="000000"/>
              </a:solidFill>
            </a:endParaRPr>
          </a:p>
        </p:txBody>
      </p:sp>
      <p:sp>
        <p:nvSpPr>
          <p:cNvPr id="494" name="Google Shape;494;g39aacdd4c9b_0_148"/>
          <p:cNvSpPr/>
          <p:nvPr/>
        </p:nvSpPr>
        <p:spPr>
          <a:xfrm>
            <a:off x="6085200" y="3436479"/>
            <a:ext cx="2182500" cy="523200"/>
          </a:xfrm>
          <a:prstGeom prst="wedgeRoundRectCallout">
            <a:avLst>
              <a:gd fmla="val -36194" name="adj1"/>
              <a:gd fmla="val -103312" name="adj2"/>
              <a:gd fmla="val 16667" name="adj3"/>
            </a:avLst>
          </a:prstGeom>
          <a:solidFill>
            <a:srgbClr val="F7CAAC"/>
          </a:solidFill>
          <a:ln cap="flat" cmpd="sng" w="12700">
            <a:solidFill>
              <a:srgbClr val="C55A1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-CL" sz="1200">
                <a:solidFill>
                  <a:schemeClr val="dk1"/>
                </a:solidFill>
              </a:rPr>
              <a:t>Token proporcionado en el </a:t>
            </a:r>
            <a:r>
              <a:rPr b="1" lang="es-CL" sz="1200">
                <a:solidFill>
                  <a:schemeClr val="dk1"/>
                </a:solidFill>
              </a:rPr>
              <a:t>/login</a:t>
            </a:r>
            <a:endParaRPr b="1" i="0" sz="1400" u="none" cap="none" strike="noStrike">
              <a:solidFill>
                <a:srgbClr val="000000"/>
              </a:solidFill>
            </a:endParaRPr>
          </a:p>
        </p:txBody>
      </p:sp>
      <p:sp>
        <p:nvSpPr>
          <p:cNvPr id="495" name="Google Shape;495;g39aacdd4c9b_0_148"/>
          <p:cNvSpPr/>
          <p:nvPr/>
        </p:nvSpPr>
        <p:spPr>
          <a:xfrm>
            <a:off x="6702850" y="4925579"/>
            <a:ext cx="2182500" cy="523200"/>
          </a:xfrm>
          <a:prstGeom prst="wedgeRoundRectCallout">
            <a:avLst>
              <a:gd fmla="val -119483" name="adj1"/>
              <a:gd fmla="val -199504" name="adj2"/>
              <a:gd fmla="val 16667" name="adj3"/>
            </a:avLst>
          </a:prstGeom>
          <a:solidFill>
            <a:srgbClr val="F7CAAC"/>
          </a:solidFill>
          <a:ln cap="flat" cmpd="sng" w="12700">
            <a:solidFill>
              <a:srgbClr val="C55A1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-CL" sz="1200">
                <a:solidFill>
                  <a:schemeClr val="dk1"/>
                </a:solidFill>
              </a:rPr>
              <a:t>Respuesta</a:t>
            </a:r>
            <a:r>
              <a:rPr lang="es-CL" sz="1200">
                <a:solidFill>
                  <a:schemeClr val="dk1"/>
                </a:solidFill>
              </a:rPr>
              <a:t> </a:t>
            </a:r>
            <a:r>
              <a:rPr b="1" lang="es-CL" sz="1200">
                <a:solidFill>
                  <a:schemeClr val="dk1"/>
                </a:solidFill>
              </a:rPr>
              <a:t>exitosa</a:t>
            </a:r>
            <a:r>
              <a:rPr lang="es-CL" sz="1200">
                <a:solidFill>
                  <a:schemeClr val="dk1"/>
                </a:solidFill>
              </a:rPr>
              <a:t> del servicio</a:t>
            </a:r>
            <a:endParaRPr b="1" i="0" sz="1400" u="none" cap="none" strike="noStrike">
              <a:solidFill>
                <a:srgbClr val="000000"/>
              </a:solidFill>
            </a:endParaRPr>
          </a:p>
        </p:txBody>
      </p:sp>
      <p:sp>
        <p:nvSpPr>
          <p:cNvPr id="496" name="Google Shape;496;g39aacdd4c9b_0_148"/>
          <p:cNvSpPr/>
          <p:nvPr/>
        </p:nvSpPr>
        <p:spPr>
          <a:xfrm>
            <a:off x="627062" y="1164637"/>
            <a:ext cx="8105700" cy="6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s-CL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Probar el servicio protegido (</a:t>
            </a:r>
            <a:r>
              <a:rPr lang="es-CL" sz="1800">
                <a:solidFill>
                  <a:schemeClr val="dk1"/>
                </a:solidFill>
              </a:rPr>
              <a:t>consultar un producto</a:t>
            </a:r>
            <a:r>
              <a:rPr b="0" i="0" lang="es-CL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 con postman, primero sin realizar el login y luego la </a:t>
            </a:r>
            <a:r>
              <a:rPr lang="es-CL" sz="1800">
                <a:solidFill>
                  <a:schemeClr val="dk1"/>
                </a:solidFill>
              </a:rPr>
              <a:t>consulta</a:t>
            </a:r>
            <a:r>
              <a:rPr b="0" i="0" lang="es-CL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1800" u="none" cap="none" strike="noStrike">
              <a:solidFill>
                <a:srgbClr val="0033CC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1601-01-01T00:00:00Z</dcterms:created>
  <dc:creator>Luis Gajardo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</Properties>
</file>