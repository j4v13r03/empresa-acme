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7086600" cy="8686800"/>
  <p:embeddedFontLst>
    <p:embeddedFont>
      <p:font typeface="Libre Franklin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vo140bnckOzxSo/7BRSxVeqC0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ibreFranklin-regular.fntdata"/><Relationship Id="rId25" Type="http://schemas.openxmlformats.org/officeDocument/2006/relationships/slide" Target="slides/slide20.xml"/><Relationship Id="rId28" Type="http://schemas.openxmlformats.org/officeDocument/2006/relationships/font" Target="fonts/LibreFranklin-italic.fntdata"/><Relationship Id="rId27" Type="http://schemas.openxmlformats.org/officeDocument/2006/relationships/font" Target="fonts/LibreFrankli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breFranklin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c0996ef72_0_217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c0996ef72_0_217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c0996ef72_0_228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ec0996ef72_0_22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c0996ef72_0_38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c0996ef72_0_3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c0996ef72_0_26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ec0996ef72_0_2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c0996ef72_0_49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c0996ef72_0_49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c0996ef72_0_1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ec0996ef72_0_1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c0996ef72_0_7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ec0996ef72_0_7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c0996ef72_0_81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c0996ef72_0_81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c0996ef72_0_92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ec0996ef72_0_92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c0996ef72_0_115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ec0996ef72_0_115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2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2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2980826" y="2657064"/>
            <a:ext cx="440632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 cap="none" strike="noStrike">
                <a:solidFill>
                  <a:srgbClr val="0070C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Librería para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 cap="none" strike="noStrike">
                <a:solidFill>
                  <a:srgbClr val="0070C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Google Maps</a:t>
            </a:r>
            <a:endParaRPr b="1" i="0" sz="3600" u="none" cap="none" strike="noStrike">
              <a:solidFill>
                <a:srgbClr val="0070C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3042026" y="3934072"/>
            <a:ext cx="5447430" cy="45719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895076" y="2082625"/>
            <a:ext cx="1715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19f</a:t>
            </a:r>
            <a:endParaRPr/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5">
            <a:alphaModFix/>
          </a:blip>
          <a:srcRect b="0" l="6232" r="5907" t="0"/>
          <a:stretch/>
        </p:blipFill>
        <p:spPr>
          <a:xfrm>
            <a:off x="641584" y="2206625"/>
            <a:ext cx="2140236" cy="2326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1144588" y="185738"/>
            <a:ext cx="419858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Objetivo de la clase</a:t>
            </a:r>
            <a:endParaRPr/>
          </a:p>
        </p:txBody>
      </p:sp>
      <p:cxnSp>
        <p:nvCxnSpPr>
          <p:cNvPr id="103" name="Google Shape;103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27062" y="1164637"/>
            <a:ext cx="81057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Usando los conocimientos adquiridos durante el curso, vamos a integrar, paso a paso, la librería de google maps para la gestión de mapas y geolocalización.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0" name="Google Shape;110;g3ec0996ef72_0_217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ec0996ef72_0_217"/>
          <p:cNvSpPr txBox="1"/>
          <p:nvPr/>
        </p:nvSpPr>
        <p:spPr>
          <a:xfrm>
            <a:off x="1144588" y="185738"/>
            <a:ext cx="419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Google Maps?</a:t>
            </a:r>
            <a:endParaRPr/>
          </a:p>
        </p:txBody>
      </p:sp>
      <p:cxnSp>
        <p:nvCxnSpPr>
          <p:cNvPr id="112" name="Google Shape;112;g3ec0996ef72_0_21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" name="Google Shape;113;g3ec0996ef72_0_21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4" name="Google Shape;114;g3ec0996ef72_0_217"/>
          <p:cNvSpPr/>
          <p:nvPr/>
        </p:nvSpPr>
        <p:spPr>
          <a:xfrm>
            <a:off x="627062" y="11646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Maps lleva más de una década siendo una referencia en las aplicaciones de navegación</a:t>
            </a:r>
            <a:endParaRPr/>
          </a:p>
        </p:txBody>
      </p:sp>
      <p:pic>
        <p:nvPicPr>
          <p:cNvPr descr="google maps" id="115" name="Google Shape;115;g3ec0996ef72_0_217"/>
          <p:cNvPicPr preferRelativeResize="0"/>
          <p:nvPr/>
        </p:nvPicPr>
        <p:blipFill rotWithShape="1">
          <a:blip r:embed="rId4">
            <a:alphaModFix/>
          </a:blip>
          <a:srcRect b="0" l="15593" r="16550" t="0"/>
          <a:stretch/>
        </p:blipFill>
        <p:spPr>
          <a:xfrm>
            <a:off x="5732475" y="1906225"/>
            <a:ext cx="3000375" cy="442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ec0996ef72_0_217"/>
          <p:cNvSpPr/>
          <p:nvPr/>
        </p:nvSpPr>
        <p:spPr>
          <a:xfrm>
            <a:off x="627100" y="1992925"/>
            <a:ext cx="4716000" cy="10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Google Maps es un </a:t>
            </a:r>
            <a:r>
              <a:rPr lang="es-CL" sz="1800">
                <a:solidFill>
                  <a:schemeClr val="dk1"/>
                </a:solidFill>
              </a:rPr>
              <a:t>plataforma</a:t>
            </a:r>
            <a:r>
              <a:rPr lang="es-CL" sz="1800">
                <a:solidFill>
                  <a:schemeClr val="dk1"/>
                </a:solidFill>
              </a:rPr>
              <a:t> digital de mapas, geolocalización y navegación web y móvil desarrollada por Google.</a:t>
            </a:r>
            <a:endParaRPr sz="1800"/>
          </a:p>
        </p:txBody>
      </p:sp>
      <p:sp>
        <p:nvSpPr>
          <p:cNvPr id="117" name="Google Shape;117;g3ec0996ef72_0_217"/>
          <p:cNvSpPr/>
          <p:nvPr/>
        </p:nvSpPr>
        <p:spPr>
          <a:xfrm>
            <a:off x="627100" y="3084305"/>
            <a:ext cx="4716000" cy="14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Google Maps funciona como un navegador GPS interactivo que permite explorar el mundo, encontrar lugares específicos y calcular rutas exactas para trasladarse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1144611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b="1" lang="es-CL" sz="2800">
                <a:solidFill>
                  <a:srgbClr val="0070C0"/>
                </a:solidFill>
              </a:rPr>
              <a:t>Porqué integrar Google Maps en la App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cxnSp>
        <p:nvCxnSpPr>
          <p:cNvPr id="124" name="Google Shape;124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627050" y="1164582"/>
            <a:ext cx="8105700" cy="29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Porque angular no trae mapas incorporados.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Necesitamos una </a:t>
            </a:r>
            <a:r>
              <a:rPr lang="es-CL" sz="1800">
                <a:solidFill>
                  <a:schemeClr val="dk1"/>
                </a:solidFill>
              </a:rPr>
              <a:t>librería</a:t>
            </a:r>
            <a:r>
              <a:rPr lang="es-CL" sz="1800">
                <a:solidFill>
                  <a:schemeClr val="dk1"/>
                </a:solidFill>
              </a:rPr>
              <a:t> externa (npm).</a:t>
            </a:r>
            <a:endParaRPr sz="1800">
              <a:solidFill>
                <a:schemeClr val="dk1"/>
              </a:solidFill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Hay aplicaciones y productos que necesitan mapas: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Delivery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Turismo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Logística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Eventos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Transporte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Ubicación de sucursales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1" name="Google Shape;131;g3ec0996ef72_0_22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ec0996ef72_0_228"/>
          <p:cNvSpPr txBox="1"/>
          <p:nvPr/>
        </p:nvSpPr>
        <p:spPr>
          <a:xfrm>
            <a:off x="1144611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</a:t>
            </a:r>
            <a:r>
              <a:rPr b="1" lang="es-CL" sz="2800">
                <a:solidFill>
                  <a:srgbClr val="0070C0"/>
                </a:solidFill>
              </a:rPr>
              <a:t>@angular/google-maps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cxnSp>
        <p:nvCxnSpPr>
          <p:cNvPr id="133" name="Google Shape;133;g3ec0996ef72_0_22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g3ec0996ef72_0_22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35" name="Google Shape;135;g3ec0996ef72_0_228"/>
          <p:cNvSpPr/>
          <p:nvPr/>
        </p:nvSpPr>
        <p:spPr>
          <a:xfrm>
            <a:off x="627062" y="11646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una biblioteca gratuita que ayuda a integrar los mapas de Google en angular.</a:t>
            </a:r>
            <a:endParaRPr/>
          </a:p>
        </p:txBody>
      </p:sp>
      <p:sp>
        <p:nvSpPr>
          <p:cNvPr id="136" name="Google Shape;136;g3ec0996ef72_0_228"/>
          <p:cNvSpPr/>
          <p:nvPr/>
        </p:nvSpPr>
        <p:spPr>
          <a:xfrm>
            <a:off x="627061" y="205961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complemento liviano y muy conocido para la integración de mapas de Google.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ec0996ef72_0_228"/>
          <p:cNvSpPr/>
          <p:nvPr/>
        </p:nvSpPr>
        <p:spPr>
          <a:xfrm>
            <a:off x="641576" y="295459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Posee más de 1.000.000 de descargas a la semana.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ec0996ef72_0_228"/>
          <p:cNvSpPr/>
          <p:nvPr/>
        </p:nvSpPr>
        <p:spPr>
          <a:xfrm>
            <a:off x="627062" y="3656138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Instalar la librería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ec0996ef72_0_228"/>
          <p:cNvSpPr txBox="1"/>
          <p:nvPr/>
        </p:nvSpPr>
        <p:spPr>
          <a:xfrm>
            <a:off x="1010750" y="4063575"/>
            <a:ext cx="77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npm install @angular/google-maps@^21.0.0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5" title="Captura de pantalla 2026-06-15 a la(s) 01.33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149" y="2828650"/>
            <a:ext cx="7295708" cy="364431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145" name="Google Shape;145;p5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1144588" y="185738"/>
            <a:ext cx="56616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Obtener una API de Google Map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" name="Google Shape;148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627062" y="1164637"/>
            <a:ext cx="81057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Google ofrece una clave diseñada para prototipos y aprendizaje que no requiere agregar un método de pago.</a:t>
            </a:r>
            <a:endParaRPr sz="1800"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Abre la siguiente url (con la cuenta de Gmail iniciada en el navegador)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171638" y="2394975"/>
            <a:ext cx="6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https://mapsplatform.google.com/maps-demo-key/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24146" y="5772439"/>
            <a:ext cx="367200" cy="332700"/>
          </a:xfrm>
          <a:prstGeom prst="ellipse">
            <a:avLst/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1341748" y="5794895"/>
            <a:ext cx="915000" cy="348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6" title="Captura de pantalla 2026-06-15 a la(s) 01.33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472" y="1839824"/>
            <a:ext cx="3622526" cy="35995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159" name="Google Shape;159;p6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1144588" y="185738"/>
            <a:ext cx="612007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Obtener una API de Google Map …</a:t>
            </a:r>
            <a:endParaRPr/>
          </a:p>
        </p:txBody>
      </p:sp>
      <p:cxnSp>
        <p:nvCxnSpPr>
          <p:cNvPr id="161" name="Google Shape;161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2" name="Google Shape;162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Aceptamos los términos de servicio y google nos proporcionará la Clave API para nuestro proyecto.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206475" y="4005225"/>
            <a:ext cx="3268800" cy="437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245775" y="4586250"/>
            <a:ext cx="3622500" cy="437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6"/>
          <p:cNvGrpSpPr/>
          <p:nvPr/>
        </p:nvGrpSpPr>
        <p:grpSpPr>
          <a:xfrm>
            <a:off x="3890576" y="2463675"/>
            <a:ext cx="4316382" cy="3552950"/>
            <a:chOff x="3890576" y="2463675"/>
            <a:chExt cx="4316382" cy="3552950"/>
          </a:xfrm>
        </p:grpSpPr>
        <p:pic>
          <p:nvPicPr>
            <p:cNvPr id="167" name="Google Shape;167;p6" title="Captura de pantalla 2026-06-15 a la(s) 01.34.07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90576" y="2463675"/>
              <a:ext cx="4316382" cy="355295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8" name="Google Shape;168;p6"/>
            <p:cNvSpPr/>
            <p:nvPr/>
          </p:nvSpPr>
          <p:spPr>
            <a:xfrm>
              <a:off x="5702300" y="4755675"/>
              <a:ext cx="1092300" cy="126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3" name="Google Shape;173;g3ec0996ef72_0_3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g3ec0996ef72_0_3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g3ec0996ef72_0_3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6" name="Google Shape;176;g3ec0996ef72_0_38"/>
          <p:cNvSpPr/>
          <p:nvPr/>
        </p:nvSpPr>
        <p:spPr>
          <a:xfrm>
            <a:off x="627048" y="1103450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Implementamos el servicio map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ec0996ef72_0_38"/>
          <p:cNvSpPr txBox="1"/>
          <p:nvPr/>
        </p:nvSpPr>
        <p:spPr>
          <a:xfrm>
            <a:off x="1144611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Crear variables de ambiente</a:t>
            </a:r>
            <a:endParaRPr/>
          </a:p>
        </p:txBody>
      </p:sp>
      <p:pic>
        <p:nvPicPr>
          <p:cNvPr id="178" name="Google Shape;178;g3ec0996ef72_0_38" title="Captura de pantalla 2026-06-15 a la(s) 01.44.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750" y="1790250"/>
            <a:ext cx="8004499" cy="14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3" name="Google Shape;183;p1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1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" name="Google Shape;185;p1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627048" y="1103450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Creamos el componente maps para gestionar la interfaz de nuestro mapa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1144611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Crear Componente Maps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010750" y="1472775"/>
            <a:ext cx="77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ng g c features/maps/components/map</a:t>
            </a:r>
            <a:endParaRPr/>
          </a:p>
        </p:txBody>
      </p:sp>
      <p:pic>
        <p:nvPicPr>
          <p:cNvPr id="189" name="Google Shape;189;p17" title="Captura de pantalla 2026-06-15 a la(s) 01.52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2113" y="2086875"/>
            <a:ext cx="4239771" cy="429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/>
          <p:nvPr/>
        </p:nvSpPr>
        <p:spPr>
          <a:xfrm>
            <a:off x="3004200" y="4042150"/>
            <a:ext cx="3135600" cy="1935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5" name="Google Shape;195;g3ec0996ef72_0_2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g3ec0996ef72_0_2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7" name="Google Shape;197;g3ec0996ef72_0_2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98" name="Google Shape;198;g3ec0996ef72_0_26"/>
          <p:cNvSpPr/>
          <p:nvPr/>
        </p:nvSpPr>
        <p:spPr>
          <a:xfrm>
            <a:off x="627048" y="1103450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Creamos el servicio maps para gestionar su l</a:t>
            </a:r>
            <a:r>
              <a:rPr lang="es-CL" sz="1800">
                <a:solidFill>
                  <a:schemeClr val="dk1"/>
                </a:solidFill>
              </a:rPr>
              <a:t>ógica de negocio e inicialización.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ec0996ef72_0_26"/>
          <p:cNvSpPr txBox="1"/>
          <p:nvPr/>
        </p:nvSpPr>
        <p:spPr>
          <a:xfrm>
            <a:off x="1144611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Crear Servicio Maps</a:t>
            </a:r>
            <a:endParaRPr/>
          </a:p>
        </p:txBody>
      </p:sp>
      <p:sp>
        <p:nvSpPr>
          <p:cNvPr id="200" name="Google Shape;200;g3ec0996ef72_0_26"/>
          <p:cNvSpPr txBox="1"/>
          <p:nvPr/>
        </p:nvSpPr>
        <p:spPr>
          <a:xfrm>
            <a:off x="1010750" y="1764875"/>
            <a:ext cx="77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ng g s features/maps/services/map</a:t>
            </a:r>
            <a:endParaRPr/>
          </a:p>
        </p:txBody>
      </p:sp>
      <p:pic>
        <p:nvPicPr>
          <p:cNvPr id="201" name="Google Shape;201;g3ec0996ef72_0_26" title="Captura de pantalla 2026-06-15 a la(s) 01.55.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6689" y="2358050"/>
            <a:ext cx="3470635" cy="387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ec0996ef72_0_26"/>
          <p:cNvSpPr/>
          <p:nvPr/>
        </p:nvSpPr>
        <p:spPr>
          <a:xfrm>
            <a:off x="3112100" y="4791450"/>
            <a:ext cx="2882400" cy="1145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ec0996ef72_0_49" title="Captura de pantalla 2026-06-15 a la(s) 04.35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388" y="1745750"/>
            <a:ext cx="6731227" cy="47333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208" name="Google Shape;208;g3ec0996ef72_0_49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g3ec0996ef72_0_4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0" name="Google Shape;210;g3ec0996ef72_0_4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11" name="Google Shape;211;g3ec0996ef72_0_49"/>
          <p:cNvSpPr/>
          <p:nvPr/>
        </p:nvSpPr>
        <p:spPr>
          <a:xfrm>
            <a:off x="627050" y="1103450"/>
            <a:ext cx="8105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Implementamos el siguiente servicio para cargar la API de forma dinámica </a:t>
            </a:r>
            <a:r>
              <a:rPr lang="es-CL" sz="1800">
                <a:solidFill>
                  <a:schemeClr val="dk1"/>
                </a:solidFill>
              </a:rPr>
              <a:t>sólo</a:t>
            </a:r>
            <a:r>
              <a:rPr lang="es-CL" sz="1800">
                <a:solidFill>
                  <a:schemeClr val="dk1"/>
                </a:solidFill>
              </a:rPr>
              <a:t> una vez (Singlet</a:t>
            </a:r>
            <a:r>
              <a:rPr lang="es-CL" sz="1800">
                <a:solidFill>
                  <a:schemeClr val="dk1"/>
                </a:solidFill>
              </a:rPr>
              <a:t>ón)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ec0996ef72_0_49"/>
          <p:cNvSpPr txBox="1"/>
          <p:nvPr/>
        </p:nvSpPr>
        <p:spPr>
          <a:xfrm>
            <a:off x="1144611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Crear Servicio Maps</a:t>
            </a:r>
            <a:endParaRPr/>
          </a:p>
        </p:txBody>
      </p:sp>
      <p:sp>
        <p:nvSpPr>
          <p:cNvPr id="213" name="Google Shape;213;g3ec0996ef72_0_49"/>
          <p:cNvSpPr/>
          <p:nvPr/>
        </p:nvSpPr>
        <p:spPr>
          <a:xfrm>
            <a:off x="1388075" y="3225325"/>
            <a:ext cx="6489000" cy="3148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8" name="Google Shape;218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6"/>
          <p:cNvSpPr txBox="1"/>
          <p:nvPr/>
        </p:nvSpPr>
        <p:spPr>
          <a:xfrm>
            <a:off x="1144588" y="185738"/>
            <a:ext cx="34730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el Template </a:t>
            </a:r>
            <a:endParaRPr/>
          </a:p>
        </p:txBody>
      </p:sp>
      <p:cxnSp>
        <p:nvCxnSpPr>
          <p:cNvPr id="220" name="Google Shape;220;p1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p1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comprender mejor el funcionamiento de esta librería comenzaremos definiendo el template.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627050" y="2055400"/>
            <a:ext cx="840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mostrar un mapa sobre la página usaremos la etiqueta </a:t>
            </a:r>
            <a:r>
              <a:rPr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google-map</a:t>
            </a:r>
            <a:r>
              <a:rPr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627061" y="2633413"/>
            <a:ext cx="8351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agregar marcadores sobre el mapa usaremos la etiqueta </a:t>
            </a:r>
            <a:r>
              <a:rPr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map-marker</a:t>
            </a:r>
            <a:r>
              <a:rPr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627050" y="3231975"/>
            <a:ext cx="8351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una de estas etiquetas posee varias propiedades que podemos configurar según nuestras necesidades.</a:t>
            </a:r>
            <a:endParaRPr sz="18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26" name="Google Shape;2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7229" y="4368247"/>
            <a:ext cx="2393042" cy="143101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7" name="Google Shape;227;p16"/>
          <p:cNvSpPr/>
          <p:nvPr/>
        </p:nvSpPr>
        <p:spPr>
          <a:xfrm>
            <a:off x="2773600" y="4028350"/>
            <a:ext cx="1407600" cy="307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CL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google</a:t>
            </a:r>
            <a:r>
              <a:rPr lang="es-CL" sz="14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-map&gt;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4143606" y="4589999"/>
            <a:ext cx="1407578" cy="307777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CL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s-CL" sz="14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-marker&gt;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33" name="Google Shape;233;g3ec0996ef72_0_1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g3ec0996ef72_0_1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g3ec0996ef72_0_1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36" name="Google Shape;236;g3ec0996ef72_0_10"/>
          <p:cNvSpPr/>
          <p:nvPr/>
        </p:nvSpPr>
        <p:spPr>
          <a:xfrm>
            <a:off x="627062" y="1103438"/>
            <a:ext cx="7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Agregamos un mapa y un marcador sobre la página web.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ec0996ef72_0_10"/>
          <p:cNvSpPr txBox="1"/>
          <p:nvPr/>
        </p:nvSpPr>
        <p:spPr>
          <a:xfrm>
            <a:off x="838861" y="1531831"/>
            <a:ext cx="207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map</a:t>
            </a: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.html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ec0996ef72_0_10"/>
          <p:cNvSpPr txBox="1"/>
          <p:nvPr/>
        </p:nvSpPr>
        <p:spPr>
          <a:xfrm>
            <a:off x="1144588" y="185738"/>
            <a:ext cx="393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el Template … </a:t>
            </a:r>
            <a:endParaRPr/>
          </a:p>
        </p:txBody>
      </p:sp>
      <p:pic>
        <p:nvPicPr>
          <p:cNvPr id="239" name="Google Shape;239;g3ec0996ef72_0_10" title="Captura de pantalla 2026-06-15 a la(s) 04.38.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124" y="1839623"/>
            <a:ext cx="5727774" cy="457133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ec0996ef72_0_10"/>
          <p:cNvSpPr/>
          <p:nvPr/>
        </p:nvSpPr>
        <p:spPr>
          <a:xfrm>
            <a:off x="2196425" y="3758775"/>
            <a:ext cx="4661700" cy="1301400"/>
          </a:xfrm>
          <a:prstGeom prst="rect">
            <a:avLst/>
          </a:prstGeom>
          <a:solidFill>
            <a:srgbClr val="FFFF00">
              <a:alpha val="10199"/>
            </a:srgbClr>
          </a:solidFill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5" name="Google Shape;245;p1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8"/>
          <p:cNvSpPr txBox="1"/>
          <p:nvPr/>
        </p:nvSpPr>
        <p:spPr>
          <a:xfrm>
            <a:off x="1144588" y="185738"/>
            <a:ext cx="29803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la Lógica</a:t>
            </a:r>
            <a:endParaRPr/>
          </a:p>
        </p:txBody>
      </p:sp>
      <p:cxnSp>
        <p:nvCxnSpPr>
          <p:cNvPr id="247" name="Google Shape;247;p1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8" name="Google Shape;248;p1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627062" y="1164637"/>
            <a:ext cx="82288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Antes de desplegar la imagen del código en pantalla tenemos que configurar los atributos necesarios. Lo haremos en </a:t>
            </a:r>
            <a:r>
              <a:rPr lang="es-CL" sz="1800">
                <a:solidFill>
                  <a:schemeClr val="dk1"/>
                </a:solidFill>
              </a:rPr>
              <a:t>el componente Map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929737" y="1849973"/>
            <a:ext cx="207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map</a:t>
            </a: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18" title="Captura de pantalla 2026-06-15 a la(s) 04.41.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8887" y="2116750"/>
            <a:ext cx="6066248" cy="43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6" name="Google Shape;256;p1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1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8" name="Google Shape;258;p1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900060" y="1161835"/>
            <a:ext cx="207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map</a:t>
            </a: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1144588" y="185738"/>
            <a:ext cx="34387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la Lógica …</a:t>
            </a:r>
            <a:endParaRPr/>
          </a:p>
        </p:txBody>
      </p:sp>
      <p:pic>
        <p:nvPicPr>
          <p:cNvPr id="261" name="Google Shape;261;p19" title="Captura de pantalla 2026-06-15 a la(s) 04.43.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5915" y="1541287"/>
            <a:ext cx="6752162" cy="49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ec0996ef72_0_70" title="Captura de pantalla 2026-06-15 a la(s) 04.46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062" y="1469625"/>
            <a:ext cx="6069874" cy="50096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67" name="Google Shape;267;g3ec0996ef72_0_70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g3ec0996ef72_0_7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9" name="Google Shape;269;g3ec0996ef72_0_7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70" name="Google Shape;270;g3ec0996ef72_0_70"/>
          <p:cNvSpPr txBox="1"/>
          <p:nvPr/>
        </p:nvSpPr>
        <p:spPr>
          <a:xfrm>
            <a:off x="900060" y="1161835"/>
            <a:ext cx="207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map</a:t>
            </a: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ec0996ef72_0_70"/>
          <p:cNvSpPr txBox="1"/>
          <p:nvPr/>
        </p:nvSpPr>
        <p:spPr>
          <a:xfrm>
            <a:off x="1144588" y="185738"/>
            <a:ext cx="343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la Lógica …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3ec0996ef72_0_81" title="Captura de pantalla 2026-06-15 a la(s) 04.50.15.png"/>
          <p:cNvPicPr preferRelativeResize="0"/>
          <p:nvPr/>
        </p:nvPicPr>
        <p:blipFill rotWithShape="1">
          <a:blip r:embed="rId3">
            <a:alphaModFix/>
          </a:blip>
          <a:srcRect b="3400" l="0" r="0" t="0"/>
          <a:stretch/>
        </p:blipFill>
        <p:spPr>
          <a:xfrm>
            <a:off x="721575" y="1849600"/>
            <a:ext cx="7803000" cy="4604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77" name="Google Shape;277;g3ec0996ef72_0_81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g3ec0996ef72_0_8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9" name="Google Shape;279;g3ec0996ef72_0_8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80" name="Google Shape;280;g3ec0996ef72_0_81"/>
          <p:cNvSpPr txBox="1"/>
          <p:nvPr/>
        </p:nvSpPr>
        <p:spPr>
          <a:xfrm>
            <a:off x="909585" y="1541810"/>
            <a:ext cx="207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map</a:t>
            </a: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ec0996ef72_0_81"/>
          <p:cNvSpPr txBox="1"/>
          <p:nvPr/>
        </p:nvSpPr>
        <p:spPr>
          <a:xfrm>
            <a:off x="1144588" y="185738"/>
            <a:ext cx="343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la Lógica …</a:t>
            </a:r>
            <a:endParaRPr/>
          </a:p>
        </p:txBody>
      </p:sp>
      <p:sp>
        <p:nvSpPr>
          <p:cNvPr id="282" name="Google Shape;282;g3ec0996ef72_0_81"/>
          <p:cNvSpPr/>
          <p:nvPr/>
        </p:nvSpPr>
        <p:spPr>
          <a:xfrm>
            <a:off x="627050" y="1164626"/>
            <a:ext cx="82290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Acción tras evento del marcador en el mapa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87" name="Google Shape;287;g3ec0996ef72_0_92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8" name="Google Shape;288;g3ec0996ef72_0_9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9" name="Google Shape;289;g3ec0996ef72_0_9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90" name="Google Shape;290;g3ec0996ef72_0_92"/>
          <p:cNvSpPr txBox="1"/>
          <p:nvPr/>
        </p:nvSpPr>
        <p:spPr>
          <a:xfrm>
            <a:off x="900060" y="1647610"/>
            <a:ext cx="207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map</a:t>
            </a: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ec0996ef72_0_92"/>
          <p:cNvSpPr txBox="1"/>
          <p:nvPr/>
        </p:nvSpPr>
        <p:spPr>
          <a:xfrm>
            <a:off x="1144588" y="185738"/>
            <a:ext cx="343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la Lógica …</a:t>
            </a:r>
            <a:endParaRPr/>
          </a:p>
        </p:txBody>
      </p:sp>
      <p:pic>
        <p:nvPicPr>
          <p:cNvPr id="292" name="Google Shape;292;g3ec0996ef72_0_92" title="Captura de pantalla 2026-06-15 a la(s) 04.51.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25760"/>
            <a:ext cx="8839201" cy="428061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ec0996ef72_0_92"/>
          <p:cNvSpPr/>
          <p:nvPr/>
        </p:nvSpPr>
        <p:spPr>
          <a:xfrm>
            <a:off x="627050" y="1164626"/>
            <a:ext cx="82290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Buscador de la dirección.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g3ec0996ef72_0_115" title="Captura de pantalla 2026-06-15 a la(s) 04.59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575" y="4179125"/>
            <a:ext cx="7472844" cy="134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g3ec0996ef72_0_115" title="Captura de pantalla 2026-06-15 a la(s) 04.57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813" y="1866975"/>
            <a:ext cx="7308369" cy="14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00" name="Google Shape;300;g3ec0996ef72_0_115"/>
          <p:cNvPicPr preferRelativeResize="0"/>
          <p:nvPr/>
        </p:nvPicPr>
        <p:blipFill rotWithShape="1">
          <a:blip r:embed="rId5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ec0996ef72_0_115"/>
          <p:cNvSpPr txBox="1"/>
          <p:nvPr/>
        </p:nvSpPr>
        <p:spPr>
          <a:xfrm>
            <a:off x="1144588" y="185738"/>
            <a:ext cx="367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la Vista</a:t>
            </a:r>
            <a:endParaRPr/>
          </a:p>
        </p:txBody>
      </p:sp>
      <p:cxnSp>
        <p:nvCxnSpPr>
          <p:cNvPr id="302" name="Google Shape;302;g3ec0996ef72_0_115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3" name="Google Shape;303;g3ec0996ef72_0_115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04" name="Google Shape;304;g3ec0996ef72_0_115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Agregamos la ruta para el componente </a:t>
            </a:r>
            <a:r>
              <a:rPr b="1" lang="es-CL" sz="1800">
                <a:solidFill>
                  <a:schemeClr val="dk1"/>
                </a:solidFill>
              </a:rPr>
              <a:t>Map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5" name="Google Shape;305;g3ec0996ef72_0_115"/>
          <p:cNvSpPr txBox="1"/>
          <p:nvPr/>
        </p:nvSpPr>
        <p:spPr>
          <a:xfrm>
            <a:off x="838861" y="1533399"/>
            <a:ext cx="275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app.routes.ts</a:t>
            </a:r>
            <a:endParaRPr/>
          </a:p>
        </p:txBody>
      </p:sp>
      <p:sp>
        <p:nvSpPr>
          <p:cNvPr id="306" name="Google Shape;306;g3ec0996ef72_0_115"/>
          <p:cNvSpPr/>
          <p:nvPr/>
        </p:nvSpPr>
        <p:spPr>
          <a:xfrm>
            <a:off x="627050" y="3480407"/>
            <a:ext cx="81057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000000"/>
                </a:solidFill>
              </a:rPr>
              <a:t>Asociamos el routerLink a una opción de nuestro menú</a:t>
            </a:r>
            <a:endParaRPr b="0" i="0" sz="1800" u="none" cap="none" strike="noStrike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g3ec0996ef72_0_115"/>
          <p:cNvSpPr txBox="1"/>
          <p:nvPr/>
        </p:nvSpPr>
        <p:spPr>
          <a:xfrm>
            <a:off x="838861" y="3833607"/>
            <a:ext cx="275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app.html</a:t>
            </a:r>
            <a:endParaRPr/>
          </a:p>
        </p:txBody>
      </p:sp>
      <p:sp>
        <p:nvSpPr>
          <p:cNvPr id="308" name="Google Shape;308;g3ec0996ef72_0_115"/>
          <p:cNvSpPr/>
          <p:nvPr/>
        </p:nvSpPr>
        <p:spPr>
          <a:xfrm>
            <a:off x="997550" y="2007925"/>
            <a:ext cx="4574700" cy="171000"/>
          </a:xfrm>
          <a:prstGeom prst="rect">
            <a:avLst/>
          </a:prstGeom>
          <a:solidFill>
            <a:srgbClr val="FFFF00">
              <a:alpha val="10199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ec0996ef72_0_115"/>
          <p:cNvSpPr/>
          <p:nvPr/>
        </p:nvSpPr>
        <p:spPr>
          <a:xfrm>
            <a:off x="1286075" y="2767125"/>
            <a:ext cx="4733700" cy="171000"/>
          </a:xfrm>
          <a:prstGeom prst="rect">
            <a:avLst/>
          </a:prstGeom>
          <a:solidFill>
            <a:srgbClr val="FFFF00">
              <a:alpha val="10199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ec0996ef72_0_115"/>
          <p:cNvSpPr/>
          <p:nvPr/>
        </p:nvSpPr>
        <p:spPr>
          <a:xfrm>
            <a:off x="5054750" y="4356275"/>
            <a:ext cx="862200" cy="171000"/>
          </a:xfrm>
          <a:prstGeom prst="rect">
            <a:avLst/>
          </a:prstGeom>
          <a:solidFill>
            <a:srgbClr val="FFFF00">
              <a:alpha val="10199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ec0996ef72_0_115"/>
          <p:cNvSpPr/>
          <p:nvPr/>
        </p:nvSpPr>
        <p:spPr>
          <a:xfrm>
            <a:off x="1206500" y="5136075"/>
            <a:ext cx="4003800" cy="171000"/>
          </a:xfrm>
          <a:prstGeom prst="rect">
            <a:avLst/>
          </a:prstGeom>
          <a:solidFill>
            <a:srgbClr val="FFFF00">
              <a:alpha val="10199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6" name="Google Shape;316;p2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2"/>
          <p:cNvSpPr txBox="1"/>
          <p:nvPr/>
        </p:nvSpPr>
        <p:spPr>
          <a:xfrm>
            <a:off x="1144588" y="185738"/>
            <a:ext cx="18437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Presentar</a:t>
            </a:r>
            <a:endParaRPr/>
          </a:p>
        </p:txBody>
      </p:sp>
      <p:cxnSp>
        <p:nvCxnSpPr>
          <p:cNvPr id="318" name="Google Shape;318;p2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9" name="Google Shape;319;p2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320" name="Google Shape;320;p22" title="Captura de pantalla 2026-06-15 a la(s) 05.01.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300" y="1008750"/>
            <a:ext cx="8633400" cy="3937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Mapa&#10;&#10;Descripción generada automáticamente" id="321" name="Google Shape;321;p22"/>
          <p:cNvPicPr preferRelativeResize="0"/>
          <p:nvPr/>
        </p:nvPicPr>
        <p:blipFill rotWithShape="1">
          <a:blip r:embed="rId5">
            <a:alphaModFix/>
          </a:blip>
          <a:srcRect b="0" l="0" r="0" t="19614"/>
          <a:stretch/>
        </p:blipFill>
        <p:spPr>
          <a:xfrm>
            <a:off x="4020525" y="1914674"/>
            <a:ext cx="4785200" cy="40781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2" name="Google Shape;322;p22"/>
          <p:cNvSpPr txBox="1"/>
          <p:nvPr/>
        </p:nvSpPr>
        <p:spPr>
          <a:xfrm>
            <a:off x="255300" y="5095950"/>
            <a:ext cx="3707100" cy="119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Las operaciones de </a:t>
            </a:r>
            <a:r>
              <a:rPr lang="es-CL" sz="21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búsqueda</a:t>
            </a:r>
            <a:r>
              <a:rPr lang="es-CL" sz="21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 de dirección requieren una key de google con facturación activa</a:t>
            </a:r>
            <a:endParaRPr sz="21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