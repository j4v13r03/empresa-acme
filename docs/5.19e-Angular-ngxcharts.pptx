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7086600" cy="8686800"/>
  <p:embeddedFontLst>
    <p:embeddedFont>
      <p:font typeface="Libre Franklin"/>
      <p:regular r:id="rId27"/>
      <p:bold r:id="rId28"/>
      <p:italic r:id="rId29"/>
      <p:boldItalic r:id="rId30"/>
    </p:embeddedFon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hiAscRSlce7ZQakhirHDFwHND8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LibreFranklin-bold.fntdata"/><Relationship Id="rId27" Type="http://schemas.openxmlformats.org/officeDocument/2006/relationships/font" Target="fonts/LibreFranklin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Franklin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font" Target="fonts/LibreFranklin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e2eb11427_0_12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e2eb11427_0_12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e2eb11427_0_29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e2eb11427_0_29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e2eb11427_0_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e2eb11427_0_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e2eb11427_0_19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ee2eb11427_0_19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e2eb11427_0_5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e2eb11427_0_5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e2eb11427_0_61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ee2eb11427_0_61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e2eb11427_0_76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e2eb11427_0_7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e2eb11427_0_97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3ee2eb11427_0_9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e2eb11427_0_395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ee2eb11427_0_395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40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33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22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1.png"/><Relationship Id="rId11" Type="http://schemas.openxmlformats.org/officeDocument/2006/relationships/image" Target="../media/image23.png"/><Relationship Id="rId10" Type="http://schemas.openxmlformats.org/officeDocument/2006/relationships/image" Target="../media/image21.gif"/><Relationship Id="rId12" Type="http://schemas.openxmlformats.org/officeDocument/2006/relationships/image" Target="../media/image26.png"/><Relationship Id="rId9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1.png"/><Relationship Id="rId5" Type="http://schemas.openxmlformats.org/officeDocument/2006/relationships/image" Target="../media/image28.png"/><Relationship Id="rId6" Type="http://schemas.openxmlformats.org/officeDocument/2006/relationships/image" Target="../media/image27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1.png"/><Relationship Id="rId5" Type="http://schemas.openxmlformats.org/officeDocument/2006/relationships/image" Target="../media/image29.gif"/><Relationship Id="rId6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2980826" y="2657064"/>
            <a:ext cx="440632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 cap="none" strike="noStrike">
                <a:solidFill>
                  <a:srgbClr val="0070C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Librería para Visualizar Gráficos</a:t>
            </a:r>
            <a:endParaRPr b="1" i="0" sz="3600" u="none" cap="none" strike="noStrike">
              <a:solidFill>
                <a:srgbClr val="0070C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3042026" y="3934072"/>
            <a:ext cx="5447430" cy="45719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895077" y="2082625"/>
            <a:ext cx="2092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19e</a:t>
            </a:r>
            <a:endParaRPr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wimlane - Vectra Technology Partner for Security Orchestration | Vectra AI" id="96" name="Google Shape;96;p1"/>
          <p:cNvPicPr preferRelativeResize="0"/>
          <p:nvPr/>
        </p:nvPicPr>
        <p:blipFill rotWithShape="1">
          <a:blip r:embed="rId5">
            <a:alphaModFix/>
          </a:blip>
          <a:srcRect b="13183" l="0" r="0" t="14526"/>
          <a:stretch/>
        </p:blipFill>
        <p:spPr>
          <a:xfrm>
            <a:off x="6349220" y="4052168"/>
            <a:ext cx="2140236" cy="47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6">
            <a:alphaModFix/>
          </a:blip>
          <a:srcRect b="0" l="6232" r="5907" t="0"/>
          <a:stretch/>
        </p:blipFill>
        <p:spPr>
          <a:xfrm>
            <a:off x="641584" y="2206625"/>
            <a:ext cx="2140236" cy="232677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/>
          <p:nvPr/>
        </p:nvSpPr>
        <p:spPr>
          <a:xfrm>
            <a:off x="2972830" y="2146183"/>
            <a:ext cx="44063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NGX-Charts</a:t>
            </a:r>
            <a:endParaRPr b="1" sz="3600" u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627061" y="1164637"/>
            <a:ext cx="829006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Utilizando los conocimientos adquiridos durante el curso, tanto en frontend como en backend, vamos a integrar, paso a paso, la biblioteca </a:t>
            </a:r>
            <a:r>
              <a:rPr lang="es-CL" sz="1800">
                <a:solidFill>
                  <a:schemeClr val="dk1"/>
                </a:solidFill>
              </a:rPr>
              <a:t>Ngx-charts para implementar gráficos en Angular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1144588" y="185738"/>
            <a:ext cx="39597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Objetivo</a:t>
            </a:r>
            <a:endParaRPr/>
          </a:p>
        </p:txBody>
      </p:sp>
      <p:cxnSp>
        <p:nvCxnSpPr>
          <p:cNvPr id="106" name="Google Shape;106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e2eb11427_0_12"/>
          <p:cNvSpPr/>
          <p:nvPr/>
        </p:nvSpPr>
        <p:spPr>
          <a:xfrm>
            <a:off x="627050" y="6080426"/>
            <a:ext cx="7832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 fueran 6 meses en lugar de 7 días, sería imposible de analizar rápido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g3ee2eb11427_0_12"/>
          <p:cNvSpPr/>
          <p:nvPr/>
        </p:nvSpPr>
        <p:spPr>
          <a:xfrm>
            <a:off x="627050" y="1164625"/>
            <a:ext cx="8290200" cy="30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Imagina que gestionas una tienda en línea y necesitas revisar las ventas de la última semana para decidir qué día lanzar una oferta. El sistema te muestra esto: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Lunes</a:t>
            </a:r>
            <a:r>
              <a:rPr lang="es-CL" sz="1800">
                <a:solidFill>
                  <a:schemeClr val="dk1"/>
                </a:solidFill>
              </a:rPr>
              <a:t>: 		$1.200.500.-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Martes</a:t>
            </a:r>
            <a:r>
              <a:rPr lang="es-CL" sz="1800">
                <a:solidFill>
                  <a:schemeClr val="dk1"/>
                </a:solidFill>
              </a:rPr>
              <a:t>: 		$1.150.000.-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Miércoles</a:t>
            </a:r>
            <a:r>
              <a:rPr lang="es-CL" sz="1800">
                <a:solidFill>
                  <a:schemeClr val="dk1"/>
                </a:solidFill>
              </a:rPr>
              <a:t>: 	$1.300.000.-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Jueves</a:t>
            </a:r>
            <a:r>
              <a:rPr lang="es-CL" sz="1800">
                <a:solidFill>
                  <a:schemeClr val="dk1"/>
                </a:solidFill>
              </a:rPr>
              <a:t>: 		$   850.000.-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Viernes</a:t>
            </a:r>
            <a:r>
              <a:rPr lang="es-CL" sz="1800">
                <a:solidFill>
                  <a:schemeClr val="dk1"/>
                </a:solidFill>
              </a:rPr>
              <a:t>: 	$1.450.000.-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Sábado</a:t>
            </a:r>
            <a:r>
              <a:rPr lang="es-CL" sz="1800">
                <a:solidFill>
                  <a:schemeClr val="dk1"/>
                </a:solidFill>
              </a:rPr>
              <a:t>: 	$2.100.000.-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Domingo</a:t>
            </a:r>
            <a:r>
              <a:rPr lang="es-CL" sz="1800">
                <a:solidFill>
                  <a:schemeClr val="dk1"/>
                </a:solidFill>
              </a:rPr>
              <a:t>: 	$1.950.000.-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14" name="Google Shape;114;g3ee2eb11427_0_12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ee2eb11427_0_12"/>
          <p:cNvSpPr txBox="1"/>
          <p:nvPr/>
        </p:nvSpPr>
        <p:spPr>
          <a:xfrm>
            <a:off x="1144588" y="185738"/>
            <a:ext cx="395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Problema</a:t>
            </a:r>
            <a:endParaRPr/>
          </a:p>
        </p:txBody>
      </p:sp>
      <p:cxnSp>
        <p:nvCxnSpPr>
          <p:cNvPr id="116" name="Google Shape;116;g3ee2eb11427_0_1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g3ee2eb11427_0_1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8" name="Google Shape;118;g3ee2eb11427_0_12"/>
          <p:cNvSpPr/>
          <p:nvPr/>
        </p:nvSpPr>
        <p:spPr>
          <a:xfrm>
            <a:off x="627050" y="4300135"/>
            <a:ext cx="7832700" cy="1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¿Qué debes hacer para tomar la decisión?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Leer cada número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Comparar números con el anterior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Recordar cuál es el número más alto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Calcular mentalmente la diferencia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e2eb11427_0_29"/>
          <p:cNvSpPr/>
          <p:nvPr/>
        </p:nvSpPr>
        <p:spPr>
          <a:xfrm>
            <a:off x="627050" y="1164625"/>
            <a:ext cx="8290200" cy="30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Tomar esos mismos números y </a:t>
            </a:r>
            <a:r>
              <a:rPr lang="es-CL" sz="1800">
                <a:solidFill>
                  <a:schemeClr val="dk1"/>
                </a:solidFill>
              </a:rPr>
              <a:t>transformarlos</a:t>
            </a:r>
            <a:r>
              <a:rPr lang="es-CL" sz="1800">
                <a:solidFill>
                  <a:schemeClr val="dk1"/>
                </a:solidFill>
              </a:rPr>
              <a:t> rápidamente en un gráfico de líneas o de barras.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Al mirar el gráfico, el usuario resuelve el problema en menos de un segundo sin leer los números: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Ves </a:t>
            </a:r>
            <a:r>
              <a:rPr b="1" lang="es-CL" sz="1800">
                <a:solidFill>
                  <a:schemeClr val="dk1"/>
                </a:solidFill>
              </a:rPr>
              <a:t>una caída drástica</a:t>
            </a:r>
            <a:r>
              <a:rPr lang="es-CL" sz="1800">
                <a:solidFill>
                  <a:schemeClr val="dk1"/>
                </a:solidFill>
              </a:rPr>
              <a:t> a mitad de semana (el jueves).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Ves </a:t>
            </a:r>
            <a:r>
              <a:rPr b="1" lang="es-CL" sz="1800">
                <a:solidFill>
                  <a:schemeClr val="dk1"/>
                </a:solidFill>
              </a:rPr>
              <a:t>un aumento enorme</a:t>
            </a:r>
            <a:r>
              <a:rPr lang="es-CL" sz="1800">
                <a:solidFill>
                  <a:schemeClr val="dk1"/>
                </a:solidFill>
              </a:rPr>
              <a:t> al llegar el fin de semana (el sábado).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El problema de la lentitud y la confusión desaparece. El usuario decide de inmediato lanzar la oferta el jueves para levantar las ventas de ese día de baja actividad.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24" name="Google Shape;124;g3ee2eb11427_0_29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ee2eb11427_0_29"/>
          <p:cNvSpPr txBox="1"/>
          <p:nvPr/>
        </p:nvSpPr>
        <p:spPr>
          <a:xfrm>
            <a:off x="1144588" y="185738"/>
            <a:ext cx="395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Solución - Gráficos</a:t>
            </a:r>
            <a:endParaRPr/>
          </a:p>
        </p:txBody>
      </p:sp>
      <p:cxnSp>
        <p:nvCxnSpPr>
          <p:cNvPr id="126" name="Google Shape;126;g3ee2eb11427_0_2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g3ee2eb11427_0_2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2" name="Google Shape;132;g3ee2eb11427_0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ee2eb11427_0_0"/>
          <p:cNvSpPr txBox="1"/>
          <p:nvPr/>
        </p:nvSpPr>
        <p:spPr>
          <a:xfrm>
            <a:off x="1144588" y="185738"/>
            <a:ext cx="395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NGX-Charts?</a:t>
            </a:r>
            <a:endParaRPr/>
          </a:p>
        </p:txBody>
      </p:sp>
      <p:cxnSp>
        <p:nvCxnSpPr>
          <p:cNvPr id="134" name="Google Shape;134;g3ee2eb11427_0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g3ee2eb11427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36" name="Google Shape;136;g3ee2eb11427_0_0"/>
          <p:cNvSpPr/>
          <p:nvPr/>
        </p:nvSpPr>
        <p:spPr>
          <a:xfrm>
            <a:off x="627061" y="1164637"/>
            <a:ext cx="82902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Ngx-charts es una librería open-source para creación de gráficos en Angular.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 la librería de JavaScript, llamada D3, y también Angular para renderizar y animar elementos SVG. 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una de las librerías más populares para Angular porque facilita mucho la representación de gráficos.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ee2eb11427_0_0"/>
          <p:cNvSpPr/>
          <p:nvPr/>
        </p:nvSpPr>
        <p:spPr>
          <a:xfrm>
            <a:off x="627050" y="3333450"/>
            <a:ext cx="8290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Admite varios tipos de gráficos: barras, líneas, áreas, circulares, burbujas, anillos, calibre, mapas de calor, mapas de árbol y tarjetas numéricas.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ee2eb11427_0_0"/>
          <p:cNvSpPr/>
          <p:nvPr/>
        </p:nvSpPr>
        <p:spPr>
          <a:xfrm>
            <a:off x="627049" y="4096850"/>
            <a:ext cx="829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También admite funciones como ajuste de escala automático, filtrado de línea de tiempo, interpolación de línea, eje configurable, leyendas, soporte de datos en tiempo real, etc.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ee2eb11427_0_0"/>
          <p:cNvSpPr/>
          <p:nvPr/>
        </p:nvSpPr>
        <p:spPr>
          <a:xfrm>
            <a:off x="627061" y="5108231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la siguiente URL se pueden revisar diferentes ejemplos: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ee2eb11427_0_0"/>
          <p:cNvSpPr/>
          <p:nvPr/>
        </p:nvSpPr>
        <p:spPr>
          <a:xfrm>
            <a:off x="1450851" y="5561998"/>
            <a:ext cx="487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https://swimlane.github.io/ngx-charts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5" name="Google Shape;145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/>
        </p:nvSpPr>
        <p:spPr>
          <a:xfrm>
            <a:off x="1144588" y="185738"/>
            <a:ext cx="178125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Ejemplos</a:t>
            </a:r>
            <a:endParaRPr/>
          </a:p>
        </p:txBody>
      </p:sp>
      <p:cxnSp>
        <p:nvCxnSpPr>
          <p:cNvPr id="147" name="Google Shape;147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" name="Google Shape;148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627062" y="1164637"/>
            <a:ext cx="822886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gráficos poseen variadas formas y configuraciones.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Algunos ejemplos son:</a:t>
            </a:r>
            <a:endParaRPr/>
          </a:p>
        </p:txBody>
      </p:sp>
      <p:pic>
        <p:nvPicPr>
          <p:cNvPr id="150" name="Google Shape;15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164" y="2641082"/>
            <a:ext cx="2476061" cy="1067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"/>
          <p:cNvPicPr preferRelativeResize="0"/>
          <p:nvPr/>
        </p:nvPicPr>
        <p:blipFill rotWithShape="1">
          <a:blip r:embed="rId5">
            <a:alphaModFix/>
          </a:blip>
          <a:srcRect b="0" l="0" r="21060" t="0"/>
          <a:stretch/>
        </p:blipFill>
        <p:spPr>
          <a:xfrm>
            <a:off x="5751533" y="2572214"/>
            <a:ext cx="2765303" cy="1014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7113" y="4029529"/>
            <a:ext cx="1925371" cy="129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09615" y="3876700"/>
            <a:ext cx="2441918" cy="1530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79059" y="3905479"/>
            <a:ext cx="2226080" cy="1310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"/>
          <p:cNvPicPr preferRelativeResize="0"/>
          <p:nvPr/>
        </p:nvPicPr>
        <p:blipFill rotWithShape="1">
          <a:blip r:embed="rId9">
            <a:alphaModFix/>
          </a:blip>
          <a:srcRect b="45607" l="0" r="0" t="1"/>
          <a:stretch/>
        </p:blipFill>
        <p:spPr>
          <a:xfrm>
            <a:off x="3187351" y="2613246"/>
            <a:ext cx="2425032" cy="1020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627050" y="2900549"/>
            <a:ext cx="8105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Vamos a forzar la instalación de la librería para indicar a Angular que ignore la versión específica de Angular esperada por la librería ngx-chart.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61" name="Google Shape;161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 txBox="1"/>
          <p:nvPr/>
        </p:nvSpPr>
        <p:spPr>
          <a:xfrm>
            <a:off x="1144588" y="185738"/>
            <a:ext cx="36006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NGX-Charts</a:t>
            </a:r>
            <a:endParaRPr/>
          </a:p>
        </p:txBody>
      </p:sp>
      <p:cxnSp>
        <p:nvCxnSpPr>
          <p:cNvPr id="163" name="Google Shape;163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627050" y="1164599"/>
            <a:ext cx="8105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Instalar la librería y dependencias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Los gráficos de </a:t>
            </a:r>
            <a:r>
              <a:rPr lang="es-CL" sz="1800">
                <a:solidFill>
                  <a:srgbClr val="188038"/>
                </a:solidFill>
              </a:rPr>
              <a:t>ngx-charts</a:t>
            </a:r>
            <a:r>
              <a:rPr lang="es-CL" sz="1800">
                <a:solidFill>
                  <a:schemeClr val="dk1"/>
                </a:solidFill>
              </a:rPr>
              <a:t> se apoyan en </a:t>
            </a:r>
            <a:r>
              <a:rPr b="1" lang="es-CL" sz="1800">
                <a:solidFill>
                  <a:schemeClr val="dk1"/>
                </a:solidFill>
              </a:rPr>
              <a:t>D3.js</a:t>
            </a:r>
            <a:r>
              <a:rPr lang="es-CL" sz="1800">
                <a:solidFill>
                  <a:schemeClr val="dk1"/>
                </a:solidFill>
              </a:rPr>
              <a:t>, por lo que es necesario instalar el paquete base y el CDK de Angular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1027128" y="2358223"/>
            <a:ext cx="7732800" cy="36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npm install @swimlane/ngx-charts @angular/cdk 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--force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3ee2eb11427_0_190" title="Captura de pantalla 2026-06-21 a la(s) 22.10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275" y="2708799"/>
            <a:ext cx="7263449" cy="25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ee2eb11427_0_190"/>
          <p:cNvSpPr/>
          <p:nvPr/>
        </p:nvSpPr>
        <p:spPr>
          <a:xfrm>
            <a:off x="627050" y="1103476"/>
            <a:ext cx="81057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La librería </a:t>
            </a:r>
            <a:r>
              <a:rPr lang="es-CL" sz="1800">
                <a:solidFill>
                  <a:srgbClr val="188038"/>
                </a:solidFill>
              </a:rPr>
              <a:t>ngx-charts </a:t>
            </a:r>
            <a:r>
              <a:rPr lang="es-CL" sz="1800">
                <a:solidFill>
                  <a:schemeClr val="dk1"/>
                </a:solidFill>
              </a:rPr>
              <a:t>depende internamente de animaciones nativas de Angular para renderizar las barras, líneas y efectos visuales.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La inyección de las animaciones debe hacerse de forma global.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73" name="Google Shape;173;g3ee2eb11427_0_190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ee2eb11427_0_190"/>
          <p:cNvSpPr txBox="1"/>
          <p:nvPr/>
        </p:nvSpPr>
        <p:spPr>
          <a:xfrm>
            <a:off x="1144588" y="185738"/>
            <a:ext cx="64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Incorporar </a:t>
            </a:r>
            <a:r>
              <a:rPr b="1" lang="es-CL" sz="2800">
                <a:solidFill>
                  <a:srgbClr val="0070C0"/>
                </a:solidFill>
              </a:rPr>
              <a:t>Animaciones</a:t>
            </a:r>
            <a:endParaRPr/>
          </a:p>
        </p:txBody>
      </p:sp>
      <p:cxnSp>
        <p:nvCxnSpPr>
          <p:cNvPr id="175" name="Google Shape;175;g3ee2eb11427_0_19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g3ee2eb11427_0_19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7" name="Google Shape;177;g3ee2eb11427_0_190"/>
          <p:cNvSpPr txBox="1"/>
          <p:nvPr/>
        </p:nvSpPr>
        <p:spPr>
          <a:xfrm>
            <a:off x="961259" y="2403570"/>
            <a:ext cx="207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app.config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ee2eb11427_0_190"/>
          <p:cNvSpPr/>
          <p:nvPr/>
        </p:nvSpPr>
        <p:spPr>
          <a:xfrm>
            <a:off x="1027125" y="2917475"/>
            <a:ext cx="7086900" cy="248700"/>
          </a:xfrm>
          <a:prstGeom prst="rect">
            <a:avLst/>
          </a:prstGeom>
          <a:solidFill>
            <a:srgbClr val="FFFF00">
              <a:alpha val="10199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ee2eb11427_0_190"/>
          <p:cNvSpPr/>
          <p:nvPr/>
        </p:nvSpPr>
        <p:spPr>
          <a:xfrm>
            <a:off x="1382375" y="3854175"/>
            <a:ext cx="2073600" cy="248700"/>
          </a:xfrm>
          <a:prstGeom prst="rect">
            <a:avLst/>
          </a:prstGeom>
          <a:solidFill>
            <a:srgbClr val="FFFF00">
              <a:alpha val="10199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e2eb11427_0_50"/>
          <p:cNvSpPr/>
          <p:nvPr/>
        </p:nvSpPr>
        <p:spPr>
          <a:xfrm>
            <a:off x="627050" y="1164599"/>
            <a:ext cx="8105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Creamos el </a:t>
            </a:r>
            <a:r>
              <a:rPr b="1" lang="es-CL" sz="1800">
                <a:solidFill>
                  <a:schemeClr val="dk1"/>
                </a:solidFill>
              </a:rPr>
              <a:t>componente product-sales</a:t>
            </a:r>
            <a:r>
              <a:rPr lang="es-CL" sz="1800">
                <a:solidFill>
                  <a:schemeClr val="dk1"/>
                </a:solidFill>
              </a:rPr>
              <a:t> para gestionar la interfaz de nuestro gráfico de ventas de productos sobre la nueva </a:t>
            </a:r>
            <a:r>
              <a:rPr b="1" lang="es-CL" sz="1800">
                <a:solidFill>
                  <a:schemeClr val="dk1"/>
                </a:solidFill>
              </a:rPr>
              <a:t>feature dashboards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85" name="Google Shape;185;g3ee2eb11427_0_5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ee2eb11427_0_50"/>
          <p:cNvSpPr txBox="1"/>
          <p:nvPr/>
        </p:nvSpPr>
        <p:spPr>
          <a:xfrm>
            <a:off x="1144598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Crear dashboards y product-sales</a:t>
            </a:r>
            <a:endParaRPr/>
          </a:p>
        </p:txBody>
      </p:sp>
      <p:cxnSp>
        <p:nvCxnSpPr>
          <p:cNvPr id="187" name="Google Shape;187;g3ee2eb11427_0_5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g3ee2eb11427_0_5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9" name="Google Shape;189;g3ee2eb11427_0_50"/>
          <p:cNvSpPr/>
          <p:nvPr/>
        </p:nvSpPr>
        <p:spPr>
          <a:xfrm>
            <a:off x="1027128" y="2224971"/>
            <a:ext cx="7732800" cy="36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ng g c features/dashboards/components/product-sales</a:t>
            </a:r>
            <a:endParaRPr/>
          </a:p>
        </p:txBody>
      </p:sp>
      <p:pic>
        <p:nvPicPr>
          <p:cNvPr id="190" name="Google Shape;190;g3ee2eb11427_0_50" title="Captura de pantalla 2026-06-21 a la(s) 20.54.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3763" y="2746671"/>
            <a:ext cx="5156472" cy="363825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ee2eb11427_0_50"/>
          <p:cNvSpPr/>
          <p:nvPr/>
        </p:nvSpPr>
        <p:spPr>
          <a:xfrm>
            <a:off x="2330300" y="4187100"/>
            <a:ext cx="4699200" cy="180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6" name="Google Shape;196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1144588" y="185738"/>
            <a:ext cx="24224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Datos</a:t>
            </a:r>
            <a:endParaRPr/>
          </a:p>
        </p:txBody>
      </p:sp>
      <p:cxnSp>
        <p:nvCxnSpPr>
          <p:cNvPr id="198" name="Google Shape;198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p6"/>
          <p:cNvSpPr/>
          <p:nvPr/>
        </p:nvSpPr>
        <p:spPr>
          <a:xfrm>
            <a:off x="627050" y="1164625"/>
            <a:ext cx="8105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¿De donde obtenemos los datos?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627050" y="1645701"/>
            <a:ext cx="8105700" cy="10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Creamos el servicio product-sales-analytics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ng g s features/dashboards/services/product-sales-analytics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02" name="Google Shape;202;p6" title="Captura de pantalla 2026-06-21 a la(s) 21.05.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6638" y="2805501"/>
            <a:ext cx="4790713" cy="35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/>
          <p:nvPr/>
        </p:nvSpPr>
        <p:spPr>
          <a:xfrm>
            <a:off x="2703400" y="4897775"/>
            <a:ext cx="3852600" cy="1125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8" name="Google Shape;208;g3ee2eb11427_0_61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ee2eb11427_0_61"/>
          <p:cNvSpPr txBox="1"/>
          <p:nvPr/>
        </p:nvSpPr>
        <p:spPr>
          <a:xfrm>
            <a:off x="1144588" y="185738"/>
            <a:ext cx="242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Datos</a:t>
            </a:r>
            <a:endParaRPr/>
          </a:p>
        </p:txBody>
      </p:sp>
      <p:cxnSp>
        <p:nvCxnSpPr>
          <p:cNvPr id="210" name="Google Shape;210;g3ee2eb11427_0_6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1" name="Google Shape;211;g3ee2eb11427_0_6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2" name="Google Shape;212;g3ee2eb11427_0_61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datos que utiliza el gráfico poseen formato JSON, en este caso </a:t>
            </a:r>
            <a:r>
              <a:rPr lang="es-CL" sz="1800">
                <a:solidFill>
                  <a:schemeClr val="dk1"/>
                </a:solidFill>
              </a:rPr>
              <a:t>retornaremos la siguiente lista desde el servicio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ee2eb11427_0_61"/>
          <p:cNvSpPr txBox="1"/>
          <p:nvPr/>
        </p:nvSpPr>
        <p:spPr>
          <a:xfrm>
            <a:off x="929721" y="2080850"/>
            <a:ext cx="269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product-sales-analytics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ee2eb11427_0_61"/>
          <p:cNvSpPr txBox="1"/>
          <p:nvPr/>
        </p:nvSpPr>
        <p:spPr>
          <a:xfrm>
            <a:off x="6040776" y="2878209"/>
            <a:ext cx="269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 </a:t>
            </a:r>
            <a:r>
              <a:rPr lang="es-CL" sz="1800">
                <a:solidFill>
                  <a:schemeClr val="dk1"/>
                </a:solidFill>
              </a:rPr>
              <a:t>función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retorna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datos relacionados con ventas de productos</a:t>
            </a:r>
            <a:endParaRPr/>
          </a:p>
        </p:txBody>
      </p:sp>
      <p:pic>
        <p:nvPicPr>
          <p:cNvPr id="215" name="Google Shape;215;g3ee2eb11427_0_61" title="Captura de pantalla 2026-06-21 a la(s) 21.26.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7125" y="2388650"/>
            <a:ext cx="4892204" cy="38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ee2eb11427_0_61"/>
          <p:cNvSpPr/>
          <p:nvPr/>
        </p:nvSpPr>
        <p:spPr>
          <a:xfrm>
            <a:off x="1264275" y="3900350"/>
            <a:ext cx="4412100" cy="2095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g3ee2eb11427_0_76" title="Captura de pantalla 2026-06-21 a la(s) 21.43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238" y="2184319"/>
            <a:ext cx="7217525" cy="4086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22" name="Google Shape;222;g3ee2eb11427_0_76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ee2eb11427_0_76"/>
          <p:cNvSpPr txBox="1"/>
          <p:nvPr/>
        </p:nvSpPr>
        <p:spPr>
          <a:xfrm>
            <a:off x="1144588" y="185738"/>
            <a:ext cx="242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Datos</a:t>
            </a:r>
            <a:endParaRPr/>
          </a:p>
        </p:txBody>
      </p:sp>
      <p:cxnSp>
        <p:nvCxnSpPr>
          <p:cNvPr id="224" name="Google Shape;224;g3ee2eb11427_0_7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5" name="Google Shape;225;g3ee2eb11427_0_76"/>
          <p:cNvSpPr/>
          <p:nvPr/>
        </p:nvSpPr>
        <p:spPr>
          <a:xfrm>
            <a:off x="0" y="6333006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6" name="Google Shape;226;g3ee2eb11427_0_76"/>
          <p:cNvSpPr txBox="1"/>
          <p:nvPr/>
        </p:nvSpPr>
        <p:spPr>
          <a:xfrm>
            <a:off x="929721" y="1876531"/>
            <a:ext cx="269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product-sales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ee2eb11427_0_76"/>
          <p:cNvSpPr/>
          <p:nvPr/>
        </p:nvSpPr>
        <p:spPr>
          <a:xfrm>
            <a:off x="1144600" y="4850375"/>
            <a:ext cx="5704500" cy="1137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ee2eb11427_0_76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s-CL" sz="1800"/>
              <a:t>Desde el componente consumiremos los datos del servicio y los guardaremos en la señal </a:t>
            </a:r>
            <a:r>
              <a:rPr i="1"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saleData.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ee2eb11427_0_76"/>
          <p:cNvSpPr/>
          <p:nvPr/>
        </p:nvSpPr>
        <p:spPr>
          <a:xfrm>
            <a:off x="6352600" y="1814793"/>
            <a:ext cx="2627100" cy="396900"/>
          </a:xfrm>
          <a:prstGeom prst="wedgeRoundRectCallout">
            <a:avLst>
              <a:gd fmla="val -22235" name="adj1"/>
              <a:gd fmla="val 92718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C00000"/>
                </a:solidFill>
              </a:rPr>
              <a:t>declarar el import del servicio</a:t>
            </a:r>
            <a:endParaRPr/>
          </a:p>
        </p:txBody>
      </p:sp>
      <p:sp>
        <p:nvSpPr>
          <p:cNvPr id="230" name="Google Shape;230;g3ee2eb11427_0_76"/>
          <p:cNvSpPr/>
          <p:nvPr/>
        </p:nvSpPr>
        <p:spPr>
          <a:xfrm>
            <a:off x="6061400" y="4104132"/>
            <a:ext cx="2627100" cy="463500"/>
          </a:xfrm>
          <a:prstGeom prst="wedgeRoundRectCallout">
            <a:avLst>
              <a:gd fmla="val -48757" name="adj1"/>
              <a:gd fmla="val 89897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C00000"/>
                </a:solidFill>
              </a:rPr>
              <a:t>inyectamos la dependencia con el servicio</a:t>
            </a:r>
            <a:endParaRPr/>
          </a:p>
        </p:txBody>
      </p:sp>
      <p:sp>
        <p:nvSpPr>
          <p:cNvPr id="231" name="Google Shape;231;g3ee2eb11427_0_76"/>
          <p:cNvSpPr/>
          <p:nvPr/>
        </p:nvSpPr>
        <p:spPr>
          <a:xfrm>
            <a:off x="6399138" y="5807007"/>
            <a:ext cx="2627100" cy="463500"/>
          </a:xfrm>
          <a:prstGeom prst="wedgeRoundRectCallout">
            <a:avLst>
              <a:gd fmla="val -33070" name="adj1"/>
              <a:gd fmla="val -125034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C00000"/>
                </a:solidFill>
              </a:rPr>
              <a:t>consultamos los datos y los guardamos en saleData</a:t>
            </a:r>
            <a:endParaRPr/>
          </a:p>
        </p:txBody>
      </p:sp>
      <p:sp>
        <p:nvSpPr>
          <p:cNvPr id="232" name="Google Shape;232;g3ee2eb11427_0_76"/>
          <p:cNvSpPr/>
          <p:nvPr/>
        </p:nvSpPr>
        <p:spPr>
          <a:xfrm>
            <a:off x="4681825" y="3363454"/>
            <a:ext cx="2627100" cy="396900"/>
          </a:xfrm>
          <a:prstGeom prst="wedgeRoundRectCallout">
            <a:avLst>
              <a:gd fmla="val -81507" name="adj1"/>
              <a:gd fmla="val 20287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C00000"/>
                </a:solidFill>
              </a:rPr>
              <a:t>importamos directiva para HTML</a:t>
            </a:r>
            <a:endParaRPr/>
          </a:p>
        </p:txBody>
      </p:sp>
      <p:sp>
        <p:nvSpPr>
          <p:cNvPr id="233" name="Google Shape;233;g3ee2eb11427_0_76"/>
          <p:cNvSpPr/>
          <p:nvPr/>
        </p:nvSpPr>
        <p:spPr>
          <a:xfrm>
            <a:off x="1027125" y="2381436"/>
            <a:ext cx="7069200" cy="270600"/>
          </a:xfrm>
          <a:prstGeom prst="rect">
            <a:avLst/>
          </a:prstGeom>
          <a:solidFill>
            <a:srgbClr val="FFFF00">
              <a:alpha val="9799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ee2eb11427_0_76"/>
          <p:cNvSpPr/>
          <p:nvPr/>
        </p:nvSpPr>
        <p:spPr>
          <a:xfrm>
            <a:off x="1027125" y="2665500"/>
            <a:ext cx="5034300" cy="270600"/>
          </a:xfrm>
          <a:prstGeom prst="rect">
            <a:avLst/>
          </a:prstGeom>
          <a:solidFill>
            <a:srgbClr val="FFFF00">
              <a:alpha val="9799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ee2eb11427_0_76"/>
          <p:cNvSpPr/>
          <p:nvPr/>
        </p:nvSpPr>
        <p:spPr>
          <a:xfrm>
            <a:off x="6399150" y="2759029"/>
            <a:ext cx="2627100" cy="396900"/>
          </a:xfrm>
          <a:prstGeom prst="wedgeRoundRectCallout">
            <a:avLst>
              <a:gd fmla="val -63285" name="adj1"/>
              <a:gd fmla="val -45189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C00000"/>
                </a:solidFill>
              </a:rPr>
              <a:t>declarar el import del servicio</a:t>
            </a:r>
            <a:endParaRPr/>
          </a:p>
        </p:txBody>
      </p:sp>
      <p:sp>
        <p:nvSpPr>
          <p:cNvPr id="236" name="Google Shape;236;g3ee2eb11427_0_76"/>
          <p:cNvSpPr/>
          <p:nvPr/>
        </p:nvSpPr>
        <p:spPr>
          <a:xfrm>
            <a:off x="1144600" y="3489750"/>
            <a:ext cx="2627100" cy="270600"/>
          </a:xfrm>
          <a:prstGeom prst="rect">
            <a:avLst/>
          </a:prstGeom>
          <a:solidFill>
            <a:srgbClr val="FFFF00">
              <a:alpha val="9799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1" name="Google Shape;241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7"/>
          <p:cNvSpPr txBox="1"/>
          <p:nvPr/>
        </p:nvSpPr>
        <p:spPr>
          <a:xfrm>
            <a:off x="1144588" y="185738"/>
            <a:ext cx="45977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Configuración del Gráfico</a:t>
            </a:r>
            <a:endParaRPr/>
          </a:p>
        </p:txBody>
      </p:sp>
      <p:cxnSp>
        <p:nvCxnSpPr>
          <p:cNvPr id="243" name="Google Shape;243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4" name="Google Shape;244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627062" y="1164637"/>
            <a:ext cx="81057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posible modificar la apariencia del gráfico agregando, modificando o quitando elementos mediante los atributos de configuración que tenga disponibles: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734387" y="2212281"/>
            <a:ext cx="8243941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5113" lvl="0" marL="265113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results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corresponde al objeto que contiene los datos en formato JSON.</a:t>
            </a:r>
            <a:endParaRPr/>
          </a:p>
          <a:p>
            <a:pPr indent="-188913" lvl="0" marL="265113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establece el ancho y alto de la vista del gráfico en pantalla.</a:t>
            </a:r>
            <a:endParaRPr/>
          </a:p>
          <a:p>
            <a:pPr indent="-2095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xAxisLabel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s-CL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yAxisLabel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 texto que se mostrará como etiqueta en los ejes X y Y.</a:t>
            </a:r>
            <a:endParaRPr/>
          </a:p>
          <a:p>
            <a:pPr indent="-2095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legendTitle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 texto que corresponde al título del gráfico.</a:t>
            </a:r>
            <a:endParaRPr/>
          </a:p>
          <a:p>
            <a:pPr indent="-2095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legend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si desea mostrar la leyenda, establézcalo en verdadero, el valor predeterminado es falso.</a:t>
            </a:r>
            <a:endParaRPr/>
          </a:p>
          <a:p>
            <a:pPr indent="-2095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showXAxisLabel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establézcalo true para mostrar la etiqueta del eje x.</a:t>
            </a:r>
            <a:endParaRPr/>
          </a:p>
          <a:p>
            <a:pPr indent="-2095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showYAxisLabel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establézcalo true para mostrar la etiqueta del eje y.</a:t>
            </a:r>
            <a:endParaRPr/>
          </a:p>
          <a:p>
            <a:pPr indent="-2095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xAxis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s-CL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yAxis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establézcalo a verdadero para mostrar un eje específico.</a:t>
            </a:r>
            <a:endParaRPr/>
          </a:p>
          <a:p>
            <a:pPr indent="-2095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gradient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configúrelo en verdadero para mostrar la barra con fondo degradado. </a:t>
            </a:r>
            <a:endParaRPr b="0" i="0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8" title="Captura de pantalla 2026-06-21 a la(s) 22.14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875" y="3001024"/>
            <a:ext cx="6053526" cy="344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52" name="Google Shape;252;p8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"/>
          <p:cNvSpPr txBox="1"/>
          <p:nvPr/>
        </p:nvSpPr>
        <p:spPr>
          <a:xfrm>
            <a:off x="1144588" y="185738"/>
            <a:ext cx="64572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Incorporar Gráfico de Barras Vertical</a:t>
            </a:r>
            <a:endParaRPr/>
          </a:p>
        </p:txBody>
      </p:sp>
      <p:cxnSp>
        <p:nvCxnSpPr>
          <p:cNvPr id="254" name="Google Shape;254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5" name="Google Shape;255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627062" y="1103438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utilizan diferentes etiquetas (directivas) html según el tipo de gráfico.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961259" y="2694612"/>
            <a:ext cx="20735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product-sales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.html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27062" y="1531831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ejemplo, para presentar un gráfico de barras vertical se utiliza la directiva </a:t>
            </a:r>
            <a:r>
              <a:rPr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&lt;ngx-charts-bar-vertical&gt;</a:t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28160" y="2266219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directiva admite múltiples atributos que permiten su configuración.</a:t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1401625" y="3420181"/>
            <a:ext cx="3766800" cy="27711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ee2eb11427_0_97" title="Captura de pantalla 2026-06-21 a la(s) 21.57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13" y="5108755"/>
            <a:ext cx="5948374" cy="13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ee2eb11427_0_97" title="Captura de pantalla 2026-06-21 a la(s) 21.56.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175" y="2054600"/>
            <a:ext cx="7821726" cy="1734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67" name="Google Shape;267;g3ee2eb11427_0_97"/>
          <p:cNvPicPr preferRelativeResize="0"/>
          <p:nvPr/>
        </p:nvPicPr>
        <p:blipFill rotWithShape="1">
          <a:blip r:embed="rId5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ee2eb11427_0_97"/>
          <p:cNvSpPr txBox="1"/>
          <p:nvPr/>
        </p:nvSpPr>
        <p:spPr>
          <a:xfrm>
            <a:off x="1144599" y="185750"/>
            <a:ext cx="552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la </a:t>
            </a:r>
            <a:r>
              <a:rPr b="1" lang="es-CL" sz="2800">
                <a:solidFill>
                  <a:srgbClr val="0070C0"/>
                </a:solidFill>
              </a:rPr>
              <a:t>ruta de acceso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g3ee2eb11427_0_9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0" name="Google Shape;270;g3ee2eb11427_0_9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ee2eb11427_0_97"/>
          <p:cNvSpPr/>
          <p:nvPr/>
        </p:nvSpPr>
        <p:spPr>
          <a:xfrm>
            <a:off x="627050" y="1164629"/>
            <a:ext cx="81057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Agregamos </a:t>
            </a:r>
            <a:r>
              <a:rPr lang="es-CL" sz="1800">
                <a:solidFill>
                  <a:schemeClr val="dk1"/>
                </a:solidFill>
              </a:rPr>
              <a:t>la ruta para el componente product-sales</a:t>
            </a:r>
            <a:endParaRPr b="0" i="0" sz="1800" u="none" cap="none" strike="noStrike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" name="Google Shape;272;g3ee2eb11427_0_97"/>
          <p:cNvSpPr txBox="1"/>
          <p:nvPr/>
        </p:nvSpPr>
        <p:spPr>
          <a:xfrm>
            <a:off x="838200" y="1562906"/>
            <a:ext cx="275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app.routes.ts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ee2eb11427_0_97"/>
          <p:cNvSpPr txBox="1"/>
          <p:nvPr/>
        </p:nvSpPr>
        <p:spPr>
          <a:xfrm>
            <a:off x="830610" y="1703088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ee2eb11427_0_97"/>
          <p:cNvSpPr/>
          <p:nvPr/>
        </p:nvSpPr>
        <p:spPr>
          <a:xfrm>
            <a:off x="958800" y="2072400"/>
            <a:ext cx="7728300" cy="266100"/>
          </a:xfrm>
          <a:prstGeom prst="rect">
            <a:avLst/>
          </a:prstGeom>
          <a:solidFill>
            <a:srgbClr val="FFFF00">
              <a:alpha val="9799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e2eb11427_0_97"/>
          <p:cNvSpPr/>
          <p:nvPr/>
        </p:nvSpPr>
        <p:spPr>
          <a:xfrm>
            <a:off x="1246100" y="3282325"/>
            <a:ext cx="6647400" cy="266100"/>
          </a:xfrm>
          <a:prstGeom prst="rect">
            <a:avLst/>
          </a:prstGeom>
          <a:solidFill>
            <a:srgbClr val="FFFF00">
              <a:alpha val="9799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ee2eb11427_0_97"/>
          <p:cNvSpPr/>
          <p:nvPr/>
        </p:nvSpPr>
        <p:spPr>
          <a:xfrm>
            <a:off x="627050" y="4191111"/>
            <a:ext cx="81057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Asociamos el routerLink a la opción </a:t>
            </a:r>
            <a:r>
              <a:rPr b="1" lang="es-CL" sz="1800">
                <a:solidFill>
                  <a:schemeClr val="dk1"/>
                </a:solidFill>
              </a:rPr>
              <a:t>Dashboard</a:t>
            </a:r>
            <a:r>
              <a:rPr lang="es-CL" sz="1800">
                <a:solidFill>
                  <a:schemeClr val="dk1"/>
                </a:solidFill>
              </a:rPr>
              <a:t> de nuestro menú</a:t>
            </a:r>
            <a:endParaRPr b="0" i="0" sz="1800" u="none" cap="none" strike="noStrike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" name="Google Shape;277;g3ee2eb11427_0_97"/>
          <p:cNvSpPr txBox="1"/>
          <p:nvPr/>
        </p:nvSpPr>
        <p:spPr>
          <a:xfrm>
            <a:off x="830600" y="4565673"/>
            <a:ext cx="275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app.html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ee2eb11427_0_97"/>
          <p:cNvSpPr txBox="1"/>
          <p:nvPr/>
        </p:nvSpPr>
        <p:spPr>
          <a:xfrm>
            <a:off x="814473" y="4732836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ee2eb11427_0_97"/>
          <p:cNvSpPr/>
          <p:nvPr/>
        </p:nvSpPr>
        <p:spPr>
          <a:xfrm>
            <a:off x="1653025" y="5215608"/>
            <a:ext cx="4599900" cy="266100"/>
          </a:xfrm>
          <a:prstGeom prst="rect">
            <a:avLst/>
          </a:prstGeom>
          <a:solidFill>
            <a:srgbClr val="FFFF00">
              <a:alpha val="9799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9" title="Captura de pantalla 2026-06-21 a la(s) 22.15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63" y="2104738"/>
            <a:ext cx="8290273" cy="3720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285" name="Google Shape;285;p9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 txBox="1"/>
          <p:nvPr/>
        </p:nvSpPr>
        <p:spPr>
          <a:xfrm>
            <a:off x="1144588" y="185738"/>
            <a:ext cx="75562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Presentación del Gráfico de Barras Vertical</a:t>
            </a:r>
            <a:endParaRPr/>
          </a:p>
        </p:txBody>
      </p:sp>
      <p:cxnSp>
        <p:nvCxnSpPr>
          <p:cNvPr id="287" name="Google Shape;287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8" name="Google Shape;288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627062" y="1103438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Ahora ya podemos ejecutar nuestra aplicación: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1004581" y="1527037"/>
            <a:ext cx="4730200" cy="36933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ng </a:t>
            </a:r>
            <a:r>
              <a:rPr b="1"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serve -o</a:t>
            </a:r>
            <a:endParaRPr sz="18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Gráfico, Gráfico de barras&#10;&#10;Descripción generada automáticamente" id="291" name="Google Shape;291;p9"/>
          <p:cNvPicPr preferRelativeResize="0"/>
          <p:nvPr/>
        </p:nvPicPr>
        <p:blipFill rotWithShape="1">
          <a:blip r:embed="rId5">
            <a:alphaModFix/>
          </a:blip>
          <a:srcRect b="-5574" l="1480" r="-1480" t="11253"/>
          <a:stretch/>
        </p:blipFill>
        <p:spPr>
          <a:xfrm>
            <a:off x="2889800" y="3721800"/>
            <a:ext cx="6022799" cy="2557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0" title="Captura de pantalla 2026-06-21 a la(s) 22.20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038" y="2711348"/>
            <a:ext cx="5790860" cy="1364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97" name="Google Shape;297;p10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0"/>
          <p:cNvSpPr txBox="1"/>
          <p:nvPr/>
        </p:nvSpPr>
        <p:spPr>
          <a:xfrm>
            <a:off x="1144588" y="185738"/>
            <a:ext cx="56380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Cambiar el Esquema de Colores</a:t>
            </a:r>
            <a:endParaRPr/>
          </a:p>
        </p:txBody>
      </p:sp>
      <p:cxnSp>
        <p:nvCxnSpPr>
          <p:cNvPr id="299" name="Google Shape;299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0" name="Google Shape;300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También es posible modificar el esquema de colores utilizado por el gráfico.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621087" y="1943481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atributo </a:t>
            </a:r>
            <a:r>
              <a:rPr i="1"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scheme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definir la paleta de colores empleados.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836052" y="2415843"/>
            <a:ext cx="20735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product-sales.ts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836060" y="4641991"/>
            <a:ext cx="207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product-sales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.html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906699" y="5608763"/>
            <a:ext cx="39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…</a:t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4512541" y="2327445"/>
            <a:ext cx="39837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https://htmlcolorcodes.com/es/</a:t>
            </a:r>
            <a:endParaRPr/>
          </a:p>
        </p:txBody>
      </p:sp>
      <p:pic>
        <p:nvPicPr>
          <p:cNvPr id="307" name="Google Shape;3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7088" y="3815668"/>
            <a:ext cx="5238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7146" y="3815668"/>
            <a:ext cx="4476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30137" y="3828543"/>
            <a:ext cx="4667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73630" y="3838287"/>
            <a:ext cx="476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0"/>
          <p:cNvPicPr preferRelativeResize="0"/>
          <p:nvPr/>
        </p:nvPicPr>
        <p:blipFill rotWithShape="1">
          <a:blip r:embed="rId9">
            <a:alphaModFix/>
          </a:blip>
          <a:srcRect b="15128" l="0" r="14096" t="0"/>
          <a:stretch/>
        </p:blipFill>
        <p:spPr>
          <a:xfrm>
            <a:off x="2053436" y="3841287"/>
            <a:ext cx="466395" cy="194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, Gráfico de barras&#10;&#10;Descripción generada automáticamente" id="312" name="Google Shape;312;p10"/>
          <p:cNvPicPr preferRelativeResize="0"/>
          <p:nvPr/>
        </p:nvPicPr>
        <p:blipFill rotWithShape="1">
          <a:blip r:embed="rId10">
            <a:alphaModFix/>
          </a:blip>
          <a:srcRect b="0" l="0" r="0" t="6209"/>
          <a:stretch/>
        </p:blipFill>
        <p:spPr>
          <a:xfrm>
            <a:off x="4143600" y="4365624"/>
            <a:ext cx="4721601" cy="19646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3" name="Google Shape;313;p10" title="Captura de pantalla 2026-06-21 a la(s) 22.23.22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00050" y="4931653"/>
            <a:ext cx="2758040" cy="8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0" title="Captura de pantalla 2026-06-21 a la(s) 22.23.46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06700" y="5978075"/>
            <a:ext cx="2277124" cy="2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0"/>
          <p:cNvSpPr/>
          <p:nvPr/>
        </p:nvSpPr>
        <p:spPr>
          <a:xfrm>
            <a:off x="1260525" y="5139339"/>
            <a:ext cx="1923300" cy="209400"/>
          </a:xfrm>
          <a:prstGeom prst="rect">
            <a:avLst/>
          </a:prstGeom>
          <a:solidFill>
            <a:srgbClr val="FFFF00">
              <a:alpha val="10199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1" title="Captura de pantalla 2026-06-21 a la(s) 22.28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127" y="1944177"/>
            <a:ext cx="4746201" cy="2083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21" name="Google Shape;321;p11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1"/>
          <p:cNvSpPr txBox="1"/>
          <p:nvPr/>
        </p:nvSpPr>
        <p:spPr>
          <a:xfrm>
            <a:off x="1144588" y="185738"/>
            <a:ext cx="48307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Incorporar Gráfico de Torta</a:t>
            </a:r>
            <a:endParaRPr/>
          </a:p>
        </p:txBody>
      </p:sp>
      <p:cxnSp>
        <p:nvCxnSpPr>
          <p:cNvPr id="323" name="Google Shape;323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4" name="Google Shape;324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627062" y="1103438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utiliza la directiva </a:t>
            </a:r>
            <a:r>
              <a:rPr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&lt;ngx-charts-pie-chart&gt;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961259" y="1531831"/>
            <a:ext cx="20735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product-sales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.html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1321150" y="2355218"/>
            <a:ext cx="3176700" cy="14283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11" title="Captura de pantalla 2026-06-21 a la(s) 22.28.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7248" y="4081245"/>
            <a:ext cx="4019492" cy="2402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9" name="Google Shape;329;p11"/>
          <p:cNvSpPr txBox="1"/>
          <p:nvPr/>
        </p:nvSpPr>
        <p:spPr>
          <a:xfrm>
            <a:off x="977255" y="1625163"/>
            <a:ext cx="39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…</a:t>
            </a:r>
            <a:endParaRPr/>
          </a:p>
        </p:txBody>
      </p:sp>
      <p:pic>
        <p:nvPicPr>
          <p:cNvPr descr="Imagen que contiene Gráfico&#10;&#10;Descripción generada automáticamente" id="330" name="Google Shape;330;p11"/>
          <p:cNvPicPr preferRelativeResize="0"/>
          <p:nvPr/>
        </p:nvPicPr>
        <p:blipFill rotWithShape="1">
          <a:blip r:embed="rId6">
            <a:alphaModFix/>
          </a:blip>
          <a:srcRect b="0" l="21092" r="0" t="12732"/>
          <a:stretch/>
        </p:blipFill>
        <p:spPr>
          <a:xfrm>
            <a:off x="4793900" y="4672150"/>
            <a:ext cx="3871325" cy="14397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12" title="Captura de pantalla 2026-06-21 a la(s) 22.33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125" y="1904250"/>
            <a:ext cx="5984325" cy="1938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36" name="Google Shape;336;p12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2"/>
          <p:cNvSpPr txBox="1"/>
          <p:nvPr/>
        </p:nvSpPr>
        <p:spPr>
          <a:xfrm>
            <a:off x="1144588" y="185738"/>
            <a:ext cx="6602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Incorporar Gráfico de Torta Avanzado</a:t>
            </a:r>
            <a:endParaRPr/>
          </a:p>
        </p:txBody>
      </p:sp>
      <p:cxnSp>
        <p:nvCxnSpPr>
          <p:cNvPr id="338" name="Google Shape;338;p1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9" name="Google Shape;339;p1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627062" y="1103438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utiliza la directiva </a:t>
            </a:r>
            <a:r>
              <a:rPr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&lt;ngx-charts-advanced-pie-chart&gt;</a:t>
            </a:r>
            <a:endParaRPr/>
          </a:p>
        </p:txBody>
      </p:sp>
      <p:sp>
        <p:nvSpPr>
          <p:cNvPr id="341" name="Google Shape;341;p12"/>
          <p:cNvSpPr txBox="1"/>
          <p:nvPr/>
        </p:nvSpPr>
        <p:spPr>
          <a:xfrm>
            <a:off x="961259" y="1593030"/>
            <a:ext cx="20735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product-sales.html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1347600" y="2341500"/>
            <a:ext cx="2921100" cy="12285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p12"/>
          <p:cNvGrpSpPr/>
          <p:nvPr/>
        </p:nvGrpSpPr>
        <p:grpSpPr>
          <a:xfrm>
            <a:off x="1027125" y="4001876"/>
            <a:ext cx="7179694" cy="2103575"/>
            <a:chOff x="1027125" y="4001876"/>
            <a:chExt cx="7179694" cy="2103575"/>
          </a:xfrm>
        </p:grpSpPr>
        <p:pic>
          <p:nvPicPr>
            <p:cNvPr descr="Imagen que contiene Tabla&#10;&#10;Descripción generada automáticamente" id="344" name="Google Shape;344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7125" y="4001876"/>
              <a:ext cx="7179694" cy="2103575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45" name="Google Shape;345;p12" title="Captura de pantalla 2026-06-21 a la(s) 22.32.45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44564" y="4008689"/>
              <a:ext cx="2412651" cy="267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50" name="Google Shape;350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3"/>
          <p:cNvSpPr txBox="1"/>
          <p:nvPr/>
        </p:nvSpPr>
        <p:spPr>
          <a:xfrm>
            <a:off x="1144588" y="185738"/>
            <a:ext cx="33997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Ver otros ejemplos</a:t>
            </a:r>
            <a:endParaRPr/>
          </a:p>
        </p:txBody>
      </p:sp>
      <p:cxnSp>
        <p:nvCxnSpPr>
          <p:cNvPr id="352" name="Google Shape;352;p1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3" name="Google Shape;353;p1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627062" y="1103438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más detalles se puede visitar la documentación oficial que permite visualizar en línea los ejemplos y su código para cada tipo de gráfico.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008105" y="1809700"/>
            <a:ext cx="760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https://swimlane.gitbook.io/ngx-charts/examples</a:t>
            </a:r>
            <a:endParaRPr/>
          </a:p>
        </p:txBody>
      </p:sp>
      <p:pic>
        <p:nvPicPr>
          <p:cNvPr id="356" name="Google Shape;3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971" y="2360745"/>
            <a:ext cx="7678079" cy="39948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7" name="Google Shape;357;p13"/>
          <p:cNvSpPr/>
          <p:nvPr/>
        </p:nvSpPr>
        <p:spPr>
          <a:xfrm>
            <a:off x="1756846" y="2572214"/>
            <a:ext cx="4773522" cy="1925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62" name="Google Shape;362;g3ee2eb11427_0_395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3ee2eb11427_0_395"/>
          <p:cNvSpPr txBox="1"/>
          <p:nvPr/>
        </p:nvSpPr>
        <p:spPr>
          <a:xfrm>
            <a:off x="1144588" y="185738"/>
            <a:ext cx="339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Desafío Práctico</a:t>
            </a:r>
            <a:endParaRPr/>
          </a:p>
        </p:txBody>
      </p:sp>
      <p:cxnSp>
        <p:nvCxnSpPr>
          <p:cNvPr id="364" name="Google Shape;364;g3ee2eb11427_0_395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5" name="Google Shape;365;g3ee2eb11427_0_395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66" name="Google Shape;366;g3ee2eb11427_0_395"/>
          <p:cNvSpPr/>
          <p:nvPr/>
        </p:nvSpPr>
        <p:spPr>
          <a:xfrm>
            <a:off x="627062" y="1103438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Construya una visualización utilizando NGX-Charts los 5 productos de mejor ranking de la aplicación.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ee2eb11427_0_395"/>
          <p:cNvSpPr/>
          <p:nvPr/>
        </p:nvSpPr>
        <p:spPr>
          <a:xfrm>
            <a:off x="1756846" y="2572214"/>
            <a:ext cx="4773600" cy="192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ee2eb11427_0_395"/>
          <p:cNvSpPr/>
          <p:nvPr/>
        </p:nvSpPr>
        <p:spPr>
          <a:xfrm>
            <a:off x="627062" y="1937101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Los datos deben obtenerse desde la base de datos de la aplicación, evitando utilizar información simulada o escrita directamente en el código.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ee2eb11427_0_395"/>
          <p:cNvSpPr/>
          <p:nvPr/>
        </p:nvSpPr>
        <p:spPr>
          <a:xfrm>
            <a:off x="627062" y="2770750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El gráfico a implementar debe ser de barras horizontal.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g3ee2eb11427_0_395" title="Captura de pantalla 2026-06-21 a la(s) 22.56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5775" y="3416950"/>
            <a:ext cx="504825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