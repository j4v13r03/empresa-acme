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9144000"/>
  <p:notesSz cx="7086600" cy="8526450"/>
  <p:embeddedFontLst>
    <p:embeddedFont>
      <p:font typeface="Teko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hQS1WJowb+b6YbDpQyFG/auuaC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C526996-C4A6-45A9-A84C-7C6276F6B75B}">
  <a:tblStyle styleId="{8C526996-C4A6-45A9-A84C-7C6276F6B75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Teko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font" Target="fonts/Tek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1812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13200" y="0"/>
            <a:ext cx="3071812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097837"/>
            <a:ext cx="3071812" cy="4286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13200" y="8097837"/>
            <a:ext cx="3071812" cy="4286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/>
        </p:nvSpPr>
        <p:spPr>
          <a:xfrm>
            <a:off x="4013200" y="8097837"/>
            <a:ext cx="3071812" cy="4286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3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4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4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5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6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6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7:notes"/>
          <p:cNvSpPr txBox="1"/>
          <p:nvPr>
            <p:ph idx="1" type="body"/>
          </p:nvPr>
        </p:nvSpPr>
        <p:spPr>
          <a:xfrm>
            <a:off x="709612" y="4103687"/>
            <a:ext cx="5667375" cy="33575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7:notes"/>
          <p:cNvSpPr/>
          <p:nvPr>
            <p:ph idx="2" type="sldImg"/>
          </p:nvPr>
        </p:nvSpPr>
        <p:spPr>
          <a:xfrm>
            <a:off x="1624012" y="1065212"/>
            <a:ext cx="3838575" cy="2878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1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2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" type="body"/>
          </p:nvPr>
        </p:nvSpPr>
        <p:spPr>
          <a:xfrm rot="5400000">
            <a:off x="2396332" y="57943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3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3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23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42" name="Google Shape;42;p2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4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48" name="Google Shape;48;p24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49" name="Google Shape;49;p2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6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9" name="Google Shape;59;p26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61" name="Google Shape;61;p26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7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6.jpg"/><Relationship Id="rId4" Type="http://schemas.openxmlformats.org/officeDocument/2006/relationships/image" Target="../media/image14.jpg"/><Relationship Id="rId5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20.png"/><Relationship Id="rId6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5.png"/><Relationship Id="rId5" Type="http://schemas.openxmlformats.org/officeDocument/2006/relationships/image" Target="../media/image9.png"/><Relationship Id="rId6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5.png"/><Relationship Id="rId6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25.png"/><Relationship Id="rId6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15.png"/><Relationship Id="rId6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3352800" y="3046412"/>
            <a:ext cx="5257800" cy="1177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8000"/>
              <a:buFont typeface="Teko"/>
              <a:buNone/>
            </a:pPr>
            <a:r>
              <a:rPr b="1" i="0" lang="en-US" sz="8000" u="none">
                <a:solidFill>
                  <a:srgbClr val="0070C0"/>
                </a:solidFill>
                <a:latin typeface="Teko"/>
                <a:ea typeface="Teko"/>
                <a:cs typeface="Teko"/>
                <a:sym typeface="Teko"/>
              </a:rPr>
              <a:t>Hojas de Estilo</a:t>
            </a:r>
            <a:br>
              <a:rPr b="1" i="0" lang="en-US" sz="8000" u="none">
                <a:solidFill>
                  <a:srgbClr val="0070C0"/>
                </a:solidFill>
                <a:latin typeface="Teko"/>
                <a:ea typeface="Teko"/>
                <a:cs typeface="Teko"/>
                <a:sym typeface="Teko"/>
              </a:rPr>
            </a:br>
            <a:r>
              <a:rPr b="1" i="0" lang="en-US" sz="8000" u="none">
                <a:solidFill>
                  <a:srgbClr val="0070C0"/>
                </a:solidFill>
                <a:latin typeface="Teko"/>
                <a:ea typeface="Teko"/>
                <a:cs typeface="Teko"/>
                <a:sym typeface="Teko"/>
              </a:rPr>
              <a:t>en Cascada</a:t>
            </a:r>
            <a:endParaRPr/>
          </a:p>
        </p:txBody>
      </p:sp>
      <p:pic>
        <p:nvPicPr>
          <p:cNvPr descr="escudo_color"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2507" t="0"/>
          <a:stretch/>
        </p:blipFill>
        <p:spPr>
          <a:xfrm>
            <a:off x="304800" y="304800"/>
            <a:ext cx="16002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3429000" y="4178300"/>
            <a:ext cx="5181600" cy="46037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90500" y="6477000"/>
            <a:ext cx="8724900" cy="312737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93" name="Google Shape;93;p1"/>
          <p:cNvSpPr txBox="1"/>
          <p:nvPr>
            <p:ph idx="1" type="subTitle"/>
          </p:nvPr>
        </p:nvSpPr>
        <p:spPr>
          <a:xfrm>
            <a:off x="762000" y="5095875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404040"/>
                </a:solidFill>
              </a:rPr>
              <a:t>César Aguilera Sepúlveda</a:t>
            </a:r>
            <a:endParaRPr/>
          </a:p>
          <a:p>
            <a:pPr indent="0" lvl="0" marL="0" rtl="0" algn="ctr">
              <a:spcBef>
                <a:spcPts val="700"/>
              </a:spcBef>
              <a:spcAft>
                <a:spcPts val="0"/>
              </a:spcAft>
              <a:buClr>
                <a:srgbClr val="0033CC"/>
              </a:buClr>
              <a:buSzPts val="2000"/>
              <a:buNone/>
            </a:pPr>
            <a:r>
              <a:rPr i="1" lang="en-US" sz="2000">
                <a:solidFill>
                  <a:srgbClr val="0033CC"/>
                </a:solidFill>
              </a:rPr>
              <a:t>caguilsepulveda@gmail.com</a:t>
            </a:r>
            <a:endParaRPr sz="2000">
              <a:solidFill>
                <a:srgbClr val="404040"/>
              </a:solidFill>
            </a:endParaRPr>
          </a:p>
        </p:txBody>
      </p:sp>
      <p:pic>
        <p:nvPicPr>
          <p:cNvPr descr="Css Icon at Vectorified.com | Collection of Css Icon free for ..." id="94" name="Google Shape;9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8025" y="1901825"/>
            <a:ext cx="2563812" cy="25638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Descripción generada automáticamente con confianza media" id="95" name="Google Shape;95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362" y="287337"/>
            <a:ext cx="2027237" cy="118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00" name="Google Shape;100;p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1144587" y="185737"/>
            <a:ext cx="174466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Contexto</a:t>
            </a:r>
            <a:endParaRPr/>
          </a:p>
        </p:txBody>
      </p:sp>
      <p:cxnSp>
        <p:nvCxnSpPr>
          <p:cNvPr id="102" name="Google Shape;102;p2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03" name="Google Shape;103;p2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7999412" y="85725"/>
            <a:ext cx="917575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534987" y="1255712"/>
            <a:ext cx="844391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CSS son las siglas de Hojas de Estilo en Cascada (</a:t>
            </a:r>
            <a:r>
              <a:rPr b="1" i="0" lang="en-US" sz="1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Cascading StyleSheets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 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534987" y="2755900"/>
            <a:ext cx="81978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Son un mecanismo que permiten aplicar formato a los documentos HTML separando el contenido de las páginas de su apariencia.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534987" y="1870075"/>
            <a:ext cx="8259762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En 1995, el W3C decidió apostar por el desarrollo y estandarización de CSS y lo añadió a su grupo de trabajo de HTML. 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534987" y="3614737"/>
            <a:ext cx="819785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las primeras versiones del HTML, el código fuente de una página web contenía tanto la información (el contenido) como la forma de representarse (el diseño o formato). 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534987" y="4760912"/>
            <a:ext cx="81978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Actualmente, estos dos aspectos se pueden separar.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534987" y="5326062"/>
            <a:ext cx="81978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ventajas de utilizar hojas de estilo son que permiten hacer un diseño consistente y fácil de modificar.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15" name="Google Shape;115;p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 txBox="1"/>
          <p:nvPr/>
        </p:nvSpPr>
        <p:spPr>
          <a:xfrm>
            <a:off x="1144587" y="185737"/>
            <a:ext cx="32575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Evolución de CSS</a:t>
            </a:r>
            <a:endParaRPr/>
          </a:p>
        </p:txBody>
      </p:sp>
      <p:cxnSp>
        <p:nvCxnSpPr>
          <p:cNvPr id="117" name="Google Shape;117;p3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8" name="Google Shape;118;p3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7999412" y="85725"/>
            <a:ext cx="917575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534987" y="1255712"/>
            <a:ext cx="8443912" cy="4246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CSS1 (</a:t>
            </a:r>
            <a:r>
              <a:rPr b="0" i="0" lang="en-US" sz="1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recomendación 1996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Propiedades de fuentes y colores, alineación de texto, tablas, márgenes, bordes, rellenos y posicionamiento. 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CSS2 (</a:t>
            </a:r>
            <a:r>
              <a:rPr b="0" i="0" lang="en-US" sz="1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recomendación 1998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Capas (z-index), posicionamiento (relativo, absoluto, fijo), texto bidireccional, tipos de medios.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CSS3 (</a:t>
            </a:r>
            <a:r>
              <a:rPr b="0" i="0" lang="en-US" sz="1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recomendación 1999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Nuevos selectores, múltiples columnas, fuentes incorporadas, transformaciones, transiciones y animaciones, diferentes perfiles (print, TV, mobile, etc.), división en módulos (selectores, cajas, bordes, transformaciones, multicolumna, …)</a:t>
            </a:r>
            <a:endParaRPr/>
          </a:p>
          <a:p>
            <a:pPr indent="-1714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CSS4 (</a:t>
            </a:r>
            <a:r>
              <a:rPr b="0" i="0" lang="en-US" sz="1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recomendación 2013 -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25" name="Google Shape;125;p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4"/>
          <p:cNvSpPr txBox="1"/>
          <p:nvPr/>
        </p:nvSpPr>
        <p:spPr>
          <a:xfrm>
            <a:off x="1144587" y="185737"/>
            <a:ext cx="587533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Incorporación de Estilos al HTML</a:t>
            </a:r>
            <a:endParaRPr/>
          </a:p>
        </p:txBody>
      </p:sp>
      <p:cxnSp>
        <p:nvCxnSpPr>
          <p:cNvPr id="127" name="Google Shape;127;p4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28" name="Google Shape;128;p4"/>
          <p:cNvSpPr txBox="1"/>
          <p:nvPr/>
        </p:nvSpPr>
        <p:spPr>
          <a:xfrm>
            <a:off x="533400" y="1165225"/>
            <a:ext cx="8199437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estilos pueden ser agregados de tres maneras diferentes:</a:t>
            </a:r>
            <a:endParaRPr/>
          </a:p>
        </p:txBody>
      </p:sp>
      <p:sp>
        <p:nvSpPr>
          <p:cNvPr id="129" name="Google Shape;129;p4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7999412" y="85725"/>
            <a:ext cx="917575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</a:t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838200" y="1654175"/>
            <a:ext cx="7894637" cy="277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CSS en línea (inline)</a:t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1084262" y="2020887"/>
            <a:ext cx="7648575" cy="554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aplica por separado a cada elemento HTML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utiliza el atributo </a:t>
            </a:r>
            <a:r>
              <a:rPr b="0" i="0" lang="en-US" sz="1800" u="none">
                <a:solidFill>
                  <a:srgbClr val="D20000"/>
                </a:solidFill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un elemento HTML</a:t>
            </a:r>
            <a:endParaRPr/>
          </a:p>
        </p:txBody>
      </p:sp>
      <p:pic>
        <p:nvPicPr>
          <p:cNvPr id="133" name="Google Shape;1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7112" y="2746375"/>
            <a:ext cx="539115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4"/>
          <p:cNvSpPr txBox="1"/>
          <p:nvPr/>
        </p:nvSpPr>
        <p:spPr>
          <a:xfrm>
            <a:off x="838200" y="3370262"/>
            <a:ext cx="7894637" cy="277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CSS interno</a:t>
            </a:r>
            <a:endParaRPr/>
          </a:p>
        </p:txBody>
      </p:sp>
      <p:sp>
        <p:nvSpPr>
          <p:cNvPr id="135" name="Google Shape;135;p4"/>
          <p:cNvSpPr txBox="1"/>
          <p:nvPr/>
        </p:nvSpPr>
        <p:spPr>
          <a:xfrm>
            <a:off x="1027112" y="3735387"/>
            <a:ext cx="7705725" cy="922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Corresponde al estilo para una sola página HTML.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CSS interno se define en la sección </a:t>
            </a:r>
            <a:r>
              <a:rPr b="0" i="0" lang="en-US" sz="1800" u="none">
                <a:solidFill>
                  <a:srgbClr val="DC143C"/>
                </a:solidFill>
                <a:latin typeface="Consolas"/>
                <a:ea typeface="Consolas"/>
                <a:cs typeface="Consolas"/>
                <a:sym typeface="Consolas"/>
              </a:rPr>
              <a:t>&lt;head&gt;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una página HTML, dentro de un elemento </a:t>
            </a:r>
            <a:r>
              <a:rPr b="0" i="0" lang="en-US" sz="1800" u="none">
                <a:solidFill>
                  <a:srgbClr val="DC143C"/>
                </a:solidFill>
                <a:latin typeface="Consolas"/>
                <a:ea typeface="Consolas"/>
                <a:cs typeface="Consolas"/>
                <a:sym typeface="Consolas"/>
              </a:rPr>
              <a:t>&lt;style&gt;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pic>
        <p:nvPicPr>
          <p:cNvPr id="136" name="Google Shape;13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7112" y="4821237"/>
            <a:ext cx="4181475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41" name="Google Shape;141;p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5"/>
          <p:cNvSpPr txBox="1"/>
          <p:nvPr/>
        </p:nvSpPr>
        <p:spPr>
          <a:xfrm>
            <a:off x="1144587" y="185737"/>
            <a:ext cx="62341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Incorporación de Estilos al HTML…</a:t>
            </a:r>
            <a:endParaRPr/>
          </a:p>
        </p:txBody>
      </p:sp>
      <p:cxnSp>
        <p:nvCxnSpPr>
          <p:cNvPr id="143" name="Google Shape;143;p5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44" name="Google Shape;144;p5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145" name="Google Shape;145;p5"/>
          <p:cNvSpPr txBox="1"/>
          <p:nvPr/>
        </p:nvSpPr>
        <p:spPr>
          <a:xfrm>
            <a:off x="7999412" y="85725"/>
            <a:ext cx="917575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</a:t>
            </a:r>
            <a:endParaRPr/>
          </a:p>
        </p:txBody>
      </p:sp>
      <p:sp>
        <p:nvSpPr>
          <p:cNvPr id="146" name="Google Shape;146;p5"/>
          <p:cNvSpPr txBox="1"/>
          <p:nvPr/>
        </p:nvSpPr>
        <p:spPr>
          <a:xfrm>
            <a:off x="838200" y="1287462"/>
            <a:ext cx="7894637" cy="277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CSS externo</a:t>
            </a:r>
            <a:endParaRPr/>
          </a:p>
        </p:txBody>
      </p:sp>
      <p:sp>
        <p:nvSpPr>
          <p:cNvPr id="147" name="Google Shape;147;p5"/>
          <p:cNvSpPr txBox="1"/>
          <p:nvPr/>
        </p:nvSpPr>
        <p:spPr>
          <a:xfrm>
            <a:off x="1054100" y="1728787"/>
            <a:ext cx="7678737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Se utiliza un archivo css para definir el estilo de muchas páginas HTML.</a:t>
            </a:r>
            <a:endParaRPr/>
          </a:p>
        </p:txBody>
      </p:sp>
      <p:pic>
        <p:nvPicPr>
          <p:cNvPr id="148" name="Google Shape;14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0175" y="2508250"/>
            <a:ext cx="411480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"/>
          <p:cNvSpPr txBox="1"/>
          <p:nvPr/>
        </p:nvSpPr>
        <p:spPr>
          <a:xfrm>
            <a:off x="1397000" y="3505200"/>
            <a:ext cx="145097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b="0" i="1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styles.css</a:t>
            </a:r>
            <a:endParaRPr/>
          </a:p>
        </p:txBody>
      </p:sp>
      <p:pic>
        <p:nvPicPr>
          <p:cNvPr id="150" name="Google Shape;15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43037" y="3921125"/>
            <a:ext cx="3343275" cy="207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55" name="Google Shape;155;p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"/>
          <p:cNvSpPr txBox="1"/>
          <p:nvPr/>
        </p:nvSpPr>
        <p:spPr>
          <a:xfrm>
            <a:off x="1144587" y="185737"/>
            <a:ext cx="44180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Sintaxis de CSS - Reglas</a:t>
            </a:r>
            <a:endParaRPr/>
          </a:p>
        </p:txBody>
      </p:sp>
      <p:cxnSp>
        <p:nvCxnSpPr>
          <p:cNvPr id="157" name="Google Shape;157;p6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58" name="Google Shape;158;p6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159" name="Google Shape;159;p6"/>
          <p:cNvSpPr txBox="1"/>
          <p:nvPr/>
        </p:nvSpPr>
        <p:spPr>
          <a:xfrm>
            <a:off x="7999412" y="85725"/>
            <a:ext cx="917575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</a:t>
            </a:r>
            <a:endParaRPr/>
          </a:p>
        </p:txBody>
      </p:sp>
      <p:sp>
        <p:nvSpPr>
          <p:cNvPr id="160" name="Google Shape;160;p6"/>
          <p:cNvSpPr txBox="1"/>
          <p:nvPr/>
        </p:nvSpPr>
        <p:spPr>
          <a:xfrm>
            <a:off x="627062" y="1225550"/>
            <a:ext cx="81057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hoja de estilo es un archivo de texto plano (sin formato).</a:t>
            </a:r>
            <a:endParaRPr/>
          </a:p>
        </p:txBody>
      </p:sp>
      <p:sp>
        <p:nvSpPr>
          <p:cNvPr id="161" name="Google Shape;161;p6"/>
          <p:cNvSpPr txBox="1"/>
          <p:nvPr/>
        </p:nvSpPr>
        <p:spPr>
          <a:xfrm>
            <a:off x="636587" y="1682750"/>
            <a:ext cx="80962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 está formada por una o varias </a:t>
            </a:r>
            <a:r>
              <a:rPr b="0" i="0" lang="en-US" sz="1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reglas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62" name="Google Shape;162;p6"/>
          <p:cNvSpPr txBox="1"/>
          <p:nvPr/>
        </p:nvSpPr>
        <p:spPr>
          <a:xfrm>
            <a:off x="636587" y="2157412"/>
            <a:ext cx="810577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Existen dos tipos de sentencias: las </a:t>
            </a:r>
            <a:r>
              <a:rPr b="0" i="0" lang="en-US" sz="1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reglas-arroba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y las </a:t>
            </a:r>
            <a:r>
              <a:rPr b="0" i="0" lang="en-US" sz="1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reglas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163" name="Google Shape;16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19412" y="3605212"/>
            <a:ext cx="4999037" cy="2586037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6"/>
          <p:cNvSpPr txBox="1"/>
          <p:nvPr/>
        </p:nvSpPr>
        <p:spPr>
          <a:xfrm>
            <a:off x="652462" y="2630487"/>
            <a:ext cx="8264525" cy="922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Algunas reglas-arroba (</a:t>
            </a:r>
            <a:r>
              <a:rPr b="0" i="0" lang="en-US" sz="1800" u="none">
                <a:solidFill>
                  <a:srgbClr val="D20000"/>
                </a:solidFill>
                <a:latin typeface="Consolas"/>
                <a:ea typeface="Consolas"/>
                <a:cs typeface="Consolas"/>
                <a:sym typeface="Consolas"/>
              </a:rPr>
              <a:t>@import 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 </a:t>
            </a:r>
            <a:r>
              <a:rPr b="0" i="0" lang="en-US" sz="1800" u="none">
                <a:solidFill>
                  <a:srgbClr val="D20000"/>
                </a:solidFill>
                <a:latin typeface="Consolas"/>
                <a:ea typeface="Consolas"/>
                <a:cs typeface="Consolas"/>
                <a:sym typeface="Consolas"/>
              </a:rPr>
              <a:t>@namespace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deben aparecer al principio del CSS, pero el resto (</a:t>
            </a:r>
            <a:r>
              <a:rPr b="0" i="0" lang="en-US" sz="1800" u="none">
                <a:solidFill>
                  <a:srgbClr val="D20000"/>
                </a:solidFill>
                <a:latin typeface="Consolas"/>
                <a:ea typeface="Consolas"/>
                <a:cs typeface="Consolas"/>
                <a:sym typeface="Consolas"/>
              </a:rPr>
              <a:t>@font-face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 </a:t>
            </a:r>
            <a:r>
              <a:rPr b="0" i="0" lang="en-US" sz="1800" u="none">
                <a:solidFill>
                  <a:srgbClr val="D20000"/>
                </a:solidFill>
                <a:latin typeface="Consolas"/>
                <a:ea typeface="Consolas"/>
                <a:cs typeface="Consolas"/>
                <a:sym typeface="Consolas"/>
              </a:rPr>
              <a:t>@media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etc.) pueden escribirse en cualquier lugar.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69" name="Google Shape;169;p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7"/>
          <p:cNvSpPr txBox="1"/>
          <p:nvPr/>
        </p:nvSpPr>
        <p:spPr>
          <a:xfrm>
            <a:off x="1144587" y="185737"/>
            <a:ext cx="567848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Sintaxis de CSS - Declaraciones</a:t>
            </a:r>
            <a:endParaRPr/>
          </a:p>
        </p:txBody>
      </p:sp>
      <p:cxnSp>
        <p:nvCxnSpPr>
          <p:cNvPr id="171" name="Google Shape;171;p7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72" name="Google Shape;172;p7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173" name="Google Shape;173;p7"/>
          <p:cNvSpPr txBox="1"/>
          <p:nvPr/>
        </p:nvSpPr>
        <p:spPr>
          <a:xfrm>
            <a:off x="7999412" y="85725"/>
            <a:ext cx="917575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</a:t>
            </a:r>
            <a:endParaRPr/>
          </a:p>
        </p:txBody>
      </p:sp>
      <p:sp>
        <p:nvSpPr>
          <p:cNvPr id="174" name="Google Shape;174;p7"/>
          <p:cNvSpPr txBox="1"/>
          <p:nvPr/>
        </p:nvSpPr>
        <p:spPr>
          <a:xfrm>
            <a:off x="627062" y="1317625"/>
            <a:ext cx="810577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reglas están formadas por un </a:t>
            </a:r>
            <a:r>
              <a:rPr b="0" i="0" lang="en-US" sz="1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selector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y un bloque de </a:t>
            </a:r>
            <a:r>
              <a:rPr b="0" i="0" lang="en-US" sz="1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declaración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  <p:sp>
        <p:nvSpPr>
          <p:cNvPr id="175" name="Google Shape;175;p7"/>
          <p:cNvSpPr txBox="1"/>
          <p:nvPr/>
        </p:nvSpPr>
        <p:spPr>
          <a:xfrm>
            <a:off x="627062" y="1898650"/>
            <a:ext cx="81057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bloque de declaración empieza y acaba con llaves { }.</a:t>
            </a:r>
            <a:endParaRPr/>
          </a:p>
        </p:txBody>
      </p:sp>
      <p:pic>
        <p:nvPicPr>
          <p:cNvPr id="176" name="Google Shape;17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6662" y="2733675"/>
            <a:ext cx="6400800" cy="280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81" name="Google Shape;181;p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8"/>
          <p:cNvSpPr txBox="1"/>
          <p:nvPr/>
        </p:nvSpPr>
        <p:spPr>
          <a:xfrm>
            <a:off x="1144587" y="185737"/>
            <a:ext cx="53959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Sintaxis de CSS - Propiedades</a:t>
            </a:r>
            <a:endParaRPr/>
          </a:p>
        </p:txBody>
      </p:sp>
      <p:cxnSp>
        <p:nvCxnSpPr>
          <p:cNvPr id="183" name="Google Shape;183;p8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84" name="Google Shape;184;p8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185" name="Google Shape;185;p8"/>
          <p:cNvSpPr txBox="1"/>
          <p:nvPr/>
        </p:nvSpPr>
        <p:spPr>
          <a:xfrm>
            <a:off x="7999412" y="85725"/>
            <a:ext cx="917575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</a:t>
            </a:r>
            <a:endParaRPr/>
          </a:p>
        </p:txBody>
      </p:sp>
      <p:sp>
        <p:nvSpPr>
          <p:cNvPr id="186" name="Google Shape;186;p8"/>
          <p:cNvSpPr txBox="1"/>
          <p:nvPr/>
        </p:nvSpPr>
        <p:spPr>
          <a:xfrm>
            <a:off x="627062" y="1317625"/>
            <a:ext cx="8105775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declaración está formada por una o varias 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propiedades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y sus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valores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correspondientes.</a:t>
            </a:r>
            <a:endParaRPr/>
          </a:p>
        </p:txBody>
      </p:sp>
      <p:sp>
        <p:nvSpPr>
          <p:cNvPr id="187" name="Google Shape;187;p8"/>
          <p:cNvSpPr txBox="1"/>
          <p:nvPr/>
        </p:nvSpPr>
        <p:spPr>
          <a:xfrm>
            <a:off x="630237" y="2098675"/>
            <a:ext cx="81026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propiedades van separadas entre sí por </a:t>
            </a: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puntos y comas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88" name="Google Shape;188;p8"/>
          <p:cNvSpPr txBox="1"/>
          <p:nvPr/>
        </p:nvSpPr>
        <p:spPr>
          <a:xfrm>
            <a:off x="627062" y="2679700"/>
            <a:ext cx="81026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valor (o valores) van separados de las propiedades por </a:t>
            </a: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dos puntos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189" name="Google Shape;18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3212" y="3622675"/>
            <a:ext cx="5248275" cy="191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94" name="Google Shape;194;p9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9"/>
          <p:cNvSpPr txBox="1"/>
          <p:nvPr/>
        </p:nvSpPr>
        <p:spPr>
          <a:xfrm>
            <a:off x="1144587" y="185737"/>
            <a:ext cx="28416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Selectores CSS</a:t>
            </a:r>
            <a:endParaRPr/>
          </a:p>
        </p:txBody>
      </p:sp>
      <p:cxnSp>
        <p:nvCxnSpPr>
          <p:cNvPr id="196" name="Google Shape;196;p9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97" name="Google Shape;197;p9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198" name="Google Shape;198;p9"/>
          <p:cNvSpPr txBox="1"/>
          <p:nvPr/>
        </p:nvSpPr>
        <p:spPr>
          <a:xfrm>
            <a:off x="7999412" y="85725"/>
            <a:ext cx="917575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</a:t>
            </a:r>
            <a:endParaRPr/>
          </a:p>
        </p:txBody>
      </p:sp>
      <p:sp>
        <p:nvSpPr>
          <p:cNvPr id="199" name="Google Shape;199;p9"/>
          <p:cNvSpPr txBox="1"/>
          <p:nvPr/>
        </p:nvSpPr>
        <p:spPr>
          <a:xfrm>
            <a:off x="715962" y="1225550"/>
            <a:ext cx="8016875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selectores permiten seleccionar un elemento, o un conjunto de elementos sobre los cuales se aplican una regla de estilo.</a:t>
            </a:r>
            <a:endParaRPr/>
          </a:p>
        </p:txBody>
      </p:sp>
      <p:sp>
        <p:nvSpPr>
          <p:cNvPr id="200" name="Google Shape;200;p9"/>
          <p:cNvSpPr txBox="1"/>
          <p:nvPr/>
        </p:nvSpPr>
        <p:spPr>
          <a:xfrm>
            <a:off x="715962" y="2071687"/>
            <a:ext cx="78946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Existen diversos tipos de Selectores que podemos utilizar.</a:t>
            </a:r>
            <a:endParaRPr/>
          </a:p>
        </p:txBody>
      </p:sp>
      <p:sp>
        <p:nvSpPr>
          <p:cNvPr id="201" name="Google Shape;201;p9"/>
          <p:cNvSpPr txBox="1"/>
          <p:nvPr/>
        </p:nvSpPr>
        <p:spPr>
          <a:xfrm>
            <a:off x="1027112" y="2593975"/>
            <a:ext cx="77057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Selectores por etiqueta</a:t>
            </a:r>
            <a:endParaRPr/>
          </a:p>
        </p:txBody>
      </p:sp>
      <p:sp>
        <p:nvSpPr>
          <p:cNvPr id="202" name="Google Shape;202;p9"/>
          <p:cNvSpPr txBox="1"/>
          <p:nvPr/>
        </p:nvSpPr>
        <p:spPr>
          <a:xfrm>
            <a:off x="1027112" y="3059112"/>
            <a:ext cx="77057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Selectores por id</a:t>
            </a:r>
            <a:endParaRPr/>
          </a:p>
        </p:txBody>
      </p:sp>
      <p:sp>
        <p:nvSpPr>
          <p:cNvPr id="203" name="Google Shape;203;p9"/>
          <p:cNvSpPr txBox="1"/>
          <p:nvPr/>
        </p:nvSpPr>
        <p:spPr>
          <a:xfrm>
            <a:off x="1027112" y="3560762"/>
            <a:ext cx="770572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Selectores por clase</a:t>
            </a:r>
            <a:endParaRPr/>
          </a:p>
        </p:txBody>
      </p:sp>
      <p:sp>
        <p:nvSpPr>
          <p:cNvPr id="204" name="Google Shape;204;p9"/>
          <p:cNvSpPr txBox="1"/>
          <p:nvPr/>
        </p:nvSpPr>
        <p:spPr>
          <a:xfrm>
            <a:off x="1027112" y="4062412"/>
            <a:ext cx="77057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Selectores por atributo</a:t>
            </a:r>
            <a:endParaRPr/>
          </a:p>
        </p:txBody>
      </p:sp>
      <p:sp>
        <p:nvSpPr>
          <p:cNvPr id="205" name="Google Shape;205;p9"/>
          <p:cNvSpPr txBox="1"/>
          <p:nvPr/>
        </p:nvSpPr>
        <p:spPr>
          <a:xfrm>
            <a:off x="1027112" y="4584700"/>
            <a:ext cx="77057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Selector universal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10" name="Google Shape;210;p10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0"/>
          <p:cNvSpPr txBox="1"/>
          <p:nvPr/>
        </p:nvSpPr>
        <p:spPr>
          <a:xfrm>
            <a:off x="1144587" y="157162"/>
            <a:ext cx="503713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Selectores CSS por Etiqueta</a:t>
            </a:r>
            <a:endParaRPr/>
          </a:p>
        </p:txBody>
      </p:sp>
      <p:cxnSp>
        <p:nvCxnSpPr>
          <p:cNvPr id="212" name="Google Shape;212;p10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13" name="Google Shape;213;p10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214" name="Google Shape;214;p10"/>
          <p:cNvSpPr txBox="1"/>
          <p:nvPr/>
        </p:nvSpPr>
        <p:spPr>
          <a:xfrm>
            <a:off x="7999412" y="85725"/>
            <a:ext cx="917575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</a:t>
            </a:r>
            <a:endParaRPr/>
          </a:p>
        </p:txBody>
      </p:sp>
      <p:sp>
        <p:nvSpPr>
          <p:cNvPr id="215" name="Google Shape;215;p10"/>
          <p:cNvSpPr txBox="1"/>
          <p:nvPr/>
        </p:nvSpPr>
        <p:spPr>
          <a:xfrm>
            <a:off x="715962" y="1192212"/>
            <a:ext cx="8016875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4E4E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4E4E4E"/>
                </a:solidFill>
                <a:latin typeface="Arial"/>
                <a:ea typeface="Arial"/>
                <a:cs typeface="Arial"/>
                <a:sym typeface="Arial"/>
              </a:rPr>
              <a:t>Este selector corresponde a los nombres de etiqueta de los elementos html, por ejemplo </a:t>
            </a:r>
            <a:r>
              <a:rPr b="1" i="1" lang="en-US" sz="1800" u="none">
                <a:solidFill>
                  <a:srgbClr val="4E4E4E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1800" u="none">
                <a:solidFill>
                  <a:srgbClr val="4E4E4E"/>
                </a:solidFill>
                <a:latin typeface="Arial"/>
                <a:ea typeface="Arial"/>
                <a:cs typeface="Arial"/>
                <a:sym typeface="Arial"/>
              </a:rPr>
              <a:t>, </a:t>
            </a:r>
            <a:r>
              <a:rPr b="1" i="1" lang="en-US" sz="1800" u="none">
                <a:solidFill>
                  <a:srgbClr val="4E4E4E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800" u="none">
                <a:solidFill>
                  <a:srgbClr val="4E4E4E"/>
                </a:solidFill>
                <a:latin typeface="Arial"/>
                <a:ea typeface="Arial"/>
                <a:cs typeface="Arial"/>
                <a:sym typeface="Arial"/>
              </a:rPr>
              <a:t>, </a:t>
            </a:r>
            <a:r>
              <a:rPr b="1" i="1" lang="en-US" sz="1800" u="none">
                <a:solidFill>
                  <a:srgbClr val="4E4E4E"/>
                </a:solidFill>
                <a:latin typeface="Arial"/>
                <a:ea typeface="Arial"/>
                <a:cs typeface="Arial"/>
                <a:sym typeface="Arial"/>
              </a:rPr>
              <a:t>h1</a:t>
            </a:r>
            <a:r>
              <a:rPr b="0" i="0" lang="en-US" sz="1800" u="none">
                <a:solidFill>
                  <a:srgbClr val="4E4E4E"/>
                </a:solidFill>
                <a:latin typeface="Arial"/>
                <a:ea typeface="Arial"/>
                <a:cs typeface="Arial"/>
                <a:sym typeface="Arial"/>
              </a:rPr>
              <a:t> o </a:t>
            </a:r>
            <a:r>
              <a:rPr b="1" i="1" lang="en-US" sz="1800" u="none">
                <a:solidFill>
                  <a:srgbClr val="4E4E4E"/>
                </a:solidFill>
                <a:latin typeface="Arial"/>
                <a:ea typeface="Arial"/>
                <a:cs typeface="Arial"/>
                <a:sym typeface="Arial"/>
              </a:rPr>
              <a:t>div</a:t>
            </a:r>
            <a:r>
              <a:rPr b="0" i="0" lang="en-US" sz="1800" u="none">
                <a:solidFill>
                  <a:srgbClr val="4E4E4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216" name="Google Shape;21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970087"/>
            <a:ext cx="3057525" cy="11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306762"/>
            <a:ext cx="277177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413250"/>
            <a:ext cx="6143625" cy="8096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19" name="Google Shape;219;p10"/>
          <p:cNvSpPr txBox="1"/>
          <p:nvPr/>
        </p:nvSpPr>
        <p:spPr>
          <a:xfrm>
            <a:off x="3225800" y="4530725"/>
            <a:ext cx="2141537" cy="1841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5997575" y="4405312"/>
            <a:ext cx="471487" cy="363537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0"/>
          <p:cNvSpPr txBox="1"/>
          <p:nvPr/>
        </p:nvSpPr>
        <p:spPr>
          <a:xfrm>
            <a:off x="1450975" y="2449512"/>
            <a:ext cx="306387" cy="244475"/>
          </a:xfrm>
          <a:prstGeom prst="rect">
            <a:avLst/>
          </a:prstGeom>
          <a:solidFill>
            <a:srgbClr val="FFFF00">
              <a:alpha val="3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0"/>
          <p:cNvSpPr txBox="1"/>
          <p:nvPr/>
        </p:nvSpPr>
        <p:spPr>
          <a:xfrm>
            <a:off x="1206500" y="3571875"/>
            <a:ext cx="306387" cy="184150"/>
          </a:xfrm>
          <a:prstGeom prst="rect">
            <a:avLst/>
          </a:prstGeom>
          <a:solidFill>
            <a:srgbClr val="FFFF00">
              <a:alpha val="3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0"/>
          <p:cNvSpPr txBox="1"/>
          <p:nvPr/>
        </p:nvSpPr>
        <p:spPr>
          <a:xfrm>
            <a:off x="3163887" y="3594100"/>
            <a:ext cx="306387" cy="182562"/>
          </a:xfrm>
          <a:prstGeom prst="rect">
            <a:avLst/>
          </a:prstGeom>
          <a:solidFill>
            <a:srgbClr val="FFFF00">
              <a:alpha val="3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28" name="Google Shape;228;p11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1"/>
          <p:cNvSpPr txBox="1"/>
          <p:nvPr/>
        </p:nvSpPr>
        <p:spPr>
          <a:xfrm>
            <a:off x="1144587" y="185737"/>
            <a:ext cx="3937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Selectores CSS por Id</a:t>
            </a:r>
            <a:endParaRPr/>
          </a:p>
        </p:txBody>
      </p:sp>
      <p:cxnSp>
        <p:nvCxnSpPr>
          <p:cNvPr id="230" name="Google Shape;230;p11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31" name="Google Shape;231;p11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232" name="Google Shape;232;p11"/>
          <p:cNvSpPr txBox="1"/>
          <p:nvPr/>
        </p:nvSpPr>
        <p:spPr>
          <a:xfrm>
            <a:off x="7999412" y="85725"/>
            <a:ext cx="917575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</a:t>
            </a:r>
            <a:endParaRPr/>
          </a:p>
        </p:txBody>
      </p:sp>
      <p:sp>
        <p:nvSpPr>
          <p:cNvPr id="233" name="Google Shape;233;p11"/>
          <p:cNvSpPr txBox="1"/>
          <p:nvPr/>
        </p:nvSpPr>
        <p:spPr>
          <a:xfrm>
            <a:off x="715962" y="1225550"/>
            <a:ext cx="8016875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selector debe comenzar con el símbolo </a:t>
            </a:r>
            <a:r>
              <a:rPr b="1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seguido del id del elemento y la regla se aplicará sólo a ese elemento. </a:t>
            </a:r>
            <a:endParaRPr/>
          </a:p>
        </p:txBody>
      </p:sp>
      <p:pic>
        <p:nvPicPr>
          <p:cNvPr id="234" name="Google Shape;234;p11"/>
          <p:cNvPicPr preferRelativeResize="0"/>
          <p:nvPr/>
        </p:nvPicPr>
        <p:blipFill rotWithShape="1">
          <a:blip r:embed="rId4">
            <a:alphaModFix/>
          </a:blip>
          <a:srcRect b="30297" l="15866" r="31929" t="51190"/>
          <a:stretch/>
        </p:blipFill>
        <p:spPr>
          <a:xfrm>
            <a:off x="652462" y="4545012"/>
            <a:ext cx="6367462" cy="127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8187" y="1981200"/>
            <a:ext cx="6076950" cy="20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1"/>
          <p:cNvSpPr txBox="1"/>
          <p:nvPr/>
        </p:nvSpPr>
        <p:spPr>
          <a:xfrm>
            <a:off x="1450975" y="2449512"/>
            <a:ext cx="1162050" cy="244475"/>
          </a:xfrm>
          <a:prstGeom prst="rect">
            <a:avLst/>
          </a:prstGeom>
          <a:solidFill>
            <a:srgbClr val="FFFF00">
              <a:alpha val="3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1"/>
          <p:cNvSpPr txBox="1"/>
          <p:nvPr/>
        </p:nvSpPr>
        <p:spPr>
          <a:xfrm>
            <a:off x="1450975" y="3579812"/>
            <a:ext cx="1346200" cy="244475"/>
          </a:xfrm>
          <a:prstGeom prst="rect">
            <a:avLst/>
          </a:prstGeom>
          <a:solidFill>
            <a:srgbClr val="FFFF00">
              <a:alpha val="3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42" name="Google Shape;242;p1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2"/>
          <p:cNvSpPr txBox="1"/>
          <p:nvPr/>
        </p:nvSpPr>
        <p:spPr>
          <a:xfrm>
            <a:off x="1144587" y="185737"/>
            <a:ext cx="45196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Selectores CSS por clase</a:t>
            </a:r>
            <a:endParaRPr/>
          </a:p>
        </p:txBody>
      </p:sp>
      <p:cxnSp>
        <p:nvCxnSpPr>
          <p:cNvPr id="244" name="Google Shape;244;p12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45" name="Google Shape;245;p12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246" name="Google Shape;246;p12"/>
          <p:cNvSpPr txBox="1"/>
          <p:nvPr/>
        </p:nvSpPr>
        <p:spPr>
          <a:xfrm>
            <a:off x="7999412" y="85725"/>
            <a:ext cx="917575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</a:t>
            </a:r>
            <a:endParaRPr/>
          </a:p>
        </p:txBody>
      </p:sp>
      <p:sp>
        <p:nvSpPr>
          <p:cNvPr id="247" name="Google Shape;247;p12"/>
          <p:cNvSpPr txBox="1"/>
          <p:nvPr/>
        </p:nvSpPr>
        <p:spPr>
          <a:xfrm>
            <a:off x="715962" y="1165225"/>
            <a:ext cx="8016875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selector debe comenzar con el símbolo ( </a:t>
            </a:r>
            <a:r>
              <a:rPr b="1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) seguido del nombre de la clase y la regla se aplicará a todos los elementos que la tengan.</a:t>
            </a:r>
            <a:endParaRPr/>
          </a:p>
        </p:txBody>
      </p:sp>
      <p:pic>
        <p:nvPicPr>
          <p:cNvPr id="248" name="Google Shape;248;p12"/>
          <p:cNvPicPr preferRelativeResize="0"/>
          <p:nvPr/>
        </p:nvPicPr>
        <p:blipFill rotWithShape="1">
          <a:blip r:embed="rId4">
            <a:alphaModFix/>
          </a:blip>
          <a:srcRect b="33857" l="15197" r="32598" t="50000"/>
          <a:stretch/>
        </p:blipFill>
        <p:spPr>
          <a:xfrm>
            <a:off x="349250" y="4476750"/>
            <a:ext cx="6364287" cy="1106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5962" y="2058987"/>
            <a:ext cx="3381375" cy="2114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0" name="Google Shape;250;p12"/>
          <p:cNvCxnSpPr/>
          <p:nvPr/>
        </p:nvCxnSpPr>
        <p:spPr>
          <a:xfrm>
            <a:off x="4572000" y="2143125"/>
            <a:ext cx="0" cy="18367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251" name="Google Shape;251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46662" y="2143125"/>
            <a:ext cx="3333750" cy="16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2"/>
          <p:cNvSpPr txBox="1"/>
          <p:nvPr/>
        </p:nvSpPr>
        <p:spPr>
          <a:xfrm>
            <a:off x="1511300" y="2490787"/>
            <a:ext cx="735012" cy="1182687"/>
          </a:xfrm>
          <a:prstGeom prst="rect">
            <a:avLst/>
          </a:prstGeom>
          <a:solidFill>
            <a:srgbClr val="FFFF00">
              <a:alpha val="3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2"/>
          <p:cNvSpPr txBox="1"/>
          <p:nvPr/>
        </p:nvSpPr>
        <p:spPr>
          <a:xfrm>
            <a:off x="6040437" y="2368550"/>
            <a:ext cx="1408112" cy="1152525"/>
          </a:xfrm>
          <a:prstGeom prst="rect">
            <a:avLst/>
          </a:prstGeom>
          <a:solidFill>
            <a:srgbClr val="FFFF00">
              <a:alpha val="3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58" name="Google Shape;258;p1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3"/>
          <p:cNvSpPr txBox="1"/>
          <p:nvPr/>
        </p:nvSpPr>
        <p:spPr>
          <a:xfrm>
            <a:off x="1144587" y="185737"/>
            <a:ext cx="49561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Selectores CSS por atributo</a:t>
            </a:r>
            <a:endParaRPr/>
          </a:p>
        </p:txBody>
      </p:sp>
      <p:cxnSp>
        <p:nvCxnSpPr>
          <p:cNvPr id="260" name="Google Shape;260;p13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61" name="Google Shape;261;p13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262" name="Google Shape;262;p13"/>
          <p:cNvSpPr txBox="1"/>
          <p:nvPr/>
        </p:nvSpPr>
        <p:spPr>
          <a:xfrm>
            <a:off x="7999412" y="85725"/>
            <a:ext cx="917575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</a:t>
            </a:r>
            <a:endParaRPr/>
          </a:p>
        </p:txBody>
      </p:sp>
      <p:sp>
        <p:nvSpPr>
          <p:cNvPr id="263" name="Google Shape;263;p13"/>
          <p:cNvSpPr txBox="1"/>
          <p:nvPr/>
        </p:nvSpPr>
        <p:spPr>
          <a:xfrm>
            <a:off x="533400" y="1123950"/>
            <a:ext cx="826135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Hay cuatro formas de seleccionar elementos con determinados atributos:</a:t>
            </a:r>
            <a:endParaRPr/>
          </a:p>
        </p:txBody>
      </p:sp>
      <p:sp>
        <p:nvSpPr>
          <p:cNvPr id="264" name="Google Shape;264;p13"/>
          <p:cNvSpPr txBox="1"/>
          <p:nvPr/>
        </p:nvSpPr>
        <p:spPr>
          <a:xfrm>
            <a:off x="828675" y="1493837"/>
            <a:ext cx="7966075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Etiqueta</a:t>
            </a:r>
            <a:r>
              <a:rPr b="0" i="0" lang="en-US" sz="1800" u="non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US" sz="1800" u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atributo</a:t>
            </a:r>
            <a:r>
              <a:rPr b="0" i="0" lang="en-US" sz="1800" u="non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Etiqueta</a:t>
            </a:r>
            <a:r>
              <a:rPr b="0" i="0" lang="en-US" sz="1800" u="non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US" sz="1800" u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atributo</a:t>
            </a:r>
            <a:r>
              <a:rPr b="0" i="0" lang="en-US" sz="1800" u="non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800" u="none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"valor"</a:t>
            </a:r>
            <a:r>
              <a:rPr b="0" i="0" lang="en-US" sz="1800" u="non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Etiqueta</a:t>
            </a:r>
            <a:r>
              <a:rPr b="0" i="0" lang="en-US" sz="1800" u="non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US" sz="1800" u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atributo</a:t>
            </a:r>
            <a:r>
              <a:rPr b="0" i="0" lang="en-US" sz="1800" u="non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~=</a:t>
            </a:r>
            <a:r>
              <a:rPr b="0" i="0" lang="en-US" sz="1800" u="none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"valor"</a:t>
            </a:r>
            <a:r>
              <a:rPr b="0" i="0" lang="en-US" sz="1800" u="non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Etiqueta</a:t>
            </a:r>
            <a:r>
              <a:rPr b="0" i="0" lang="en-US" sz="1800" u="non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US" sz="1800" u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atributo</a:t>
            </a:r>
            <a:r>
              <a:rPr b="0" i="0" lang="en-US" sz="1800" u="non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|=</a:t>
            </a:r>
            <a:r>
              <a:rPr b="0" i="0" lang="en-US" sz="1800" u="none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"valor"</a:t>
            </a:r>
            <a:r>
              <a:rPr b="0" i="0" lang="en-US" sz="1800" u="non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/>
          </a:p>
        </p:txBody>
      </p:sp>
      <p:pic>
        <p:nvPicPr>
          <p:cNvPr id="265" name="Google Shape;26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4587" y="2897187"/>
            <a:ext cx="4914900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3"/>
          <p:cNvPicPr preferRelativeResize="0"/>
          <p:nvPr/>
        </p:nvPicPr>
        <p:blipFill rotWithShape="1">
          <a:blip r:embed="rId5">
            <a:alphaModFix/>
          </a:blip>
          <a:srcRect b="39743" l="16917" r="60206" t="52021"/>
          <a:stretch/>
        </p:blipFill>
        <p:spPr>
          <a:xfrm>
            <a:off x="5603875" y="4268787"/>
            <a:ext cx="2789237" cy="565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3"/>
          <p:cNvSpPr txBox="1"/>
          <p:nvPr/>
        </p:nvSpPr>
        <p:spPr>
          <a:xfrm>
            <a:off x="5597525" y="4268787"/>
            <a:ext cx="2787650" cy="180181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3"/>
          <p:cNvSpPr txBox="1"/>
          <p:nvPr/>
        </p:nvSpPr>
        <p:spPr>
          <a:xfrm>
            <a:off x="8332787" y="4173537"/>
            <a:ext cx="128587" cy="19573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3"/>
          <p:cNvSpPr txBox="1"/>
          <p:nvPr/>
        </p:nvSpPr>
        <p:spPr>
          <a:xfrm>
            <a:off x="1939925" y="3382962"/>
            <a:ext cx="1223962" cy="230187"/>
          </a:xfrm>
          <a:prstGeom prst="rect">
            <a:avLst/>
          </a:prstGeom>
          <a:solidFill>
            <a:srgbClr val="FFFF00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3"/>
          <p:cNvSpPr txBox="1"/>
          <p:nvPr/>
        </p:nvSpPr>
        <p:spPr>
          <a:xfrm>
            <a:off x="1849437" y="4732337"/>
            <a:ext cx="947737" cy="230187"/>
          </a:xfrm>
          <a:prstGeom prst="rect">
            <a:avLst/>
          </a:prstGeom>
          <a:solidFill>
            <a:srgbClr val="FFFF00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1" name="Google Shape;271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65787" y="4773612"/>
            <a:ext cx="2333625" cy="12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76" name="Google Shape;276;p1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4"/>
          <p:cNvSpPr txBox="1"/>
          <p:nvPr/>
        </p:nvSpPr>
        <p:spPr>
          <a:xfrm>
            <a:off x="1144587" y="185737"/>
            <a:ext cx="41179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Selector CSS universal</a:t>
            </a:r>
            <a:endParaRPr/>
          </a:p>
        </p:txBody>
      </p:sp>
      <p:cxnSp>
        <p:nvCxnSpPr>
          <p:cNvPr id="278" name="Google Shape;278;p14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79" name="Google Shape;279;p14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280" name="Google Shape;280;p14"/>
          <p:cNvSpPr txBox="1"/>
          <p:nvPr/>
        </p:nvSpPr>
        <p:spPr>
          <a:xfrm>
            <a:off x="7999412" y="85725"/>
            <a:ext cx="917575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</a:t>
            </a:r>
            <a:endParaRPr/>
          </a:p>
        </p:txBody>
      </p:sp>
      <p:sp>
        <p:nvSpPr>
          <p:cNvPr id="281" name="Google Shape;281;p14"/>
          <p:cNvSpPr txBox="1"/>
          <p:nvPr/>
        </p:nvSpPr>
        <p:spPr>
          <a:xfrm>
            <a:off x="533400" y="1123950"/>
            <a:ext cx="82613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se escribe un asterisco (*), las propiedades afectan a todos los elementos de la página.</a:t>
            </a:r>
            <a:endParaRPr/>
          </a:p>
        </p:txBody>
      </p:sp>
      <p:pic>
        <p:nvPicPr>
          <p:cNvPr id="282" name="Google Shape;28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3550" y="2803525"/>
            <a:ext cx="2257425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4"/>
          <p:cNvPicPr preferRelativeResize="0"/>
          <p:nvPr/>
        </p:nvPicPr>
        <p:blipFill rotWithShape="1">
          <a:blip r:embed="rId5">
            <a:alphaModFix/>
          </a:blip>
          <a:srcRect b="39743" l="16917" r="60206" t="52021"/>
          <a:stretch/>
        </p:blipFill>
        <p:spPr>
          <a:xfrm>
            <a:off x="5516562" y="2238375"/>
            <a:ext cx="2789237" cy="565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4"/>
          <p:cNvSpPr txBox="1"/>
          <p:nvPr/>
        </p:nvSpPr>
        <p:spPr>
          <a:xfrm>
            <a:off x="5508625" y="2238375"/>
            <a:ext cx="2789237" cy="180181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4"/>
          <p:cNvSpPr txBox="1"/>
          <p:nvPr/>
        </p:nvSpPr>
        <p:spPr>
          <a:xfrm>
            <a:off x="8243887" y="2143125"/>
            <a:ext cx="128587" cy="19573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200" y="1978025"/>
            <a:ext cx="4019550" cy="258127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4"/>
          <p:cNvSpPr txBox="1"/>
          <p:nvPr/>
        </p:nvSpPr>
        <p:spPr>
          <a:xfrm>
            <a:off x="1635125" y="2478087"/>
            <a:ext cx="244475" cy="209550"/>
          </a:xfrm>
          <a:prstGeom prst="rect">
            <a:avLst/>
          </a:prstGeom>
          <a:solidFill>
            <a:srgbClr val="FFFF00">
              <a:alpha val="3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4"/>
          <p:cNvSpPr txBox="1"/>
          <p:nvPr/>
        </p:nvSpPr>
        <p:spPr>
          <a:xfrm>
            <a:off x="1266825" y="3582987"/>
            <a:ext cx="306387" cy="685800"/>
          </a:xfrm>
          <a:prstGeom prst="rect">
            <a:avLst/>
          </a:prstGeom>
          <a:solidFill>
            <a:srgbClr val="FFFF00">
              <a:alpha val="3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4"/>
          <p:cNvSpPr txBox="1"/>
          <p:nvPr/>
        </p:nvSpPr>
        <p:spPr>
          <a:xfrm>
            <a:off x="4419600" y="3582987"/>
            <a:ext cx="438150" cy="685800"/>
          </a:xfrm>
          <a:prstGeom prst="rect">
            <a:avLst/>
          </a:prstGeom>
          <a:solidFill>
            <a:srgbClr val="FFFF00">
              <a:alpha val="3960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94" name="Google Shape;294;p1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5"/>
          <p:cNvSpPr txBox="1"/>
          <p:nvPr/>
        </p:nvSpPr>
        <p:spPr>
          <a:xfrm>
            <a:off x="1144587" y="185737"/>
            <a:ext cx="513556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Unidades de medida en CSS</a:t>
            </a:r>
            <a:endParaRPr/>
          </a:p>
        </p:txBody>
      </p:sp>
      <p:cxnSp>
        <p:nvCxnSpPr>
          <p:cNvPr id="296" name="Google Shape;296;p15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97" name="Google Shape;297;p15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298" name="Google Shape;298;p15"/>
          <p:cNvSpPr txBox="1"/>
          <p:nvPr/>
        </p:nvSpPr>
        <p:spPr>
          <a:xfrm>
            <a:off x="7999412" y="85725"/>
            <a:ext cx="917575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</a:t>
            </a:r>
            <a:endParaRPr/>
          </a:p>
        </p:txBody>
      </p:sp>
      <p:sp>
        <p:nvSpPr>
          <p:cNvPr id="299" name="Google Shape;299;p15"/>
          <p:cNvSpPr txBox="1"/>
          <p:nvPr/>
        </p:nvSpPr>
        <p:spPr>
          <a:xfrm>
            <a:off x="533400" y="1123950"/>
            <a:ext cx="82613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pueden definir las distancias o tamaños como porcentajes o como valores numéricos (absolutos o relativos).</a:t>
            </a:r>
            <a:endParaRPr/>
          </a:p>
        </p:txBody>
      </p:sp>
      <p:sp>
        <p:nvSpPr>
          <p:cNvPr id="300" name="Google Shape;300;p15"/>
          <p:cNvSpPr txBox="1"/>
          <p:nvPr/>
        </p:nvSpPr>
        <p:spPr>
          <a:xfrm>
            <a:off x="838200" y="1892300"/>
            <a:ext cx="7161212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porcentajes se escriben con el símbolo de porcentaje pegado al valor numérico. Por ejemplo, 100%, 50%, etc.</a:t>
            </a:r>
            <a:endParaRPr/>
          </a:p>
        </p:txBody>
      </p:sp>
      <p:sp>
        <p:nvSpPr>
          <p:cNvPr id="301" name="Google Shape;301;p15"/>
          <p:cNvSpPr txBox="1"/>
          <p:nvPr/>
        </p:nvSpPr>
        <p:spPr>
          <a:xfrm>
            <a:off x="838200" y="2633662"/>
            <a:ext cx="7894637" cy="922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valores numéricos pueden ser positivos o negativos, enteros o decimales (utilizando el punto como separador de las partes entera y decimal). Por ejemplo, 10px, 0.5cm, -10pt, etc.</a:t>
            </a:r>
            <a:endParaRPr/>
          </a:p>
        </p:txBody>
      </p:sp>
      <p:pic>
        <p:nvPicPr>
          <p:cNvPr id="302" name="Google Shape;3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4587" y="3651250"/>
            <a:ext cx="4322762" cy="2462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13437" y="4260850"/>
            <a:ext cx="2701925" cy="893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15"/>
          <p:cNvPicPr preferRelativeResize="0"/>
          <p:nvPr/>
        </p:nvPicPr>
        <p:blipFill rotWithShape="1">
          <a:blip r:embed="rId6">
            <a:alphaModFix/>
          </a:blip>
          <a:srcRect b="39743" l="16917" r="60206" t="52021"/>
          <a:stretch/>
        </p:blipFill>
        <p:spPr>
          <a:xfrm>
            <a:off x="5857875" y="3727450"/>
            <a:ext cx="2789237" cy="56515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5"/>
          <p:cNvSpPr txBox="1"/>
          <p:nvPr/>
        </p:nvSpPr>
        <p:spPr>
          <a:xfrm>
            <a:off x="5849937" y="3727450"/>
            <a:ext cx="2789237" cy="180181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5"/>
          <p:cNvSpPr txBox="1"/>
          <p:nvPr/>
        </p:nvSpPr>
        <p:spPr>
          <a:xfrm>
            <a:off x="8585200" y="3632200"/>
            <a:ext cx="128587" cy="19573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11" name="Google Shape;311;p1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6"/>
          <p:cNvSpPr txBox="1"/>
          <p:nvPr/>
        </p:nvSpPr>
        <p:spPr>
          <a:xfrm>
            <a:off x="1144587" y="185737"/>
            <a:ext cx="53959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Unidades de medida en CSS…</a:t>
            </a:r>
            <a:endParaRPr/>
          </a:p>
        </p:txBody>
      </p:sp>
      <p:cxnSp>
        <p:nvCxnSpPr>
          <p:cNvPr id="313" name="Google Shape;313;p16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14" name="Google Shape;314;p16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315" name="Google Shape;315;p16"/>
          <p:cNvSpPr txBox="1"/>
          <p:nvPr/>
        </p:nvSpPr>
        <p:spPr>
          <a:xfrm>
            <a:off x="7999412" y="85725"/>
            <a:ext cx="917575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</a:t>
            </a:r>
            <a:endParaRPr/>
          </a:p>
        </p:txBody>
      </p:sp>
      <p:sp>
        <p:nvSpPr>
          <p:cNvPr id="316" name="Google Shape;316;p16"/>
          <p:cNvSpPr txBox="1"/>
          <p:nvPr/>
        </p:nvSpPr>
        <p:spPr>
          <a:xfrm>
            <a:off x="627062" y="1163637"/>
            <a:ext cx="81057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unidades relativas definidas respecto al </a:t>
            </a: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tipo de letra 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son:</a:t>
            </a:r>
            <a:endParaRPr/>
          </a:p>
        </p:txBody>
      </p:sp>
      <p:sp>
        <p:nvSpPr>
          <p:cNvPr id="317" name="Google Shape;317;p16"/>
          <p:cNvSpPr txBox="1"/>
          <p:nvPr/>
        </p:nvSpPr>
        <p:spPr>
          <a:xfrm>
            <a:off x="627062" y="3857625"/>
            <a:ext cx="81057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unidades relativas definidas respecto a </a:t>
            </a:r>
            <a:r>
              <a:rPr b="1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pantalla </a:t>
            </a: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son:</a:t>
            </a:r>
            <a:endParaRPr/>
          </a:p>
        </p:txBody>
      </p:sp>
      <p:graphicFrame>
        <p:nvGraphicFramePr>
          <p:cNvPr id="318" name="Google Shape;318;p16"/>
          <p:cNvGraphicFramePr/>
          <p:nvPr/>
        </p:nvGraphicFramePr>
        <p:xfrm>
          <a:off x="1035050" y="1698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{8C526996-C4A6-45A9-A84C-7C6276F6B75B}</a:tableStyleId>
              </a:tblPr>
              <a:tblGrid>
                <a:gridCol w="912800"/>
                <a:gridCol w="6792900"/>
              </a:tblGrid>
              <a:tr h="3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tamaño de fuente del elemento contenedor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EEF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 altura de la letra x de la fuente del elemento contenedor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FF7"/>
                    </a:solidFill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 altura de la cifra 0 (cero) de la fuente del elemento contenedor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EEF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tamaño de la fuente del elemento raíz de la página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F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Google Shape;319;p16"/>
          <p:cNvGraphicFramePr/>
          <p:nvPr/>
        </p:nvGraphicFramePr>
        <p:xfrm>
          <a:off x="1044575" y="43894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{8C526996-C4A6-45A9-A84C-7C6276F6B75B}</a:tableStyleId>
              </a:tblPr>
              <a:tblGrid>
                <a:gridCol w="912800"/>
                <a:gridCol w="6792900"/>
              </a:tblGrid>
              <a:tr h="3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vw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1% del ancho de la ventana (sin contar bordes, pestañas barras de desplazamiento, etc.)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EEF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1% del alto de ventana (sin contar bordes, pestañas barras de desplazamiento, etc.)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FF7"/>
                    </a:solidFill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vmin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menor de los tamaños </a:t>
                      </a:r>
                      <a:r>
                        <a:rPr b="0" i="0" lang="en-US" sz="1400" u="none" cap="none" strike="noStrike">
                          <a:solidFill>
                            <a:srgbClr val="008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vw</a:t>
                      </a: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y </a:t>
                      </a:r>
                      <a:r>
                        <a:rPr b="0" i="0" lang="en-US" sz="1400" u="none" cap="none" strike="noStrike">
                          <a:solidFill>
                            <a:srgbClr val="008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EEF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vmax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mayor de los tamaños </a:t>
                      </a:r>
                      <a:r>
                        <a:rPr b="0" i="0" lang="en-US" sz="1400" u="none" cap="none" strike="noStrike">
                          <a:solidFill>
                            <a:srgbClr val="008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vw</a:t>
                      </a: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y </a:t>
                      </a:r>
                      <a:r>
                        <a:rPr b="0" i="0" lang="en-US" sz="1400" u="none" cap="none" strike="noStrike">
                          <a:solidFill>
                            <a:srgbClr val="008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F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24" name="Google Shape;324;p1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2" y="85725"/>
            <a:ext cx="8001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7"/>
          <p:cNvSpPr txBox="1"/>
          <p:nvPr/>
        </p:nvSpPr>
        <p:spPr>
          <a:xfrm>
            <a:off x="1144587" y="185737"/>
            <a:ext cx="503713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Unidades de medida en CSS</a:t>
            </a:r>
            <a:endParaRPr/>
          </a:p>
        </p:txBody>
      </p:sp>
      <p:cxnSp>
        <p:nvCxnSpPr>
          <p:cNvPr id="326" name="Google Shape;326;p17"/>
          <p:cNvCxnSpPr/>
          <p:nvPr/>
        </p:nvCxnSpPr>
        <p:spPr>
          <a:xfrm>
            <a:off x="1206500" y="858837"/>
            <a:ext cx="7526337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27" name="Google Shape;327;p17"/>
          <p:cNvSpPr txBox="1"/>
          <p:nvPr/>
        </p:nvSpPr>
        <p:spPr>
          <a:xfrm>
            <a:off x="0" y="6537325"/>
            <a:ext cx="9144000" cy="31273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FrontEnd con Angular – código 634529</a:t>
            </a:r>
            <a:endParaRPr/>
          </a:p>
        </p:txBody>
      </p:sp>
      <p:sp>
        <p:nvSpPr>
          <p:cNvPr id="328" name="Google Shape;328;p17"/>
          <p:cNvSpPr txBox="1"/>
          <p:nvPr/>
        </p:nvSpPr>
        <p:spPr>
          <a:xfrm>
            <a:off x="7999412" y="85725"/>
            <a:ext cx="917575" cy="550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Teko"/>
              <a:buNone/>
            </a:pPr>
            <a:r>
              <a:rPr b="1" i="0" lang="en-US" sz="2800" u="none">
                <a:solidFill>
                  <a:srgbClr val="FF6600"/>
                </a:solidFill>
                <a:latin typeface="Teko"/>
                <a:ea typeface="Teko"/>
                <a:cs typeface="Teko"/>
                <a:sym typeface="Teko"/>
              </a:rPr>
              <a:t>HTML</a:t>
            </a:r>
            <a:endParaRPr/>
          </a:p>
        </p:txBody>
      </p:sp>
      <p:sp>
        <p:nvSpPr>
          <p:cNvPr id="329" name="Google Shape;329;p17"/>
          <p:cNvSpPr txBox="1"/>
          <p:nvPr/>
        </p:nvSpPr>
        <p:spPr>
          <a:xfrm>
            <a:off x="627062" y="1225550"/>
            <a:ext cx="816768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unidades absolutas disponibles son:</a:t>
            </a:r>
            <a:endParaRPr/>
          </a:p>
        </p:txBody>
      </p:sp>
      <p:graphicFrame>
        <p:nvGraphicFramePr>
          <p:cNvPr id="330" name="Google Shape;330;p17"/>
          <p:cNvGraphicFramePr/>
          <p:nvPr/>
        </p:nvGraphicFramePr>
        <p:xfrm>
          <a:off x="1027112" y="17732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{8C526996-C4A6-45A9-A84C-7C6276F6B75B}</a:tableStyleId>
              </a:tblPr>
              <a:tblGrid>
                <a:gridCol w="912800"/>
                <a:gridCol w="6792900"/>
              </a:tblGrid>
              <a:tr h="3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px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píxeles, la 96ava parte de una pulgada (96 px = 1in = 2.54cm)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EEF"/>
                    </a:solidFill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cm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centímetros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FF7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mm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milímetros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EEF"/>
                    </a:solidFill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cuartos de milímetros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FF7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pulgadas (1in = 2.54cm = 25.4mm)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EEF"/>
                    </a:solidFill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pc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picas, la sexta parte de una pulgada (1in = 6pc)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FF7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pt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puntos, la doceava parte de una pica, es decir, la 72ava parte de una pulgada (1in = 6pc = 72pt)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Luis Gajardo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