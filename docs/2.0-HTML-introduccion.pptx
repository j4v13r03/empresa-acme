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9144000"/>
  <p:notesSz cx="7086600" cy="8526450"/>
  <p:embeddedFontLst>
    <p:embeddedFont>
      <p:font typeface="Teko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ijkIsT8mqMF07BGO7hXLQF9NN1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085603-D56F-42A4-A609-E05E9A4E6403}">
  <a:tblStyle styleId="{57085603-D56F-42A4-A609-E05E9A4E640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Teko-bold.fntdata"/><Relationship Id="rId25" Type="http://schemas.openxmlformats.org/officeDocument/2006/relationships/font" Target="fonts/Teko-regular.fntdata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1812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13200" y="0"/>
            <a:ext cx="3071812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097837"/>
            <a:ext cx="3071812" cy="4286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13200" y="8097837"/>
            <a:ext cx="3071812" cy="4286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/>
        </p:nvSpPr>
        <p:spPr>
          <a:xfrm>
            <a:off x="4013200" y="8097837"/>
            <a:ext cx="3071812" cy="4286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3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4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5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6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7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7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8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8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2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3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" type="body"/>
          </p:nvPr>
        </p:nvSpPr>
        <p:spPr>
          <a:xfrm rot="5400000">
            <a:off x="2396332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4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4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24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48" name="Google Shape;48;p25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49" name="Google Shape;49;p2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7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7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9" name="Google Shape;59;p27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61" name="Google Shape;61;p27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2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2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hyperlink" Target="https://es.wikipedia.org/wiki/ISO_639-1" TargetMode="External"/><Relationship Id="rId5" Type="http://schemas.openxmlformats.org/officeDocument/2006/relationships/hyperlink" Target="https://en.wikipedia.org/wiki/Media_type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30.png"/><Relationship Id="rId5" Type="http://schemas.openxmlformats.org/officeDocument/2006/relationships/image" Target="../media/image10.png"/><Relationship Id="rId6" Type="http://schemas.openxmlformats.org/officeDocument/2006/relationships/image" Target="../media/image19.png"/><Relationship Id="rId7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image" Target="../media/image34.png"/><Relationship Id="rId7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26.png"/><Relationship Id="rId5" Type="http://schemas.openxmlformats.org/officeDocument/2006/relationships/image" Target="../media/image33.png"/><Relationship Id="rId6" Type="http://schemas.openxmlformats.org/officeDocument/2006/relationships/image" Target="../media/image38.png"/><Relationship Id="rId7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23.png"/><Relationship Id="rId5" Type="http://schemas.openxmlformats.org/officeDocument/2006/relationships/image" Target="../media/image3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25.png"/><Relationship Id="rId9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image" Target="../media/image28.png"/><Relationship Id="rId7" Type="http://schemas.openxmlformats.org/officeDocument/2006/relationships/image" Target="../media/image40.png"/><Relationship Id="rId8" Type="http://schemas.openxmlformats.org/officeDocument/2006/relationships/image" Target="../media/image3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31.png"/><Relationship Id="rId5" Type="http://schemas.openxmlformats.org/officeDocument/2006/relationships/image" Target="../media/image35.png"/><Relationship Id="rId6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3352800" y="2373312"/>
            <a:ext cx="5257800" cy="1177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8000"/>
              <a:buFont typeface="Teko"/>
              <a:buNone/>
            </a:pPr>
            <a:r>
              <a:rPr b="1" i="0" lang="en-US" sz="80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Lenguaje HTML</a:t>
            </a:r>
            <a:endParaRPr/>
          </a:p>
        </p:txBody>
      </p:sp>
      <p:pic>
        <p:nvPicPr>
          <p:cNvPr descr="escudo_color"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2507" t="0"/>
          <a:stretch/>
        </p:blipFill>
        <p:spPr>
          <a:xfrm>
            <a:off x="304800" y="304800"/>
            <a:ext cx="160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3429000" y="3627437"/>
            <a:ext cx="5181600" cy="46037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90500" y="6477000"/>
            <a:ext cx="8724900" cy="312737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93" name="Google Shape;93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404040"/>
                </a:solidFill>
              </a:rPr>
              <a:t>César Aguilera Sepúlveda</a:t>
            </a:r>
            <a:endParaRPr/>
          </a:p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None/>
            </a:pPr>
            <a:r>
              <a:rPr i="1" lang="en-US" sz="2000">
                <a:solidFill>
                  <a:srgbClr val="0033CC"/>
                </a:solidFill>
              </a:rPr>
              <a:t>caguilsepulveda@gmail.com</a:t>
            </a:r>
            <a:endParaRPr sz="2000">
              <a:solidFill>
                <a:srgbClr val="404040"/>
              </a:solidFill>
            </a:endParaRPr>
          </a:p>
        </p:txBody>
      </p:sp>
      <p:pic>
        <p:nvPicPr>
          <p:cNvPr descr="Editores HTML WYSIWYG" id="94" name="Google Shape;94;p1"/>
          <p:cNvPicPr preferRelativeResize="0"/>
          <p:nvPr/>
        </p:nvPicPr>
        <p:blipFill rotWithShape="1">
          <a:blip r:embed="rId4">
            <a:alphaModFix/>
          </a:blip>
          <a:srcRect b="0" l="26986" r="26565" t="0"/>
          <a:stretch/>
        </p:blipFill>
        <p:spPr>
          <a:xfrm>
            <a:off x="898525" y="1898650"/>
            <a:ext cx="2274887" cy="29384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pción generada automáticamente con confianza media" id="95" name="Google Shape;9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362" y="287337"/>
            <a:ext cx="2027237" cy="118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00" name="Google Shape;100;p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1144587" y="185737"/>
            <a:ext cx="174466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endParaRPr/>
          </a:p>
        </p:txBody>
      </p:sp>
      <p:cxnSp>
        <p:nvCxnSpPr>
          <p:cNvPr id="102" name="Google Shape;102;p2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3" name="Google Shape;103;p2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7999412" y="85725"/>
            <a:ext cx="917575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534987" y="1255712"/>
            <a:ext cx="5567362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HTML son las siglas de Lenguaje de Marcas de HyperTexto (</a:t>
            </a:r>
            <a:r>
              <a:rPr b="1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HyperText Markup Language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 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539750" y="2128837"/>
            <a:ext cx="51943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Creado en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1991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por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 Berners-Lee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que contenía originalmente 22 elementos.</a:t>
            </a:r>
            <a:endParaRPr/>
          </a:p>
        </p:txBody>
      </p:sp>
      <p:pic>
        <p:nvPicPr>
          <p:cNvPr descr="tim berners-lee – Telegram.hr" id="107" name="Google Shape;107;p2"/>
          <p:cNvPicPr preferRelativeResize="0"/>
          <p:nvPr/>
        </p:nvPicPr>
        <p:blipFill rotWithShape="1">
          <a:blip r:embed="rId4">
            <a:alphaModFix/>
          </a:blip>
          <a:srcRect b="0" l="26164" r="5741" t="0"/>
          <a:stretch/>
        </p:blipFill>
        <p:spPr>
          <a:xfrm>
            <a:off x="6219825" y="1338262"/>
            <a:ext cx="2508250" cy="21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12" name="Google Shape;112;p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"/>
          <p:cNvSpPr txBox="1"/>
          <p:nvPr/>
        </p:nvSpPr>
        <p:spPr>
          <a:xfrm>
            <a:off x="1144587" y="185737"/>
            <a:ext cx="44196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Estructura de la Etiqueta</a:t>
            </a:r>
            <a:endParaRPr/>
          </a:p>
        </p:txBody>
      </p:sp>
      <p:cxnSp>
        <p:nvCxnSpPr>
          <p:cNvPr id="114" name="Google Shape;114;p3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5" name="Google Shape;115;p3"/>
          <p:cNvSpPr txBox="1"/>
          <p:nvPr/>
        </p:nvSpPr>
        <p:spPr>
          <a:xfrm>
            <a:off x="533400" y="1149350"/>
            <a:ext cx="8199437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 páginas webs son documentos de texto ASCII que contienen información y muchas etiquetas HTML.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7999412" y="85725"/>
            <a:ext cx="917575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471487" y="1992312"/>
            <a:ext cx="82613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La </a:t>
            </a:r>
            <a:r>
              <a:rPr b="1" i="0" lang="en-US" sz="18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estructura de las etiquetas HTML</a:t>
            </a:r>
            <a:r>
              <a:rPr b="0" i="0" lang="en-US" sz="18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 tiene el siguiente formato:</a:t>
            </a:r>
            <a:endParaRPr/>
          </a:p>
        </p:txBody>
      </p:sp>
      <p:pic>
        <p:nvPicPr>
          <p:cNvPr descr="Estructura de una etiqueta HTML" id="119" name="Google Shape;119;p3"/>
          <p:cNvPicPr preferRelativeResize="0"/>
          <p:nvPr/>
        </p:nvPicPr>
        <p:blipFill rotWithShape="1">
          <a:blip r:embed="rId4">
            <a:alphaModFix/>
          </a:blip>
          <a:srcRect b="16596" l="0" r="0" t="18786"/>
          <a:stretch/>
        </p:blipFill>
        <p:spPr>
          <a:xfrm>
            <a:off x="795337" y="2449512"/>
            <a:ext cx="7204075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"/>
          <p:cNvSpPr txBox="1"/>
          <p:nvPr/>
        </p:nvSpPr>
        <p:spPr>
          <a:xfrm>
            <a:off x="533400" y="4019550"/>
            <a:ext cx="8199437" cy="277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Aunque no es obligatorio, se recomienda escribir las etiquetas en minúsculas.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471487" y="4635500"/>
            <a:ext cx="5253037" cy="87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Font typeface="Arial"/>
              <a:buChar char="•"/>
            </a:pPr>
            <a:r>
              <a:rPr b="0" i="0" lang="en-US" sz="17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HTML provee una serie de etiquetas predefinidas</a:t>
            </a:r>
            <a:endParaRPr/>
          </a:p>
          <a:p>
            <a:pPr indent="-1778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b="0" i="0" sz="1700" u="non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Font typeface="Arial"/>
              <a:buChar char="•"/>
            </a:pPr>
            <a:r>
              <a:rPr b="0" i="0" lang="en-US" sz="17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Por ejemplo, la etiqueta </a:t>
            </a:r>
            <a:r>
              <a:rPr b="0" i="0" lang="en-US" sz="1700" u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&lt;strong&gt;</a:t>
            </a:r>
            <a:r>
              <a:rPr b="0" i="0" lang="en-US" sz="17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pic>
        <p:nvPicPr>
          <p:cNvPr id="122" name="Google Shape;12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65312" y="5780087"/>
            <a:ext cx="2466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"/>
          <p:cNvSpPr txBox="1"/>
          <p:nvPr/>
        </p:nvSpPr>
        <p:spPr>
          <a:xfrm>
            <a:off x="1206500" y="3481387"/>
            <a:ext cx="84931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apertura</a:t>
            </a:r>
            <a:endParaRPr/>
          </a:p>
        </p:txBody>
      </p:sp>
      <p:cxnSp>
        <p:nvCxnSpPr>
          <p:cNvPr id="124" name="Google Shape;124;p3"/>
          <p:cNvCxnSpPr/>
          <p:nvPr/>
        </p:nvCxnSpPr>
        <p:spPr>
          <a:xfrm rot="10800000">
            <a:off x="1631950" y="3132137"/>
            <a:ext cx="0" cy="34925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25" name="Google Shape;125;p3"/>
          <p:cNvSpPr txBox="1"/>
          <p:nvPr/>
        </p:nvSpPr>
        <p:spPr>
          <a:xfrm>
            <a:off x="6721475" y="3481387"/>
            <a:ext cx="63182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  <a:endParaRPr/>
          </a:p>
        </p:txBody>
      </p:sp>
      <p:cxnSp>
        <p:nvCxnSpPr>
          <p:cNvPr id="126" name="Google Shape;126;p3"/>
          <p:cNvCxnSpPr/>
          <p:nvPr/>
        </p:nvCxnSpPr>
        <p:spPr>
          <a:xfrm rot="10800000">
            <a:off x="7037387" y="3098800"/>
            <a:ext cx="0" cy="382587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med" w="med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31" name="Google Shape;131;p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"/>
          <p:cNvSpPr txBox="1"/>
          <p:nvPr/>
        </p:nvSpPr>
        <p:spPr>
          <a:xfrm>
            <a:off x="1144587" y="185737"/>
            <a:ext cx="45593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Atributos de una Etiqueta</a:t>
            </a:r>
            <a:endParaRPr/>
          </a:p>
        </p:txBody>
      </p:sp>
      <p:cxnSp>
        <p:nvCxnSpPr>
          <p:cNvPr id="133" name="Google Shape;133;p4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4" name="Google Shape;134;p4"/>
          <p:cNvSpPr txBox="1"/>
          <p:nvPr/>
        </p:nvSpPr>
        <p:spPr>
          <a:xfrm>
            <a:off x="533400" y="2139950"/>
            <a:ext cx="8199437" cy="554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algunas etiquetas HTML, existen algunos atributos específicos (que pueden ser opcionales u obligatorios).</a:t>
            </a:r>
            <a:endParaRPr/>
          </a:p>
        </p:txBody>
      </p:sp>
      <p:sp>
        <p:nvSpPr>
          <p:cNvPr id="135" name="Google Shape;135;p4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7999412" y="85725"/>
            <a:ext cx="917575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423862" y="1314450"/>
            <a:ext cx="819943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Los atributos determinan cierta información sobre la etiqueta (</a:t>
            </a:r>
            <a:r>
              <a:rPr b="0" i="1" lang="en-US" sz="1800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o su modo de actuar</a:t>
            </a:r>
            <a:r>
              <a:rPr b="0" i="0" lang="en-US" sz="18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) y generalmente van asociados a un valor determinado.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471487" y="2946400"/>
            <a:ext cx="8261350" cy="64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Este par </a:t>
            </a:r>
            <a:r>
              <a:rPr b="1" i="0" lang="en-US" sz="18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atributo-valor</a:t>
            </a:r>
            <a:r>
              <a:rPr b="0" i="0" lang="en-US" sz="18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 se escribe después del nombre de la etiqueta, separándola por espacio y antes del carácter </a:t>
            </a:r>
            <a:r>
              <a:rPr b="0" i="0" lang="en-US" sz="1800" u="none">
                <a:solidFill>
                  <a:srgbClr val="3B63DB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la etiqueta de apertura.</a:t>
            </a:r>
            <a:endParaRPr/>
          </a:p>
        </p:txBody>
      </p:sp>
      <p:pic>
        <p:nvPicPr>
          <p:cNvPr id="139" name="Google Shape;13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7112" y="3784600"/>
            <a:ext cx="33623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"/>
          <p:cNvSpPr txBox="1"/>
          <p:nvPr/>
        </p:nvSpPr>
        <p:spPr>
          <a:xfrm>
            <a:off x="533400" y="4286250"/>
            <a:ext cx="813752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Aunque los valores pueden ir rodeados por comillas simples, se recomienda escribir el valor siempre entre </a:t>
            </a:r>
            <a:r>
              <a:rPr b="1" i="0" lang="en-US" sz="18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comillas dobles</a:t>
            </a:r>
            <a:r>
              <a:rPr b="0" i="0" lang="en-US" sz="18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45" name="Google Shape;145;p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5"/>
          <p:cNvSpPr txBox="1"/>
          <p:nvPr/>
        </p:nvSpPr>
        <p:spPr>
          <a:xfrm>
            <a:off x="1144587" y="185737"/>
            <a:ext cx="35210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Atributos Comunes</a:t>
            </a:r>
            <a:endParaRPr/>
          </a:p>
        </p:txBody>
      </p:sp>
      <p:cxnSp>
        <p:nvCxnSpPr>
          <p:cNvPr id="147" name="Google Shape;147;p5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48" name="Google Shape;148;p5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49" name="Google Shape;149;p5"/>
          <p:cNvSpPr txBox="1"/>
          <p:nvPr/>
        </p:nvSpPr>
        <p:spPr>
          <a:xfrm>
            <a:off x="7999412" y="85725"/>
            <a:ext cx="917575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</a:t>
            </a:r>
            <a:endParaRPr/>
          </a:p>
        </p:txBody>
      </p:sp>
      <p:sp>
        <p:nvSpPr>
          <p:cNvPr id="150" name="Google Shape;150;p5"/>
          <p:cNvSpPr txBox="1"/>
          <p:nvPr/>
        </p:nvSpPr>
        <p:spPr>
          <a:xfrm>
            <a:off x="423862" y="1314450"/>
            <a:ext cx="8199437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Existen algunos atributos comunes para todas las etiquetas del HTML:</a:t>
            </a:r>
            <a:endParaRPr/>
          </a:p>
        </p:txBody>
      </p:sp>
      <p:graphicFrame>
        <p:nvGraphicFramePr>
          <p:cNvPr id="151" name="Google Shape;151;p5"/>
          <p:cNvGraphicFramePr/>
          <p:nvPr/>
        </p:nvGraphicFramePr>
        <p:xfrm>
          <a:off x="565150" y="19605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{57085603-D56F-42A4-A609-E05E9A4E6403}</a:tableStyleId>
              </a:tblPr>
              <a:tblGrid>
                <a:gridCol w="1101725"/>
                <a:gridCol w="917575"/>
                <a:gridCol w="6180125"/>
              </a:tblGrid>
              <a:tr h="293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Atributo</a:t>
                      </a:r>
                      <a:endParaRPr/>
                    </a:p>
                  </a:txBody>
                  <a:tcPr marT="40375" marB="40375" marR="40375" marL="403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Valor</a:t>
                      </a:r>
                      <a:endParaRPr/>
                    </a:p>
                  </a:txBody>
                  <a:tcPr marT="40375" marB="40375" marR="40375" marL="403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Descripción</a:t>
                      </a:r>
                      <a:endParaRPr/>
                    </a:p>
                  </a:txBody>
                  <a:tcPr marT="40375" marB="40375" marR="40375" marL="403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400"/>
                        <a:buFont typeface="Consolas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70C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</a:t>
                      </a:r>
                      <a:endParaRPr/>
                    </a:p>
                  </a:txBody>
                  <a:tcPr marT="40375" marB="40375" marR="40375" marL="403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1400"/>
                        <a:buFont typeface="Arial"/>
                        <a:buNone/>
                      </a:pPr>
                      <a:r>
                        <a:rPr b="0" i="1" lang="en-US" sz="1400" u="sng" cap="none" strike="noStrike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nombre</a:t>
                      </a:r>
                      <a:endParaRPr/>
                    </a:p>
                  </a:txBody>
                  <a:tcPr marT="40375" marB="40375" marR="40375" marL="403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Establece un </a:t>
                      </a: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identificador</a:t>
                      </a: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a la etiqueta HTML (sólo una por página con ese nombre).</a:t>
                      </a:r>
                      <a:endParaRPr/>
                    </a:p>
                  </a:txBody>
                  <a:tcPr marT="40375" marB="40375" marR="40375" marL="403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400"/>
                        <a:buFont typeface="Consolas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70C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endParaRPr/>
                    </a:p>
                  </a:txBody>
                  <a:tcPr marT="40375" marB="40375" marR="40375" marL="403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1400"/>
                        <a:buFont typeface="Arial"/>
                        <a:buNone/>
                      </a:pPr>
                      <a:r>
                        <a:rPr b="0" i="1" lang="en-US" sz="1400" u="sng" cap="none" strike="noStrike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nombre</a:t>
                      </a:r>
                      <a:endParaRPr/>
                    </a:p>
                  </a:txBody>
                  <a:tcPr marT="40375" marB="40375" marR="40375" marL="403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Establece una </a:t>
                      </a: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clase</a:t>
                      </a: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(género) a una etiqueta HTML. Puede repetirse por página. Muy utilizada por CSS.</a:t>
                      </a:r>
                      <a:endParaRPr/>
                    </a:p>
                  </a:txBody>
                  <a:tcPr marT="40375" marB="40375" marR="40375" marL="403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400"/>
                        <a:buFont typeface="Consolas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70C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lang</a:t>
                      </a:r>
                      <a:endParaRPr/>
                    </a:p>
                  </a:txBody>
                  <a:tcPr marT="40375" marB="40375" marR="40375" marL="403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1400"/>
                        <a:buFont typeface="Arial"/>
                        <a:buNone/>
                      </a:pPr>
                      <a:r>
                        <a:rPr b="0" i="1" lang="en-US" sz="1400" u="sng" cap="none" strike="noStrike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idioma</a:t>
                      </a:r>
                      <a:endParaRPr/>
                    </a:p>
                  </a:txBody>
                  <a:tcPr marT="40375" marB="40375" marR="40375" marL="403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Indica el idioma del contenido de la etiqueta HTML.</a:t>
                      </a:r>
                      <a:endParaRPr/>
                    </a:p>
                  </a:txBody>
                  <a:tcPr marT="40375" marB="40375" marR="40375" marL="403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400"/>
                        <a:buFont typeface="Consolas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70C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translate</a:t>
                      </a:r>
                      <a:endParaRPr/>
                    </a:p>
                  </a:txBody>
                  <a:tcPr marT="40375" marB="40375" marR="40375" marL="403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| no</a:t>
                      </a:r>
                      <a:endParaRPr/>
                    </a:p>
                  </a:txBody>
                  <a:tcPr marT="40375" marB="40375" marR="40375" marL="403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Indica si el contenido de la etiqueta es traducible o no.</a:t>
                      </a:r>
                      <a:endParaRPr/>
                    </a:p>
                  </a:txBody>
                  <a:tcPr marT="40375" marB="40375" marR="40375" marL="403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400"/>
                        <a:buFont typeface="Consolas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70C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title</a:t>
                      </a:r>
                      <a:endParaRPr/>
                    </a:p>
                  </a:txBody>
                  <a:tcPr marT="40375" marB="40375" marR="40375" marL="403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1400"/>
                        <a:buFont typeface="Arial"/>
                        <a:buNone/>
                      </a:pPr>
                      <a:r>
                        <a:rPr b="0" i="1" lang="en-US" sz="1400" u="sng" cap="none" strike="noStrike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título</a:t>
                      </a:r>
                      <a:endParaRPr/>
                    </a:p>
                  </a:txBody>
                  <a:tcPr marT="40375" marB="40375" marR="40375" marL="403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Mensaje mostrado en un </a:t>
                      </a: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tooltip</a:t>
                      </a: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(aviso amarillo emergente) al mover el ratón encima.</a:t>
                      </a:r>
                      <a:endParaRPr/>
                    </a:p>
                  </a:txBody>
                  <a:tcPr marT="40375" marB="40375" marR="40375" marL="403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400"/>
                        <a:buFont typeface="Consolas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70C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accesskey</a:t>
                      </a:r>
                      <a:endParaRPr/>
                    </a:p>
                  </a:txBody>
                  <a:tcPr marT="40375" marB="40375" marR="40375" marL="403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1400"/>
                        <a:buFont typeface="Arial"/>
                        <a:buNone/>
                      </a:pPr>
                      <a:r>
                        <a:rPr b="0" i="1" lang="en-US" sz="1400" u="sng" cap="none" strike="noStrike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atajo</a:t>
                      </a:r>
                      <a:endParaRPr/>
                    </a:p>
                  </a:txBody>
                  <a:tcPr marT="40375" marB="40375" marR="40375" marL="403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Combinación de teclas que puede pulsar el usuario para activar el elemento.</a:t>
                      </a:r>
                      <a:endParaRPr/>
                    </a:p>
                  </a:txBody>
                  <a:tcPr marT="40375" marB="40375" marR="40375" marL="403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400"/>
                        <a:buFont typeface="Consolas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70C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style</a:t>
                      </a:r>
                      <a:endParaRPr/>
                    </a:p>
                  </a:txBody>
                  <a:tcPr marT="40375" marB="40375" marR="40375" marL="403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1400"/>
                        <a:buFont typeface="Arial"/>
                        <a:buNone/>
                      </a:pPr>
                      <a:r>
                        <a:rPr b="0" i="1" lang="en-US" sz="1400" u="sng" cap="none" strike="noStrike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estilos</a:t>
                      </a:r>
                      <a:endParaRPr/>
                    </a:p>
                  </a:txBody>
                  <a:tcPr marT="40375" marB="40375" marR="40375" marL="403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Aplica propiedades CSS directamente al elemento en cuestión.</a:t>
                      </a:r>
                      <a:endParaRPr/>
                    </a:p>
                  </a:txBody>
                  <a:tcPr marT="40375" marB="40375" marR="40375" marL="403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56" name="Google Shape;156;p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 txBox="1"/>
          <p:nvPr/>
        </p:nvSpPr>
        <p:spPr>
          <a:xfrm>
            <a:off x="1144587" y="185737"/>
            <a:ext cx="43021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Identificadores y Clases</a:t>
            </a:r>
            <a:endParaRPr/>
          </a:p>
        </p:txBody>
      </p:sp>
      <p:cxnSp>
        <p:nvCxnSpPr>
          <p:cNvPr id="158" name="Google Shape;158;p6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59" name="Google Shape;159;p6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60" name="Google Shape;160;p6"/>
          <p:cNvSpPr txBox="1"/>
          <p:nvPr/>
        </p:nvSpPr>
        <p:spPr>
          <a:xfrm>
            <a:off x="7999412" y="85725"/>
            <a:ext cx="917575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</a:t>
            </a:r>
            <a:endParaRPr/>
          </a:p>
        </p:txBody>
      </p:sp>
      <p:sp>
        <p:nvSpPr>
          <p:cNvPr id="161" name="Google Shape;161;p6"/>
          <p:cNvSpPr txBox="1"/>
          <p:nvPr/>
        </p:nvSpPr>
        <p:spPr>
          <a:xfrm>
            <a:off x="423862" y="1314450"/>
            <a:ext cx="819943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identificadores (</a:t>
            </a:r>
            <a:r>
              <a:rPr b="1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permiten individualizar de forma única a un elemento HTML. </a:t>
            </a:r>
            <a:endParaRPr/>
          </a:p>
        </p:txBody>
      </p:sp>
      <p:sp>
        <p:nvSpPr>
          <p:cNvPr id="162" name="Google Shape;162;p6"/>
          <p:cNvSpPr txBox="1"/>
          <p:nvPr/>
        </p:nvSpPr>
        <p:spPr>
          <a:xfrm>
            <a:off x="471487" y="3395662"/>
            <a:ext cx="8199437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 clases (</a:t>
            </a:r>
            <a:r>
              <a:rPr b="1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pueden repetirse en un documento HTML. La idea es establecer géneros o tipos de etiquetas, a los que les asociemos características comunes.</a:t>
            </a:r>
            <a:endParaRPr/>
          </a:p>
        </p:txBody>
      </p:sp>
      <p:pic>
        <p:nvPicPr>
          <p:cNvPr id="163" name="Google Shape;16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2025" y="4441825"/>
            <a:ext cx="6715125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437" y="2051050"/>
            <a:ext cx="6705600" cy="113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6"/>
          <p:cNvSpPr txBox="1"/>
          <p:nvPr/>
        </p:nvSpPr>
        <p:spPr>
          <a:xfrm>
            <a:off x="1450975" y="2051050"/>
            <a:ext cx="1039812" cy="215900"/>
          </a:xfrm>
          <a:prstGeom prst="rect">
            <a:avLst/>
          </a:prstGeom>
          <a:solidFill>
            <a:srgbClr val="FFFF00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1817687" y="2495550"/>
            <a:ext cx="1163637" cy="215900"/>
          </a:xfrm>
          <a:prstGeom prst="rect">
            <a:avLst/>
          </a:prstGeom>
          <a:solidFill>
            <a:srgbClr val="FFFF00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1847850" y="4681537"/>
            <a:ext cx="2111375" cy="215900"/>
          </a:xfrm>
          <a:prstGeom prst="rect">
            <a:avLst/>
          </a:prstGeom>
          <a:solidFill>
            <a:srgbClr val="FFFF00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1847850" y="5138737"/>
            <a:ext cx="2051050" cy="215900"/>
          </a:xfrm>
          <a:prstGeom prst="rect">
            <a:avLst/>
          </a:prstGeom>
          <a:solidFill>
            <a:srgbClr val="FFFF00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73" name="Google Shape;173;p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 txBox="1"/>
          <p:nvPr/>
        </p:nvSpPr>
        <p:spPr>
          <a:xfrm>
            <a:off x="1144587" y="185737"/>
            <a:ext cx="47148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Etiquetas HTML para texto</a:t>
            </a:r>
            <a:endParaRPr/>
          </a:p>
        </p:txBody>
      </p:sp>
      <p:cxnSp>
        <p:nvCxnSpPr>
          <p:cNvPr id="175" name="Google Shape;175;p7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76" name="Google Shape;176;p7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77" name="Google Shape;177;p7"/>
          <p:cNvSpPr txBox="1"/>
          <p:nvPr/>
        </p:nvSpPr>
        <p:spPr>
          <a:xfrm>
            <a:off x="7999412" y="85725"/>
            <a:ext cx="917575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</a:t>
            </a:r>
            <a:endParaRPr/>
          </a:p>
        </p:txBody>
      </p:sp>
      <p:sp>
        <p:nvSpPr>
          <p:cNvPr id="178" name="Google Shape;178;p7"/>
          <p:cNvSpPr txBox="1"/>
          <p:nvPr/>
        </p:nvSpPr>
        <p:spPr>
          <a:xfrm>
            <a:off x="593725" y="1252537"/>
            <a:ext cx="8323262" cy="64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Existe una serie de etiquetas HTML simples para seleccionar un fragmento de texto y dotarlo de un significado especial:</a:t>
            </a:r>
            <a:endParaRPr/>
          </a:p>
        </p:txBody>
      </p:sp>
      <p:pic>
        <p:nvPicPr>
          <p:cNvPr id="179" name="Google Shape;17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0587" y="2103437"/>
            <a:ext cx="7856537" cy="327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84" name="Google Shape;184;p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8"/>
          <p:cNvSpPr txBox="1"/>
          <p:nvPr/>
        </p:nvSpPr>
        <p:spPr>
          <a:xfrm>
            <a:off x="1144587" y="185737"/>
            <a:ext cx="619283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Etiquetas HTML para agrupaciones</a:t>
            </a:r>
            <a:endParaRPr/>
          </a:p>
        </p:txBody>
      </p:sp>
      <p:cxnSp>
        <p:nvCxnSpPr>
          <p:cNvPr id="186" name="Google Shape;186;p8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87" name="Google Shape;187;p8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88" name="Google Shape;188;p8"/>
          <p:cNvSpPr txBox="1"/>
          <p:nvPr/>
        </p:nvSpPr>
        <p:spPr>
          <a:xfrm>
            <a:off x="7999412" y="85725"/>
            <a:ext cx="917575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</a:t>
            </a:r>
            <a:endParaRPr/>
          </a:p>
        </p:txBody>
      </p:sp>
      <p:sp>
        <p:nvSpPr>
          <p:cNvPr id="189" name="Google Shape;189;p8"/>
          <p:cNvSpPr txBox="1"/>
          <p:nvPr/>
        </p:nvSpPr>
        <p:spPr>
          <a:xfrm>
            <a:off x="593725" y="1225550"/>
            <a:ext cx="8323262" cy="3698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 siguientes etiquetas se utilizan para agrupar información:</a:t>
            </a:r>
            <a:endParaRPr/>
          </a:p>
        </p:txBody>
      </p:sp>
      <p:graphicFrame>
        <p:nvGraphicFramePr>
          <p:cNvPr id="190" name="Google Shape;190;p8"/>
          <p:cNvGraphicFramePr/>
          <p:nvPr/>
        </p:nvGraphicFramePr>
        <p:xfrm>
          <a:off x="669925" y="17764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{57085603-D56F-42A4-A609-E05E9A4E6403}</a:tableStyleId>
              </a:tblPr>
              <a:tblGrid>
                <a:gridCol w="1270000"/>
                <a:gridCol w="979475"/>
                <a:gridCol w="5554650"/>
              </a:tblGrid>
              <a:tr h="33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Etiqueta</a:t>
                      </a:r>
                      <a:endParaRPr/>
                    </a:p>
                  </a:txBody>
                  <a:tcPr marT="60925" marB="60925" marR="60975" marL="609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Atributos</a:t>
                      </a:r>
                      <a:endParaRPr/>
                    </a:p>
                  </a:txBody>
                  <a:tcPr marT="60925" marB="60925" marR="60975" marL="609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Descripción</a:t>
                      </a:r>
                      <a:endParaRPr/>
                    </a:p>
                  </a:txBody>
                  <a:tcPr marT="60925" marB="60925" marR="60975" marL="609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&lt;div&gt;</a:t>
                      </a:r>
                      <a:endParaRPr/>
                    </a:p>
                  </a:txBody>
                  <a:tcPr marT="60925" marB="60925" marR="60975" marL="609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25" marB="60925" marR="60975" marL="609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 o división utilizado para agrupar varias etiquetas HTML.</a:t>
                      </a:r>
                      <a:endParaRPr/>
                    </a:p>
                  </a:txBody>
                  <a:tcPr marT="60925" marB="60925" marR="60975" marL="609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&lt;p&gt;</a:t>
                      </a:r>
                      <a:endParaRPr/>
                    </a:p>
                  </a:txBody>
                  <a:tcPr marT="60925" marB="60925" marR="60975" marL="609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25" marB="60925" marR="60975" marL="609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Define un párrafo de texto (</a:t>
                      </a:r>
                      <a:r>
                        <a:rPr b="0" i="1" lang="en-US" sz="1400" u="sng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 sus etiquetas HTML para texto</a:t>
                      </a: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).</a:t>
                      </a:r>
                      <a:endParaRPr/>
                    </a:p>
                  </a:txBody>
                  <a:tcPr marT="60925" marB="60925" marR="60975" marL="609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&lt;pre&gt;</a:t>
                      </a:r>
                      <a:endParaRPr/>
                    </a:p>
                  </a:txBody>
                  <a:tcPr marT="60925" marB="60925" marR="60975" marL="609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25" marB="60925" marR="60975" marL="609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Establece un texto preformateado (</a:t>
                      </a:r>
                      <a:r>
                        <a:rPr b="0" i="1" lang="en-US" sz="1400" u="sng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respetando espacios y saltos de línea</a:t>
                      </a: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).</a:t>
                      </a:r>
                      <a:endParaRPr/>
                    </a:p>
                  </a:txBody>
                  <a:tcPr marT="60925" marB="60925" marR="60975" marL="609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&lt;blockquote&gt;</a:t>
                      </a:r>
                      <a:endParaRPr/>
                    </a:p>
                  </a:txBody>
                  <a:tcPr marT="60925" marB="60925" marR="60975" marL="609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cite</a:t>
                      </a:r>
                      <a:endParaRPr/>
                    </a:p>
                  </a:txBody>
                  <a:tcPr marT="60925" marB="60925" marR="60975" marL="609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Agrupa información y características de una cita (</a:t>
                      </a:r>
                      <a:r>
                        <a:rPr b="0" i="1" lang="en-US" sz="1400" u="sng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autor, fuente, etc...</a:t>
                      </a: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).</a:t>
                      </a:r>
                      <a:endParaRPr/>
                    </a:p>
                  </a:txBody>
                  <a:tcPr marT="60925" marB="60925" marR="60975" marL="609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&lt;main&gt;</a:t>
                      </a:r>
                      <a:endParaRPr/>
                    </a:p>
                  </a:txBody>
                  <a:tcPr marT="60925" marB="60925" marR="60975" marL="609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25" marB="60925" marR="60975" marL="609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Contenedor para englobar la parte principal de la página.</a:t>
                      </a:r>
                      <a:endParaRPr/>
                    </a:p>
                  </a:txBody>
                  <a:tcPr marT="60925" marB="60925" marR="60975" marL="609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&lt;hr&gt;</a:t>
                      </a:r>
                      <a:endParaRPr/>
                    </a:p>
                  </a:txBody>
                  <a:tcPr marT="60925" marB="60925" marR="60975" marL="609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25" marB="60925" marR="60975" marL="609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Indica una separación temática del texto. Es una línea.</a:t>
                      </a:r>
                      <a:endParaRPr/>
                    </a:p>
                  </a:txBody>
                  <a:tcPr marT="60925" marB="60925" marR="60975" marL="609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95" name="Google Shape;195;p9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9"/>
          <p:cNvSpPr txBox="1"/>
          <p:nvPr/>
        </p:nvSpPr>
        <p:spPr>
          <a:xfrm>
            <a:off x="1144587" y="185737"/>
            <a:ext cx="42989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Enlaces o Hipervínculos</a:t>
            </a:r>
            <a:endParaRPr/>
          </a:p>
        </p:txBody>
      </p:sp>
      <p:cxnSp>
        <p:nvCxnSpPr>
          <p:cNvPr id="197" name="Google Shape;197;p9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98" name="Google Shape;198;p9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99" name="Google Shape;199;p9"/>
          <p:cNvSpPr txBox="1"/>
          <p:nvPr/>
        </p:nvSpPr>
        <p:spPr>
          <a:xfrm>
            <a:off x="7999412" y="85725"/>
            <a:ext cx="917575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</a:t>
            </a:r>
            <a:endParaRPr/>
          </a:p>
        </p:txBody>
      </p:sp>
      <p:sp>
        <p:nvSpPr>
          <p:cNvPr id="200" name="Google Shape;200;p9"/>
          <p:cNvSpPr txBox="1"/>
          <p:nvPr/>
        </p:nvSpPr>
        <p:spPr>
          <a:xfrm>
            <a:off x="593725" y="1265237"/>
            <a:ext cx="8323262" cy="9239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etiqueta </a:t>
            </a:r>
            <a:r>
              <a:rPr b="0" i="0" lang="en-US" sz="1800" u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&lt;a&gt;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utiliza para crear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enlaces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vínculos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hipervínculos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La idea es establecer una referencia a una dirección o URL donde está alojado ese otro documento de destino.</a:t>
            </a:r>
            <a:endParaRPr/>
          </a:p>
        </p:txBody>
      </p:sp>
      <p:graphicFrame>
        <p:nvGraphicFramePr>
          <p:cNvPr id="201" name="Google Shape;201;p9"/>
          <p:cNvGraphicFramePr/>
          <p:nvPr/>
        </p:nvGraphicFramePr>
        <p:xfrm>
          <a:off x="577850" y="28241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{57085603-D56F-42A4-A609-E05E9A4E6403}</a:tableStyleId>
              </a:tblPr>
              <a:tblGrid>
                <a:gridCol w="979475"/>
                <a:gridCol w="917575"/>
                <a:gridCol w="6364275"/>
              </a:tblGrid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Atributo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Valor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Descripción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href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1400"/>
                        <a:buFont typeface="Calibri"/>
                        <a:buNone/>
                      </a:pPr>
                      <a:r>
                        <a:rPr b="0" i="1" lang="en-US" sz="1400" u="sng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URL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Enlace al documento que se quiere cargar. Atributo obligatorio.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download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1400"/>
                        <a:buFont typeface="Calibri"/>
                        <a:buNone/>
                      </a:pPr>
                      <a:r>
                        <a:rPr b="0" i="1" lang="en-US" sz="1400" u="sng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nombre.ext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Descarga el documento del href en lugar de abrirlo. Si se indica valor, se renombra.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_blank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Abre el enlace en una nueva pestaña.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_self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Abre el enlace en la pestaña o &lt;iframe&gt; actual.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_parent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Abre el enlace en el documento padre.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_top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Abre el enlace en el documento raíz (padre global).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1400"/>
                        <a:buFont typeface="Calibri"/>
                        <a:buNone/>
                      </a:pPr>
                      <a:r>
                        <a:rPr b="0" i="1" lang="en-US" sz="1400" u="sng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Abre el enlace en el &lt;iframe&gt; con el nombre especificado.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alternate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Indica que el enlace es una versión alternativa (idioma o formato diferente).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Indica que el enlace es la web del autor de la página actual.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bookmark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Indica que el enlace es un permalink a la sección de la página actual.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help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Indica que el enlace ofrece ayuda para la página actual.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license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Indica que la página actual está cubierta por la licencia referenciada.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02" name="Google Shape;20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2025" y="2295525"/>
            <a:ext cx="5857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07" name="Google Shape;207;p10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0"/>
          <p:cNvSpPr txBox="1"/>
          <p:nvPr/>
        </p:nvSpPr>
        <p:spPr>
          <a:xfrm>
            <a:off x="1144587" y="185737"/>
            <a:ext cx="4797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Enlaces o Hipervínculos…</a:t>
            </a:r>
            <a:endParaRPr/>
          </a:p>
        </p:txBody>
      </p:sp>
      <p:cxnSp>
        <p:nvCxnSpPr>
          <p:cNvPr id="209" name="Google Shape;209;p10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10" name="Google Shape;210;p10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211" name="Google Shape;211;p10"/>
          <p:cNvSpPr txBox="1"/>
          <p:nvPr/>
        </p:nvSpPr>
        <p:spPr>
          <a:xfrm>
            <a:off x="7999412" y="85725"/>
            <a:ext cx="917575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</a:t>
            </a:r>
            <a:endParaRPr/>
          </a:p>
        </p:txBody>
      </p:sp>
      <p:graphicFrame>
        <p:nvGraphicFramePr>
          <p:cNvPr id="212" name="Google Shape;212;p10"/>
          <p:cNvGraphicFramePr/>
          <p:nvPr/>
        </p:nvGraphicFramePr>
        <p:xfrm>
          <a:off x="471487" y="14208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{57085603-D56F-42A4-A609-E05E9A4E6403}</a:tableStyleId>
              </a:tblPr>
              <a:tblGrid>
                <a:gridCol w="979475"/>
                <a:gridCol w="917575"/>
                <a:gridCol w="6364275"/>
              </a:tblGrid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Atributo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Valor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Descripción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prev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Indica que el enlace es la parte previa del documento actual.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next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Indica que el enlace es la parte siguiente del documento actual.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nofollow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Indica que el enlace no está supervisado por el autor del sitio web.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noreferrer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Indica al navegador que no envíe la página de donde se procede al visitar el enlace.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prefetch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Indica al navegador que precargue el enlace, ya que el usuario hará clic en él.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search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Indica que el enlace es una página para realizar búsquedas.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tag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Asocia una etiqueta al enlace especificado, en relación al documento actual.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hreflang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1400"/>
                        <a:buFont typeface="Calibri"/>
                        <a:buNone/>
                      </a:pPr>
                      <a:r>
                        <a:rPr b="0" i="1" lang="en-US" sz="1400" u="sng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Idioma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6BBC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sng">
                          <a:solidFill>
                            <a:srgbClr val="276BBC"/>
                          </a:solidFill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Código ISO 639-1</a:t>
                      </a: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del idioma del documento.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1400"/>
                        <a:buFont typeface="Calibri"/>
                        <a:buNone/>
                      </a:pPr>
                      <a:r>
                        <a:rPr b="0" i="1" lang="en-US" sz="1400" u="sng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6BBC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sng">
                          <a:solidFill>
                            <a:srgbClr val="276BBC"/>
                          </a:solidFill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Tipo de contenido MIME</a:t>
                      </a: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al que se enlaza. Atributo no obligatorio.</a:t>
                      </a:r>
                      <a:endParaRPr/>
                    </a:p>
                  </a:txBody>
                  <a:tcPr marT="20125" marB="20125" marR="20125" marL="20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17" name="Google Shape;217;p11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1"/>
          <p:cNvSpPr txBox="1"/>
          <p:nvPr/>
        </p:nvSpPr>
        <p:spPr>
          <a:xfrm>
            <a:off x="1144587" y="185737"/>
            <a:ext cx="4000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Comentarios en HTML</a:t>
            </a:r>
            <a:endParaRPr/>
          </a:p>
        </p:txBody>
      </p:sp>
      <p:cxnSp>
        <p:nvCxnSpPr>
          <p:cNvPr id="219" name="Google Shape;219;p11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20" name="Google Shape;220;p11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221" name="Google Shape;221;p11"/>
          <p:cNvSpPr txBox="1"/>
          <p:nvPr/>
        </p:nvSpPr>
        <p:spPr>
          <a:xfrm>
            <a:off x="7999412" y="85725"/>
            <a:ext cx="917575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</a:t>
            </a:r>
            <a:endParaRPr/>
          </a:p>
        </p:txBody>
      </p:sp>
      <p:pic>
        <p:nvPicPr>
          <p:cNvPr id="222" name="Google Shape;22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7112" y="2663825"/>
            <a:ext cx="623887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1"/>
          <p:cNvSpPr txBox="1"/>
          <p:nvPr/>
        </p:nvSpPr>
        <p:spPr>
          <a:xfrm>
            <a:off x="593725" y="1403350"/>
            <a:ext cx="8323262" cy="9239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Como se puede ver, para introducir estos comentarios en el código HTML, basta con escribir los fragmentos de texto </a:t>
            </a:r>
            <a:r>
              <a:rPr b="1" i="0" lang="en-US" sz="1800" u="none">
                <a:solidFill>
                  <a:srgbClr val="3B63DB"/>
                </a:solidFill>
                <a:latin typeface="Arial"/>
                <a:ea typeface="Arial"/>
                <a:cs typeface="Arial"/>
                <a:sym typeface="Arial"/>
              </a:rPr>
              <a:t>&lt;!--</a:t>
            </a:r>
            <a:r>
              <a:rPr b="0" i="0" lang="en-US" sz="18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 y </a:t>
            </a:r>
            <a:r>
              <a:rPr b="1" i="0" lang="en-US" sz="1800" u="none">
                <a:solidFill>
                  <a:srgbClr val="3B63DB"/>
                </a:solidFill>
                <a:latin typeface="Arial"/>
                <a:ea typeface="Arial"/>
                <a:cs typeface="Arial"/>
                <a:sym typeface="Arial"/>
              </a:rPr>
              <a:t>--&gt;</a:t>
            </a:r>
            <a:r>
              <a:rPr b="0" i="0" lang="en-US" sz="18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 entre el comentario en cuestión que queramos incluir.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28" name="Google Shape;228;p1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2"/>
          <p:cNvSpPr txBox="1"/>
          <p:nvPr/>
        </p:nvSpPr>
        <p:spPr>
          <a:xfrm>
            <a:off x="1144587" y="185737"/>
            <a:ext cx="57086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Algunos Elementos input HTML </a:t>
            </a:r>
            <a:endParaRPr/>
          </a:p>
        </p:txBody>
      </p:sp>
      <p:cxnSp>
        <p:nvCxnSpPr>
          <p:cNvPr id="230" name="Google Shape;230;p12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31" name="Google Shape;231;p12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232" name="Google Shape;232;p12"/>
          <p:cNvSpPr txBox="1"/>
          <p:nvPr/>
        </p:nvSpPr>
        <p:spPr>
          <a:xfrm>
            <a:off x="715962" y="1252537"/>
            <a:ext cx="813752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Botón (</a:t>
            </a:r>
            <a:r>
              <a:rPr b="1" i="0" lang="en-US" sz="1800" u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type=“button”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33" name="Google Shape;233;p12"/>
          <p:cNvSpPr txBox="1"/>
          <p:nvPr/>
        </p:nvSpPr>
        <p:spPr>
          <a:xfrm>
            <a:off x="981075" y="1749425"/>
            <a:ext cx="3905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a)</a:t>
            </a:r>
            <a:endParaRPr/>
          </a:p>
        </p:txBody>
      </p:sp>
      <p:sp>
        <p:nvSpPr>
          <p:cNvPr id="234" name="Google Shape;234;p12"/>
          <p:cNvSpPr txBox="1"/>
          <p:nvPr/>
        </p:nvSpPr>
        <p:spPr>
          <a:xfrm>
            <a:off x="1011237" y="2212975"/>
            <a:ext cx="39052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b)</a:t>
            </a:r>
            <a:endParaRPr/>
          </a:p>
        </p:txBody>
      </p:sp>
      <p:sp>
        <p:nvSpPr>
          <p:cNvPr id="235" name="Google Shape;235;p12"/>
          <p:cNvSpPr txBox="1"/>
          <p:nvPr/>
        </p:nvSpPr>
        <p:spPr>
          <a:xfrm>
            <a:off x="7999412" y="85725"/>
            <a:ext cx="917575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</a:t>
            </a:r>
            <a:endParaRPr/>
          </a:p>
        </p:txBody>
      </p:sp>
      <p:pic>
        <p:nvPicPr>
          <p:cNvPr descr="Captura de pantalla de un celular&#10;&#10;Descripción generada automáticamente" id="236" name="Google Shape;23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112" y="3013075"/>
            <a:ext cx="5715000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3825" y="1847850"/>
            <a:ext cx="6477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01762" y="2297112"/>
            <a:ext cx="66008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2"/>
          <p:cNvSpPr txBox="1"/>
          <p:nvPr/>
        </p:nvSpPr>
        <p:spPr>
          <a:xfrm>
            <a:off x="3286125" y="3013075"/>
            <a:ext cx="1592262" cy="227012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2"/>
          <p:cNvSpPr txBox="1"/>
          <p:nvPr/>
        </p:nvSpPr>
        <p:spPr>
          <a:xfrm>
            <a:off x="2062162" y="1895475"/>
            <a:ext cx="1223962" cy="219075"/>
          </a:xfrm>
          <a:prstGeom prst="rect">
            <a:avLst/>
          </a:prstGeom>
          <a:solidFill>
            <a:srgbClr val="FFFF00">
              <a:alpha val="2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2"/>
          <p:cNvSpPr txBox="1"/>
          <p:nvPr/>
        </p:nvSpPr>
        <p:spPr>
          <a:xfrm>
            <a:off x="2185987" y="2320925"/>
            <a:ext cx="1223962" cy="219075"/>
          </a:xfrm>
          <a:prstGeom prst="rect">
            <a:avLst/>
          </a:prstGeom>
          <a:solidFill>
            <a:srgbClr val="FFFF00">
              <a:alpha val="2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46" name="Google Shape;246;p1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3"/>
          <p:cNvSpPr txBox="1"/>
          <p:nvPr/>
        </p:nvSpPr>
        <p:spPr>
          <a:xfrm>
            <a:off x="1144587" y="185737"/>
            <a:ext cx="59753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Algunos Elementos input HTML…</a:t>
            </a:r>
            <a:endParaRPr/>
          </a:p>
        </p:txBody>
      </p:sp>
      <p:cxnSp>
        <p:nvCxnSpPr>
          <p:cNvPr id="248" name="Google Shape;248;p13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49" name="Google Shape;249;p13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250" name="Google Shape;250;p13"/>
          <p:cNvSpPr txBox="1"/>
          <p:nvPr/>
        </p:nvSpPr>
        <p:spPr>
          <a:xfrm>
            <a:off x="627062" y="1260475"/>
            <a:ext cx="406717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Ingreso de texto (</a:t>
            </a:r>
            <a:r>
              <a:rPr b="1" i="0" lang="en-US" sz="1800" u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type=“text”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51" name="Google Shape;251;p13"/>
          <p:cNvSpPr txBox="1"/>
          <p:nvPr/>
        </p:nvSpPr>
        <p:spPr>
          <a:xfrm>
            <a:off x="7264400" y="1728787"/>
            <a:ext cx="439737" cy="228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3"/>
          <p:cNvSpPr txBox="1"/>
          <p:nvPr/>
        </p:nvSpPr>
        <p:spPr>
          <a:xfrm>
            <a:off x="6958012" y="1957387"/>
            <a:ext cx="439737" cy="228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3"/>
          <p:cNvSpPr txBox="1"/>
          <p:nvPr/>
        </p:nvSpPr>
        <p:spPr>
          <a:xfrm>
            <a:off x="7999412" y="85725"/>
            <a:ext cx="917575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</a:t>
            </a:r>
            <a:endParaRPr/>
          </a:p>
        </p:txBody>
      </p:sp>
      <p:pic>
        <p:nvPicPr>
          <p:cNvPr id="254" name="Google Shape;25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2337" y="3900487"/>
            <a:ext cx="78105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3"/>
          <p:cNvSpPr txBox="1"/>
          <p:nvPr/>
        </p:nvSpPr>
        <p:spPr>
          <a:xfrm>
            <a:off x="627062" y="3365500"/>
            <a:ext cx="38227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Radio Button (</a:t>
            </a:r>
            <a:r>
              <a:rPr b="1" i="0" lang="en-US" sz="1800" u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type=“radio”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pic>
        <p:nvPicPr>
          <p:cNvPr descr="Imagen que contiene pájaro&#10;&#10;Descripción generada automáticamente" id="256" name="Google Shape;25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0925" y="5003800"/>
            <a:ext cx="2486025" cy="12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3"/>
          <p:cNvSpPr txBox="1"/>
          <p:nvPr/>
        </p:nvSpPr>
        <p:spPr>
          <a:xfrm>
            <a:off x="1635125" y="4164012"/>
            <a:ext cx="1162050" cy="660400"/>
          </a:xfrm>
          <a:prstGeom prst="rect">
            <a:avLst/>
          </a:prstGeom>
          <a:solidFill>
            <a:srgbClr val="FFFF00">
              <a:alpha val="2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3"/>
          <p:cNvSpPr txBox="1"/>
          <p:nvPr/>
        </p:nvSpPr>
        <p:spPr>
          <a:xfrm>
            <a:off x="2862262" y="4138612"/>
            <a:ext cx="1709737" cy="685800"/>
          </a:xfrm>
          <a:prstGeom prst="rect">
            <a:avLst/>
          </a:prstGeom>
          <a:solidFill>
            <a:srgbClr val="FFFF00">
              <a:alpha val="2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2337" y="1695450"/>
            <a:ext cx="56388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3"/>
          <p:cNvSpPr txBox="1"/>
          <p:nvPr/>
        </p:nvSpPr>
        <p:spPr>
          <a:xfrm>
            <a:off x="2343150" y="1704975"/>
            <a:ext cx="1071562" cy="228600"/>
          </a:xfrm>
          <a:prstGeom prst="rect">
            <a:avLst/>
          </a:prstGeom>
          <a:solidFill>
            <a:srgbClr val="FFFF00">
              <a:alpha val="2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3"/>
          <p:cNvSpPr txBox="1"/>
          <p:nvPr/>
        </p:nvSpPr>
        <p:spPr>
          <a:xfrm>
            <a:off x="2495550" y="1935162"/>
            <a:ext cx="1071562" cy="228600"/>
          </a:xfrm>
          <a:prstGeom prst="rect">
            <a:avLst/>
          </a:prstGeom>
          <a:solidFill>
            <a:srgbClr val="FFFF00">
              <a:alpha val="2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que contiene captura de pantalla&#10;&#10;Descripción generada automáticamente" id="262" name="Google Shape;262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6312" y="2336800"/>
            <a:ext cx="3124200" cy="7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67" name="Google Shape;267;p1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4"/>
          <p:cNvSpPr txBox="1"/>
          <p:nvPr/>
        </p:nvSpPr>
        <p:spPr>
          <a:xfrm>
            <a:off x="1144587" y="185737"/>
            <a:ext cx="59753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Algunos Elementos input HTML…</a:t>
            </a:r>
            <a:endParaRPr/>
          </a:p>
        </p:txBody>
      </p:sp>
      <p:cxnSp>
        <p:nvCxnSpPr>
          <p:cNvPr id="269" name="Google Shape;269;p14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70" name="Google Shape;270;p14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271" name="Google Shape;271;p14"/>
          <p:cNvSpPr txBox="1"/>
          <p:nvPr/>
        </p:nvSpPr>
        <p:spPr>
          <a:xfrm>
            <a:off x="627062" y="1260475"/>
            <a:ext cx="406717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Checkbox (</a:t>
            </a:r>
            <a:r>
              <a:rPr b="1" i="0" lang="en-US" sz="1800" u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type=“checkbox”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72" name="Google Shape;272;p14"/>
          <p:cNvSpPr txBox="1"/>
          <p:nvPr/>
        </p:nvSpPr>
        <p:spPr>
          <a:xfrm>
            <a:off x="7264400" y="1728787"/>
            <a:ext cx="439737" cy="228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4"/>
          <p:cNvSpPr txBox="1"/>
          <p:nvPr/>
        </p:nvSpPr>
        <p:spPr>
          <a:xfrm>
            <a:off x="6958012" y="1957387"/>
            <a:ext cx="439737" cy="228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4"/>
          <p:cNvSpPr txBox="1"/>
          <p:nvPr/>
        </p:nvSpPr>
        <p:spPr>
          <a:xfrm>
            <a:off x="7999412" y="85725"/>
            <a:ext cx="917575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</a:t>
            </a:r>
            <a:endParaRPr/>
          </a:p>
        </p:txBody>
      </p:sp>
      <p:pic>
        <p:nvPicPr>
          <p:cNvPr id="275" name="Google Shape;27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3612" y="1712912"/>
            <a:ext cx="6638925" cy="9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4"/>
          <p:cNvSpPr txBox="1"/>
          <p:nvPr/>
        </p:nvSpPr>
        <p:spPr>
          <a:xfrm>
            <a:off x="1682750" y="1960562"/>
            <a:ext cx="1420812" cy="685800"/>
          </a:xfrm>
          <a:prstGeom prst="rect">
            <a:avLst/>
          </a:prstGeom>
          <a:solidFill>
            <a:srgbClr val="FFFF00">
              <a:alpha val="2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8700" y="2789237"/>
            <a:ext cx="205740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4"/>
          <p:cNvSpPr txBox="1"/>
          <p:nvPr/>
        </p:nvSpPr>
        <p:spPr>
          <a:xfrm>
            <a:off x="627062" y="4205287"/>
            <a:ext cx="406717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Password (</a:t>
            </a:r>
            <a:r>
              <a:rPr b="1" i="0" lang="en-US" sz="1800" u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type=“password”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pic>
        <p:nvPicPr>
          <p:cNvPr id="279" name="Google Shape;27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9962" y="4706937"/>
            <a:ext cx="51054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4"/>
          <p:cNvSpPr txBox="1"/>
          <p:nvPr/>
        </p:nvSpPr>
        <p:spPr>
          <a:xfrm>
            <a:off x="2981325" y="4710112"/>
            <a:ext cx="1420812" cy="312737"/>
          </a:xfrm>
          <a:prstGeom prst="rect">
            <a:avLst/>
          </a:prstGeom>
          <a:solidFill>
            <a:srgbClr val="FFFF00">
              <a:alpha val="2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" name="Google Shape;28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0925" y="5273675"/>
            <a:ext cx="306705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86" name="Google Shape;286;p1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5"/>
          <p:cNvSpPr txBox="1"/>
          <p:nvPr/>
        </p:nvSpPr>
        <p:spPr>
          <a:xfrm>
            <a:off x="1144587" y="185737"/>
            <a:ext cx="45989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Algunos Elementos HTML</a:t>
            </a:r>
            <a:endParaRPr/>
          </a:p>
        </p:txBody>
      </p:sp>
      <p:cxnSp>
        <p:nvCxnSpPr>
          <p:cNvPr id="288" name="Google Shape;288;p15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89" name="Google Shape;289;p15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290" name="Google Shape;290;p15"/>
          <p:cNvSpPr txBox="1"/>
          <p:nvPr/>
        </p:nvSpPr>
        <p:spPr>
          <a:xfrm>
            <a:off x="715962" y="1225550"/>
            <a:ext cx="81375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Imagen</a:t>
            </a:r>
            <a:endParaRPr/>
          </a:p>
        </p:txBody>
      </p:sp>
      <p:sp>
        <p:nvSpPr>
          <p:cNvPr id="291" name="Google Shape;291;p15"/>
          <p:cNvSpPr txBox="1"/>
          <p:nvPr/>
        </p:nvSpPr>
        <p:spPr>
          <a:xfrm>
            <a:off x="7999412" y="85725"/>
            <a:ext cx="917575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</a:t>
            </a:r>
            <a:endParaRPr/>
          </a:p>
        </p:txBody>
      </p:sp>
      <p:pic>
        <p:nvPicPr>
          <p:cNvPr id="292" name="Google Shape;29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700" y="2014537"/>
            <a:ext cx="1714500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7112" y="1757362"/>
            <a:ext cx="43053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5"/>
          <p:cNvSpPr txBox="1"/>
          <p:nvPr/>
        </p:nvSpPr>
        <p:spPr>
          <a:xfrm>
            <a:off x="715962" y="3243262"/>
            <a:ext cx="81375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Títulos</a:t>
            </a:r>
            <a:endParaRPr/>
          </a:p>
        </p:txBody>
      </p:sp>
      <p:pic>
        <p:nvPicPr>
          <p:cNvPr id="295" name="Google Shape;29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25812" y="3687762"/>
            <a:ext cx="1458912" cy="2503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8687" y="3649662"/>
            <a:ext cx="1914525" cy="141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01" name="Google Shape;301;p1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6"/>
          <p:cNvSpPr txBox="1"/>
          <p:nvPr/>
        </p:nvSpPr>
        <p:spPr>
          <a:xfrm>
            <a:off x="1144587" y="185737"/>
            <a:ext cx="45989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Algunos Elementos HTML</a:t>
            </a:r>
            <a:endParaRPr/>
          </a:p>
        </p:txBody>
      </p:sp>
      <p:cxnSp>
        <p:nvCxnSpPr>
          <p:cNvPr id="303" name="Google Shape;303;p16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04" name="Google Shape;304;p16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305" name="Google Shape;305;p16"/>
          <p:cNvSpPr txBox="1"/>
          <p:nvPr/>
        </p:nvSpPr>
        <p:spPr>
          <a:xfrm>
            <a:off x="715962" y="1225550"/>
            <a:ext cx="81375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Formato del texto</a:t>
            </a:r>
            <a:endParaRPr/>
          </a:p>
        </p:txBody>
      </p:sp>
      <p:sp>
        <p:nvSpPr>
          <p:cNvPr id="306" name="Google Shape;306;p16"/>
          <p:cNvSpPr txBox="1"/>
          <p:nvPr/>
        </p:nvSpPr>
        <p:spPr>
          <a:xfrm>
            <a:off x="7999412" y="85725"/>
            <a:ext cx="917575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</a:t>
            </a:r>
            <a:endParaRPr/>
          </a:p>
        </p:txBody>
      </p:sp>
      <p:pic>
        <p:nvPicPr>
          <p:cNvPr id="307" name="Google Shape;30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7112" y="4154487"/>
            <a:ext cx="497205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7112" y="1779587"/>
            <a:ext cx="7515225" cy="2085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6"/>
          <p:cNvSpPr txBox="1"/>
          <p:nvPr/>
        </p:nvSpPr>
        <p:spPr>
          <a:xfrm>
            <a:off x="1030287" y="1709737"/>
            <a:ext cx="1460500" cy="312737"/>
          </a:xfrm>
          <a:prstGeom prst="rect">
            <a:avLst/>
          </a:prstGeom>
          <a:solidFill>
            <a:srgbClr val="FFFF00">
              <a:alpha val="2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6"/>
          <p:cNvSpPr txBox="1"/>
          <p:nvPr/>
        </p:nvSpPr>
        <p:spPr>
          <a:xfrm>
            <a:off x="1041400" y="2193925"/>
            <a:ext cx="1460500" cy="312737"/>
          </a:xfrm>
          <a:prstGeom prst="rect">
            <a:avLst/>
          </a:prstGeom>
          <a:solidFill>
            <a:srgbClr val="FFFF00">
              <a:alpha val="2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6"/>
          <p:cNvSpPr txBox="1"/>
          <p:nvPr/>
        </p:nvSpPr>
        <p:spPr>
          <a:xfrm>
            <a:off x="1047750" y="2638425"/>
            <a:ext cx="1565275" cy="312737"/>
          </a:xfrm>
          <a:prstGeom prst="rect">
            <a:avLst/>
          </a:prstGeom>
          <a:solidFill>
            <a:srgbClr val="FFFF00">
              <a:alpha val="2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6"/>
          <p:cNvSpPr txBox="1"/>
          <p:nvPr/>
        </p:nvSpPr>
        <p:spPr>
          <a:xfrm>
            <a:off x="1100137" y="3082925"/>
            <a:ext cx="2676525" cy="312737"/>
          </a:xfrm>
          <a:prstGeom prst="rect">
            <a:avLst/>
          </a:prstGeom>
          <a:solidFill>
            <a:srgbClr val="FFFF00">
              <a:alpha val="2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6"/>
          <p:cNvSpPr txBox="1"/>
          <p:nvPr/>
        </p:nvSpPr>
        <p:spPr>
          <a:xfrm>
            <a:off x="1450975" y="3570287"/>
            <a:ext cx="1284287" cy="312737"/>
          </a:xfrm>
          <a:prstGeom prst="rect">
            <a:avLst/>
          </a:prstGeom>
          <a:solidFill>
            <a:srgbClr val="FFFF00">
              <a:alpha val="2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6"/>
          <p:cNvSpPr txBox="1"/>
          <p:nvPr/>
        </p:nvSpPr>
        <p:spPr>
          <a:xfrm>
            <a:off x="7269162" y="3570287"/>
            <a:ext cx="1096962" cy="312737"/>
          </a:xfrm>
          <a:prstGeom prst="rect">
            <a:avLst/>
          </a:prstGeom>
          <a:solidFill>
            <a:srgbClr val="FFFF00">
              <a:alpha val="2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19" name="Google Shape;319;p1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7"/>
          <p:cNvSpPr txBox="1"/>
          <p:nvPr/>
        </p:nvSpPr>
        <p:spPr>
          <a:xfrm>
            <a:off x="1144587" y="185737"/>
            <a:ext cx="45989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Algunos Elementos HTML</a:t>
            </a:r>
            <a:endParaRPr/>
          </a:p>
        </p:txBody>
      </p:sp>
      <p:cxnSp>
        <p:nvCxnSpPr>
          <p:cNvPr id="321" name="Google Shape;321;p17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22" name="Google Shape;322;p17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323" name="Google Shape;323;p17"/>
          <p:cNvSpPr txBox="1"/>
          <p:nvPr/>
        </p:nvSpPr>
        <p:spPr>
          <a:xfrm>
            <a:off x="715962" y="1287462"/>
            <a:ext cx="81375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Tabla</a:t>
            </a:r>
            <a:endParaRPr/>
          </a:p>
        </p:txBody>
      </p:sp>
      <p:pic>
        <p:nvPicPr>
          <p:cNvPr id="324" name="Google Shape;32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25750" y="1531937"/>
            <a:ext cx="226695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7"/>
          <p:cNvSpPr/>
          <p:nvPr/>
        </p:nvSpPr>
        <p:spPr>
          <a:xfrm>
            <a:off x="2643187" y="1901825"/>
            <a:ext cx="366712" cy="958850"/>
          </a:xfrm>
          <a:prstGeom prst="leftBrace">
            <a:avLst>
              <a:gd fmla="val 688" name="adj1"/>
              <a:gd fmla="val 50000" name="adj2"/>
            </a:avLst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2643187" y="3076575"/>
            <a:ext cx="366712" cy="957262"/>
          </a:xfrm>
          <a:prstGeom prst="leftBrace">
            <a:avLst>
              <a:gd fmla="val 690" name="adj1"/>
              <a:gd fmla="val 50000" name="adj2"/>
            </a:avLst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7"/>
          <p:cNvSpPr txBox="1"/>
          <p:nvPr/>
        </p:nvSpPr>
        <p:spPr>
          <a:xfrm>
            <a:off x="1370012" y="2130425"/>
            <a:ext cx="12731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Filas de encabezado</a:t>
            </a:r>
            <a:endParaRPr/>
          </a:p>
        </p:txBody>
      </p:sp>
      <p:sp>
        <p:nvSpPr>
          <p:cNvPr id="328" name="Google Shape;328;p17"/>
          <p:cNvSpPr txBox="1"/>
          <p:nvPr/>
        </p:nvSpPr>
        <p:spPr>
          <a:xfrm>
            <a:off x="1311275" y="3397250"/>
            <a:ext cx="12985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Filas de datos</a:t>
            </a:r>
            <a:endParaRPr/>
          </a:p>
        </p:txBody>
      </p:sp>
      <p:sp>
        <p:nvSpPr>
          <p:cNvPr id="329" name="Google Shape;329;p17"/>
          <p:cNvSpPr txBox="1"/>
          <p:nvPr/>
        </p:nvSpPr>
        <p:spPr>
          <a:xfrm>
            <a:off x="5270500" y="1719262"/>
            <a:ext cx="992187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Columnas</a:t>
            </a:r>
            <a:endParaRPr/>
          </a:p>
        </p:txBody>
      </p:sp>
      <p:cxnSp>
        <p:nvCxnSpPr>
          <p:cNvPr id="330" name="Google Shape;330;p17"/>
          <p:cNvCxnSpPr/>
          <p:nvPr/>
        </p:nvCxnSpPr>
        <p:spPr>
          <a:xfrm flipH="1">
            <a:off x="4878387" y="2027237"/>
            <a:ext cx="887412" cy="20955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31" name="Google Shape;331;p17"/>
          <p:cNvCxnSpPr/>
          <p:nvPr/>
        </p:nvCxnSpPr>
        <p:spPr>
          <a:xfrm flipH="1">
            <a:off x="5062537" y="2027237"/>
            <a:ext cx="703262" cy="47625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pic>
        <p:nvPicPr>
          <p:cNvPr id="332" name="Google Shape;33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0950" y="2271712"/>
            <a:ext cx="1881187" cy="79692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7"/>
          <p:cNvSpPr txBox="1"/>
          <p:nvPr/>
        </p:nvSpPr>
        <p:spPr>
          <a:xfrm>
            <a:off x="7999412" y="85725"/>
            <a:ext cx="917575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</a:t>
            </a:r>
            <a:endParaRPr/>
          </a:p>
        </p:txBody>
      </p:sp>
      <p:sp>
        <p:nvSpPr>
          <p:cNvPr id="334" name="Google Shape;334;p17"/>
          <p:cNvSpPr txBox="1"/>
          <p:nvPr/>
        </p:nvSpPr>
        <p:spPr>
          <a:xfrm>
            <a:off x="715962" y="4672012"/>
            <a:ext cx="2509837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Listas</a:t>
            </a:r>
            <a:endParaRPr/>
          </a:p>
        </p:txBody>
      </p:sp>
      <p:pic>
        <p:nvPicPr>
          <p:cNvPr id="335" name="Google Shape;33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4100" y="5100637"/>
            <a:ext cx="18288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06725" y="5172075"/>
            <a:ext cx="1162050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37437" y="5286375"/>
            <a:ext cx="1295400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78387" y="5040312"/>
            <a:ext cx="2314575" cy="1152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9" name="Google Shape;339;p17"/>
          <p:cNvCxnSpPr/>
          <p:nvPr/>
        </p:nvCxnSpPr>
        <p:spPr>
          <a:xfrm>
            <a:off x="4265612" y="4856162"/>
            <a:ext cx="0" cy="13874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40" name="Google Shape;340;p17"/>
          <p:cNvSpPr txBox="1"/>
          <p:nvPr/>
        </p:nvSpPr>
        <p:spPr>
          <a:xfrm>
            <a:off x="1052512" y="5045075"/>
            <a:ext cx="520700" cy="312737"/>
          </a:xfrm>
          <a:prstGeom prst="rect">
            <a:avLst/>
          </a:prstGeom>
          <a:solidFill>
            <a:srgbClr val="FFFF00">
              <a:alpha val="2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7"/>
          <p:cNvSpPr txBox="1"/>
          <p:nvPr/>
        </p:nvSpPr>
        <p:spPr>
          <a:xfrm>
            <a:off x="4892675" y="4981575"/>
            <a:ext cx="522287" cy="312737"/>
          </a:xfrm>
          <a:prstGeom prst="rect">
            <a:avLst/>
          </a:prstGeom>
          <a:solidFill>
            <a:srgbClr val="FFFF00">
              <a:alpha val="2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46" name="Google Shape;346;p1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8"/>
          <p:cNvSpPr txBox="1"/>
          <p:nvPr/>
        </p:nvSpPr>
        <p:spPr>
          <a:xfrm>
            <a:off x="1144587" y="185737"/>
            <a:ext cx="45989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Algunos Elementos HTML</a:t>
            </a:r>
            <a:endParaRPr/>
          </a:p>
        </p:txBody>
      </p:sp>
      <p:cxnSp>
        <p:nvCxnSpPr>
          <p:cNvPr id="348" name="Google Shape;348;p18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49" name="Google Shape;349;p18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350" name="Google Shape;350;p18"/>
          <p:cNvSpPr txBox="1"/>
          <p:nvPr/>
        </p:nvSpPr>
        <p:spPr>
          <a:xfrm>
            <a:off x="715962" y="1287462"/>
            <a:ext cx="81375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Separador (línea)</a:t>
            </a:r>
            <a:endParaRPr/>
          </a:p>
        </p:txBody>
      </p:sp>
      <p:sp>
        <p:nvSpPr>
          <p:cNvPr id="351" name="Google Shape;351;p18"/>
          <p:cNvSpPr txBox="1"/>
          <p:nvPr/>
        </p:nvSpPr>
        <p:spPr>
          <a:xfrm>
            <a:off x="7999412" y="85725"/>
            <a:ext cx="917575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</a:t>
            </a:r>
            <a:endParaRPr/>
          </a:p>
        </p:txBody>
      </p:sp>
      <p:pic>
        <p:nvPicPr>
          <p:cNvPr id="352" name="Google Shape;3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7112" y="2119312"/>
            <a:ext cx="60102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7112" y="1776412"/>
            <a:ext cx="50482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8"/>
          <p:cNvSpPr txBox="1"/>
          <p:nvPr/>
        </p:nvSpPr>
        <p:spPr>
          <a:xfrm>
            <a:off x="715962" y="2878137"/>
            <a:ext cx="81375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Separador (salto de línea)</a:t>
            </a:r>
            <a:endParaRPr/>
          </a:p>
        </p:txBody>
      </p:sp>
      <p:pic>
        <p:nvPicPr>
          <p:cNvPr id="355" name="Google Shape;35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8537" y="3362325"/>
            <a:ext cx="561975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Luis Gajardo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3" name="Version">
    <vt:i4>1</vt:i4>
  </property>
</Properties>
</file>