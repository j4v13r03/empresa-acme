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086600" cy="8686800"/>
  <p:embeddedFontLst>
    <p:embeddedFont>
      <p:font typeface="Arimo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tDl4D5C8bDcZOb6eFtiPqujsk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af519f5b_0_9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a8af519f5b_0_9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af519f5b_0_10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a8af519f5b_0_10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af519f5b_0_13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a8af519f5b_0_13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af519f5b_0_7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a8af519f5b_0_7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8af519f5b_0_2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a8af519f5b_0_2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50313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Proteger el Acceso a las Vistas Uso de Guards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958761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17c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100C1B"/>
                </a:solidFill>
              </a:rPr>
              <a:t>Comprender cómo Angular decide si un usuario puede o no acceder a una ruta.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144588" y="185738"/>
            <a:ext cx="56198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 title="1_YHTKGdxQANLCVLDITTxqI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300" y="2192685"/>
            <a:ext cx="5161399" cy="301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2" name="Google Shape;112;g3a8af519f5b_0_9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g3a8af519f5b_0_9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g3a8af519f5b_0_9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a8af519f5b_0_96"/>
          <p:cNvSpPr/>
          <p:nvPr/>
        </p:nvSpPr>
        <p:spPr>
          <a:xfrm>
            <a:off x="627050" y="1164583"/>
            <a:ext cx="8105700" cy="50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100C1B"/>
                </a:solidFill>
              </a:rPr>
              <a:t>¿Qué pasa si un usuario escribe directamente la URL?</a:t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http://localhost:4200/products</a:t>
            </a:r>
            <a:endParaRPr sz="1800">
              <a:solidFill>
                <a:srgbClr val="100C1B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http://localhost:4200/home</a:t>
            </a:r>
            <a:endParaRPr sz="1800">
              <a:solidFill>
                <a:srgbClr val="100C1B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•"/>
            </a:pPr>
            <a:r>
              <a:rPr lang="es-CL" sz="1800">
                <a:solidFill>
                  <a:srgbClr val="100C1B"/>
                </a:solidFill>
              </a:rPr>
              <a:t>Posibles escenarios:</a:t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entra directamente</a:t>
            </a:r>
            <a:endParaRPr sz="1800">
              <a:solidFill>
                <a:srgbClr val="100C1B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muestra error</a:t>
            </a:r>
            <a:endParaRPr sz="1800">
              <a:solidFill>
                <a:srgbClr val="100C1B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redirige a login</a:t>
            </a:r>
            <a:endParaRPr sz="1800">
              <a:solidFill>
                <a:srgbClr val="100C1B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lang="es-CL" sz="1800">
                <a:solidFill>
                  <a:srgbClr val="100C1B"/>
                </a:solidFill>
              </a:rPr>
              <a:t>backend rechaza petición</a:t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•"/>
            </a:pPr>
            <a:r>
              <a:rPr lang="es-CL" sz="1800">
                <a:solidFill>
                  <a:srgbClr val="100C1B"/>
                </a:solidFill>
              </a:rPr>
              <a:t>¿Quién toma esa decisión?</a:t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○"/>
            </a:pPr>
            <a:r>
              <a:rPr b="1" lang="es-CL" sz="1800">
                <a:solidFill>
                  <a:srgbClr val="100C1B"/>
                </a:solidFill>
              </a:rPr>
              <a:t>Guard</a:t>
            </a:r>
            <a:endParaRPr b="1" sz="1800">
              <a:solidFill>
                <a:srgbClr val="100C1B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</p:txBody>
      </p:sp>
      <p:sp>
        <p:nvSpPr>
          <p:cNvPr id="116" name="Google Shape;116;g3a8af519f5b_0_96"/>
          <p:cNvSpPr txBox="1"/>
          <p:nvPr/>
        </p:nvSpPr>
        <p:spPr>
          <a:xfrm>
            <a:off x="1144588" y="185738"/>
            <a:ext cx="561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Problema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Qué pasa si un usuario escribe directamente la URL?" id="117" name="Google Shape;117;g3a8af519f5b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6250" y="1685675"/>
            <a:ext cx="2816500" cy="28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g3a8af519f5b_0_10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g3a8af519f5b_0_10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g3a8af519f5b_0_10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a8af519f5b_0_109"/>
          <p:cNvSpPr/>
          <p:nvPr/>
        </p:nvSpPr>
        <p:spPr>
          <a:xfrm>
            <a:off x="627050" y="1164600"/>
            <a:ext cx="81057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100C1B"/>
                </a:solidFill>
              </a:rPr>
              <a:t>Un Guard es una regla que Angular ejecuta antes de permitir el acceso a una ruta.</a:t>
            </a:r>
            <a:endParaRPr sz="1800">
              <a:solidFill>
                <a:srgbClr val="100C1B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Char char="•"/>
            </a:pPr>
            <a:r>
              <a:rPr b="1" lang="es-CL" sz="1800">
                <a:solidFill>
                  <a:srgbClr val="100C1B"/>
                </a:solidFill>
              </a:rPr>
              <a:t>Analogía</a:t>
            </a:r>
            <a:r>
              <a:rPr lang="es-CL" sz="1800">
                <a:solidFill>
                  <a:srgbClr val="100C1B"/>
                </a:solidFill>
              </a:rPr>
              <a:t>: Usuario → Guardia → Ruta</a:t>
            </a:r>
            <a:endParaRPr sz="1800">
              <a:solidFill>
                <a:srgbClr val="100C1B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0C1B"/>
              </a:solidFill>
            </a:endParaRPr>
          </a:p>
        </p:txBody>
      </p:sp>
      <p:sp>
        <p:nvSpPr>
          <p:cNvPr id="126" name="Google Shape;126;g3a8af519f5b_0_109"/>
          <p:cNvSpPr txBox="1"/>
          <p:nvPr/>
        </p:nvSpPr>
        <p:spPr>
          <a:xfrm>
            <a:off x="1144588" y="185738"/>
            <a:ext cx="561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¿Qué es un Guard?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a8af519f5b_0_109" title="ChatGPT Image 24 may 2026, 09_59_14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852" y="2493424"/>
            <a:ext cx="2662298" cy="399347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a8af519f5b_0_109"/>
          <p:cNvSpPr txBox="1"/>
          <p:nvPr/>
        </p:nvSpPr>
        <p:spPr>
          <a:xfrm>
            <a:off x="6510475" y="3816625"/>
            <a:ext cx="2004000" cy="159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Angular no protege pantallas; protege el acceso según el estado del usuario.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27050" y="1164627"/>
            <a:ext cx="81057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Los Guards son métodos que nos permiten acceder a cierta rutas, dependiendo de la condición que nosotros queramos. Podemos hacer validaciones, llamar al backend o cualquier cosa que necesitemos.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Existen 5 tipos:</a:t>
            </a:r>
            <a:endParaRPr b="0" i="0" sz="1800" u="none" cap="none" strike="noStrik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144588" y="185738"/>
            <a:ext cx="54804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Proteger el Acceso a las Vistas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38961" y="2613886"/>
            <a:ext cx="7893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600"/>
              <a:buFont typeface="Arial"/>
              <a:buChar char="•"/>
            </a:pP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CanActivate: 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Según una condición, que nosotros queramos, ingresamos a la ruta o página.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600"/>
              <a:buFont typeface="Arial"/>
              <a:buChar char="•"/>
            </a:pP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CanActivateChild: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 Funciona de la misma manera que </a:t>
            </a: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CanActivate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, la única diferencia es que se utiliza para </a:t>
            </a: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rutas hijas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600"/>
              <a:buFont typeface="Arial"/>
              <a:buChar char="•"/>
            </a:pP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CanDeactivate: Es lo opuesto a </a:t>
            </a:r>
            <a:r>
              <a:rPr b="1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CanActivate</a:t>
            </a: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según una condición, nos permite salir de una ruta o una página. Por ejemplo, en un formulario y queremos preguntar si desea descartar los cambios del mismo.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600"/>
              <a:buFont typeface="Arial"/>
              <a:buChar char="•"/>
            </a:pP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1" lang="es-CL" sz="1600">
                <a:solidFill>
                  <a:srgbClr val="404248"/>
                </a:solidFill>
              </a:rPr>
              <a:t>Match (antes CanLoad)</a:t>
            </a: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: 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Lo podemos utilizar para evitar al usuario cargar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600"/>
              <a:buFont typeface="Arial"/>
              <a:buChar char="•"/>
            </a:pPr>
            <a:r>
              <a:rPr b="1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Resolve: </a:t>
            </a:r>
            <a:r>
              <a:rPr b="0" i="0" lang="es-CL" sz="16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Se utiliza para retrasar la representación de un componente deseado hasta que se hayan obtenido los resultados necesarios.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3" name="Google Shape;143;g3a8af519f5b_0_13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8af519f5b_0_13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a8af519f5b_0_137"/>
          <p:cNvSpPr txBox="1"/>
          <p:nvPr>
            <p:ph type="title"/>
          </p:nvPr>
        </p:nvSpPr>
        <p:spPr>
          <a:xfrm>
            <a:off x="628650" y="2198433"/>
            <a:ext cx="7886700" cy="172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Implementaremos Guard en nuestro proyecto</a:t>
            </a:r>
            <a:endParaRPr b="1" sz="46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a8af519f5b_0_137"/>
          <p:cNvCxnSpPr/>
          <p:nvPr/>
        </p:nvCxnSpPr>
        <p:spPr>
          <a:xfrm>
            <a:off x="808800" y="4020363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1" name="Google Shape;151;g3a8af519f5b_0_7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g3a8af519f5b_0_7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g3a8af519f5b_0_7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a8af519f5b_0_70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100C1B"/>
                </a:solidFill>
                <a:latin typeface="Arial"/>
                <a:ea typeface="Arial"/>
                <a:cs typeface="Arial"/>
                <a:sym typeface="Arial"/>
              </a:rPr>
              <a:t>Nuestra aplicación de ejemplo tiene 4 vistas hasta el momento. Vamos a permitir el acceso solo a usuarios validados a 2 de ellas.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a8af519f5b_0_70"/>
          <p:cNvSpPr txBox="1"/>
          <p:nvPr/>
        </p:nvSpPr>
        <p:spPr>
          <a:xfrm>
            <a:off x="1144588" y="185738"/>
            <a:ext cx="561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Controlar el Acceso a las Vistas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a8af519f5b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468" y="4022794"/>
            <a:ext cx="1529974" cy="112734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g3a8af519f5b_0_70" title="Captura de pantalla 2026-05-24 a la(s) 17.49.19.png"/>
          <p:cNvPicPr preferRelativeResize="0"/>
          <p:nvPr/>
        </p:nvPicPr>
        <p:blipFill rotWithShape="1">
          <a:blip r:embed="rId5">
            <a:alphaModFix/>
          </a:blip>
          <a:srcRect b="0" l="17932" r="17932" t="0"/>
          <a:stretch/>
        </p:blipFill>
        <p:spPr>
          <a:xfrm>
            <a:off x="4732375" y="3990450"/>
            <a:ext cx="2197873" cy="138052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g3a8af519f5b_0_70"/>
          <p:cNvSpPr txBox="1"/>
          <p:nvPr/>
        </p:nvSpPr>
        <p:spPr>
          <a:xfrm>
            <a:off x="888904" y="3649043"/>
            <a:ext cx="7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Login</a:t>
            </a:r>
            <a:endParaRPr b="0" i="0" sz="16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g3a8af519f5b_0_70"/>
          <p:cNvSpPr txBox="1"/>
          <p:nvPr/>
        </p:nvSpPr>
        <p:spPr>
          <a:xfrm>
            <a:off x="3001663" y="3649043"/>
            <a:ext cx="97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endParaRPr b="0" i="0" sz="16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g3a8af519f5b_0_70"/>
          <p:cNvSpPr txBox="1"/>
          <p:nvPr/>
        </p:nvSpPr>
        <p:spPr>
          <a:xfrm>
            <a:off x="5038556" y="3649043"/>
            <a:ext cx="153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ListProducts</a:t>
            </a:r>
            <a:endParaRPr b="0" i="0" sz="16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1" name="Google Shape;161;g3a8af519f5b_0_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8423" y="4066946"/>
            <a:ext cx="1744142" cy="87527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a8af519f5b_0_70"/>
          <p:cNvSpPr txBox="1"/>
          <p:nvPr/>
        </p:nvSpPr>
        <p:spPr>
          <a:xfrm>
            <a:off x="7136069" y="3649043"/>
            <a:ext cx="153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PageNotFound</a:t>
            </a:r>
            <a:endParaRPr b="0" i="0" sz="16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g3a8af519f5b_0_70"/>
          <p:cNvSpPr/>
          <p:nvPr/>
        </p:nvSpPr>
        <p:spPr>
          <a:xfrm>
            <a:off x="2049779" y="3510255"/>
            <a:ext cx="4929300" cy="2238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a8af519f5b_0_70"/>
          <p:cNvSpPr txBox="1"/>
          <p:nvPr/>
        </p:nvSpPr>
        <p:spPr>
          <a:xfrm>
            <a:off x="3855857" y="5712314"/>
            <a:ext cx="130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Protegidas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a8af519f5b_0_70"/>
          <p:cNvSpPr/>
          <p:nvPr/>
        </p:nvSpPr>
        <p:spPr>
          <a:xfrm>
            <a:off x="3486731" y="1989648"/>
            <a:ext cx="1707900" cy="732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66" name="Google Shape;166;g3a8af519f5b_0_7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4123801" y="2089374"/>
            <a:ext cx="556148" cy="577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g3a8af519f5b_0_70"/>
          <p:cNvCxnSpPr>
            <a:stCxn id="165" idx="2"/>
            <a:endCxn id="158" idx="0"/>
          </p:cNvCxnSpPr>
          <p:nvPr/>
        </p:nvCxnSpPr>
        <p:spPr>
          <a:xfrm flipH="1">
            <a:off x="1261781" y="2721948"/>
            <a:ext cx="3078900" cy="927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8" name="Google Shape;168;g3a8af519f5b_0_70"/>
          <p:cNvCxnSpPr>
            <a:stCxn id="165" idx="2"/>
            <a:endCxn id="159" idx="0"/>
          </p:cNvCxnSpPr>
          <p:nvPr/>
        </p:nvCxnSpPr>
        <p:spPr>
          <a:xfrm flipH="1">
            <a:off x="3486881" y="2721948"/>
            <a:ext cx="853800" cy="927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9" name="Google Shape;169;g3a8af519f5b_0_70"/>
          <p:cNvCxnSpPr>
            <a:stCxn id="165" idx="2"/>
            <a:endCxn id="160" idx="0"/>
          </p:cNvCxnSpPr>
          <p:nvPr/>
        </p:nvCxnSpPr>
        <p:spPr>
          <a:xfrm>
            <a:off x="4340681" y="2721948"/>
            <a:ext cx="1463400" cy="927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0" name="Google Shape;170;g3a8af519f5b_0_70"/>
          <p:cNvCxnSpPr>
            <a:stCxn id="165" idx="2"/>
            <a:endCxn id="162" idx="0"/>
          </p:cNvCxnSpPr>
          <p:nvPr/>
        </p:nvCxnSpPr>
        <p:spPr>
          <a:xfrm>
            <a:off x="4340681" y="2721948"/>
            <a:ext cx="3561000" cy="927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id="171" name="Google Shape;171;g3a8af519f5b_0_70" title="Captura de pantalla 2026-05-24 a la(s) 17.53.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12219" y="3990438"/>
            <a:ext cx="2494711" cy="138054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" title="Captura de pantalla 2026-05-24 a la(s) 18.03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675" y="2586478"/>
            <a:ext cx="7629626" cy="2308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7" name="Google Shape;177;p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nuestra aplicación ya </a:t>
            </a:r>
            <a:r>
              <a:rPr lang="es-CL" sz="1800">
                <a:solidFill>
                  <a:schemeClr val="dk1"/>
                </a:solidFill>
              </a:rPr>
              <a:t>agregamos</a:t>
            </a:r>
            <a:r>
              <a:rPr lang="es-CL" sz="1800">
                <a:solidFill>
                  <a:schemeClr val="dk1"/>
                </a:solidFill>
              </a:rPr>
              <a:t> la señal </a:t>
            </a:r>
            <a:r>
              <a:rPr b="1" lang="es-CL" sz="1800">
                <a:solidFill>
                  <a:schemeClr val="dk1"/>
                </a:solidFill>
              </a:rPr>
              <a:t>isAutenticated</a:t>
            </a:r>
            <a:r>
              <a:rPr lang="es-CL" sz="1800">
                <a:solidFill>
                  <a:schemeClr val="dk1"/>
                </a:solidFill>
              </a:rPr>
              <a:t> en el servicio </a:t>
            </a:r>
            <a:r>
              <a:rPr b="1" lang="es-CL" sz="1800">
                <a:solidFill>
                  <a:schemeClr val="dk1"/>
                </a:solidFill>
              </a:rPr>
              <a:t>Auth</a:t>
            </a:r>
            <a:r>
              <a:rPr lang="es-CL" sz="1800">
                <a:solidFill>
                  <a:schemeClr val="dk1"/>
                </a:solidFill>
              </a:rPr>
              <a:t> para gestionar el estado “autenticado de un usuario”.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1144588" y="185738"/>
            <a:ext cx="73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aplicación: 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754203" y="2012775"/>
            <a:ext cx="189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highlight>
                  <a:srgbClr val="FFFF00"/>
                </a:highlight>
              </a:rPr>
              <a:t>auth</a:t>
            </a:r>
            <a:r>
              <a:rPr b="0" i="0" lang="es-CL" sz="1400" cap="none" strike="noStrike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(servicio)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38379" y="2140063"/>
            <a:ext cx="4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1321100" y="4133300"/>
            <a:ext cx="7049700" cy="312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1144600" y="2954150"/>
            <a:ext cx="4881300" cy="312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443050" y="1968044"/>
            <a:ext cx="2289900" cy="1340700"/>
          </a:xfrm>
          <a:prstGeom prst="wedgeRoundRectCallout">
            <a:avLst>
              <a:gd fmla="val -73478" name="adj1"/>
              <a:gd fmla="val 28621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s-CL">
                <a:solidFill>
                  <a:schemeClr val="dk1"/>
                </a:solidFill>
              </a:rPr>
              <a:t>señal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</a:rPr>
              <a:t>isAutenticated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indica inicialmente que el usuario no está validado (no tiene un token)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4826150" y="4974144"/>
            <a:ext cx="2599200" cy="729900"/>
          </a:xfrm>
          <a:prstGeom prst="wedgeRoundRectCallout">
            <a:avLst>
              <a:gd fmla="val -29058" name="adj1"/>
              <a:gd fmla="val -114090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Verificar si el token existe al iniciar 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" title="Captura de pantalla 2026-05-24 a la(s) 18.29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550" y="2346515"/>
            <a:ext cx="6383319" cy="410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93" name="Google Shape;193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27050" y="1164625"/>
            <a:ext cx="83148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Incorporamos la redirección (navegación).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 partir del login o logout modificamos el estado de la señal </a:t>
            </a:r>
            <a:r>
              <a:rPr b="1" lang="es-CL" sz="1800">
                <a:solidFill>
                  <a:schemeClr val="dk1"/>
                </a:solidFill>
              </a:rPr>
              <a:t>isAutenticated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1144588" y="185738"/>
            <a:ext cx="74328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aplicación: 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754204" y="2028969"/>
            <a:ext cx="203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auth.ts (servicio)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74800" y="2342290"/>
            <a:ext cx="2692800" cy="307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1343799" y="4149790"/>
            <a:ext cx="2692800" cy="498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719850" y="3573465"/>
            <a:ext cx="1763700" cy="1484100"/>
          </a:xfrm>
          <a:prstGeom prst="wedgeRoundRectCallout">
            <a:avLst>
              <a:gd fmla="val -88878" name="adj1"/>
              <a:gd fmla="val 3516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s-CL">
                <a:solidFill>
                  <a:schemeClr val="dk1"/>
                </a:solidFill>
              </a:rPr>
              <a:t>señal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>
                <a:solidFill>
                  <a:schemeClr val="dk1"/>
                </a:solidFill>
              </a:rPr>
              <a:t>isAutenticated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ahora es verdadera y redirigimos al usuario a</a:t>
            </a:r>
            <a:r>
              <a:rPr lang="es-CL">
                <a:solidFill>
                  <a:schemeClr val="dk1"/>
                </a:solidFill>
              </a:rPr>
              <a:t>l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4317" y="3722772"/>
            <a:ext cx="2357449" cy="135640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4"/>
          <p:cNvSpPr/>
          <p:nvPr/>
        </p:nvSpPr>
        <p:spPr>
          <a:xfrm>
            <a:off x="4711925" y="5170914"/>
            <a:ext cx="1779600" cy="1356300"/>
          </a:xfrm>
          <a:prstGeom prst="wedgeRoundRectCallout">
            <a:avLst>
              <a:gd fmla="val -97294" name="adj1"/>
              <a:gd fmla="val 15743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s-CL">
                <a:solidFill>
                  <a:schemeClr val="dk1"/>
                </a:solidFill>
              </a:rPr>
              <a:t>señal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>
                <a:solidFill>
                  <a:schemeClr val="dk1"/>
                </a:solidFill>
              </a:rPr>
              <a:t>isAutenticated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ahora es falso y redirigimos al usuario </a:t>
            </a:r>
            <a:r>
              <a:rPr lang="es-CL">
                <a:solidFill>
                  <a:schemeClr val="dk1"/>
                </a:solidFill>
              </a:rPr>
              <a:t>al 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4313" y="5282393"/>
            <a:ext cx="1529974" cy="112734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4"/>
          <p:cNvSpPr/>
          <p:nvPr/>
        </p:nvSpPr>
        <p:spPr>
          <a:xfrm>
            <a:off x="1027125" y="5764565"/>
            <a:ext cx="2792700" cy="4989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4" title="Captura de pantalla 2026-05-24 a la(s) 18.30.1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6600" y="2466940"/>
            <a:ext cx="3510844" cy="3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5" title="Captura de pantalla 2026-05-24 a la(s) 18.43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08" y="2213997"/>
            <a:ext cx="6104475" cy="4149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12" name="Google Shape;212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</a:t>
            </a:r>
            <a:r>
              <a:rPr lang="es-CL" sz="1800">
                <a:solidFill>
                  <a:schemeClr val="dk1"/>
                </a:solidFill>
              </a:rPr>
              <a:t>principal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App</a:t>
            </a:r>
            <a:r>
              <a:rPr lang="es-CL" sz="1800">
                <a:solidFill>
                  <a:schemeClr val="dk1"/>
                </a:solidFill>
              </a:rPr>
              <a:t> realiza la inyección del servicio </a:t>
            </a:r>
            <a:r>
              <a:rPr b="1" lang="es-CL" sz="1800">
                <a:solidFill>
                  <a:schemeClr val="dk1"/>
                </a:solidFill>
              </a:rPr>
              <a:t>Auth</a:t>
            </a:r>
            <a:r>
              <a:rPr lang="es-CL" sz="1800">
                <a:solidFill>
                  <a:schemeClr val="dk1"/>
                </a:solidFill>
              </a:rPr>
              <a:t> para tener acceso a la señal </a:t>
            </a:r>
            <a:r>
              <a:rPr b="1" lang="es-CL" sz="1800">
                <a:solidFill>
                  <a:schemeClr val="dk1"/>
                </a:solidFill>
              </a:rPr>
              <a:t>isAutenticated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144588" y="185738"/>
            <a:ext cx="700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aplicación: App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754204" y="1906190"/>
            <a:ext cx="22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cap="none" strike="noStrike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(componente)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930050" y="2230889"/>
            <a:ext cx="5890200" cy="2424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081448" y="5887515"/>
            <a:ext cx="3646200" cy="2424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930050" y="2490189"/>
            <a:ext cx="5890200" cy="2424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258925" y="4188850"/>
            <a:ext cx="594300" cy="2424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453432" y="3358295"/>
            <a:ext cx="2087100" cy="981900"/>
          </a:xfrm>
          <a:prstGeom prst="wedgeRoundRectCallout">
            <a:avLst>
              <a:gd fmla="val -21571" name="adj1"/>
              <a:gd fmla="val -112824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Vamos a quitar la directiva </a:t>
            </a:r>
            <a:r>
              <a:rPr b="1" lang="es-CL">
                <a:solidFill>
                  <a:schemeClr val="dk1"/>
                </a:solidFill>
              </a:rPr>
              <a:t>Login</a:t>
            </a:r>
            <a:r>
              <a:rPr lang="es-CL">
                <a:solidFill>
                  <a:schemeClr val="dk1"/>
                </a:solidFill>
              </a:rPr>
              <a:t> importada para la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453432" y="3358295"/>
            <a:ext cx="2087100" cy="981900"/>
          </a:xfrm>
          <a:prstGeom prst="wedgeRoundRectCallout">
            <a:avLst>
              <a:gd fmla="val -126068" name="adj1"/>
              <a:gd fmla="val 47666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Vamos a quitar la directiva de </a:t>
            </a:r>
            <a:r>
              <a:rPr b="1" lang="es-CL">
                <a:solidFill>
                  <a:schemeClr val="dk1"/>
                </a:solidFill>
              </a:rPr>
              <a:t>Login</a:t>
            </a:r>
            <a:r>
              <a:rPr lang="es-CL">
                <a:solidFill>
                  <a:schemeClr val="dk1"/>
                </a:solidFill>
              </a:rPr>
              <a:t> importada para la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7" title="Captura de pantalla 2026-05-24 a la(s) 19.09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975" y="1839744"/>
            <a:ext cx="5709825" cy="4578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9" name="Google Shape;229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controlar </a:t>
            </a:r>
            <a:r>
              <a:rPr lang="es-CL" sz="1800">
                <a:solidFill>
                  <a:schemeClr val="dk1"/>
                </a:solidFill>
              </a:rPr>
              <a:t>la visualización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lang="es-CL" sz="1800">
                <a:solidFill>
                  <a:schemeClr val="dk1"/>
                </a:solidFill>
              </a:rPr>
              <a:t>el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menú lateral y men</a:t>
            </a:r>
            <a:r>
              <a:rPr lang="es-CL" sz="1800">
                <a:solidFill>
                  <a:schemeClr val="dk1"/>
                </a:solidFill>
              </a:rPr>
              <a:t>ú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144588" y="185738"/>
            <a:ext cx="78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aplicación: App- Menú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754191" y="1530741"/>
            <a:ext cx="180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144600" y="2161925"/>
            <a:ext cx="2591100" cy="3693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306582" y="1660995"/>
            <a:ext cx="2087100" cy="981900"/>
          </a:xfrm>
          <a:prstGeom prst="wedgeRoundRectCallout">
            <a:avLst>
              <a:gd fmla="val -123650" name="adj1"/>
              <a:gd fmla="val 17668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Controla la visibilidad del menú lateral con la directiva @if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259175" y="3888830"/>
            <a:ext cx="2591100" cy="3129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306582" y="3363995"/>
            <a:ext cx="2087100" cy="981900"/>
          </a:xfrm>
          <a:prstGeom prst="wedgeRoundRectCallout">
            <a:avLst>
              <a:gd fmla="val -118215" name="adj1"/>
              <a:gd fmla="val 1498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Controla la visibilidad del menú superior con la directiva @if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a8af519f5b_0_29" title="Captura de pantalla 2026-05-24 a la(s) 20.17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15" y="1778815"/>
            <a:ext cx="6469450" cy="4707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44" name="Google Shape;244;g3a8af519f5b_0_29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g3a8af519f5b_0_2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g3a8af519f5b_0_2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a8af519f5b_0_29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necesario controlar cuando mostrar/ocultar </a:t>
            </a:r>
            <a:r>
              <a:rPr lang="es-CL" sz="1800">
                <a:solidFill>
                  <a:schemeClr val="dk1"/>
                </a:solidFill>
              </a:rPr>
              <a:t>el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menú lateral y superior.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g3a8af519f5b_0_29"/>
          <p:cNvSpPr txBox="1"/>
          <p:nvPr/>
        </p:nvSpPr>
        <p:spPr>
          <a:xfrm>
            <a:off x="1144588" y="185738"/>
            <a:ext cx="78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aplicación: App - logout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a8af519f5b_0_29"/>
          <p:cNvSpPr txBox="1"/>
          <p:nvPr/>
        </p:nvSpPr>
        <p:spPr>
          <a:xfrm>
            <a:off x="754191" y="1518134"/>
            <a:ext cx="180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a8af519f5b_0_29"/>
          <p:cNvSpPr/>
          <p:nvPr/>
        </p:nvSpPr>
        <p:spPr>
          <a:xfrm>
            <a:off x="4258525" y="5209525"/>
            <a:ext cx="2591100" cy="228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a8af519f5b_0_29"/>
          <p:cNvSpPr/>
          <p:nvPr/>
        </p:nvSpPr>
        <p:spPr>
          <a:xfrm>
            <a:off x="1027125" y="2086275"/>
            <a:ext cx="2591100" cy="369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a8af519f5b_0_29"/>
          <p:cNvSpPr/>
          <p:nvPr/>
        </p:nvSpPr>
        <p:spPr>
          <a:xfrm>
            <a:off x="6768957" y="3678045"/>
            <a:ext cx="2087100" cy="981900"/>
          </a:xfrm>
          <a:prstGeom prst="wedgeRoundRectCallout">
            <a:avLst>
              <a:gd fmla="val -78242" name="adj1"/>
              <a:gd fmla="val 95770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Invocar a la función logout() de </a:t>
            </a:r>
            <a:r>
              <a:rPr lang="es-CL">
                <a:solidFill>
                  <a:schemeClr val="dk1"/>
                </a:solidFill>
              </a:rPr>
              <a:t>authService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desloguear al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a8af519f5b_0_29"/>
          <p:cNvSpPr/>
          <p:nvPr/>
        </p:nvSpPr>
        <p:spPr>
          <a:xfrm>
            <a:off x="5092257" y="1624295"/>
            <a:ext cx="2087100" cy="981900"/>
          </a:xfrm>
          <a:prstGeom prst="wedgeRoundRectCallout">
            <a:avLst>
              <a:gd fmla="val -118215" name="adj1"/>
              <a:gd fmla="val 1498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Control</a:t>
            </a:r>
            <a:r>
              <a:rPr lang="es-CL">
                <a:solidFill>
                  <a:schemeClr val="dk1"/>
                </a:solidFill>
              </a:rPr>
              <a:t> de visibilidad del menú superior con la directiva @if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8" name="Google Shape;258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Recordando el template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144588" y="185738"/>
            <a:ext cx="78720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Preparemos nuestra aplicación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4">
            <a:alphaModFix/>
          </a:blip>
          <a:srcRect b="26842" l="0" r="0" t="0"/>
          <a:stretch/>
        </p:blipFill>
        <p:spPr>
          <a:xfrm>
            <a:off x="435563" y="1989640"/>
            <a:ext cx="8488750" cy="3157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100C1B"/>
                </a:solidFill>
              </a:rPr>
              <a:t>Los Guards pueden acceder a servicios mediante inyección de dependencias.</a:t>
            </a:r>
            <a:r>
              <a:rPr b="0" i="0" lang="es-CL" sz="1800" u="none" cap="none" strike="noStrike">
                <a:solidFill>
                  <a:srgbClr val="100C1B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1144588" y="185738"/>
            <a:ext cx="38779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Guard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879025" y="2874825"/>
            <a:ext cx="600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generate guard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features/auth/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guards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800" u="none" cap="none" strike="noStrike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27061" y="2019729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C1B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100C1B"/>
                </a:solidFill>
                <a:latin typeface="Arial"/>
                <a:ea typeface="Arial"/>
                <a:cs typeface="Arial"/>
                <a:sym typeface="Arial"/>
              </a:rPr>
              <a:t>Podemos usar Angular CLI para generar un esqueleto de guard que podemos usar como base para nuestra implementación.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831596" y="5099905"/>
            <a:ext cx="2782200" cy="981900"/>
          </a:xfrm>
          <a:prstGeom prst="wedgeRoundRectCallout">
            <a:avLst>
              <a:gd fmla="val 68720" name="adj1"/>
              <a:gd fmla="val 18169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Incluiremos este guard </a:t>
            </a:r>
            <a:r>
              <a:rPr b="1" i="0" lang="es-CL" sz="1400" u="none" cap="none" strike="noStrike">
                <a:solidFill>
                  <a:schemeClr val="dk1"/>
                </a:solidFill>
              </a:rPr>
              <a:t>login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tipo </a:t>
            </a:r>
            <a:r>
              <a:rPr b="1" i="0" lang="es-CL" sz="1400" u="none" cap="none" strike="noStrike">
                <a:solidFill>
                  <a:schemeClr val="dk1"/>
                </a:solidFill>
              </a:rPr>
              <a:t>Can</a:t>
            </a:r>
            <a:r>
              <a:rPr b="1" lang="es-CL">
                <a:solidFill>
                  <a:schemeClr val="dk1"/>
                </a:solidFill>
              </a:rPr>
              <a:t>Activate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</a:t>
            </a:r>
            <a:r>
              <a:rPr lang="es-CL">
                <a:solidFill>
                  <a:schemeClr val="dk1"/>
                </a:solidFill>
              </a:rPr>
              <a:t>el feature </a:t>
            </a:r>
            <a:r>
              <a:rPr b="1" lang="es-CL">
                <a:solidFill>
                  <a:schemeClr val="dk1"/>
                </a:solidFill>
              </a:rPr>
              <a:t>auth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276" name="Google Shape;276;p9" title="Captura de pantalla 2026-05-24 a la(s) 20.28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13" y="3322475"/>
            <a:ext cx="8105774" cy="132193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519125" y="4085225"/>
            <a:ext cx="1107300" cy="1671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 rot="-10797956">
            <a:off x="1714221" y="4090609"/>
            <a:ext cx="504600" cy="167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9" title="Captura de pantalla 2026-05-24 a la(s) 20.30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8200" y="4090450"/>
            <a:ext cx="2324460" cy="229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0" name="Google Shape;280;p9"/>
          <p:cNvSpPr/>
          <p:nvPr/>
        </p:nvSpPr>
        <p:spPr>
          <a:xfrm>
            <a:off x="6186175" y="5392875"/>
            <a:ext cx="2068500" cy="71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0" title="Captura de pantalla 2026-05-24 a la(s) 20.39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450" y="1924600"/>
            <a:ext cx="6772424" cy="443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86" name="Google Shape;286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Para proteger el acceso a una vista usamos Guards de Angular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1144588" y="185738"/>
            <a:ext cx="54804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Proteger el Acceso a las Vistas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777662" y="1616829"/>
            <a:ext cx="13083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-</a:t>
            </a: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guard.ts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599925" y="3306600"/>
            <a:ext cx="1505700" cy="307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112249" y="4368500"/>
            <a:ext cx="4207800" cy="16773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44600" y="3627518"/>
            <a:ext cx="3482100" cy="5232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933650" y="2225275"/>
            <a:ext cx="4638600" cy="8304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845345" y="3822781"/>
            <a:ext cx="2887500" cy="981900"/>
          </a:xfrm>
          <a:prstGeom prst="wedgeRoundRectCallout">
            <a:avLst>
              <a:gd fmla="val -69284" name="adj1"/>
              <a:gd fmla="val 23472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</a:t>
            </a:r>
            <a:r>
              <a:rPr lang="es-CL">
                <a:solidFill>
                  <a:schemeClr val="dk1"/>
                </a:solidFill>
              </a:rPr>
              <a:t>si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usuario ya está logueado (posee un token). Luego enviar al usuario a la vista de login.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1" title="Captura de pantalla 2026-05-24 a la(s) 20.58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32" y="2266662"/>
            <a:ext cx="6133175" cy="4146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02" name="Google Shape;302;p1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27062" y="1164637"/>
            <a:ext cx="83512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Para definir las vistas que </a:t>
            </a:r>
            <a:r>
              <a:rPr lang="es-CL" sz="1800">
                <a:solidFill>
                  <a:srgbClr val="404248"/>
                </a:solidFill>
              </a:rPr>
              <a:t>usarán</a:t>
            </a: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 en guard (</a:t>
            </a:r>
            <a:r>
              <a:rPr b="1" lang="es-CL" sz="1800">
                <a:solidFill>
                  <a:schemeClr val="dk1"/>
                </a:solidFill>
              </a:rPr>
              <a:t>l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oginGuard</a:t>
            </a: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) que hemos definido usamos la declaración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canActivate</a:t>
            </a: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 en los </a:t>
            </a:r>
            <a:r>
              <a:rPr b="1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 definidos en </a:t>
            </a:r>
            <a:r>
              <a:rPr b="1" lang="es-CL" sz="1800">
                <a:solidFill>
                  <a:srgbClr val="404248"/>
                </a:solidFill>
              </a:rPr>
              <a:t>routes</a:t>
            </a: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1144588" y="185738"/>
            <a:ext cx="58394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Proteger el Acceso a las Vistas…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757662" y="1980299"/>
            <a:ext cx="13083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routes</a:t>
            </a: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757662" y="2228003"/>
            <a:ext cx="4411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765354" y="2668571"/>
            <a:ext cx="4411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906999" y="3505850"/>
            <a:ext cx="4652700" cy="234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789450" y="4061038"/>
            <a:ext cx="1908900" cy="1707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416300" y="4615000"/>
            <a:ext cx="2998200" cy="1017900"/>
          </a:xfrm>
          <a:prstGeom prst="wedgeRoundRectCallout">
            <a:avLst>
              <a:gd fmla="val -31767" name="adj1"/>
              <a:gd fmla="val -69808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la cláusula canActivate con el Guard adecuado en cada ruta que queramos proteger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067925" y="4242057"/>
            <a:ext cx="1908900" cy="1707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27062" y="1164637"/>
            <a:ext cx="8351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404248"/>
                </a:solidFill>
                <a:latin typeface="Arial"/>
                <a:ea typeface="Arial"/>
                <a:cs typeface="Arial"/>
                <a:sym typeface="Arial"/>
              </a:rPr>
              <a:t>Realizar el login y probar acceso directo a las rutas. (Animación)</a:t>
            </a:r>
            <a:endParaRPr b="0" i="0" sz="1800" u="none" cap="none" strike="noStrike">
              <a:solidFill>
                <a:srgbClr val="4042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1144588" y="185738"/>
            <a:ext cx="71128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el Funcionamiento de los Guards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12" title="Captura de pantalla 2026-05-24 a la(s) 21.33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625" y="1533973"/>
            <a:ext cx="5772749" cy="29201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4" name="Google Shape;324;p12" title="Captura de pantalla 2026-05-24 a la(s) 21.34.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025" y="3636499"/>
            <a:ext cx="4899476" cy="252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5" name="Google Shape;325;p12" title="Captura de pantalla 2026-05-24 a la(s) 21.34.1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8100" y="4310048"/>
            <a:ext cx="4621901" cy="21642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